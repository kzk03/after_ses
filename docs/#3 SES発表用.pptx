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8"/>
  </p:notesMasterIdLst>
  <p:sldIdLst>
    <p:sldId id="257" r:id="rId2"/>
    <p:sldId id="369" r:id="rId3"/>
    <p:sldId id="372" r:id="rId4"/>
    <p:sldId id="448" r:id="rId5"/>
    <p:sldId id="374" r:id="rId6"/>
    <p:sldId id="424" r:id="rId7"/>
    <p:sldId id="389" r:id="rId8"/>
    <p:sldId id="451" r:id="rId9"/>
    <p:sldId id="391" r:id="rId10"/>
    <p:sldId id="426" r:id="rId11"/>
    <p:sldId id="397" r:id="rId12"/>
    <p:sldId id="449" r:id="rId13"/>
    <p:sldId id="450" r:id="rId14"/>
    <p:sldId id="429" r:id="rId15"/>
    <p:sldId id="404" r:id="rId16"/>
    <p:sldId id="377" r:id="rId17"/>
    <p:sldId id="419" r:id="rId18"/>
    <p:sldId id="394" r:id="rId19"/>
    <p:sldId id="435" r:id="rId20"/>
    <p:sldId id="445" r:id="rId21"/>
    <p:sldId id="446" r:id="rId22"/>
    <p:sldId id="447" r:id="rId23"/>
    <p:sldId id="409" r:id="rId24"/>
    <p:sldId id="388" r:id="rId25"/>
    <p:sldId id="275" r:id="rId26"/>
    <p:sldId id="455" r:id="rId27"/>
    <p:sldId id="456" r:id="rId28"/>
    <p:sldId id="457" r:id="rId29"/>
    <p:sldId id="259" r:id="rId30"/>
    <p:sldId id="260" r:id="rId31"/>
    <p:sldId id="261" r:id="rId32"/>
    <p:sldId id="263" r:id="rId33"/>
    <p:sldId id="269" r:id="rId34"/>
    <p:sldId id="270" r:id="rId35"/>
    <p:sldId id="271" r:id="rId36"/>
    <p:sldId id="272" r:id="rId37"/>
    <p:sldId id="281" r:id="rId38"/>
    <p:sldId id="282" r:id="rId39"/>
    <p:sldId id="283" r:id="rId40"/>
    <p:sldId id="284" r:id="rId41"/>
    <p:sldId id="285" r:id="rId42"/>
    <p:sldId id="289" r:id="rId43"/>
    <p:sldId id="290" r:id="rId44"/>
    <p:sldId id="293" r:id="rId45"/>
    <p:sldId id="296" r:id="rId46"/>
    <p:sldId id="305" r:id="rId47"/>
  </p:sldIdLst>
  <p:sldSz cx="17337088" cy="97520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AF363D3-2A68-DA48-8574-374502A175C6}">
          <p14:sldIdLst>
            <p14:sldId id="257"/>
            <p14:sldId id="369"/>
            <p14:sldId id="372"/>
            <p14:sldId id="448"/>
            <p14:sldId id="374"/>
            <p14:sldId id="424"/>
            <p14:sldId id="389"/>
            <p14:sldId id="451"/>
            <p14:sldId id="391"/>
            <p14:sldId id="426"/>
            <p14:sldId id="397"/>
            <p14:sldId id="449"/>
            <p14:sldId id="450"/>
            <p14:sldId id="429"/>
            <p14:sldId id="404"/>
            <p14:sldId id="377"/>
            <p14:sldId id="419"/>
            <p14:sldId id="394"/>
            <p14:sldId id="435"/>
            <p14:sldId id="445"/>
            <p14:sldId id="446"/>
            <p14:sldId id="447"/>
            <p14:sldId id="409"/>
            <p14:sldId id="388"/>
            <p14:sldId id="275"/>
            <p14:sldId id="455"/>
            <p14:sldId id="456"/>
            <p14:sldId id="457"/>
            <p14:sldId id="259"/>
            <p14:sldId id="260"/>
            <p14:sldId id="261"/>
            <p14:sldId id="263"/>
            <p14:sldId id="269"/>
            <p14:sldId id="270"/>
            <p14:sldId id="271"/>
            <p14:sldId id="272"/>
            <p14:sldId id="281"/>
            <p14:sldId id="282"/>
            <p14:sldId id="283"/>
            <p14:sldId id="284"/>
            <p14:sldId id="285"/>
            <p14:sldId id="289"/>
            <p14:sldId id="290"/>
            <p14:sldId id="293"/>
            <p14:sldId id="296"/>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9552"/>
    <a:srgbClr val="F29262"/>
    <a:srgbClr val="FFFFFF"/>
    <a:srgbClr val="F0997F"/>
    <a:srgbClr val="2DB09B"/>
    <a:srgbClr val="4DBBD5"/>
    <a:srgbClr val="4A90B2"/>
    <a:srgbClr val="3D4392"/>
    <a:srgbClr val="009C84"/>
    <a:srgbClr val="F295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23"/>
    <p:restoredTop sz="84529"/>
  </p:normalViewPr>
  <p:slideViewPr>
    <p:cSldViewPr snapToGrid="0">
      <p:cViewPr>
        <p:scale>
          <a:sx n="76" d="100"/>
          <a:sy n="76" d="100"/>
        </p:scale>
        <p:origin x="920" y="240"/>
      </p:cViewPr>
      <p:guideLst/>
    </p:cSldViewPr>
  </p:slideViewPr>
  <p:outlineViewPr>
    <p:cViewPr>
      <p:scale>
        <a:sx n="20" d="100"/>
        <a:sy n="20" d="100"/>
      </p:scale>
      <p:origin x="0" y="-328"/>
    </p:cViewPr>
  </p:outlin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000" b="0" i="0" u="none" strike="noStrike">
                <a:solidFill>
                  <a:srgbClr val="262626"/>
                </a:solidFill>
                <a:latin typeface="Meiryo"/>
              </a:defRPr>
            </a:pPr>
            <a:r>
              <a:rPr lang="en-US" sz="2000" b="0" i="0" u="none" strike="noStrike">
                <a:solidFill>
                  <a:srgbClr val="262626"/>
                </a:solidFill>
                <a:latin typeface="Meiryo"/>
              </a:rPr>
              <a:t>OpenStack（</a:t>
            </a:r>
            <a:r>
              <a:rPr lang="ja-JP" altLang="en-US" sz="2000" b="0" i="0" u="none" strike="noStrike">
                <a:solidFill>
                  <a:srgbClr val="262626"/>
                </a:solidFill>
                <a:latin typeface="Meiryo"/>
              </a:rPr>
              <a:t>ペア単位、</a:t>
            </a:r>
            <a:r>
              <a:rPr lang="en-US" sz="2000" b="0" i="0" u="none" strike="noStrike">
                <a:solidFill>
                  <a:srgbClr val="262626"/>
                </a:solidFill>
                <a:latin typeface="Meiryo"/>
              </a:rPr>
              <a:t>n = 4,534）</a:t>
            </a:r>
          </a:p>
        </c:rich>
      </c:tx>
      <c:overlay val="0"/>
    </c:title>
    <c:autoTitleDeleted val="0"/>
    <c:plotArea>
      <c:layout/>
      <c:barChart>
        <c:barDir val="col"/>
        <c:grouping val="clustered"/>
        <c:varyColors val="0"/>
        <c:ser>
          <c:idx val="0"/>
          <c:order val="0"/>
          <c:tx>
            <c:strRef>
              <c:f>Sheet1!$B$1</c:f>
              <c:strCache>
                <c:ptCount val="1"/>
                <c:pt idx="0">
                  <c:v>RF（従来型）</c:v>
                </c:pt>
              </c:strCache>
            </c:strRef>
          </c:tx>
          <c:spPr>
            <a:solidFill>
              <a:srgbClr val="3E4492"/>
            </a:solidFill>
            <a:effectLst/>
          </c:spPr>
          <c:invertIfNegative val="0"/>
          <c:dLbls>
            <c:numFmt formatCode="0.000" sourceLinked="0"/>
            <c:spPr>
              <a:noFill/>
              <a:ln>
                <a:noFill/>
              </a:ln>
              <a:effectLst/>
            </c:spPr>
            <c:txPr>
              <a:bodyPr/>
              <a:lstStyle/>
              <a:p>
                <a:pPr>
                  <a:defRPr sz="1800" b="0" i="0" u="none" strike="noStrike">
                    <a:solidFill>
                      <a:srgbClr val="262626"/>
                    </a:solidFill>
                    <a:latin typeface="Aria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1–3m</c:v>
                </c:pt>
                <c:pt idx="1">
                  <c:v>4–6m</c:v>
                </c:pt>
                <c:pt idx="2">
                  <c:v>7–9m</c:v>
                </c:pt>
                <c:pt idx="3">
                  <c:v>10–12m</c:v>
                </c:pt>
              </c:strCache>
            </c:strRef>
          </c:cat>
          <c:val>
            <c:numRef>
              <c:f>Sheet1!$B$2:$B$5</c:f>
              <c:numCache>
                <c:formatCode>General</c:formatCode>
                <c:ptCount val="4"/>
                <c:pt idx="0">
                  <c:v>0.79100000000000004</c:v>
                </c:pt>
                <c:pt idx="1">
                  <c:v>0.81200000000000006</c:v>
                </c:pt>
                <c:pt idx="2">
                  <c:v>0.79200000000000004</c:v>
                </c:pt>
                <c:pt idx="3">
                  <c:v>0.80600000000000005</c:v>
                </c:pt>
              </c:numCache>
            </c:numRef>
          </c:val>
          <c:extLst>
            <c:ext xmlns:c16="http://schemas.microsoft.com/office/drawing/2014/chart" uri="{C3380CC4-5D6E-409C-BE32-E72D297353CC}">
              <c16:uniqueId val="{00000000-64E4-D94B-8A66-FC96C0E94202}"/>
            </c:ext>
          </c:extLst>
        </c:ser>
        <c:ser>
          <c:idx val="1"/>
          <c:order val="1"/>
          <c:tx>
            <c:strRef>
              <c:f>Sheet1!$C$1</c:f>
              <c:strCache>
                <c:ptCount val="1"/>
                <c:pt idx="0">
                  <c:v>IRL（提案手法）</c:v>
                </c:pt>
              </c:strCache>
            </c:strRef>
          </c:tx>
          <c:spPr>
            <a:solidFill>
              <a:srgbClr val="4B90B1"/>
            </a:solidFill>
            <a:effectLst/>
          </c:spPr>
          <c:invertIfNegative val="0"/>
          <c:dLbls>
            <c:numFmt formatCode="0.000" sourceLinked="0"/>
            <c:spPr>
              <a:noFill/>
              <a:ln>
                <a:noFill/>
              </a:ln>
              <a:effectLst/>
            </c:spPr>
            <c:txPr>
              <a:bodyPr/>
              <a:lstStyle/>
              <a:p>
                <a:pPr>
                  <a:defRPr sz="1800" b="0" i="0" u="none" strike="noStrike">
                    <a:solidFill>
                      <a:srgbClr val="262626"/>
                    </a:solidFill>
                    <a:latin typeface="Aria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1–3m</c:v>
                </c:pt>
                <c:pt idx="1">
                  <c:v>4–6m</c:v>
                </c:pt>
                <c:pt idx="2">
                  <c:v>7–9m</c:v>
                </c:pt>
                <c:pt idx="3">
                  <c:v>10–12m</c:v>
                </c:pt>
              </c:strCache>
            </c:strRef>
          </c:cat>
          <c:val>
            <c:numRef>
              <c:f>Sheet1!$C$2:$C$5</c:f>
              <c:numCache>
                <c:formatCode>General</c:formatCode>
                <c:ptCount val="4"/>
                <c:pt idx="0">
                  <c:v>0.82599999999999996</c:v>
                </c:pt>
                <c:pt idx="1">
                  <c:v>0.81299999999999994</c:v>
                </c:pt>
                <c:pt idx="2">
                  <c:v>0.751</c:v>
                </c:pt>
                <c:pt idx="3">
                  <c:v>0.754</c:v>
                </c:pt>
              </c:numCache>
            </c:numRef>
          </c:val>
          <c:extLst>
            <c:ext xmlns:c16="http://schemas.microsoft.com/office/drawing/2014/chart" uri="{C3380CC4-5D6E-409C-BE32-E72D297353CC}">
              <c16:uniqueId val="{00000001-64E4-D94B-8A66-FC96C0E9420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595959"/>
                </a:solidFill>
                <a:latin typeface="Meiryo"/>
              </a:defRPr>
            </a:pPr>
            <a:endParaRPr lang="en-US"/>
          </a:p>
        </c:txPr>
        <c:crossAx val="2094734552"/>
        <c:crosses val="autoZero"/>
        <c:auto val="1"/>
        <c:lblAlgn val="ctr"/>
        <c:lblOffset val="100"/>
        <c:noMultiLvlLbl val="1"/>
      </c:catAx>
      <c:valAx>
        <c:axId val="2094734552"/>
        <c:scaling>
          <c:orientation val="minMax"/>
          <c:max val="0.9"/>
          <c:min val="0.6"/>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800" b="0" i="0" u="none" strike="noStrike">
                <a:solidFill>
                  <a:srgbClr val="595959"/>
                </a:solidFill>
                <a:latin typeface="Arial"/>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000" b="0" i="0" u="none" strike="noStrike">
                <a:solidFill>
                  <a:srgbClr val="262626"/>
                </a:solidFill>
                <a:latin typeface="Meiryo"/>
              </a:defRPr>
            </a:pPr>
            <a:r>
              <a:rPr lang="en-US" sz="2000" b="0" i="0" u="none" strike="noStrike">
                <a:solidFill>
                  <a:srgbClr val="262626"/>
                </a:solidFill>
                <a:latin typeface="Meiryo"/>
              </a:rPr>
              <a:t>AOSP（</a:t>
            </a:r>
            <a:r>
              <a:rPr lang="ja-JP" altLang="en-US" sz="2000" b="0" i="0" u="none" strike="noStrike">
                <a:solidFill>
                  <a:srgbClr val="262626"/>
                </a:solidFill>
                <a:latin typeface="Meiryo"/>
              </a:rPr>
              <a:t>ペア単位、</a:t>
            </a:r>
            <a:r>
              <a:rPr lang="en-US" sz="2000" b="0" i="0" u="none" strike="noStrike">
                <a:solidFill>
                  <a:srgbClr val="262626"/>
                </a:solidFill>
                <a:latin typeface="Meiryo"/>
              </a:rPr>
              <a:t>n = 26,830）</a:t>
            </a:r>
          </a:p>
        </c:rich>
      </c:tx>
      <c:overlay val="0"/>
    </c:title>
    <c:autoTitleDeleted val="0"/>
    <c:plotArea>
      <c:layout/>
      <c:barChart>
        <c:barDir val="col"/>
        <c:grouping val="clustered"/>
        <c:varyColors val="0"/>
        <c:ser>
          <c:idx val="0"/>
          <c:order val="0"/>
          <c:tx>
            <c:strRef>
              <c:f>Sheet1!$B$1</c:f>
              <c:strCache>
                <c:ptCount val="1"/>
                <c:pt idx="0">
                  <c:v>RF（従来型）</c:v>
                </c:pt>
              </c:strCache>
            </c:strRef>
          </c:tx>
          <c:spPr>
            <a:solidFill>
              <a:srgbClr val="3E4492"/>
            </a:solidFill>
            <a:effectLst/>
          </c:spPr>
          <c:invertIfNegative val="0"/>
          <c:dLbls>
            <c:numFmt formatCode="0.000" sourceLinked="0"/>
            <c:spPr>
              <a:noFill/>
              <a:ln>
                <a:noFill/>
              </a:ln>
              <a:effectLst/>
            </c:spPr>
            <c:txPr>
              <a:bodyPr/>
              <a:lstStyle/>
              <a:p>
                <a:pPr>
                  <a:defRPr sz="1800" b="0" i="0" u="none" strike="noStrike">
                    <a:solidFill>
                      <a:srgbClr val="262626"/>
                    </a:solidFill>
                    <a:latin typeface="Aria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1–3m</c:v>
                </c:pt>
                <c:pt idx="1">
                  <c:v>4–6m</c:v>
                </c:pt>
                <c:pt idx="2">
                  <c:v>7–9m</c:v>
                </c:pt>
                <c:pt idx="3">
                  <c:v>10–12m</c:v>
                </c:pt>
              </c:strCache>
            </c:strRef>
          </c:cat>
          <c:val>
            <c:numRef>
              <c:f>Sheet1!$B$2:$B$5</c:f>
              <c:numCache>
                <c:formatCode>General</c:formatCode>
                <c:ptCount val="4"/>
                <c:pt idx="0">
                  <c:v>0.76300000000000001</c:v>
                </c:pt>
                <c:pt idx="1">
                  <c:v>0.76100000000000001</c:v>
                </c:pt>
                <c:pt idx="2">
                  <c:v>0.75700000000000001</c:v>
                </c:pt>
                <c:pt idx="3">
                  <c:v>0.76500000000000001</c:v>
                </c:pt>
              </c:numCache>
            </c:numRef>
          </c:val>
          <c:extLst>
            <c:ext xmlns:c16="http://schemas.microsoft.com/office/drawing/2014/chart" uri="{C3380CC4-5D6E-409C-BE32-E72D297353CC}">
              <c16:uniqueId val="{00000000-A662-744A-AFB5-1DD6CF86CBBF}"/>
            </c:ext>
          </c:extLst>
        </c:ser>
        <c:ser>
          <c:idx val="1"/>
          <c:order val="1"/>
          <c:tx>
            <c:strRef>
              <c:f>Sheet1!$C$1</c:f>
              <c:strCache>
                <c:ptCount val="1"/>
                <c:pt idx="0">
                  <c:v>IRL（提案手法）</c:v>
                </c:pt>
              </c:strCache>
            </c:strRef>
          </c:tx>
          <c:spPr>
            <a:solidFill>
              <a:srgbClr val="4B90B1"/>
            </a:solidFill>
            <a:effectLst/>
          </c:spPr>
          <c:invertIfNegative val="0"/>
          <c:dLbls>
            <c:numFmt formatCode="0.000" sourceLinked="0"/>
            <c:spPr>
              <a:noFill/>
              <a:ln>
                <a:noFill/>
              </a:ln>
              <a:effectLst/>
            </c:spPr>
            <c:txPr>
              <a:bodyPr/>
              <a:lstStyle/>
              <a:p>
                <a:pPr>
                  <a:defRPr sz="1800" b="0" i="0" u="none" strike="noStrike">
                    <a:solidFill>
                      <a:srgbClr val="262626"/>
                    </a:solidFill>
                    <a:latin typeface="Aria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1–3m</c:v>
                </c:pt>
                <c:pt idx="1">
                  <c:v>4–6m</c:v>
                </c:pt>
                <c:pt idx="2">
                  <c:v>7–9m</c:v>
                </c:pt>
                <c:pt idx="3">
                  <c:v>10–12m</c:v>
                </c:pt>
              </c:strCache>
            </c:strRef>
          </c:cat>
          <c:val>
            <c:numRef>
              <c:f>Sheet1!$C$2:$C$5</c:f>
              <c:numCache>
                <c:formatCode>General</c:formatCode>
                <c:ptCount val="4"/>
                <c:pt idx="0">
                  <c:v>0.76900000000000002</c:v>
                </c:pt>
                <c:pt idx="1">
                  <c:v>0.69299999999999995</c:v>
                </c:pt>
                <c:pt idx="2">
                  <c:v>0.73699999999999999</c:v>
                </c:pt>
                <c:pt idx="3">
                  <c:v>0.71099999999999997</c:v>
                </c:pt>
              </c:numCache>
            </c:numRef>
          </c:val>
          <c:extLst>
            <c:ext xmlns:c16="http://schemas.microsoft.com/office/drawing/2014/chart" uri="{C3380CC4-5D6E-409C-BE32-E72D297353CC}">
              <c16:uniqueId val="{00000001-A662-744A-AFB5-1DD6CF86CBB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595959"/>
                </a:solidFill>
                <a:latin typeface="Meiryo"/>
              </a:defRPr>
            </a:pPr>
            <a:endParaRPr lang="en-US"/>
          </a:p>
        </c:txPr>
        <c:crossAx val="2094734552"/>
        <c:crosses val="autoZero"/>
        <c:auto val="1"/>
        <c:lblAlgn val="ctr"/>
        <c:lblOffset val="100"/>
        <c:noMultiLvlLbl val="1"/>
      </c:catAx>
      <c:valAx>
        <c:axId val="2094734552"/>
        <c:scaling>
          <c:orientation val="minMax"/>
          <c:max val="0.9"/>
          <c:min val="0.6"/>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800" b="0" i="0" u="none" strike="noStrike">
                <a:solidFill>
                  <a:srgbClr val="595959"/>
                </a:solidFill>
                <a:latin typeface="Arial"/>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000" b="0" i="0" u="none" strike="noStrike">
                <a:solidFill>
                  <a:srgbClr val="262626"/>
                </a:solidFill>
                <a:latin typeface="Meiryo"/>
              </a:defRPr>
            </a:pPr>
            <a:r>
              <a:rPr lang="en-US" sz="2000" b="0" i="0" u="none" strike="noStrike">
                <a:solidFill>
                  <a:srgbClr val="262626"/>
                </a:solidFill>
                <a:latin typeface="Meiryo"/>
              </a:rPr>
              <a:t>OpenStack</a:t>
            </a:r>
          </a:p>
        </c:rich>
      </c:tx>
      <c:overlay val="0"/>
    </c:title>
    <c:autoTitleDeleted val="0"/>
    <c:plotArea>
      <c:layout>
        <c:manualLayout>
          <c:layoutTarget val="inner"/>
          <c:xMode val="edge"/>
          <c:yMode val="edge"/>
          <c:x val="8.7819257375423898E-2"/>
          <c:y val="0.27356249880348599"/>
          <c:w val="0.8933907104071358"/>
          <c:h val="0.55491918278531549"/>
        </c:manualLayout>
      </c:layout>
      <c:barChart>
        <c:barDir val="col"/>
        <c:grouping val="clustered"/>
        <c:varyColors val="0"/>
        <c:ser>
          <c:idx val="0"/>
          <c:order val="0"/>
          <c:tx>
            <c:strRef>
              <c:f>Sheet1!$B$1</c:f>
              <c:strCache>
                <c:ptCount val="1"/>
                <c:pt idx="0">
                  <c:v>IRL</c:v>
                </c:pt>
              </c:strCache>
            </c:strRef>
          </c:tx>
          <c:spPr>
            <a:solidFill>
              <a:srgbClr val="3E4492"/>
            </a:solidFill>
            <a:effectLst/>
          </c:spPr>
          <c:invertIfNegative val="0"/>
          <c:cat>
            <c:strRef>
              <c:f>Sheet1!$A$2:$A$6</c:f>
              <c:strCache>
                <c:ptCount val="5"/>
                <c:pt idx="0">
                  <c:v>1–3m</c:v>
                </c:pt>
                <c:pt idx="1">
                  <c:v>4–6m</c:v>
                </c:pt>
                <c:pt idx="2">
                  <c:v>7–9m</c:v>
                </c:pt>
                <c:pt idx="3">
                  <c:v>10–12m</c:v>
                </c:pt>
                <c:pt idx="4">
                  <c:v>全体</c:v>
                </c:pt>
              </c:strCache>
            </c:strRef>
          </c:cat>
          <c:val>
            <c:numRef>
              <c:f>Sheet1!$B$2:$B$6</c:f>
              <c:numCache>
                <c:formatCode>General</c:formatCode>
                <c:ptCount val="5"/>
                <c:pt idx="0">
                  <c:v>0.82599999999999996</c:v>
                </c:pt>
                <c:pt idx="1">
                  <c:v>0.81299999999999994</c:v>
                </c:pt>
                <c:pt idx="2">
                  <c:v>0.751</c:v>
                </c:pt>
                <c:pt idx="3">
                  <c:v>0.754</c:v>
                </c:pt>
                <c:pt idx="4">
                  <c:v>0.78900000000000003</c:v>
                </c:pt>
              </c:numCache>
            </c:numRef>
          </c:val>
          <c:extLst>
            <c:ext xmlns:c16="http://schemas.microsoft.com/office/drawing/2014/chart" uri="{C3380CC4-5D6E-409C-BE32-E72D297353CC}">
              <c16:uniqueId val="{00000000-9C67-EC4C-BC33-7B4AAD9D9F5E}"/>
            </c:ext>
          </c:extLst>
        </c:ser>
        <c:ser>
          <c:idx val="1"/>
          <c:order val="1"/>
          <c:tx>
            <c:strRef>
              <c:f>Sheet1!$C$1</c:f>
              <c:strCache>
                <c:ptCount val="1"/>
                <c:pt idx="0">
                  <c:v>RF</c:v>
                </c:pt>
              </c:strCache>
            </c:strRef>
          </c:tx>
          <c:spPr>
            <a:solidFill>
              <a:srgbClr val="4B90B1"/>
            </a:solidFill>
            <a:effectLst/>
          </c:spPr>
          <c:invertIfNegative val="0"/>
          <c:cat>
            <c:strRef>
              <c:f>Sheet1!$A$2:$A$6</c:f>
              <c:strCache>
                <c:ptCount val="5"/>
                <c:pt idx="0">
                  <c:v>1–3m</c:v>
                </c:pt>
                <c:pt idx="1">
                  <c:v>4–6m</c:v>
                </c:pt>
                <c:pt idx="2">
                  <c:v>7–9m</c:v>
                </c:pt>
                <c:pt idx="3">
                  <c:v>10–12m</c:v>
                </c:pt>
                <c:pt idx="4">
                  <c:v>全体</c:v>
                </c:pt>
              </c:strCache>
            </c:strRef>
          </c:cat>
          <c:val>
            <c:numRef>
              <c:f>Sheet1!$C$2:$C$6</c:f>
              <c:numCache>
                <c:formatCode>General</c:formatCode>
                <c:ptCount val="5"/>
                <c:pt idx="0">
                  <c:v>0.79100000000000004</c:v>
                </c:pt>
                <c:pt idx="1">
                  <c:v>0.81200000000000006</c:v>
                </c:pt>
                <c:pt idx="2">
                  <c:v>0.79200000000000004</c:v>
                </c:pt>
                <c:pt idx="3">
                  <c:v>0.80600000000000005</c:v>
                </c:pt>
                <c:pt idx="4">
                  <c:v>0.80100000000000005</c:v>
                </c:pt>
              </c:numCache>
            </c:numRef>
          </c:val>
          <c:extLst>
            <c:ext xmlns:c16="http://schemas.microsoft.com/office/drawing/2014/chart" uri="{C3380CC4-5D6E-409C-BE32-E72D297353CC}">
              <c16:uniqueId val="{00000001-9C67-EC4C-BC33-7B4AAD9D9F5E}"/>
            </c:ext>
          </c:extLst>
        </c:ser>
        <c:ser>
          <c:idx val="2"/>
          <c:order val="2"/>
          <c:tx>
            <c:strRef>
              <c:f>Sheet1!$D$1</c:f>
              <c:strCache>
                <c:ptCount val="1"/>
                <c:pt idx="0">
                  <c:v>アンサンブル</c:v>
                </c:pt>
              </c:strCache>
            </c:strRef>
          </c:tx>
          <c:spPr>
            <a:solidFill>
              <a:srgbClr val="215044"/>
            </a:solidFill>
            <a:effectLst/>
          </c:spPr>
          <c:invertIfNegative val="0"/>
          <c:cat>
            <c:strRef>
              <c:f>Sheet1!$A$2:$A$6</c:f>
              <c:strCache>
                <c:ptCount val="5"/>
                <c:pt idx="0">
                  <c:v>1–3m</c:v>
                </c:pt>
                <c:pt idx="1">
                  <c:v>4–6m</c:v>
                </c:pt>
                <c:pt idx="2">
                  <c:v>7–9m</c:v>
                </c:pt>
                <c:pt idx="3">
                  <c:v>10–12m</c:v>
                </c:pt>
                <c:pt idx="4">
                  <c:v>全体</c:v>
                </c:pt>
              </c:strCache>
            </c:strRef>
          </c:cat>
          <c:val>
            <c:numRef>
              <c:f>Sheet1!$D$2:$D$6</c:f>
              <c:numCache>
                <c:formatCode>General</c:formatCode>
                <c:ptCount val="5"/>
                <c:pt idx="0">
                  <c:v>0.83799999999999997</c:v>
                </c:pt>
                <c:pt idx="1">
                  <c:v>0.84199999999999997</c:v>
                </c:pt>
                <c:pt idx="2">
                  <c:v>0.79900000000000004</c:v>
                </c:pt>
                <c:pt idx="3">
                  <c:v>0.80800000000000005</c:v>
                </c:pt>
                <c:pt idx="4">
                  <c:v>0.82299999999999995</c:v>
                </c:pt>
              </c:numCache>
            </c:numRef>
          </c:val>
          <c:extLst>
            <c:ext xmlns:c16="http://schemas.microsoft.com/office/drawing/2014/chart" uri="{C3380CC4-5D6E-409C-BE32-E72D297353CC}">
              <c16:uniqueId val="{00000002-9C67-EC4C-BC33-7B4AAD9D9F5E}"/>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595959"/>
                </a:solidFill>
                <a:latin typeface="Meiryo"/>
              </a:defRPr>
            </a:pPr>
            <a:endParaRPr lang="en-US"/>
          </a:p>
        </c:txPr>
        <c:crossAx val="2094734552"/>
        <c:crosses val="autoZero"/>
        <c:auto val="1"/>
        <c:lblAlgn val="ctr"/>
        <c:lblOffset val="100"/>
        <c:noMultiLvlLbl val="1"/>
      </c:catAx>
      <c:valAx>
        <c:axId val="2094734552"/>
        <c:scaling>
          <c:orientation val="minMax"/>
          <c:max val="0.88"/>
          <c:min val="0.65"/>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595959"/>
                </a:solidFill>
                <a:latin typeface="Arial"/>
              </a:defRPr>
            </a:pPr>
            <a:endParaRPr lang="en-US"/>
          </a:p>
        </c:txPr>
        <c:crossAx val="2094734554"/>
        <c:crosses val="autoZero"/>
        <c:crossBetween val="between"/>
        <c:majorUnit val="0.05"/>
      </c:valAx>
      <c:spPr>
        <a:noFill/>
        <a:ln>
          <a:noFill/>
        </a:ln>
        <a:effectLst/>
      </c:spPr>
    </c:plotArea>
    <c:legend>
      <c:legendPos val="t"/>
      <c:layout>
        <c:manualLayout>
          <c:xMode val="edge"/>
          <c:yMode val="edge"/>
          <c:x val="0.24471508487189891"/>
          <c:y val="0.1294597027772301"/>
          <c:w val="0.51056983025620217"/>
          <c:h val="0.11272466802797841"/>
        </c:manualLayout>
      </c:layout>
      <c:overlay val="0"/>
      <c:txPr>
        <a:bodyPr/>
        <a:lstStyle/>
        <a:p>
          <a:pPr>
            <a:defRPr sz="2000">
              <a:solidFill>
                <a:srgbClr val="262626"/>
              </a:solidFill>
              <a:latin typeface="Meiryo"/>
              <a:cs typeface="Meiryo"/>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000" b="0" i="0" u="none" strike="noStrike">
                <a:solidFill>
                  <a:srgbClr val="262626"/>
                </a:solidFill>
                <a:latin typeface="Meiryo"/>
              </a:defRPr>
            </a:pPr>
            <a:r>
              <a:rPr lang="en-US" sz="2000" b="0" i="0" u="none" strike="noStrike">
                <a:solidFill>
                  <a:srgbClr val="262626"/>
                </a:solidFill>
                <a:latin typeface="Meiryo"/>
              </a:rPr>
              <a:t>AOSP</a:t>
            </a:r>
          </a:p>
        </c:rich>
      </c:tx>
      <c:overlay val="0"/>
    </c:title>
    <c:autoTitleDeleted val="0"/>
    <c:plotArea>
      <c:layout>
        <c:manualLayout>
          <c:layoutTarget val="inner"/>
          <c:xMode val="edge"/>
          <c:yMode val="edge"/>
          <c:x val="8.7819257375423898E-2"/>
          <c:y val="0.22322086863739871"/>
          <c:w val="0.8933907104071358"/>
          <c:h val="0.6307290750983866"/>
        </c:manualLayout>
      </c:layout>
      <c:barChart>
        <c:barDir val="col"/>
        <c:grouping val="clustered"/>
        <c:varyColors val="0"/>
        <c:ser>
          <c:idx val="0"/>
          <c:order val="0"/>
          <c:tx>
            <c:strRef>
              <c:f>Sheet1!$B$1</c:f>
              <c:strCache>
                <c:ptCount val="1"/>
                <c:pt idx="0">
                  <c:v>IRL</c:v>
                </c:pt>
              </c:strCache>
            </c:strRef>
          </c:tx>
          <c:spPr>
            <a:solidFill>
              <a:srgbClr val="3E4492"/>
            </a:solidFill>
            <a:effectLst/>
          </c:spPr>
          <c:invertIfNegative val="0"/>
          <c:cat>
            <c:strRef>
              <c:f>Sheet1!$A$2:$A$6</c:f>
              <c:strCache>
                <c:ptCount val="5"/>
                <c:pt idx="0">
                  <c:v>1–3m</c:v>
                </c:pt>
                <c:pt idx="1">
                  <c:v>4–6m</c:v>
                </c:pt>
                <c:pt idx="2">
                  <c:v>7–9m</c:v>
                </c:pt>
                <c:pt idx="3">
                  <c:v>10–12m</c:v>
                </c:pt>
                <c:pt idx="4">
                  <c:v>全体</c:v>
                </c:pt>
              </c:strCache>
            </c:strRef>
          </c:cat>
          <c:val>
            <c:numRef>
              <c:f>Sheet1!$B$2:$B$6</c:f>
              <c:numCache>
                <c:formatCode>General</c:formatCode>
                <c:ptCount val="5"/>
                <c:pt idx="0">
                  <c:v>0.76900000000000002</c:v>
                </c:pt>
                <c:pt idx="1">
                  <c:v>0.69299999999999995</c:v>
                </c:pt>
                <c:pt idx="2">
                  <c:v>0.73699999999999999</c:v>
                </c:pt>
                <c:pt idx="3">
                  <c:v>0.71099999999999997</c:v>
                </c:pt>
                <c:pt idx="4">
                  <c:v>0.72099999999999997</c:v>
                </c:pt>
              </c:numCache>
            </c:numRef>
          </c:val>
          <c:extLst>
            <c:ext xmlns:c16="http://schemas.microsoft.com/office/drawing/2014/chart" uri="{C3380CC4-5D6E-409C-BE32-E72D297353CC}">
              <c16:uniqueId val="{00000000-F6E2-2240-BC39-FA0CDE29D9D6}"/>
            </c:ext>
          </c:extLst>
        </c:ser>
        <c:ser>
          <c:idx val="1"/>
          <c:order val="1"/>
          <c:tx>
            <c:strRef>
              <c:f>Sheet1!$C$1</c:f>
              <c:strCache>
                <c:ptCount val="1"/>
                <c:pt idx="0">
                  <c:v>RF</c:v>
                </c:pt>
              </c:strCache>
            </c:strRef>
          </c:tx>
          <c:spPr>
            <a:solidFill>
              <a:srgbClr val="4B90B1"/>
            </a:solidFill>
            <a:effectLst/>
          </c:spPr>
          <c:invertIfNegative val="0"/>
          <c:cat>
            <c:strRef>
              <c:f>Sheet1!$A$2:$A$6</c:f>
              <c:strCache>
                <c:ptCount val="5"/>
                <c:pt idx="0">
                  <c:v>1–3m</c:v>
                </c:pt>
                <c:pt idx="1">
                  <c:v>4–6m</c:v>
                </c:pt>
                <c:pt idx="2">
                  <c:v>7–9m</c:v>
                </c:pt>
                <c:pt idx="3">
                  <c:v>10–12m</c:v>
                </c:pt>
                <c:pt idx="4">
                  <c:v>全体</c:v>
                </c:pt>
              </c:strCache>
            </c:strRef>
          </c:cat>
          <c:val>
            <c:numRef>
              <c:f>Sheet1!$C$2:$C$6</c:f>
              <c:numCache>
                <c:formatCode>General</c:formatCode>
                <c:ptCount val="5"/>
                <c:pt idx="0">
                  <c:v>0.76300000000000001</c:v>
                </c:pt>
                <c:pt idx="1">
                  <c:v>0.76100000000000001</c:v>
                </c:pt>
                <c:pt idx="2">
                  <c:v>0.75700000000000001</c:v>
                </c:pt>
                <c:pt idx="3">
                  <c:v>0.76500000000000001</c:v>
                </c:pt>
                <c:pt idx="4">
                  <c:v>0.76200000000000001</c:v>
                </c:pt>
              </c:numCache>
            </c:numRef>
          </c:val>
          <c:extLst>
            <c:ext xmlns:c16="http://schemas.microsoft.com/office/drawing/2014/chart" uri="{C3380CC4-5D6E-409C-BE32-E72D297353CC}">
              <c16:uniqueId val="{00000001-F6E2-2240-BC39-FA0CDE29D9D6}"/>
            </c:ext>
          </c:extLst>
        </c:ser>
        <c:ser>
          <c:idx val="2"/>
          <c:order val="2"/>
          <c:tx>
            <c:strRef>
              <c:f>Sheet1!$D$1</c:f>
              <c:strCache>
                <c:ptCount val="1"/>
                <c:pt idx="0">
                  <c:v>アンサンブル</c:v>
                </c:pt>
              </c:strCache>
            </c:strRef>
          </c:tx>
          <c:spPr>
            <a:solidFill>
              <a:srgbClr val="215044"/>
            </a:solidFill>
            <a:effectLst/>
          </c:spPr>
          <c:invertIfNegative val="0"/>
          <c:cat>
            <c:strRef>
              <c:f>Sheet1!$A$2:$A$6</c:f>
              <c:strCache>
                <c:ptCount val="5"/>
                <c:pt idx="0">
                  <c:v>1–3m</c:v>
                </c:pt>
                <c:pt idx="1">
                  <c:v>4–6m</c:v>
                </c:pt>
                <c:pt idx="2">
                  <c:v>7–9m</c:v>
                </c:pt>
                <c:pt idx="3">
                  <c:v>10–12m</c:v>
                </c:pt>
                <c:pt idx="4">
                  <c:v>全体</c:v>
                </c:pt>
              </c:strCache>
            </c:strRef>
          </c:cat>
          <c:val>
            <c:numRef>
              <c:f>Sheet1!$D$2:$D$6</c:f>
              <c:numCache>
                <c:formatCode>General</c:formatCode>
                <c:ptCount val="5"/>
                <c:pt idx="0">
                  <c:v>0.78900000000000003</c:v>
                </c:pt>
                <c:pt idx="1">
                  <c:v>0.755</c:v>
                </c:pt>
                <c:pt idx="2">
                  <c:v>0.77300000000000002</c:v>
                </c:pt>
                <c:pt idx="3">
                  <c:v>0.76400000000000001</c:v>
                </c:pt>
                <c:pt idx="4">
                  <c:v>0.76900000000000002</c:v>
                </c:pt>
              </c:numCache>
            </c:numRef>
          </c:val>
          <c:extLst>
            <c:ext xmlns:c16="http://schemas.microsoft.com/office/drawing/2014/chart" uri="{C3380CC4-5D6E-409C-BE32-E72D297353CC}">
              <c16:uniqueId val="{00000002-F6E2-2240-BC39-FA0CDE29D9D6}"/>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595959"/>
                </a:solidFill>
                <a:latin typeface="Meiryo"/>
              </a:defRPr>
            </a:pPr>
            <a:endParaRPr lang="en-US"/>
          </a:p>
        </c:txPr>
        <c:crossAx val="2094734552"/>
        <c:crosses val="autoZero"/>
        <c:auto val="1"/>
        <c:lblAlgn val="ctr"/>
        <c:lblOffset val="100"/>
        <c:noMultiLvlLbl val="1"/>
      </c:catAx>
      <c:valAx>
        <c:axId val="2094734552"/>
        <c:scaling>
          <c:orientation val="minMax"/>
          <c:max val="0.88"/>
          <c:min val="0.65"/>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595959"/>
                </a:solidFill>
                <a:latin typeface="Arial"/>
              </a:defRPr>
            </a:pPr>
            <a:endParaRPr lang="en-US"/>
          </a:p>
        </c:txPr>
        <c:crossAx val="2094734554"/>
        <c:crosses val="autoZero"/>
        <c:crossBetween val="between"/>
        <c:majorUnit val="0.05"/>
      </c:valAx>
      <c:spPr>
        <a:noFill/>
        <a:ln>
          <a:noFill/>
        </a:ln>
        <a:effectLst/>
      </c:spPr>
    </c:plotArea>
    <c:legend>
      <c:legendPos val="t"/>
      <c:layout>
        <c:manualLayout>
          <c:xMode val="edge"/>
          <c:yMode val="edge"/>
          <c:x val="0.23959053063077881"/>
          <c:y val="0.1294597027772301"/>
          <c:w val="0.51056983025620217"/>
          <c:h val="0.11272466802797841"/>
        </c:manualLayout>
      </c:layout>
      <c:overlay val="0"/>
      <c:txPr>
        <a:bodyPr/>
        <a:lstStyle/>
        <a:p>
          <a:pPr>
            <a:defRPr sz="2000">
              <a:solidFill>
                <a:srgbClr val="262626"/>
              </a:solidFill>
              <a:latin typeface="Meiryo"/>
              <a:cs typeface="Meiryo"/>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F53CC-D7B6-2047-BA54-1065B79B1C15}" type="datetimeFigureOut">
              <a:rPr kumimoji="1" lang="ja-JP" altLang="en-US" smtClean="0"/>
              <a:t>2026/9/11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44A318-3EA9-0145-BBB8-D89E578C6711}" type="slidenum">
              <a:rPr kumimoji="1" lang="ja-JP" altLang="en-US" smtClean="0"/>
              <a:t>‹#›</a:t>
            </a:fld>
            <a:endParaRPr kumimoji="1" lang="ja-JP" altLang="en-US"/>
          </a:p>
        </p:txBody>
      </p:sp>
    </p:spTree>
    <p:extLst>
      <p:ext uri="{BB962C8B-B14F-4D97-AF65-F5344CB8AC3E}">
        <p14:creationId xmlns:p14="http://schemas.microsoft.com/office/powerpoint/2010/main" val="1344893139"/>
      </p:ext>
    </p:extLst>
  </p:cSld>
  <p:clrMap bg1="lt1" tx1="dk1" bg2="lt2" tx2="dk2" accent1="accent1" accent2="accent2" accent3="accent3" accent4="accent4" accent5="accent5" accent6="accent6" hlink="hlink" folHlink="folHlink"/>
  <p:notesStyle>
    <a:lvl1pPr marL="0" algn="l" defTabSz="1300277" rtl="0" eaLnBrk="1" latinLnBrk="0" hangingPunct="1">
      <a:defRPr kumimoji="1" sz="1706" kern="1200">
        <a:solidFill>
          <a:schemeClr val="tx1"/>
        </a:solidFill>
        <a:latin typeface="+mn-lt"/>
        <a:ea typeface="+mn-ea"/>
        <a:cs typeface="+mn-cs"/>
      </a:defRPr>
    </a:lvl1pPr>
    <a:lvl2pPr marL="650138" algn="l" defTabSz="1300277" rtl="0" eaLnBrk="1" latinLnBrk="0" hangingPunct="1">
      <a:defRPr kumimoji="1" sz="1706" kern="1200">
        <a:solidFill>
          <a:schemeClr val="tx1"/>
        </a:solidFill>
        <a:latin typeface="+mn-lt"/>
        <a:ea typeface="+mn-ea"/>
        <a:cs typeface="+mn-cs"/>
      </a:defRPr>
    </a:lvl2pPr>
    <a:lvl3pPr marL="1300277" algn="l" defTabSz="1300277" rtl="0" eaLnBrk="1" latinLnBrk="0" hangingPunct="1">
      <a:defRPr kumimoji="1" sz="1706" kern="1200">
        <a:solidFill>
          <a:schemeClr val="tx1"/>
        </a:solidFill>
        <a:latin typeface="+mn-lt"/>
        <a:ea typeface="+mn-ea"/>
        <a:cs typeface="+mn-cs"/>
      </a:defRPr>
    </a:lvl3pPr>
    <a:lvl4pPr marL="1950415" algn="l" defTabSz="1300277" rtl="0" eaLnBrk="1" latinLnBrk="0" hangingPunct="1">
      <a:defRPr kumimoji="1" sz="1706" kern="1200">
        <a:solidFill>
          <a:schemeClr val="tx1"/>
        </a:solidFill>
        <a:latin typeface="+mn-lt"/>
        <a:ea typeface="+mn-ea"/>
        <a:cs typeface="+mn-cs"/>
      </a:defRPr>
    </a:lvl4pPr>
    <a:lvl5pPr marL="2600554" algn="l" defTabSz="1300277" rtl="0" eaLnBrk="1" latinLnBrk="0" hangingPunct="1">
      <a:defRPr kumimoji="1" sz="1706" kern="1200">
        <a:solidFill>
          <a:schemeClr val="tx1"/>
        </a:solidFill>
        <a:latin typeface="+mn-lt"/>
        <a:ea typeface="+mn-ea"/>
        <a:cs typeface="+mn-cs"/>
      </a:defRPr>
    </a:lvl5pPr>
    <a:lvl6pPr marL="3250692" algn="l" defTabSz="1300277" rtl="0" eaLnBrk="1" latinLnBrk="0" hangingPunct="1">
      <a:defRPr kumimoji="1" sz="1706" kern="1200">
        <a:solidFill>
          <a:schemeClr val="tx1"/>
        </a:solidFill>
        <a:latin typeface="+mn-lt"/>
        <a:ea typeface="+mn-ea"/>
        <a:cs typeface="+mn-cs"/>
      </a:defRPr>
    </a:lvl6pPr>
    <a:lvl7pPr marL="3900830" algn="l" defTabSz="1300277" rtl="0" eaLnBrk="1" latinLnBrk="0" hangingPunct="1">
      <a:defRPr kumimoji="1" sz="1706" kern="1200">
        <a:solidFill>
          <a:schemeClr val="tx1"/>
        </a:solidFill>
        <a:latin typeface="+mn-lt"/>
        <a:ea typeface="+mn-ea"/>
        <a:cs typeface="+mn-cs"/>
      </a:defRPr>
    </a:lvl7pPr>
    <a:lvl8pPr marL="4550969" algn="l" defTabSz="1300277" rtl="0" eaLnBrk="1" latinLnBrk="0" hangingPunct="1">
      <a:defRPr kumimoji="1" sz="1706" kern="1200">
        <a:solidFill>
          <a:schemeClr val="tx1"/>
        </a:solidFill>
        <a:latin typeface="+mn-lt"/>
        <a:ea typeface="+mn-ea"/>
        <a:cs typeface="+mn-cs"/>
      </a:defRPr>
    </a:lvl8pPr>
    <a:lvl9pPr marL="5201107" algn="l" defTabSz="1300277" rtl="0" eaLnBrk="1" latinLnBrk="0" hangingPunct="1">
      <a:defRPr kumimoji="1" sz="17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1</a:t>
            </a:fld>
            <a:endParaRPr kumimoji="1" lang="ja-JP" altLang="en-US"/>
          </a:p>
        </p:txBody>
      </p:sp>
    </p:spTree>
    <p:extLst>
      <p:ext uri="{BB962C8B-B14F-4D97-AF65-F5344CB8AC3E}">
        <p14:creationId xmlns:p14="http://schemas.microsoft.com/office/powerpoint/2010/main" val="30558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CA4E7-1123-8B14-2ADC-9AAD042907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980B26-587A-34D1-BA27-F31F57B2E75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121AD25-A154-791D-1465-196E045FAC71}"/>
              </a:ext>
            </a:extLst>
          </p:cNvPr>
          <p:cNvSpPr>
            <a:spLocks noGrp="1"/>
          </p:cNvSpPr>
          <p:nvPr>
            <p:ph type="body" idx="1"/>
          </p:nvPr>
        </p:nvSpPr>
        <p:spPr/>
        <p:txBody>
          <a:bodyPr/>
          <a:lstStyle/>
          <a:p>
            <a:r>
              <a:rPr kumimoji="1" lang="ja-JP" altLang="en-US"/>
              <a:t>まず，研究の背景として，</a:t>
            </a:r>
            <a:r>
              <a:rPr kumimoji="1" lang="en-US" altLang="ja-JP" dirty="0"/>
              <a:t>OSS</a:t>
            </a:r>
            <a:r>
              <a:rPr kumimoji="1" lang="ja-JP" altLang="en-US"/>
              <a:t>は世界中に地理的に分散した開発者が自主的にプロジェクトに参加するバザール方式によって多様なボランディア開発者の貢献により支えられています．</a:t>
            </a:r>
            <a:endParaRPr kumimoji="1" lang="en-US" altLang="ja-JP" dirty="0"/>
          </a:p>
          <a:p>
            <a:r>
              <a:rPr kumimoji="1" lang="ja-JP" altLang="en-US"/>
              <a:t>このバザール方式では，知的探究心，技術向上，実績といた様々な動機にり開発者はプロジェクトに貢献しています．</a:t>
            </a:r>
            <a:endParaRPr kumimoji="1" lang="en-US" altLang="ja-JP" dirty="0"/>
          </a:p>
          <a:p>
            <a:r>
              <a:rPr kumimoji="1" lang="ja-JP" altLang="en-US"/>
              <a:t>３０</a:t>
            </a:r>
            <a:endParaRPr kumimoji="1" lang="en-US" altLang="ja-JP" dirty="0"/>
          </a:p>
        </p:txBody>
      </p:sp>
      <p:sp>
        <p:nvSpPr>
          <p:cNvPr id="4" name="スライド番号プレースホルダー 3">
            <a:extLst>
              <a:ext uri="{FF2B5EF4-FFF2-40B4-BE49-F238E27FC236}">
                <a16:creationId xmlns:a16="http://schemas.microsoft.com/office/drawing/2014/main" id="{5083D757-1D17-5DDC-20C1-2CBA5FDFFE75}"/>
              </a:ext>
            </a:extLst>
          </p:cNvPr>
          <p:cNvSpPr>
            <a:spLocks noGrp="1"/>
          </p:cNvSpPr>
          <p:nvPr>
            <p:ph type="sldNum" sz="quarter" idx="5"/>
          </p:nvPr>
        </p:nvSpPr>
        <p:spPr/>
        <p:txBody>
          <a:bodyPr/>
          <a:lstStyle/>
          <a:p>
            <a:fld id="{0844A318-3EA9-0145-BBB8-D89E578C6711}" type="slidenum">
              <a:rPr kumimoji="1" lang="ja-JP" altLang="en-US" smtClean="0"/>
              <a:t>2</a:t>
            </a:fld>
            <a:endParaRPr kumimoji="1" lang="ja-JP" altLang="en-US"/>
          </a:p>
        </p:txBody>
      </p:sp>
    </p:spTree>
    <p:extLst>
      <p:ext uri="{BB962C8B-B14F-4D97-AF65-F5344CB8AC3E}">
        <p14:creationId xmlns:p14="http://schemas.microsoft.com/office/powerpoint/2010/main" val="1213918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5B06-E9C7-A6D1-8BD7-CB12A686305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4CDBCCE-254D-D395-0FD9-33861CCD89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EB0D02-2DC4-BE1F-7A90-F120A4C15771}"/>
              </a:ext>
            </a:extLst>
          </p:cNvPr>
          <p:cNvSpPr>
            <a:spLocks noGrp="1"/>
          </p:cNvSpPr>
          <p:nvPr>
            <p:ph type="body" idx="1"/>
          </p:nvPr>
        </p:nvSpPr>
        <p:spPr/>
        <p:txBody>
          <a:bodyPr/>
          <a:lstStyle/>
          <a:p>
            <a:r>
              <a:rPr kumimoji="1" lang="ja-JP" altLang="en-US" sz="1800"/>
              <a:t>しかし，この自由な開発形態であるバザール方式にはデメリットも存在します．</a:t>
            </a:r>
            <a:r>
              <a:rPr kumimoji="1" lang="en-US" altLang="ja-JP" sz="1800" dirty="0"/>
              <a:t>OSS</a:t>
            </a:r>
            <a:r>
              <a:rPr kumimoji="1" lang="ja-JP" altLang="en-US" sz="1800"/>
              <a:t>ではボランティか開発者が主体であるため，組織としての強制力が働かないため，貢献するタイミングや量が不安定であり開発におけるリソースを見積もるのが困難です．</a:t>
            </a:r>
          </a:p>
          <a:p>
            <a:r>
              <a:rPr kumimoji="1" lang="ja-JP" altLang="en-US" sz="1800"/>
              <a:t>また開発者の流動性も高く，実際に多くの開発者は一度の貢献でプロジェクトから離脱してしまします．</a:t>
            </a:r>
          </a:p>
          <a:p>
            <a:r>
              <a:rPr kumimoji="1" lang="ja-JP" altLang="en-US" sz="1800"/>
              <a:t>このような開発者の離脱が相次ぐと、最終的にプロジェクトの保守運用ができなくなってしまいます</a:t>
            </a:r>
          </a:p>
          <a:p>
            <a:endParaRPr kumimoji="1" lang="en-US" altLang="ja-JP" sz="1800" dirty="0"/>
          </a:p>
          <a:p>
            <a:r>
              <a:rPr kumimoji="1" lang="en-US" altLang="ja-JP" sz="1800" dirty="0"/>
              <a:t>1:05</a:t>
            </a:r>
            <a:endParaRPr kumimoji="1" lang="ja-JP" altLang="en-US" sz="1800"/>
          </a:p>
          <a:p>
            <a:endParaRPr kumimoji="1" lang="ja-JP" altLang="en-US" sz="1800"/>
          </a:p>
          <a:p>
            <a:endParaRPr kumimoji="1" lang="ja-JP" altLang="en-US" sz="1800"/>
          </a:p>
          <a:p>
            <a:endParaRPr kumimoji="1" lang="en-US" altLang="ja-JP" sz="1800" dirty="0"/>
          </a:p>
        </p:txBody>
      </p:sp>
      <p:sp>
        <p:nvSpPr>
          <p:cNvPr id="4" name="スライド番号プレースホルダー 3">
            <a:extLst>
              <a:ext uri="{FF2B5EF4-FFF2-40B4-BE49-F238E27FC236}">
                <a16:creationId xmlns:a16="http://schemas.microsoft.com/office/drawing/2014/main" id="{0F6AE592-0CCB-7A64-B163-40FCDEC1D082}"/>
              </a:ext>
            </a:extLst>
          </p:cNvPr>
          <p:cNvSpPr>
            <a:spLocks noGrp="1"/>
          </p:cNvSpPr>
          <p:nvPr>
            <p:ph type="sldNum" sz="quarter" idx="5"/>
          </p:nvPr>
        </p:nvSpPr>
        <p:spPr/>
        <p:txBody>
          <a:bodyPr/>
          <a:lstStyle/>
          <a:p>
            <a:fld id="{0844A318-3EA9-0145-BBB8-D89E578C6711}" type="slidenum">
              <a:rPr kumimoji="1" lang="ja-JP" altLang="en-US" smtClean="0"/>
              <a:t>3</a:t>
            </a:fld>
            <a:endParaRPr kumimoji="1" lang="ja-JP" altLang="en-US"/>
          </a:p>
        </p:txBody>
      </p:sp>
    </p:spTree>
    <p:extLst>
      <p:ext uri="{BB962C8B-B14F-4D97-AF65-F5344CB8AC3E}">
        <p14:creationId xmlns:p14="http://schemas.microsoft.com/office/powerpoint/2010/main" val="758823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E0FCF-BDAF-2898-3E39-C087628F14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EB8E57-EAE4-8064-3DAE-182BF1C8485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954393-B88D-14B1-85FB-91B689E5554C}"/>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の課題に対して、従来研究ではまず開発者の継続・離脱要因について分析されており、個人要因と組織要因の両方が影響することが分かっています。さらに、ある時点のレビュー依頼に対して開発者が貢献するか否かを予測するタスク予測や、参加後</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か月の累積活動量から</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年後以降も貢献するかを予測する継続予測があります。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71976AC8-3429-A20C-155A-28B1A374E112}"/>
              </a:ext>
            </a:extLst>
          </p:cNvPr>
          <p:cNvSpPr>
            <a:spLocks noGrp="1"/>
          </p:cNvSpPr>
          <p:nvPr>
            <p:ph type="sldNum" sz="quarter" idx="5"/>
          </p:nvPr>
        </p:nvSpPr>
        <p:spPr/>
        <p:txBody>
          <a:bodyPr/>
          <a:lstStyle/>
          <a:p>
            <a:fld id="{0844A318-3EA9-0145-BBB8-D89E578C6711}" type="slidenum">
              <a:rPr kumimoji="1" lang="ja-JP" altLang="en-US" smtClean="0"/>
              <a:t>4</a:t>
            </a:fld>
            <a:endParaRPr kumimoji="1" lang="ja-JP" altLang="en-US"/>
          </a:p>
        </p:txBody>
      </p:sp>
    </p:spTree>
    <p:extLst>
      <p:ext uri="{BB962C8B-B14F-4D97-AF65-F5344CB8AC3E}">
        <p14:creationId xmlns:p14="http://schemas.microsoft.com/office/powerpoint/2010/main" val="3364897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4AE13-55AB-9634-3429-9A142C84BA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F8DE41-34F4-93F1-CFFD-8B6BADEE9D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79C6BA-B122-6BFE-0B76-4732C5D32A27}"/>
              </a:ext>
            </a:extLst>
          </p:cNvPr>
          <p:cNvSpPr>
            <a:spLocks noGrp="1"/>
          </p:cNvSpPr>
          <p:nvPr>
            <p:ph type="body" idx="1"/>
          </p:nvPr>
        </p:nvSpPr>
        <p:spPr/>
        <p:txBody>
          <a:bodyPr/>
          <a:lstStyle/>
          <a:p>
            <a:r>
              <a:rPr lang="ja-JP" altLang="en-US"/>
              <a:t>ここからは従来研究と本研究の違いについてです</a:t>
            </a:r>
            <a:endParaRPr lang="en-US" altLang="ja-JP" dirty="0"/>
          </a:p>
          <a:p>
            <a:r>
              <a:rPr lang="ja-JP" altLang="en-US"/>
              <a:t>従来研究は、図の左側にあるように、予測基準点から</a:t>
            </a:r>
            <a:r>
              <a:rPr lang="en-US" altLang="ja-JP" dirty="0"/>
              <a:t>『12</a:t>
            </a:r>
            <a:r>
              <a:rPr lang="ja-JP" altLang="en-US"/>
              <a:t>ヶ月後</a:t>
            </a:r>
            <a:r>
              <a:rPr lang="en-US" altLang="ja-JP" dirty="0"/>
              <a:t>』</a:t>
            </a:r>
            <a:r>
              <a:rPr lang="ja-JP" altLang="en-US"/>
              <a:t>といった</a:t>
            </a:r>
            <a:r>
              <a:rPr lang="ja-JP" altLang="en-US" b="1"/>
              <a:t>単一時点以降に貢献があるか否かを大まかに予測するもの</a:t>
            </a:r>
            <a:r>
              <a:rPr lang="ja-JP" altLang="en-US"/>
              <a:t>でした。しかしこの枠組みでは、開発者が途中で一時的に離脱したり、その後に復帰したりするような、動的な時系列パターンを捉えることができません。 </a:t>
            </a:r>
            <a:endParaRPr lang="en-US" altLang="ja-JP" dirty="0"/>
          </a:p>
          <a:p>
            <a:r>
              <a:rPr lang="ja-JP" altLang="en-US" b="0" i="0">
                <a:solidFill>
                  <a:srgbClr val="334155"/>
                </a:solidFill>
                <a:effectLst/>
                <a:latin typeface="Urbanist"/>
              </a:rPr>
              <a:t>さらに，予測の入力には基準点以前のデータの「累積値」や「平均値」を用いており、その人がどう成長してきたか、あるいはどう活動ペースが落ちてきたかという過程は無視されていました。</a:t>
            </a:r>
            <a:endParaRPr lang="en-US" altLang="ja-JP" dirty="0"/>
          </a:p>
          <a:p>
            <a:endParaRPr lang="en-US" altLang="ja-JP" dirty="0"/>
          </a:p>
          <a:p>
            <a:r>
              <a:rPr lang="ja-JP" altLang="en-US"/>
              <a:t>そこで本研究では、図の右側のように、</a:t>
            </a:r>
            <a:r>
              <a:rPr lang="ja-JP" altLang="en-US" b="1"/>
              <a:t>将来の貢献を</a:t>
            </a:r>
            <a:r>
              <a:rPr lang="en-US" altLang="ja-JP" b="1" dirty="0"/>
              <a:t>3</a:t>
            </a:r>
            <a:r>
              <a:rPr lang="ja-JP" altLang="en-US" b="1"/>
              <a:t>ヶ月ごとの区間に分割し、連続的に予測する枠組み</a:t>
            </a:r>
            <a:r>
              <a:rPr lang="ja-JP" altLang="en-US"/>
              <a:t>を提案します。基準点以前の特徴量の累積値だけで判断するのではなく、</a:t>
            </a:r>
            <a:r>
              <a:rPr lang="en-US" altLang="ja-JP" dirty="0"/>
              <a:t>『</a:t>
            </a:r>
            <a:r>
              <a:rPr lang="ja-JP" altLang="en-US"/>
              <a:t>変化の過程</a:t>
            </a:r>
            <a:r>
              <a:rPr lang="en-US" altLang="ja-JP" dirty="0"/>
              <a:t>』</a:t>
            </a:r>
            <a:r>
              <a:rPr lang="ja-JP" altLang="en-US"/>
              <a:t>も用いることで、開発者の一時的な離脱や復帰といった時系列パターンを予測できるようにします。」</a:t>
            </a:r>
            <a:endParaRPr lang="en-US" altLang="ja-JP" dirty="0"/>
          </a:p>
          <a:p>
            <a:endParaRPr lang="en-US" altLang="ja-JP" dirty="0"/>
          </a:p>
          <a:p>
            <a:r>
              <a:rPr lang="en-US" altLang="ja-JP" dirty="0"/>
              <a:t>230</a:t>
            </a:r>
          </a:p>
        </p:txBody>
      </p:sp>
      <p:sp>
        <p:nvSpPr>
          <p:cNvPr id="4" name="スライド番号プレースホルダー 3">
            <a:extLst>
              <a:ext uri="{FF2B5EF4-FFF2-40B4-BE49-F238E27FC236}">
                <a16:creationId xmlns:a16="http://schemas.microsoft.com/office/drawing/2014/main" id="{F6CFEFBD-E0C2-09F3-B442-EFE879985E3F}"/>
              </a:ext>
            </a:extLst>
          </p:cNvPr>
          <p:cNvSpPr>
            <a:spLocks noGrp="1"/>
          </p:cNvSpPr>
          <p:nvPr>
            <p:ph type="sldNum" sz="quarter" idx="5"/>
          </p:nvPr>
        </p:nvSpPr>
        <p:spPr/>
        <p:txBody>
          <a:bodyPr/>
          <a:lstStyle/>
          <a:p>
            <a:fld id="{0844A318-3EA9-0145-BBB8-D89E578C6711}" type="slidenum">
              <a:rPr kumimoji="1" lang="ja-JP" altLang="en-US" smtClean="0"/>
              <a:t>5</a:t>
            </a:fld>
            <a:endParaRPr kumimoji="1" lang="ja-JP" altLang="en-US"/>
          </a:p>
        </p:txBody>
      </p:sp>
    </p:spTree>
    <p:extLst>
      <p:ext uri="{BB962C8B-B14F-4D97-AF65-F5344CB8AC3E}">
        <p14:creationId xmlns:p14="http://schemas.microsoft.com/office/powerpoint/2010/main" val="663149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76DD0-2C40-ED95-5D68-73759BBBA4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F442C8-8513-A826-7435-7B81A9E935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80A9C0-CEFA-DB91-FEC2-D376451D6C4D}"/>
              </a:ext>
            </a:extLst>
          </p:cNvPr>
          <p:cNvSpPr>
            <a:spLocks noGrp="1"/>
          </p:cNvSpPr>
          <p:nvPr>
            <p:ph type="body" idx="1"/>
          </p:nvPr>
        </p:nvSpPr>
        <p:spPr/>
        <p:txBody>
          <a:bodyPr/>
          <a:lstStyle/>
          <a:p>
            <a:pPr marL="0" marR="0" lvl="0" indent="0" algn="l" defTabSz="1300277" rtl="0" eaLnBrk="1" fontAlgn="auto" latinLnBrk="0" hangingPunct="1">
              <a:lnSpc>
                <a:spcPct val="150000"/>
              </a:lnSpc>
              <a:spcBef>
                <a:spcPts val="0"/>
              </a:spcBef>
              <a:spcAft>
                <a:spcPts val="1000"/>
              </a:spcAft>
              <a:buClrTx/>
              <a:buSzTx/>
              <a:buFontTx/>
              <a:buNone/>
              <a:tabLst/>
              <a:defRPr/>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予測対象の粒度にも違いがあります。従来研究は開発者単位で、「この開発者は将来も活動しているか」を予測していましたが、開発者がプロジェクト全体には残っていても、特定のモジュールをレビューできる人がいなければ、そのモジュールの保守は立ち行かなくなります。そこで本研究では、従来の開発者が</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nova</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プロジェクトに貢献するかという粒度ではなく、</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nova/compute</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というディレクトリに貢献するかという、開発者</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ディレクトリという単位で、「このディレクトリに、将来この開発者は貢献するか」を予測します。これにより、モジュール単位で貢献者を確保できるかどうかを見積もることが可能になります。</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7D2912D6-E807-5FFA-0B85-1E72DFE14C29}"/>
              </a:ext>
            </a:extLst>
          </p:cNvPr>
          <p:cNvSpPr>
            <a:spLocks noGrp="1"/>
          </p:cNvSpPr>
          <p:nvPr>
            <p:ph type="sldNum" sz="quarter" idx="5"/>
          </p:nvPr>
        </p:nvSpPr>
        <p:spPr/>
        <p:txBody>
          <a:bodyPr/>
          <a:lstStyle/>
          <a:p>
            <a:fld id="{0844A318-3EA9-0145-BBB8-D89E578C6711}" type="slidenum">
              <a:rPr kumimoji="1" lang="ja-JP" altLang="en-US" smtClean="0"/>
              <a:t>6</a:t>
            </a:fld>
            <a:endParaRPr kumimoji="1" lang="ja-JP" altLang="en-US"/>
          </a:p>
        </p:txBody>
      </p:sp>
    </p:spTree>
    <p:extLst>
      <p:ext uri="{BB962C8B-B14F-4D97-AF65-F5344CB8AC3E}">
        <p14:creationId xmlns:p14="http://schemas.microsoft.com/office/powerpoint/2010/main" val="3072390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以上を踏まえた本研究の目的は、モジュール単位で、開発者の離脱・復帰などの時系列パターンを考慮しながら、将来のレビュー貢献を連続的に予測することです。</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そのキーアイデアは、開発者の選択を累積特徴量ではなく軌跡として捉え、逆強化学習によってその判断基準を学習することです。</a:t>
            </a: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a:lnSpc>
                <a:spcPct val="150000"/>
              </a:lnSpc>
              <a:spcAft>
                <a:spcPts val="1000"/>
              </a:spcAft>
            </a:pP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従来の累積統計量で、月ごとの承諾・非承諾を集計するだけでは、開発者</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B</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は承諾率では同じと判断され</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てしまします．そのため，</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いつどの順に承諾があったのかを区別できません。</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そこで本研究では、状態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s</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をレビュー履歴、行動</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を承諾・拒否とし、各時点で次の状態へ遷移する軌跡として学習します。他の選択肢もあった中で繰り返された選択から報酬</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rθ</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(s, a)</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を逆算する逆強化学習を用いることで、報酬が高い行動ほど選ばれやすい形で承諾確率、つまり貢献確率を出力します。</a:t>
            </a:r>
            <a:endParaRPr lang="ja-JP" altLang="ja-JP" sz="1800">
              <a:effectLst/>
              <a:latin typeface="Times New Roman" panose="02020603050405020304" pitchFamily="18" charset="0"/>
              <a:ea typeface="游明朝" panose="02020400000000000000" pitchFamily="18" charset="-128"/>
            </a:endParaRPr>
          </a:p>
          <a:p>
            <a:endParaRPr kumimoji="1" lang="en-US" altLang="ja-JP" dirty="0"/>
          </a:p>
          <a:p>
            <a:r>
              <a:rPr kumimoji="1" lang="ja-JP" altLang="en-US"/>
              <a:t>４４０</a:t>
            </a:r>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7</a:t>
            </a:fld>
            <a:endParaRPr kumimoji="1" lang="ja-JP" altLang="en-US"/>
          </a:p>
        </p:txBody>
      </p:sp>
    </p:spTree>
    <p:extLst>
      <p:ext uri="{BB962C8B-B14F-4D97-AF65-F5344CB8AC3E}">
        <p14:creationId xmlns:p14="http://schemas.microsoft.com/office/powerpoint/2010/main" val="330434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2D9B-0554-464A-4F03-CE2DC2F7BC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95FD31-82DB-D7EC-8423-C8B93834A20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442EF0-F8F8-DBA7-C2A0-707D32D7CD8A}"/>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以上を踏まえた本研究の目的は、モジュール単位で、開発者の離脱・復帰などの時系列パターンを考慮しながら、将来のレビュー貢献を連続的に予測することです。</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そのキーアイデアは、開発者を「レビュー依頼に対して承諾または拒否を選ぶ主体」として捉え、逆強化学習によってその判断基準を学習することです。累積統計量で月ごとの承諾・非承諾を集計するだけでは、承諾率は出せてもいつ活動が止まったかは平均に埋もれてしまいます。そこで状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s</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をレビュー履歴、行動</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承諾・拒否とし、各時点で次の状態へ遷移する軌跡として学習します。開発者の貢献動機は人によって多様なため報酬関数を人手で設計するのは困難ですが、他の選択肢もあった中で繰り返された選択から報酬</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rθ</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(s, a)</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を逆算する逆強化学習を用いることで、報酬が高い行動ほど選ばれやすい形で承諾確率、つまり貢献確率を出力します。</a:t>
            </a:r>
            <a:endParaRPr lang="ja-JP" altLang="ja-JP" sz="1800">
              <a:effectLst/>
              <a:latin typeface="Times New Roman" panose="02020603050405020304" pitchFamily="18" charset="0"/>
              <a:ea typeface="游明朝" panose="02020400000000000000" pitchFamily="18" charset="-128"/>
            </a:endParaRPr>
          </a:p>
          <a:p>
            <a:endParaRPr kumimoji="1" lang="ja-JP" altLang="en-US"/>
          </a:p>
        </p:txBody>
      </p:sp>
      <p:sp>
        <p:nvSpPr>
          <p:cNvPr id="4" name="スライド番号プレースホルダー 3">
            <a:extLst>
              <a:ext uri="{FF2B5EF4-FFF2-40B4-BE49-F238E27FC236}">
                <a16:creationId xmlns:a16="http://schemas.microsoft.com/office/drawing/2014/main" id="{87731B05-446F-8FA3-E175-46FC6DE76163}"/>
              </a:ext>
            </a:extLst>
          </p:cNvPr>
          <p:cNvSpPr>
            <a:spLocks noGrp="1"/>
          </p:cNvSpPr>
          <p:nvPr>
            <p:ph type="sldNum" sz="quarter" idx="5"/>
          </p:nvPr>
        </p:nvSpPr>
        <p:spPr/>
        <p:txBody>
          <a:bodyPr/>
          <a:lstStyle/>
          <a:p>
            <a:fld id="{0844A318-3EA9-0145-BBB8-D89E578C6711}" type="slidenum">
              <a:rPr kumimoji="1" lang="ja-JP" altLang="en-US" smtClean="0"/>
              <a:t>8</a:t>
            </a:fld>
            <a:endParaRPr kumimoji="1" lang="ja-JP" altLang="en-US"/>
          </a:p>
        </p:txBody>
      </p:sp>
    </p:spTree>
    <p:extLst>
      <p:ext uri="{BB962C8B-B14F-4D97-AF65-F5344CB8AC3E}">
        <p14:creationId xmlns:p14="http://schemas.microsoft.com/office/powerpoint/2010/main" val="2161898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アプローチの全体像です。開発者</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ディレクトリのペアについて、予測時点</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t0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から</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か月ずつ、</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W1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から</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W4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期間を予測する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つのモデルを作成します。</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t0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より前が訓練期間、後が評価期間で、予測期間が先になるほど訓練期間</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と評価期間</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の間にリーク防止期間を設け、予測したい期間の情報が特徴量に混ざらないようにしています。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9</a:t>
            </a:fld>
            <a:endParaRPr kumimoji="1" lang="ja-JP" altLang="en-US"/>
          </a:p>
        </p:txBody>
      </p:sp>
    </p:spTree>
    <p:extLst>
      <p:ext uri="{BB962C8B-B14F-4D97-AF65-F5344CB8AC3E}">
        <p14:creationId xmlns:p14="http://schemas.microsoft.com/office/powerpoint/2010/main" val="269430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52877-405A-7894-7CDA-A7547F3E88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35A1CA-14DB-F3C7-FAD3-B5A386B29C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C319D76-CCFF-EDE1-1331-A8A197E7C90D}"/>
              </a:ext>
            </a:extLst>
          </p:cNvPr>
          <p:cNvSpPr>
            <a:spLocks noGrp="1"/>
          </p:cNvSpPr>
          <p:nvPr>
            <p:ph type="body" idx="1"/>
          </p:nvPr>
        </p:nvSpPr>
        <p:spPr/>
        <p:txBody>
          <a:bodyPr/>
          <a:lstStyle/>
          <a:p>
            <a:pPr>
              <a:lnSpc>
                <a:spcPct val="150000"/>
              </a:lnSpc>
              <a:spcAft>
                <a:spcPts val="1000"/>
              </a:spcAft>
            </a:pPr>
            <a:endParaRPr lang="en-US" altLang="ja-JP" sz="1800" dirty="0">
              <a:effectLst/>
              <a:latin typeface="Times New Roman" panose="02020603050405020304" pitchFamily="18" charset="0"/>
              <a:ea typeface="Yu Gothic" panose="020B0400000000000000" pitchFamily="34"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学習方法を、</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か月後の予測を例に説明します。</a:t>
            </a:r>
            <a:endParaRPr lang="ja-JP" altLang="ja-JP" sz="1800">
              <a:effectLst/>
              <a:latin typeface="Times New Roman" panose="02020603050405020304" pitchFamily="18" charset="0"/>
              <a:ea typeface="游明朝" panose="02020400000000000000" pitchFamily="18" charset="-128"/>
            </a:endParaRPr>
          </a:p>
          <a:p>
            <a:r>
              <a:rPr kumimoji="1" lang="en-US" altLang="ja-JP" dirty="0"/>
              <a:t>530</a:t>
            </a:r>
            <a:endParaRPr kumimoji="1" lang="ja-JP" altLang="en-US"/>
          </a:p>
        </p:txBody>
      </p:sp>
      <p:sp>
        <p:nvSpPr>
          <p:cNvPr id="4" name="スライド番号プレースホルダー 3">
            <a:extLst>
              <a:ext uri="{FF2B5EF4-FFF2-40B4-BE49-F238E27FC236}">
                <a16:creationId xmlns:a16="http://schemas.microsoft.com/office/drawing/2014/main" id="{B1B39891-F3D0-D1B5-F472-9D0274707C3B}"/>
              </a:ext>
            </a:extLst>
          </p:cNvPr>
          <p:cNvSpPr>
            <a:spLocks noGrp="1"/>
          </p:cNvSpPr>
          <p:nvPr>
            <p:ph type="sldNum" sz="quarter" idx="5"/>
          </p:nvPr>
        </p:nvSpPr>
        <p:spPr/>
        <p:txBody>
          <a:bodyPr/>
          <a:lstStyle/>
          <a:p>
            <a:fld id="{0844A318-3EA9-0145-BBB8-D89E578C6711}" type="slidenum">
              <a:rPr kumimoji="1" lang="ja-JP" altLang="en-US" smtClean="0"/>
              <a:t>10</a:t>
            </a:fld>
            <a:endParaRPr kumimoji="1" lang="ja-JP" altLang="en-US"/>
          </a:p>
        </p:txBody>
      </p:sp>
    </p:spTree>
    <p:extLst>
      <p:ext uri="{BB962C8B-B14F-4D97-AF65-F5344CB8AC3E}">
        <p14:creationId xmlns:p14="http://schemas.microsoft.com/office/powerpoint/2010/main" val="1417994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この図は、ある開発者の月ごとのレビュー履歴を軌跡として表したものです。丸印</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つが</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か月に対応し、その先の</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Wh</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区間内に承諾があったかどうかに応じて、月ごとにラベルが付与されます。予測地点</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t0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の直前にはリーク防止期間を設け、ラベル判定にのみ用いることで、予測対象期間の情報が特徴量に混ざらないようにしています。そして</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t0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から先の</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Wh</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区間（この例では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か月目）に承諾があるかどうかを予測します。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11</a:t>
            </a:fld>
            <a:endParaRPr kumimoji="1" lang="ja-JP" altLang="en-US"/>
          </a:p>
        </p:txBody>
      </p:sp>
    </p:spTree>
    <p:extLst>
      <p:ext uri="{BB962C8B-B14F-4D97-AF65-F5344CB8AC3E}">
        <p14:creationId xmlns:p14="http://schemas.microsoft.com/office/powerpoint/2010/main" val="3463246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9224B-299B-BD1A-6AED-6AE6FFCD28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6C89536-9783-18EE-7C1D-E45A6CAF68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650AF8B-8870-15BD-43F9-09C7992DDFD8}"/>
              </a:ext>
            </a:extLst>
          </p:cNvPr>
          <p:cNvSpPr>
            <a:spLocks noGrp="1"/>
          </p:cNvSpPr>
          <p:nvPr>
            <p:ph type="body" idx="1"/>
          </p:nvPr>
        </p:nvSpPr>
        <p:spPr/>
        <p:txBody>
          <a:bodyPr/>
          <a:lstStyle/>
          <a:p>
            <a:pPr>
              <a:lnSpc>
                <a:spcPct val="150000"/>
              </a:lnSpc>
              <a:spcAft>
                <a:spcPts val="1000"/>
              </a:spcAft>
            </a:pP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ここで</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状態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sₜ</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は、開発者のそれまでのレビュー履歴を月次で集約したもので、開発者状態・ディレクトリ親和度・活動特徴という</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つのカテゴリの特徴量からなります。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6C6B7EB6-BD6A-B6BF-FA25-EC26D245685C}"/>
              </a:ext>
            </a:extLst>
          </p:cNvPr>
          <p:cNvSpPr>
            <a:spLocks noGrp="1"/>
          </p:cNvSpPr>
          <p:nvPr>
            <p:ph type="sldNum" sz="quarter" idx="5"/>
          </p:nvPr>
        </p:nvSpPr>
        <p:spPr/>
        <p:txBody>
          <a:bodyPr/>
          <a:lstStyle/>
          <a:p>
            <a:fld id="{0844A318-3EA9-0145-BBB8-D89E578C6711}" type="slidenum">
              <a:rPr kumimoji="1" lang="ja-JP" altLang="en-US" smtClean="0"/>
              <a:t>12</a:t>
            </a:fld>
            <a:endParaRPr kumimoji="1" lang="ja-JP" altLang="en-US"/>
          </a:p>
        </p:txBody>
      </p:sp>
    </p:spTree>
    <p:extLst>
      <p:ext uri="{BB962C8B-B14F-4D97-AF65-F5344CB8AC3E}">
        <p14:creationId xmlns:p14="http://schemas.microsoft.com/office/powerpoint/2010/main" val="1090599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58995-FE29-24EF-E021-A6CA1B77CF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DCE415-9E89-952E-A006-13F1D4501B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4921D2-1B09-F7C3-1E76-FC1E9551F5B4}"/>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軌跡</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τ</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ₜ</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は、状態とラベルの月次記録で、</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τ1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から</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τn</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まで並べた系列</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T</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として学習します。</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ラベルは、各月について、その先の</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Wh</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（この例では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か月目）内の貢献状況に応じて</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種類付けます。</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１つ目が，</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依頼があり貢献があれば正例で重み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２つ目は</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依頼があり貢献がなければ強い負例で重み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３つ目が</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依頼自体がなければ弱い負例として重み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0.5</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にしています。依頼が来ていない月まで強い負例として扱うと、後で貢献を再開する開発者を過剰に負例として学習してしまうため、重みを下げています。</a:t>
            </a: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marL="0" marR="0" lvl="0" indent="0" algn="l" defTabSz="1300277" rtl="0" eaLnBrk="1" fontAlgn="auto" latinLnBrk="0" hangingPunct="1">
              <a:lnSpc>
                <a:spcPct val="150000"/>
              </a:lnSpc>
              <a:spcBef>
                <a:spcPts val="0"/>
              </a:spcBef>
              <a:spcAft>
                <a:spcPts val="1000"/>
              </a:spcAft>
              <a:buClrTx/>
              <a:buSzTx/>
              <a:buFontTx/>
              <a:buNone/>
              <a:tabLst/>
              <a:defRPr/>
            </a:pPr>
            <a:r>
              <a:rPr lang="ja-JP" altLang="ja-JP" sz="1800">
                <a:effectLst/>
                <a:ea typeface="Yu Gothic" panose="020B0400000000000000" pitchFamily="34" charset="-128"/>
                <a:cs typeface="Yu Gothic" panose="020B0400000000000000" pitchFamily="34" charset="-128"/>
              </a:rPr>
              <a:t>報酬</a:t>
            </a:r>
            <a:r>
              <a:rPr lang="en-US" altLang="ja-JP" sz="1800" dirty="0">
                <a:effectLst/>
                <a:ea typeface="Yu Gothic" panose="020B0400000000000000" pitchFamily="34" charset="-128"/>
                <a:cs typeface="Yu Gothic" panose="020B0400000000000000" pitchFamily="34" charset="-128"/>
              </a:rPr>
              <a:t>rₜ(s, a)</a:t>
            </a:r>
            <a:r>
              <a:rPr lang="ja-JP" altLang="ja-JP" sz="1800">
                <a:effectLst/>
                <a:ea typeface="Yu Gothic" panose="020B0400000000000000" pitchFamily="34" charset="-128"/>
                <a:cs typeface="Yu Gothic" panose="020B0400000000000000" pitchFamily="34" charset="-128"/>
              </a:rPr>
              <a:t>が、依頼を受けるかどうかの判断基準で、これが</a:t>
            </a:r>
            <a:r>
              <a:rPr lang="en-US" altLang="ja-JP" sz="1800" dirty="0">
                <a:effectLst/>
                <a:ea typeface="Yu Gothic" panose="020B0400000000000000" pitchFamily="34" charset="-128"/>
                <a:cs typeface="Yu Gothic" panose="020B0400000000000000" pitchFamily="34" charset="-128"/>
              </a:rPr>
              <a:t>IRL</a:t>
            </a:r>
            <a:r>
              <a:rPr lang="ja-JP" altLang="ja-JP" sz="1800">
                <a:effectLst/>
                <a:ea typeface="Yu Gothic" panose="020B0400000000000000" pitchFamily="34" charset="-128"/>
                <a:cs typeface="Yu Gothic" panose="020B0400000000000000" pitchFamily="34" charset="-128"/>
              </a:rPr>
              <a:t>の推定対象です。</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この報酬は、軌跡全体を通じた開発者の選択パターンから逆算するため、ある時点の状態だけでなく、そこに至るまでの時間的な変化も踏まえた基準になります。</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a:lnSpc>
                <a:spcPct val="150000"/>
              </a:lnSpc>
              <a:spcAft>
                <a:spcPts val="1000"/>
              </a:spcAft>
            </a:pP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715</a:t>
            </a:r>
          </a:p>
          <a:p>
            <a:pPr>
              <a:lnSpc>
                <a:spcPct val="150000"/>
              </a:lnSpc>
              <a:spcAft>
                <a:spcPts val="1000"/>
              </a:spcAft>
            </a:pP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FEBB6C5E-44A8-F795-5119-35FE1D90F39C}"/>
              </a:ext>
            </a:extLst>
          </p:cNvPr>
          <p:cNvSpPr>
            <a:spLocks noGrp="1"/>
          </p:cNvSpPr>
          <p:nvPr>
            <p:ph type="sldNum" sz="quarter" idx="5"/>
          </p:nvPr>
        </p:nvSpPr>
        <p:spPr/>
        <p:txBody>
          <a:bodyPr/>
          <a:lstStyle/>
          <a:p>
            <a:fld id="{0844A318-3EA9-0145-BBB8-D89E578C6711}" type="slidenum">
              <a:rPr kumimoji="1" lang="ja-JP" altLang="en-US" smtClean="0"/>
              <a:t>13</a:t>
            </a:fld>
            <a:endParaRPr kumimoji="1" lang="ja-JP" altLang="en-US"/>
          </a:p>
        </p:txBody>
      </p:sp>
    </p:spTree>
    <p:extLst>
      <p:ext uri="{BB962C8B-B14F-4D97-AF65-F5344CB8AC3E}">
        <p14:creationId xmlns:p14="http://schemas.microsoft.com/office/powerpoint/2010/main" val="1996794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7C541-8E58-BD4D-BC9F-513BA1FB1A0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3ACFEE-DFB0-4C98-9932-1F76D065D2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3668C6-4526-4403-850C-9852E4446B97}"/>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これにより、累積統計量では平均化されてしまう「活動の停止と再開」や「関与するディレクトリの移り変わり」を、時間経過の順に学習できるようになります。</a:t>
            </a:r>
            <a:r>
              <a:rPr kumimoji="1" lang="en-US" altLang="ja-JP" sz="1800" dirty="0">
                <a:effectLst/>
                <a:latin typeface="Times New Roman" panose="02020603050405020304" pitchFamily="18" charset="0"/>
                <a:ea typeface="Yu Gothic" panose="020B0400000000000000" pitchFamily="34" charset="-128"/>
              </a:rPr>
              <a:t>730</a:t>
            </a:r>
            <a:endParaRPr kumimoji="1" lang="ja-JP" altLang="en-US"/>
          </a:p>
        </p:txBody>
      </p:sp>
      <p:sp>
        <p:nvSpPr>
          <p:cNvPr id="4" name="スライド番号プレースホルダー 3">
            <a:extLst>
              <a:ext uri="{FF2B5EF4-FFF2-40B4-BE49-F238E27FC236}">
                <a16:creationId xmlns:a16="http://schemas.microsoft.com/office/drawing/2014/main" id="{857EF7D1-38CA-ACB6-7F16-E720F592E1D4}"/>
              </a:ext>
            </a:extLst>
          </p:cNvPr>
          <p:cNvSpPr>
            <a:spLocks noGrp="1"/>
          </p:cNvSpPr>
          <p:nvPr>
            <p:ph type="sldNum" sz="quarter" idx="5"/>
          </p:nvPr>
        </p:nvSpPr>
        <p:spPr/>
        <p:txBody>
          <a:bodyPr/>
          <a:lstStyle/>
          <a:p>
            <a:fld id="{0844A318-3EA9-0145-BBB8-D89E578C6711}" type="slidenum">
              <a:rPr kumimoji="1" lang="ja-JP" altLang="en-US" smtClean="0"/>
              <a:t>14</a:t>
            </a:fld>
            <a:endParaRPr kumimoji="1" lang="ja-JP" altLang="en-US"/>
          </a:p>
        </p:txBody>
      </p:sp>
    </p:spTree>
    <p:extLst>
      <p:ext uri="{BB962C8B-B14F-4D97-AF65-F5344CB8AC3E}">
        <p14:creationId xmlns:p14="http://schemas.microsoft.com/office/powerpoint/2010/main" val="3826730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1300277" rtl="0" eaLnBrk="1" fontAlgn="auto" latinLnBrk="0" hangingPunct="1">
              <a:lnSpc>
                <a:spcPct val="150000"/>
              </a:lnSpc>
              <a:spcBef>
                <a:spcPts val="0"/>
              </a:spcBef>
              <a:spcAft>
                <a:spcPts val="1000"/>
              </a:spcAft>
              <a:buClrTx/>
              <a:buSzTx/>
              <a:buFontTx/>
              <a:buNone/>
              <a:tabLst/>
              <a:defRPr/>
            </a:pP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評価指標と比較手法についてです．</a:t>
            </a: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marL="0" marR="0" lvl="0" indent="0" algn="l" defTabSz="1300277" rtl="0" eaLnBrk="1" fontAlgn="auto" latinLnBrk="0" hangingPunct="1">
              <a:lnSpc>
                <a:spcPct val="150000"/>
              </a:lnSpc>
              <a:spcBef>
                <a:spcPts val="0"/>
              </a:spcBef>
              <a:spcAft>
                <a:spcPts val="1000"/>
              </a:spcAft>
              <a:buClrTx/>
              <a:buSzTx/>
              <a:buFontTx/>
              <a:buNone/>
              <a:tabLst/>
              <a:defRPr/>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評価指標</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に関して</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AUC-ROC</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で、有意性判定にはブートストラップ法の</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95%</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信頼区間を用います。比較手法は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Random Forest</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で、決定木の多数決で貢献確率を算出する従来広く使われる手法です。</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15</a:t>
            </a:fld>
            <a:endParaRPr kumimoji="1" lang="ja-JP" altLang="en-US"/>
          </a:p>
        </p:txBody>
      </p:sp>
    </p:spTree>
    <p:extLst>
      <p:ext uri="{BB962C8B-B14F-4D97-AF65-F5344CB8AC3E}">
        <p14:creationId xmlns:p14="http://schemas.microsoft.com/office/powerpoint/2010/main" val="3136485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ここからケーススタディです。対象プロジェクトは、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が公式サービスリポジトリ</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件のうち、レビュー履歴のない</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sunbeam</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を除く</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件、</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も活動量に基づき同様に</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リポジトリを選定しました。データセットの概要は表に示す通りで、訓練期間</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年、評価期間</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年で、予測開始地点</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t0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2023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年</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日に設定してケーススタディを行います。</a:t>
            </a: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a:lnSpc>
                <a:spcPct val="150000"/>
              </a:lnSpc>
              <a:spcAft>
                <a:spcPts val="1000"/>
              </a:spcAft>
            </a:pPr>
            <a:r>
              <a:rPr lang="en-US" altLang="ja-JP" sz="1800" dirty="0">
                <a:effectLst/>
                <a:latin typeface="Times New Roman" panose="02020603050405020304" pitchFamily="18" charset="0"/>
                <a:ea typeface="Yu Gothic" panose="020B0400000000000000" pitchFamily="34" charset="-128"/>
              </a:rPr>
              <a:t>9</a:t>
            </a:r>
            <a:r>
              <a:rPr lang="ja-JP" altLang="en-US" sz="1800">
                <a:effectLst/>
                <a:latin typeface="Times New Roman" panose="02020603050405020304" pitchFamily="18" charset="0"/>
                <a:ea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rPr>
              <a:t>00</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16</a:t>
            </a:fld>
            <a:endParaRPr kumimoji="1" lang="ja-JP" altLang="en-US"/>
          </a:p>
        </p:txBody>
      </p:sp>
    </p:spTree>
    <p:extLst>
      <p:ext uri="{BB962C8B-B14F-4D97-AF65-F5344CB8AC3E}">
        <p14:creationId xmlns:p14="http://schemas.microsoft.com/office/powerpoint/2010/main" val="294965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E50D8-8819-D945-F280-56C9CBE1D8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688B7B-FEF6-D199-32D5-4F899B5724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680147C-253F-0FD8-DC15-DBBCDD9EED83}"/>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ここから、</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の予測精度を比較した結果です。</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0.826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0.791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3.5</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ポイント優位、</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か月はほぼ同点、</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9</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−5.2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ポイントで、先の期間ほど</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が優位になる傾向でした。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でも、</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がわずかに優位、</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−6.8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9</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−2.0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−5.4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が優位で、同様の傾向が見られました。総じて両プロジェクトとも</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は同程度の予測精度で、短期の</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がわずかに優位という結果でした。</a:t>
            </a: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a:lnSpc>
                <a:spcPct val="150000"/>
              </a:lnSpc>
              <a:spcAft>
                <a:spcPts val="1000"/>
              </a:spcAft>
            </a:pP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これは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それぞれで、開発者全体をまとめて見た結果であり、時系列を考慮している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と考慮していない</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とでは、開発者のタイプによって向き不向きが分かれている可能性があります。そのため次は、もう一歩踏み込んで見ていきます。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993CCB1E-288F-1F48-6A6B-76447A315713}"/>
              </a:ext>
            </a:extLst>
          </p:cNvPr>
          <p:cNvSpPr>
            <a:spLocks noGrp="1"/>
          </p:cNvSpPr>
          <p:nvPr>
            <p:ph type="sldNum" sz="quarter" idx="5"/>
          </p:nvPr>
        </p:nvSpPr>
        <p:spPr/>
        <p:txBody>
          <a:bodyPr/>
          <a:lstStyle/>
          <a:p>
            <a:fld id="{0844A318-3EA9-0145-BBB8-D89E578C6711}" type="slidenum">
              <a:rPr kumimoji="1" lang="ja-JP" altLang="en-US" smtClean="0"/>
              <a:t>17</a:t>
            </a:fld>
            <a:endParaRPr kumimoji="1" lang="ja-JP" altLang="en-US"/>
          </a:p>
        </p:txBody>
      </p:sp>
    </p:spTree>
    <p:extLst>
      <p:ext uri="{BB962C8B-B14F-4D97-AF65-F5344CB8AC3E}">
        <p14:creationId xmlns:p14="http://schemas.microsoft.com/office/powerpoint/2010/main" val="913384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開発者のタイプによる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の向き不向きの違いを、ここから原型分析で具体的に検証していきます。</a:t>
            </a: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原型分析は極端なパターンを</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個抽出し、各データ点をその重み付き和で近似する手法です。重心が平均的な点になる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k-means</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と異なり、原型は集団の「端」にある極端な型を捉えるため、タイプごとの特徴を分離しやすいという利点があります。原型数</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RSS/N</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の改善が小さくなる点（エルボー）で決定し、両プロジェクトとも</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K=4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としました。</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en-US" altLang="ja-JP" sz="1800" dirty="0">
                <a:effectLst/>
                <a:latin typeface="Times New Roman" panose="02020603050405020304" pitchFamily="18" charset="0"/>
                <a:ea typeface="Yu Gothic" panose="020B0400000000000000" pitchFamily="34" charset="-128"/>
              </a:rPr>
              <a:t>1000</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18</a:t>
            </a:fld>
            <a:endParaRPr kumimoji="1" lang="ja-JP" altLang="en-US"/>
          </a:p>
        </p:txBody>
      </p:sp>
    </p:spTree>
    <p:extLst>
      <p:ext uri="{BB962C8B-B14F-4D97-AF65-F5344CB8AC3E}">
        <p14:creationId xmlns:p14="http://schemas.microsoft.com/office/powerpoint/2010/main" val="24762348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AD54-34D2-359A-83AB-F48E513EF8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E4006B-DDAD-CA1A-822C-FC3D6C2C4F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977F42-726D-B43F-9C45-F6D4D8871FF5}"/>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原型分析の結果、開発者は左の散布図のように</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つのタイプ（原型）に分かれました。ここから</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で、原型ごとに比較していきます。まず</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です。</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の「他プロジェクト経験者」（</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n=1,284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の「高活動・ディレクトリ未経験型」（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n=5,068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）は、いずれも他プロジェクトでの活動は多いものの対象ディレクトリでの実績が乏しいタイプです。表は評価期間別の</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）を示しており、</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期間中</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では短期のみ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が優位で、共通して期間が進むほど</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が盛り返す傾向が読み取れます。これは、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が他ディレクトリでの活動状況を活用できる一方、その効果が後半になると弱まることを示しています。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76B17BA9-DBBC-984F-CC20-CFA6A163CA15}"/>
              </a:ext>
            </a:extLst>
          </p:cNvPr>
          <p:cNvSpPr>
            <a:spLocks noGrp="1"/>
          </p:cNvSpPr>
          <p:nvPr>
            <p:ph type="sldNum" sz="quarter" idx="5"/>
          </p:nvPr>
        </p:nvSpPr>
        <p:spPr/>
        <p:txBody>
          <a:bodyPr/>
          <a:lstStyle/>
          <a:p>
            <a:fld id="{0844A318-3EA9-0145-BBB8-D89E578C6711}" type="slidenum">
              <a:rPr kumimoji="1" lang="ja-JP" altLang="en-US" smtClean="0"/>
              <a:t>19</a:t>
            </a:fld>
            <a:endParaRPr kumimoji="1" lang="ja-JP" altLang="en-US"/>
          </a:p>
        </p:txBody>
      </p:sp>
    </p:spTree>
    <p:extLst>
      <p:ext uri="{BB962C8B-B14F-4D97-AF65-F5344CB8AC3E}">
        <p14:creationId xmlns:p14="http://schemas.microsoft.com/office/powerpoint/2010/main" val="720336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FF45A-B27E-3026-1008-D51F5D44D4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3895E0-D89A-395E-780E-38DC26C2F4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C634A1-B6CB-DB84-35C8-5CE27B16176A}"/>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次に</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です。</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の「関与低下型」（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n=928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）は対象ディレクトリへの関与が少ないタイプ、</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の「ディレクトリ経験者・高関与型」（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n=4,422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）は逆に関与が多いタイプで、関与度合いという同じ軸の両端にあたります。表を見ると、特に関与が多い</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では全期間を通して</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が優位という、はっきりした差が出ています。</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は関与低下を初期のみ捉えられた可能性があり、関与が多い開発者ほど累積統計量、つまり</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の方が優位になるようです。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51D40E36-C968-60ED-A59F-3B279FDBA779}"/>
              </a:ext>
            </a:extLst>
          </p:cNvPr>
          <p:cNvSpPr>
            <a:spLocks noGrp="1"/>
          </p:cNvSpPr>
          <p:nvPr>
            <p:ph type="sldNum" sz="quarter" idx="5"/>
          </p:nvPr>
        </p:nvSpPr>
        <p:spPr/>
        <p:txBody>
          <a:bodyPr/>
          <a:lstStyle/>
          <a:p>
            <a:fld id="{0844A318-3EA9-0145-BBB8-D89E578C6711}" type="slidenum">
              <a:rPr kumimoji="1" lang="ja-JP" altLang="en-US" smtClean="0"/>
              <a:t>20</a:t>
            </a:fld>
            <a:endParaRPr kumimoji="1" lang="ja-JP" altLang="en-US"/>
          </a:p>
        </p:txBody>
      </p:sp>
    </p:spTree>
    <p:extLst>
      <p:ext uri="{BB962C8B-B14F-4D97-AF65-F5344CB8AC3E}">
        <p14:creationId xmlns:p14="http://schemas.microsoft.com/office/powerpoint/2010/main" val="2693189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E5404-3B3B-C257-D97D-0DBE67FA7F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9D5A73-EFC6-8910-37F1-AD3D9E73DB3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B1738A-2309-C38A-FD92-8FDD61752770}"/>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続いて、</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の「低活動・低承諾型」（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n=926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の「低承諾型」（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n=2,878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）です。いずれも活動頻度・承諾率が低いタイプで、表を見ると基本的に</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が優位で、後半になるほど差が拡大する傾向が読み取れます。活動頻度が低いと、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が行動軌跡を十分に学習できないためと考えられます。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32FB3D69-D5EF-C505-18CE-E844FF775B6C}"/>
              </a:ext>
            </a:extLst>
          </p:cNvPr>
          <p:cNvSpPr>
            <a:spLocks noGrp="1"/>
          </p:cNvSpPr>
          <p:nvPr>
            <p:ph type="sldNum" sz="quarter" idx="5"/>
          </p:nvPr>
        </p:nvSpPr>
        <p:spPr/>
        <p:txBody>
          <a:bodyPr/>
          <a:lstStyle/>
          <a:p>
            <a:fld id="{0844A318-3EA9-0145-BBB8-D89E578C6711}" type="slidenum">
              <a:rPr kumimoji="1" lang="ja-JP" altLang="en-US" smtClean="0"/>
              <a:t>21</a:t>
            </a:fld>
            <a:endParaRPr kumimoji="1" lang="ja-JP" altLang="en-US"/>
          </a:p>
        </p:txBody>
      </p:sp>
    </p:spTree>
    <p:extLst>
      <p:ext uri="{BB962C8B-B14F-4D97-AF65-F5344CB8AC3E}">
        <p14:creationId xmlns:p14="http://schemas.microsoft.com/office/powerpoint/2010/main" val="613258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A9615-FE64-D693-30BA-01BB4008F56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9FFEE6D-6F43-81B1-ABF2-ABA2856D0E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20847F-301A-1C8E-8761-8461CB516546}"/>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最後に、</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の「高承諾型」（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n=539</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の「高承諾・汎用型」（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n=8,923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）です。いずれも承諾率が高いタイプですが、結果は対照的でした。表では、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が優位という逆の結果になっています。これは、高承諾なのは同じでも、この</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つの間には対象ディレクトリでの経験が多いかどうかという差があります。そのため</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の時と同様に、経験が乏しい</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が他ディレクトリでの活動状況を活用できる分優位になり、経験が厚い</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が優位になっています。優劣を分けているのは承諾率ではなく、対象ディレクトリでの経験の厚みだということが分かります。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8590F60D-B373-5553-4211-05455460E237}"/>
              </a:ext>
            </a:extLst>
          </p:cNvPr>
          <p:cNvSpPr>
            <a:spLocks noGrp="1"/>
          </p:cNvSpPr>
          <p:nvPr>
            <p:ph type="sldNum" sz="quarter" idx="5"/>
          </p:nvPr>
        </p:nvSpPr>
        <p:spPr/>
        <p:txBody>
          <a:bodyPr/>
          <a:lstStyle/>
          <a:p>
            <a:fld id="{0844A318-3EA9-0145-BBB8-D89E578C6711}" type="slidenum">
              <a:rPr kumimoji="1" lang="ja-JP" altLang="en-US" smtClean="0"/>
              <a:t>22</a:t>
            </a:fld>
            <a:endParaRPr kumimoji="1" lang="ja-JP" altLang="en-US"/>
          </a:p>
        </p:txBody>
      </p:sp>
    </p:spTree>
    <p:extLst>
      <p:ext uri="{BB962C8B-B14F-4D97-AF65-F5344CB8AC3E}">
        <p14:creationId xmlns:p14="http://schemas.microsoft.com/office/powerpoint/2010/main" val="519849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15CB-CA85-EDB7-2C8A-712D0DD0FF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68BC518-4A8D-17D4-7393-27FC6C3426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D7FF24E-2B40-2E06-216F-982EA6A11D9A}"/>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補完性が確認できたため、</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の出力確率を単純平均するアンサンブルを試しました。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+2.9</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9</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+0.6</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か月</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ポイントとすべての期間で改善し、全体では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+2.3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ポイント、信頼区間</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[+1.7, +2.8]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で有意な改善でした。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でも全体で</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ポイント、信頼区間</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[+0.5, +1.0]</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で有意な改善でした</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a:t>
            </a:r>
            <a:endPar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endParaRPr>
          </a:p>
          <a:p>
            <a:pPr>
              <a:lnSpc>
                <a:spcPct val="150000"/>
              </a:lnSpc>
              <a:spcAft>
                <a:spcPts val="1000"/>
              </a:spcAft>
            </a:pP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AOSP</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では</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悪化し</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ている期間もあり</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、両手法の</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精度の</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差が大きい期間では単純平均が逆効果になる可能性が示唆されます。単純平均というシンプルな組み合わせ方でも多くの期間で精度が改善したこと自体が、</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が互いに異なる開発者タイプを補い合っていること</a:t>
            </a:r>
            <a:r>
              <a:rPr lang="ja-JP" altLang="en-US" sz="1800">
                <a:effectLst/>
                <a:latin typeface="Times New Roman" panose="02020603050405020304" pitchFamily="18" charset="0"/>
                <a:ea typeface="Yu Gothic" panose="020B0400000000000000" pitchFamily="34" charset="-128"/>
                <a:cs typeface="Yu Gothic" panose="020B0400000000000000" pitchFamily="34" charset="-128"/>
              </a:rPr>
              <a:t>が考えられます</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。一方で逆効果になる期間もあることから、単純に平均するのではなく、原型やタイプに応じて使い分ければ、さらなる精度向上が見込めると考えられます。</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273CA27B-17E4-8BA1-CBF9-4BCD49C29D3A}"/>
              </a:ext>
            </a:extLst>
          </p:cNvPr>
          <p:cNvSpPr>
            <a:spLocks noGrp="1"/>
          </p:cNvSpPr>
          <p:nvPr>
            <p:ph type="sldNum" sz="quarter" idx="5"/>
          </p:nvPr>
        </p:nvSpPr>
        <p:spPr/>
        <p:txBody>
          <a:bodyPr/>
          <a:lstStyle/>
          <a:p>
            <a:fld id="{0844A318-3EA9-0145-BBB8-D89E578C6711}" type="slidenum">
              <a:rPr kumimoji="1" lang="ja-JP" altLang="en-US" smtClean="0"/>
              <a:t>23</a:t>
            </a:fld>
            <a:endParaRPr kumimoji="1" lang="ja-JP" altLang="en-US"/>
          </a:p>
        </p:txBody>
      </p:sp>
    </p:spTree>
    <p:extLst>
      <p:ext uri="{BB962C8B-B14F-4D97-AF65-F5344CB8AC3E}">
        <p14:creationId xmlns:p14="http://schemas.microsoft.com/office/powerpoint/2010/main" val="41571670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まとめです。開発者</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ディレクトリのペアに対して、レビュー貢献を連続的に予測する</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モデルを構築しました。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比較した結果、予測精度は同程度でした。ただし原型分析により、予測が得意な開発者のタイプが異なる可能性を示し、両モデルの予測確率を単純平均するアンサンブルによって精度が向上することを確認しました。</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今後の展望は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つです。</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つは、推定した報酬関数を環境のフィードバックとして組み込み、開発者の継続確率を考慮したレビュー依頼の推薦方策を設計・評価することです。もう</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つは、原型や評価期間に応じて</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と</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RF</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を選択的に採用することによる精度改善です。</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以上で発表を終わります。ご清聴ありがとうございました。</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p:cNvSpPr>
            <a:spLocks noGrp="1"/>
          </p:cNvSpPr>
          <p:nvPr>
            <p:ph type="sldNum" sz="quarter" idx="5"/>
          </p:nvPr>
        </p:nvSpPr>
        <p:spPr/>
        <p:txBody>
          <a:bodyPr/>
          <a:lstStyle/>
          <a:p>
            <a:fld id="{0844A318-3EA9-0145-BBB8-D89E578C6711}" type="slidenum">
              <a:rPr kumimoji="1" lang="ja-JP" altLang="en-US" smtClean="0"/>
              <a:t>24</a:t>
            </a:fld>
            <a:endParaRPr kumimoji="1" lang="ja-JP" altLang="en-US"/>
          </a:p>
        </p:txBody>
      </p:sp>
    </p:spTree>
    <p:extLst>
      <p:ext uri="{BB962C8B-B14F-4D97-AF65-F5344CB8AC3E}">
        <p14:creationId xmlns:p14="http://schemas.microsoft.com/office/powerpoint/2010/main" val="18786885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9A332D67-653C-D026-DE8D-2B7305F10BDA}"/>
              </a:ext>
            </a:extLst>
          </p:cNvPr>
          <p:cNvSpPr/>
          <p:nvPr userDrawn="1"/>
        </p:nvSpPr>
        <p:spPr>
          <a:xfrm>
            <a:off x="864000" y="720000"/>
            <a:ext cx="15609600" cy="8312400"/>
          </a:xfrm>
          <a:prstGeom prst="rect">
            <a:avLst/>
          </a:prstGeom>
          <a:solidFill>
            <a:schemeClr val="bg1"/>
          </a:solidFill>
          <a:ln w="254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864000" y="2160000"/>
            <a:ext cx="15609600" cy="4320000"/>
          </a:xfrm>
          <a:prstGeom prst="rect">
            <a:avLst/>
          </a:prstGeom>
        </p:spPr>
        <p:txBody>
          <a:bodyPr lIns="0" tIns="0" rIns="0" bIns="0" anchor="ctr" anchorCtr="0"/>
          <a:lstStyle>
            <a:lvl1pPr algn="ctr">
              <a:lnSpc>
                <a:spcPct val="120000"/>
              </a:lnSpc>
              <a:defRPr sz="6400">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Tree>
    <p:extLst>
      <p:ext uri="{BB962C8B-B14F-4D97-AF65-F5344CB8AC3E}">
        <p14:creationId xmlns:p14="http://schemas.microsoft.com/office/powerpoint/2010/main" val="1091802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6000" y="0"/>
            <a:ext cx="16185600" cy="1872000"/>
          </a:xfrm>
          <a:prstGeom prst="rect">
            <a:avLst/>
          </a:prstGeom>
        </p:spPr>
        <p:txBody>
          <a:bodyPr lIns="0" tIns="0" rIns="0" bIns="0" anchor="ctr" anchorCtr="0"/>
          <a:lstStyle>
            <a:lvl1pPr>
              <a:lnSpc>
                <a:spcPct val="120000"/>
              </a:lnSpc>
              <a:defRPr sz="4000">
                <a:solidFill>
                  <a:schemeClr val="bg1"/>
                </a:solidFill>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
        <p:nvSpPr>
          <p:cNvPr id="6" name="Slide Number Placeholder 5"/>
          <p:cNvSpPr>
            <a:spLocks noGrp="1"/>
          </p:cNvSpPr>
          <p:nvPr>
            <p:ph type="sldNum" sz="quarter" idx="12"/>
          </p:nvPr>
        </p:nvSpPr>
        <p:spPr>
          <a:xfrm>
            <a:off x="16603200" y="9162000"/>
            <a:ext cx="720000" cy="576000"/>
          </a:xfrm>
          <a:prstGeom prst="rect">
            <a:avLst/>
          </a:prstGeom>
        </p:spPr>
        <p:txBody>
          <a:bodyPr lIns="0" tIns="0" rIns="0" bIns="0" anchor="ctr" anchorCtr="0"/>
          <a:lstStyle>
            <a:lvl1pPr algn="ctr">
              <a:defRPr sz="3200">
                <a:solidFill>
                  <a:schemeClr val="bg2"/>
                </a:solidFill>
                <a:latin typeface="Arial" panose="020B0604020202020204" pitchFamily="34" charset="0"/>
                <a:cs typeface="Arial" panose="020B0604020202020204" pitchFamily="34" charset="0"/>
              </a:defRPr>
            </a:lvl1pPr>
          </a:lstStyle>
          <a:p>
            <a:fld id="{85D74467-FFC2-5C49-A08A-98A9FE9BCA53}" type="slidenum">
              <a:rPr kumimoji="1" lang="ja-JP" altLang="en-US" smtClean="0"/>
              <a:pPr/>
              <a:t>‹#›</a:t>
            </a:fld>
            <a:endParaRPr kumimoji="1" lang="ja-JP" altLang="en-US"/>
          </a:p>
        </p:txBody>
      </p:sp>
      <p:sp>
        <p:nvSpPr>
          <p:cNvPr id="8" name="テキスト プレースホルダー 7">
            <a:extLst>
              <a:ext uri="{FF2B5EF4-FFF2-40B4-BE49-F238E27FC236}">
                <a16:creationId xmlns:a16="http://schemas.microsoft.com/office/drawing/2014/main" id="{D6C6F80B-7395-6679-8453-1658443D5A46}"/>
              </a:ext>
            </a:extLst>
          </p:cNvPr>
          <p:cNvSpPr>
            <a:spLocks noGrp="1"/>
          </p:cNvSpPr>
          <p:nvPr>
            <p:ph type="body" sz="quarter" idx="13"/>
          </p:nvPr>
        </p:nvSpPr>
        <p:spPr>
          <a:xfrm>
            <a:off x="576000" y="2160000"/>
            <a:ext cx="16185600" cy="2760884"/>
          </a:xfrm>
          <a:prstGeom prst="rect">
            <a:avLst/>
          </a:prstGeom>
        </p:spPr>
        <p:txBody>
          <a:bodyPr lIns="0" tIns="0" rIns="0" bIns="0">
            <a:spAutoFit/>
          </a:bodyPr>
          <a:lstStyle>
            <a:lvl1pPr marL="360000" indent="-360000">
              <a:lnSpc>
                <a:spcPct val="120000"/>
              </a:lnSpc>
              <a:spcBef>
                <a:spcPts val="1500"/>
              </a:spcBef>
              <a:buSzPct val="75000"/>
              <a:buFont typeface="システムフォント（レギュラー）"/>
              <a:buChar char="▪"/>
              <a:defRPr sz="3600">
                <a:latin typeface="MS PGothic" panose="020B0600070205080204" pitchFamily="34" charset="-128"/>
                <a:ea typeface="MS PGothic" panose="020B0600070205080204" pitchFamily="34" charset="-128"/>
              </a:defRPr>
            </a:lvl1pPr>
            <a:lvl2pPr marL="810000" indent="-432000">
              <a:lnSpc>
                <a:spcPct val="120000"/>
              </a:lnSpc>
              <a:spcBef>
                <a:spcPts val="250"/>
              </a:spcBef>
              <a:spcAft>
                <a:spcPts val="500"/>
              </a:spcAft>
              <a:buFont typeface="システムフォント（レギュラー）"/>
              <a:buChar char="▸"/>
              <a:defRPr sz="3200">
                <a:latin typeface="MS PGothic" panose="020B0600070205080204" pitchFamily="34" charset="-128"/>
                <a:ea typeface="MS PGothic" panose="020B0600070205080204" pitchFamily="34" charset="-128"/>
              </a:defRPr>
            </a:lvl2pPr>
            <a:lvl3pPr marL="1170000" indent="-288000">
              <a:lnSpc>
                <a:spcPct val="120000"/>
              </a:lnSpc>
              <a:spcBef>
                <a:spcPts val="0"/>
              </a:spcBef>
              <a:spcAft>
                <a:spcPts val="500"/>
              </a:spcAft>
              <a:buSzPct val="125000"/>
              <a:buFont typeface="システムフォント（レギュラー）"/>
              <a:buChar char="-"/>
              <a:defRPr sz="2800">
                <a:latin typeface="MS PGothic" panose="020B0600070205080204" pitchFamily="34" charset="-128"/>
                <a:ea typeface="MS PGothic" panose="020B0600070205080204" pitchFamily="34" charset="-128"/>
              </a:defRPr>
            </a:lvl3pPr>
            <a:lvl4pPr marL="1440000" indent="-288000">
              <a:lnSpc>
                <a:spcPct val="120000"/>
              </a:lnSpc>
              <a:spcBef>
                <a:spcPts val="0"/>
              </a:spcBef>
              <a:spcAft>
                <a:spcPts val="250"/>
              </a:spcAft>
              <a:buSzPct val="125000"/>
              <a:buFont typeface="システムフォント（レギュラー）"/>
              <a:buChar char="-"/>
              <a:defRPr sz="2400">
                <a:latin typeface="MS PGothic" panose="020B0600070205080204" pitchFamily="34" charset="-128"/>
                <a:ea typeface="MS PGothic" panose="020B0600070205080204" pitchFamily="34" charset="-128"/>
              </a:defRPr>
            </a:lvl4pPr>
            <a:lvl5pPr marL="1620000" indent="-288000">
              <a:lnSpc>
                <a:spcPct val="120000"/>
              </a:lnSpc>
              <a:spcBef>
                <a:spcPts val="0"/>
              </a:spcBef>
              <a:buSzPct val="125000"/>
              <a:buFont typeface="システムフォント（レギュラー）"/>
              <a:buChar char="-"/>
              <a:defRPr sz="2000">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3" name="図 2">
            <a:extLst>
              <a:ext uri="{FF2B5EF4-FFF2-40B4-BE49-F238E27FC236}">
                <a16:creationId xmlns:a16="http://schemas.microsoft.com/office/drawing/2014/main" id="{FFEB269B-B2FB-12D4-E777-9EFA4AA4DDD4}"/>
              </a:ext>
            </a:extLst>
          </p:cNvPr>
          <p:cNvPicPr>
            <a:picLocks noChangeAspect="1"/>
          </p:cNvPicPr>
          <p:nvPr userDrawn="1"/>
        </p:nvPicPr>
        <p:blipFill rotWithShape="1">
          <a:blip r:embed="rId3"/>
          <a:srcRect l="9927" t="30922" r="77013" b="66348"/>
          <a:stretch/>
        </p:blipFill>
        <p:spPr>
          <a:xfrm>
            <a:off x="143999" y="9432000"/>
            <a:ext cx="790540" cy="234000"/>
          </a:xfrm>
          <a:prstGeom prst="rect">
            <a:avLst/>
          </a:prstGeom>
        </p:spPr>
      </p:pic>
    </p:spTree>
    <p:extLst>
      <p:ext uri="{BB962C8B-B14F-4D97-AF65-F5344CB8AC3E}">
        <p14:creationId xmlns:p14="http://schemas.microsoft.com/office/powerpoint/2010/main" val="412868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本文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6000" y="0"/>
            <a:ext cx="16185600" cy="1872000"/>
          </a:xfrm>
          <a:prstGeom prst="rect">
            <a:avLst/>
          </a:prstGeom>
        </p:spPr>
        <p:txBody>
          <a:bodyPr lIns="0" tIns="0" rIns="0" bIns="0" anchor="ctr" anchorCtr="0"/>
          <a:lstStyle>
            <a:lvl1pPr>
              <a:lnSpc>
                <a:spcPct val="120000"/>
              </a:lnSpc>
              <a:defRPr sz="4000">
                <a:solidFill>
                  <a:schemeClr val="bg1"/>
                </a:solidFill>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
        <p:nvSpPr>
          <p:cNvPr id="6" name="Slide Number Placeholder 5"/>
          <p:cNvSpPr>
            <a:spLocks noGrp="1"/>
          </p:cNvSpPr>
          <p:nvPr>
            <p:ph type="sldNum" sz="quarter" idx="12"/>
          </p:nvPr>
        </p:nvSpPr>
        <p:spPr>
          <a:xfrm>
            <a:off x="16603200" y="9162000"/>
            <a:ext cx="720000" cy="576000"/>
          </a:xfrm>
          <a:prstGeom prst="rect">
            <a:avLst/>
          </a:prstGeom>
        </p:spPr>
        <p:txBody>
          <a:bodyPr lIns="0" tIns="0" rIns="0" bIns="0" anchor="ctr" anchorCtr="0"/>
          <a:lstStyle>
            <a:lvl1pPr algn="ctr">
              <a:defRPr sz="3200">
                <a:solidFill>
                  <a:schemeClr val="bg2"/>
                </a:solidFill>
                <a:latin typeface="Arial" panose="020B0604020202020204" pitchFamily="34" charset="0"/>
                <a:cs typeface="Arial" panose="020B0604020202020204" pitchFamily="34" charset="0"/>
              </a:defRPr>
            </a:lvl1pPr>
          </a:lstStyle>
          <a:p>
            <a:fld id="{85D74467-FFC2-5C49-A08A-98A9FE9BCA53}" type="slidenum">
              <a:rPr kumimoji="1" lang="ja-JP" altLang="en-US" smtClean="0"/>
              <a:pPr/>
              <a:t>‹#›</a:t>
            </a:fld>
            <a:endParaRPr kumimoji="1" lang="ja-JP" altLang="en-US"/>
          </a:p>
        </p:txBody>
      </p:sp>
      <p:sp>
        <p:nvSpPr>
          <p:cNvPr id="8" name="テキスト プレースホルダー 7">
            <a:extLst>
              <a:ext uri="{FF2B5EF4-FFF2-40B4-BE49-F238E27FC236}">
                <a16:creationId xmlns:a16="http://schemas.microsoft.com/office/drawing/2014/main" id="{27F61FA0-3B56-D191-998A-B54764359537}"/>
              </a:ext>
            </a:extLst>
          </p:cNvPr>
          <p:cNvSpPr>
            <a:spLocks noGrp="1"/>
          </p:cNvSpPr>
          <p:nvPr>
            <p:ph type="body" sz="quarter" idx="13"/>
          </p:nvPr>
        </p:nvSpPr>
        <p:spPr>
          <a:xfrm>
            <a:off x="576000" y="2160000"/>
            <a:ext cx="16185600" cy="2760884"/>
          </a:xfrm>
          <a:prstGeom prst="rect">
            <a:avLst/>
          </a:prstGeom>
        </p:spPr>
        <p:txBody>
          <a:bodyPr lIns="0" tIns="0" rIns="0" bIns="0">
            <a:spAutoFit/>
          </a:bodyPr>
          <a:lstStyle>
            <a:lvl1pPr marL="360000" indent="-360000">
              <a:lnSpc>
                <a:spcPct val="120000"/>
              </a:lnSpc>
              <a:spcBef>
                <a:spcPts val="2250"/>
              </a:spcBef>
              <a:buClr>
                <a:schemeClr val="tx1">
                  <a:lumMod val="25000"/>
                  <a:lumOff val="75000"/>
                </a:schemeClr>
              </a:buClr>
              <a:buSzPct val="125000"/>
              <a:buFont typeface="システムフォント（レギュラー）"/>
              <a:buChar char="▎"/>
              <a:defRPr sz="3600">
                <a:latin typeface="MS PGothic" panose="020B0600070205080204" pitchFamily="34" charset="-128"/>
                <a:ea typeface="MS PGothic" panose="020B0600070205080204" pitchFamily="34" charset="-128"/>
              </a:defRPr>
            </a:lvl1pPr>
            <a:lvl2pPr marL="900000" indent="-360000">
              <a:lnSpc>
                <a:spcPct val="120000"/>
              </a:lnSpc>
              <a:spcBef>
                <a:spcPts val="500"/>
              </a:spcBef>
              <a:spcAft>
                <a:spcPts val="250"/>
              </a:spcAft>
              <a:buSzPct val="75000"/>
              <a:buFont typeface="システムフォント（レギュラー）"/>
              <a:buChar char="▪"/>
              <a:defRPr sz="3200">
                <a:latin typeface="MS PGothic" panose="020B0600070205080204" pitchFamily="34" charset="-128"/>
                <a:ea typeface="MS PGothic" panose="020B0600070205080204" pitchFamily="34" charset="-128"/>
              </a:defRPr>
            </a:lvl2pPr>
            <a:lvl3pPr marL="1170000" indent="-360000">
              <a:lnSpc>
                <a:spcPct val="120000"/>
              </a:lnSpc>
              <a:spcBef>
                <a:spcPts val="0"/>
              </a:spcBef>
              <a:spcAft>
                <a:spcPts val="500"/>
              </a:spcAft>
              <a:buFont typeface="システムフォント（レギュラー）"/>
              <a:buChar char="▸"/>
              <a:defRPr sz="2800">
                <a:latin typeface="MS PGothic" panose="020B0600070205080204" pitchFamily="34" charset="-128"/>
                <a:ea typeface="MS PGothic" panose="020B0600070205080204" pitchFamily="34" charset="-128"/>
              </a:defRPr>
            </a:lvl3pPr>
            <a:lvl4pPr marL="1530000" indent="-288000">
              <a:lnSpc>
                <a:spcPct val="120000"/>
              </a:lnSpc>
              <a:spcBef>
                <a:spcPts val="0"/>
              </a:spcBef>
              <a:spcAft>
                <a:spcPts val="250"/>
              </a:spcAft>
              <a:buSzPct val="125000"/>
              <a:buFont typeface="システムフォント（レギュラー）"/>
              <a:buChar char="-"/>
              <a:defRPr sz="2400">
                <a:latin typeface="MS PGothic" panose="020B0600070205080204" pitchFamily="34" charset="-128"/>
                <a:ea typeface="MS PGothic" panose="020B0600070205080204" pitchFamily="34" charset="-128"/>
              </a:defRPr>
            </a:lvl4pPr>
            <a:lvl5pPr marL="1800000" indent="-288000">
              <a:lnSpc>
                <a:spcPct val="120000"/>
              </a:lnSpc>
              <a:spcBef>
                <a:spcPts val="0"/>
              </a:spcBef>
              <a:buSzPct val="125000"/>
              <a:buFont typeface="システムフォント（レギュラー）"/>
              <a:buChar char="-"/>
              <a:defRPr sz="2000">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3" name="図 2">
            <a:extLst>
              <a:ext uri="{FF2B5EF4-FFF2-40B4-BE49-F238E27FC236}">
                <a16:creationId xmlns:a16="http://schemas.microsoft.com/office/drawing/2014/main" id="{5C8FD22A-0221-C88D-AF25-4AE3D0D20E97}"/>
              </a:ext>
            </a:extLst>
          </p:cNvPr>
          <p:cNvPicPr>
            <a:picLocks noChangeAspect="1"/>
          </p:cNvPicPr>
          <p:nvPr userDrawn="1"/>
        </p:nvPicPr>
        <p:blipFill rotWithShape="1">
          <a:blip r:embed="rId3"/>
          <a:srcRect l="9927" t="30922" r="77013" b="66348"/>
          <a:stretch/>
        </p:blipFill>
        <p:spPr>
          <a:xfrm>
            <a:off x="143999" y="9432000"/>
            <a:ext cx="790540" cy="234000"/>
          </a:xfrm>
          <a:prstGeom prst="rect">
            <a:avLst/>
          </a:prstGeom>
        </p:spPr>
      </p:pic>
    </p:spTree>
    <p:extLst>
      <p:ext uri="{BB962C8B-B14F-4D97-AF65-F5344CB8AC3E}">
        <p14:creationId xmlns:p14="http://schemas.microsoft.com/office/powerpoint/2010/main" val="2031328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本文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6000" y="0"/>
            <a:ext cx="16185600" cy="1872000"/>
          </a:xfrm>
          <a:prstGeom prst="rect">
            <a:avLst/>
          </a:prstGeom>
        </p:spPr>
        <p:txBody>
          <a:bodyPr lIns="0" tIns="0" rIns="0" bIns="0" anchor="ctr" anchorCtr="0"/>
          <a:lstStyle>
            <a:lvl1pPr>
              <a:lnSpc>
                <a:spcPct val="120000"/>
              </a:lnSpc>
              <a:defRPr sz="4000">
                <a:solidFill>
                  <a:schemeClr val="bg1"/>
                </a:solidFill>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
        <p:nvSpPr>
          <p:cNvPr id="5" name="Slide Number Placeholder 4"/>
          <p:cNvSpPr>
            <a:spLocks noGrp="1"/>
          </p:cNvSpPr>
          <p:nvPr>
            <p:ph type="sldNum" sz="quarter" idx="12"/>
          </p:nvPr>
        </p:nvSpPr>
        <p:spPr>
          <a:xfrm>
            <a:off x="16603200" y="9162000"/>
            <a:ext cx="720000" cy="576000"/>
          </a:xfrm>
          <a:prstGeom prst="rect">
            <a:avLst/>
          </a:prstGeom>
        </p:spPr>
        <p:txBody>
          <a:bodyPr lIns="0" tIns="0" rIns="0" bIns="0" anchor="ctr" anchorCtr="0"/>
          <a:lstStyle>
            <a:lvl1pPr algn="ctr">
              <a:defRPr sz="3200">
                <a:solidFill>
                  <a:schemeClr val="bg2"/>
                </a:solidFill>
                <a:latin typeface="Arial" panose="020B0604020202020204" pitchFamily="34" charset="0"/>
                <a:cs typeface="Arial" panose="020B0604020202020204" pitchFamily="34" charset="0"/>
              </a:defRPr>
            </a:lvl1pPr>
          </a:lstStyle>
          <a:p>
            <a:fld id="{85D74467-FFC2-5C49-A08A-98A9FE9BCA5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FFF0764-9835-3EC4-90CB-6AEDDD8CF163}"/>
              </a:ext>
            </a:extLst>
          </p:cNvPr>
          <p:cNvPicPr>
            <a:picLocks noChangeAspect="1"/>
          </p:cNvPicPr>
          <p:nvPr userDrawn="1"/>
        </p:nvPicPr>
        <p:blipFill rotWithShape="1">
          <a:blip r:embed="rId3"/>
          <a:srcRect l="9927" t="30922" r="77013" b="66348"/>
          <a:stretch/>
        </p:blipFill>
        <p:spPr>
          <a:xfrm>
            <a:off x="143999" y="9432000"/>
            <a:ext cx="790540" cy="234000"/>
          </a:xfrm>
          <a:prstGeom prst="rect">
            <a:avLst/>
          </a:prstGeom>
        </p:spPr>
      </p:pic>
    </p:spTree>
    <p:extLst>
      <p:ext uri="{BB962C8B-B14F-4D97-AF65-F5344CB8AC3E}">
        <p14:creationId xmlns:p14="http://schemas.microsoft.com/office/powerpoint/2010/main" val="663132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34212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81374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6" r:id="rId4"/>
    <p:sldLayoutId id="2147483673" r:id="rId5"/>
  </p:sldLayoutIdLst>
  <p:hf hdr="0" ftr="0" dt="0"/>
  <p:txStyles>
    <p:titleStyle>
      <a:lvl1pPr algn="l" defTabSz="1300277" rtl="0" eaLnBrk="1" latinLnBrk="0" hangingPunct="1">
        <a:lnSpc>
          <a:spcPct val="90000"/>
        </a:lnSpc>
        <a:spcBef>
          <a:spcPct val="0"/>
        </a:spcBef>
        <a:buNone/>
        <a:defRPr kumimoji="1" sz="6257" kern="1200">
          <a:solidFill>
            <a:schemeClr val="tx1"/>
          </a:solidFill>
          <a:latin typeface="+mj-lt"/>
          <a:ea typeface="+mj-ea"/>
          <a:cs typeface="+mj-cs"/>
        </a:defRPr>
      </a:lvl1pPr>
    </p:titleStyle>
    <p:bodyStyle>
      <a:lvl1pPr marL="325069" indent="-325069" algn="l" defTabSz="1300277" rtl="0" eaLnBrk="1" latinLnBrk="0" hangingPunct="1">
        <a:lnSpc>
          <a:spcPct val="90000"/>
        </a:lnSpc>
        <a:spcBef>
          <a:spcPts val="1422"/>
        </a:spcBef>
        <a:buFont typeface="Arial" panose="020B0604020202020204" pitchFamily="34" charset="0"/>
        <a:buChar char="•"/>
        <a:defRPr kumimoji="1" sz="3982" kern="1200">
          <a:solidFill>
            <a:schemeClr val="tx1"/>
          </a:solidFill>
          <a:latin typeface="+mn-lt"/>
          <a:ea typeface="+mn-ea"/>
          <a:cs typeface="+mn-cs"/>
        </a:defRPr>
      </a:lvl1pPr>
      <a:lvl2pPr marL="975208" indent="-325069" algn="l" defTabSz="1300277" rtl="0" eaLnBrk="1" latinLnBrk="0" hangingPunct="1">
        <a:lnSpc>
          <a:spcPct val="90000"/>
        </a:lnSpc>
        <a:spcBef>
          <a:spcPts val="711"/>
        </a:spcBef>
        <a:buFont typeface="Arial" panose="020B0604020202020204" pitchFamily="34" charset="0"/>
        <a:buChar char="•"/>
        <a:defRPr kumimoji="1" sz="3413" kern="1200">
          <a:solidFill>
            <a:schemeClr val="tx1"/>
          </a:solidFill>
          <a:latin typeface="+mn-lt"/>
          <a:ea typeface="+mn-ea"/>
          <a:cs typeface="+mn-cs"/>
        </a:defRPr>
      </a:lvl2pPr>
      <a:lvl3pPr marL="1625346" indent="-325069" algn="l" defTabSz="1300277" rtl="0" eaLnBrk="1" latinLnBrk="0" hangingPunct="1">
        <a:lnSpc>
          <a:spcPct val="90000"/>
        </a:lnSpc>
        <a:spcBef>
          <a:spcPts val="711"/>
        </a:spcBef>
        <a:buFont typeface="Arial" panose="020B0604020202020204" pitchFamily="34" charset="0"/>
        <a:buChar char="•"/>
        <a:defRPr kumimoji="1" sz="2844" kern="1200">
          <a:solidFill>
            <a:schemeClr val="tx1"/>
          </a:solidFill>
          <a:latin typeface="+mn-lt"/>
          <a:ea typeface="+mn-ea"/>
          <a:cs typeface="+mn-cs"/>
        </a:defRPr>
      </a:lvl3pPr>
      <a:lvl4pPr marL="2275484"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4pPr>
      <a:lvl5pPr marL="2925623"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p:bodyStyle>
    <p:otherStyle>
      <a:defPPr>
        <a:defRPr lang="en-US"/>
      </a:defPPr>
      <a:lvl1pPr marL="0" algn="l" defTabSz="1300277" rtl="0" eaLnBrk="1" latinLnBrk="0" hangingPunct="1">
        <a:defRPr kumimoji="1" sz="2560" kern="1200">
          <a:solidFill>
            <a:schemeClr val="tx1"/>
          </a:solidFill>
          <a:latin typeface="+mn-lt"/>
          <a:ea typeface="+mn-ea"/>
          <a:cs typeface="+mn-cs"/>
        </a:defRPr>
      </a:lvl1pPr>
      <a:lvl2pPr marL="650138" algn="l" defTabSz="1300277" rtl="0" eaLnBrk="1" latinLnBrk="0" hangingPunct="1">
        <a:defRPr kumimoji="1" sz="2560" kern="1200">
          <a:solidFill>
            <a:schemeClr val="tx1"/>
          </a:solidFill>
          <a:latin typeface="+mn-lt"/>
          <a:ea typeface="+mn-ea"/>
          <a:cs typeface="+mn-cs"/>
        </a:defRPr>
      </a:lvl2pPr>
      <a:lvl3pPr marL="1300277" algn="l" defTabSz="1300277" rtl="0" eaLnBrk="1" latinLnBrk="0" hangingPunct="1">
        <a:defRPr kumimoji="1" sz="2560" kern="1200">
          <a:solidFill>
            <a:schemeClr val="tx1"/>
          </a:solidFill>
          <a:latin typeface="+mn-lt"/>
          <a:ea typeface="+mn-ea"/>
          <a:cs typeface="+mn-cs"/>
        </a:defRPr>
      </a:lvl3pPr>
      <a:lvl4pPr marL="1950415" algn="l" defTabSz="1300277" rtl="0" eaLnBrk="1" latinLnBrk="0" hangingPunct="1">
        <a:defRPr kumimoji="1" sz="2560" kern="1200">
          <a:solidFill>
            <a:schemeClr val="tx1"/>
          </a:solidFill>
          <a:latin typeface="+mn-lt"/>
          <a:ea typeface="+mn-ea"/>
          <a:cs typeface="+mn-cs"/>
        </a:defRPr>
      </a:lvl4pPr>
      <a:lvl5pPr marL="2600554" algn="l" defTabSz="1300277" rtl="0" eaLnBrk="1" latinLnBrk="0" hangingPunct="1">
        <a:defRPr kumimoji="1" sz="2560" kern="1200">
          <a:solidFill>
            <a:schemeClr val="tx1"/>
          </a:solidFill>
          <a:latin typeface="+mn-lt"/>
          <a:ea typeface="+mn-ea"/>
          <a:cs typeface="+mn-cs"/>
        </a:defRPr>
      </a:lvl5pPr>
      <a:lvl6pPr marL="3250692" algn="l" defTabSz="1300277" rtl="0" eaLnBrk="1" latinLnBrk="0" hangingPunct="1">
        <a:defRPr kumimoji="1" sz="2560" kern="1200">
          <a:solidFill>
            <a:schemeClr val="tx1"/>
          </a:solidFill>
          <a:latin typeface="+mn-lt"/>
          <a:ea typeface="+mn-ea"/>
          <a:cs typeface="+mn-cs"/>
        </a:defRPr>
      </a:lvl6pPr>
      <a:lvl7pPr marL="3900830" algn="l" defTabSz="1300277" rtl="0" eaLnBrk="1" latinLnBrk="0" hangingPunct="1">
        <a:defRPr kumimoji="1" sz="2560" kern="1200">
          <a:solidFill>
            <a:schemeClr val="tx1"/>
          </a:solidFill>
          <a:latin typeface="+mn-lt"/>
          <a:ea typeface="+mn-ea"/>
          <a:cs typeface="+mn-cs"/>
        </a:defRPr>
      </a:lvl7pPr>
      <a:lvl8pPr marL="4550969" algn="l" defTabSz="1300277" rtl="0" eaLnBrk="1" latinLnBrk="0" hangingPunct="1">
        <a:defRPr kumimoji="1" sz="2560" kern="1200">
          <a:solidFill>
            <a:schemeClr val="tx1"/>
          </a:solidFill>
          <a:latin typeface="+mn-lt"/>
          <a:ea typeface="+mn-ea"/>
          <a:cs typeface="+mn-cs"/>
        </a:defRPr>
      </a:lvl8pPr>
      <a:lvl9pPr marL="5201107" algn="l" defTabSz="1300277" rtl="0" eaLnBrk="1" latinLnBrk="0" hangingPunct="1">
        <a:defRPr kumimoji="1"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3.xml"/><Relationship Id="rId16" Type="http://schemas.openxmlformats.org/officeDocument/2006/relationships/image" Target="../media/image20.svg"/><Relationship Id="rId1" Type="http://schemas.openxmlformats.org/officeDocument/2006/relationships/slideLayout" Target="../slideLayouts/slideLayout3.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9.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4.xml"/><Relationship Id="rId16" Type="http://schemas.openxmlformats.org/officeDocument/2006/relationships/image" Target="../media/image20.svg"/><Relationship Id="rId1" Type="http://schemas.openxmlformats.org/officeDocument/2006/relationships/slideLayout" Target="../slideLayouts/slideLayout3.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9.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7.emf"/></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7.emf"/></Relationships>
</file>

<file path=ppt/slides/_rels/slide11.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0.emf"/></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A5C1D6-A9A4-6B2E-17F3-6D63922E6FCF}"/>
              </a:ext>
            </a:extLst>
          </p:cNvPr>
          <p:cNvSpPr>
            <a:spLocks noGrp="1"/>
          </p:cNvSpPr>
          <p:nvPr>
            <p:ph type="ctrTitle"/>
          </p:nvPr>
        </p:nvSpPr>
        <p:spPr/>
        <p:txBody>
          <a:bodyPr/>
          <a:lstStyle/>
          <a:p>
            <a:r>
              <a:rPr lang="en-US" altLang="ja-JP" sz="5400" dirty="0"/>
              <a:t>OpenStack</a:t>
            </a:r>
            <a:r>
              <a:rPr lang="ja-JP" altLang="en-US" sz="5400"/>
              <a:t>と</a:t>
            </a:r>
            <a:r>
              <a:rPr lang="en-US" altLang="ja-JP" sz="5400" dirty="0"/>
              <a:t>AOSP</a:t>
            </a:r>
            <a:r>
              <a:rPr lang="ja-JP" altLang="en-US" sz="5400"/>
              <a:t>プロジェクトを対象に</a:t>
            </a:r>
            <a:br>
              <a:rPr lang="en-US" altLang="ja-JP" sz="5400" dirty="0"/>
            </a:br>
            <a:r>
              <a:rPr lang="ja-JP" altLang="en-US" sz="5400"/>
              <a:t> 逆強化学習を用いたモジュール別レビュー動態予測</a:t>
            </a:r>
            <a:endParaRPr kumimoji="1" lang="ja-JP" altLang="en-US" sz="5400"/>
          </a:p>
        </p:txBody>
      </p:sp>
      <p:pic>
        <p:nvPicPr>
          <p:cNvPr id="3" name="図 2" descr="ロゴ, 会社名&#10;&#10;自動的に生成された説明">
            <a:extLst>
              <a:ext uri="{FF2B5EF4-FFF2-40B4-BE49-F238E27FC236}">
                <a16:creationId xmlns:a16="http://schemas.microsoft.com/office/drawing/2014/main" id="{474CD39E-B797-E52F-5EE0-7908E448F69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3824000" y="6480000"/>
            <a:ext cx="2448000" cy="2448000"/>
          </a:xfrm>
          <a:prstGeom prst="rect">
            <a:avLst/>
          </a:prstGeom>
        </p:spPr>
      </p:pic>
      <p:sp>
        <p:nvSpPr>
          <p:cNvPr id="4" name="テキスト ボックス 3">
            <a:extLst>
              <a:ext uri="{FF2B5EF4-FFF2-40B4-BE49-F238E27FC236}">
                <a16:creationId xmlns:a16="http://schemas.microsoft.com/office/drawing/2014/main" id="{44B6F1D6-792B-CBE2-D829-5D39DEA9516D}"/>
              </a:ext>
            </a:extLst>
          </p:cNvPr>
          <p:cNvSpPr txBox="1"/>
          <p:nvPr/>
        </p:nvSpPr>
        <p:spPr>
          <a:xfrm>
            <a:off x="1440000" y="7344000"/>
            <a:ext cx="4215898" cy="1103379"/>
          </a:xfrm>
          <a:prstGeom prst="rect">
            <a:avLst/>
          </a:prstGeom>
          <a:noFill/>
        </p:spPr>
        <p:txBody>
          <a:bodyPr wrap="none" lIns="0" tIns="0" rIns="0" bIns="0" rtlCol="0">
            <a:spAutoFit/>
          </a:bodyPr>
          <a:lstStyle/>
          <a:p>
            <a:pPr>
              <a:lnSpc>
                <a:spcPct val="120000"/>
              </a:lnSpc>
            </a:pPr>
            <a:r>
              <a:rPr kumimoji="1" lang="ja-JP" altLang="en-US" sz="3200">
                <a:latin typeface="MS PGothic" panose="020B0600070205080204" pitchFamily="34" charset="-128"/>
                <a:ea typeface="MS PGothic" panose="020B0600070205080204" pitchFamily="34" charset="-128"/>
              </a:rPr>
              <a:t>和歌山大学</a:t>
            </a:r>
            <a:endParaRPr kumimoji="1" lang="en-US" altLang="ja-JP" sz="3200" dirty="0">
              <a:latin typeface="MS PGothic" panose="020B0600070205080204" pitchFamily="34" charset="-128"/>
              <a:ea typeface="MS PGothic" panose="020B0600070205080204" pitchFamily="34" charset="-128"/>
            </a:endParaRPr>
          </a:p>
          <a:p>
            <a:pPr>
              <a:lnSpc>
                <a:spcPct val="120000"/>
              </a:lnSpc>
            </a:pP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
            </a:r>
            <a:r>
              <a:rPr kumimoji="1" lang="ja-JP" altLang="en-US" sz="3200" u="sng">
                <a:latin typeface="MS PGothic" panose="020B0600070205080204" pitchFamily="34" charset="-128"/>
                <a:ea typeface="MS PGothic" panose="020B0600070205080204" pitchFamily="34" charset="-128"/>
              </a:rPr>
              <a:t>橋本一輝</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
            </a:r>
            <a:r>
              <a:rPr kumimoji="1" lang="ja-JP" altLang="en-US" sz="3200">
                <a:latin typeface="MS PGothic" panose="020B0600070205080204" pitchFamily="34" charset="-128"/>
                <a:ea typeface="MS PGothic" panose="020B0600070205080204" pitchFamily="34" charset="-128"/>
              </a:rPr>
              <a:t>伊原彰紀</a:t>
            </a:r>
          </a:p>
        </p:txBody>
      </p:sp>
    </p:spTree>
    <p:extLst>
      <p:ext uri="{BB962C8B-B14F-4D97-AF65-F5344CB8AC3E}">
        <p14:creationId xmlns:p14="http://schemas.microsoft.com/office/powerpoint/2010/main" val="40003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64D98-C14F-CE99-7CC3-9EF0A5CDDC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5DC008-1C0E-8377-1167-3659665061EC}"/>
              </a:ext>
            </a:extLst>
          </p:cNvPr>
          <p:cNvSpPr>
            <a:spLocks noGrp="1"/>
          </p:cNvSpPr>
          <p:nvPr>
            <p:ph type="title"/>
          </p:nvPr>
        </p:nvSpPr>
        <p:spPr/>
        <p:txBody>
          <a:bodyPr/>
          <a:lstStyle/>
          <a:p>
            <a:r>
              <a:rPr lang="ja-JP" altLang="en-US"/>
              <a:t>背景：オープンソースソフトウェア</a:t>
            </a:r>
            <a:r>
              <a:rPr lang="en-US" altLang="ja-JP" dirty="0"/>
              <a:t> (OSS) </a:t>
            </a:r>
            <a:r>
              <a:rPr lang="ja-JP" altLang="en-US"/>
              <a:t>開発の形態</a:t>
            </a:r>
            <a:endParaRPr kumimoji="1" lang="ja-JP" altLang="en-US"/>
          </a:p>
        </p:txBody>
      </p:sp>
      <p:sp>
        <p:nvSpPr>
          <p:cNvPr id="3" name="テキスト プレースホルダー 2">
            <a:extLst>
              <a:ext uri="{FF2B5EF4-FFF2-40B4-BE49-F238E27FC236}">
                <a16:creationId xmlns:a16="http://schemas.microsoft.com/office/drawing/2014/main" id="{F1F1E19F-C1AF-7379-4289-0A6D9ABCCD13}"/>
              </a:ext>
            </a:extLst>
          </p:cNvPr>
          <p:cNvSpPr>
            <a:spLocks noGrp="1"/>
          </p:cNvSpPr>
          <p:nvPr>
            <p:ph type="body" sz="quarter" idx="13"/>
          </p:nvPr>
        </p:nvSpPr>
        <p:spPr>
          <a:xfrm>
            <a:off x="576000" y="2160000"/>
            <a:ext cx="16185600" cy="2894639"/>
          </a:xfrm>
        </p:spPr>
        <p:txBody>
          <a:bodyPr/>
          <a:lstStyle/>
          <a:p>
            <a:r>
              <a:rPr kumimoji="1" lang="ja-JP" altLang="en-US"/>
              <a:t>地理的に分散した開発者が自主的に参加するバザール方式</a:t>
            </a:r>
            <a:r>
              <a:rPr kumimoji="1" lang="en-US" altLang="ja-JP" baseline="30000" dirty="0"/>
              <a:t>[1]</a:t>
            </a:r>
          </a:p>
          <a:p>
            <a:pPr lvl="1"/>
            <a:r>
              <a:rPr kumimoji="1" lang="ja-JP" altLang="en-US"/>
              <a:t>多様なボランティア開発者の貢献により成り立つ</a:t>
            </a:r>
            <a:endParaRPr kumimoji="1" lang="en-US" altLang="ja-JP" dirty="0"/>
          </a:p>
          <a:p>
            <a:r>
              <a:rPr lang="ja-JP" altLang="en-US"/>
              <a:t>開発者の多様な貢献の動機</a:t>
            </a:r>
            <a:endParaRPr lang="en-US" altLang="ja-JP" dirty="0"/>
          </a:p>
          <a:p>
            <a:pPr lvl="1"/>
            <a:r>
              <a:rPr kumimoji="1" lang="ja-JP" altLang="en-US"/>
              <a:t>知的探究心，技術向上，実績など貢献の動機が開発者によ</a:t>
            </a:r>
            <a:r>
              <a:rPr lang="ja-JP" altLang="en-US"/>
              <a:t>り</a:t>
            </a:r>
            <a:r>
              <a:rPr kumimoji="1" lang="ja-JP" altLang="en-US"/>
              <a:t>異なる</a:t>
            </a:r>
            <a:r>
              <a:rPr kumimoji="1" lang="en-US" altLang="ja-JP" baseline="30000" dirty="0"/>
              <a:t>[2]</a:t>
            </a:r>
            <a:endParaRPr kumimoji="1" lang="ja-JP" altLang="en-US" baseline="30000"/>
          </a:p>
        </p:txBody>
      </p:sp>
      <p:sp>
        <p:nvSpPr>
          <p:cNvPr id="4" name="スライド番号プレースホルダー 3">
            <a:extLst>
              <a:ext uri="{FF2B5EF4-FFF2-40B4-BE49-F238E27FC236}">
                <a16:creationId xmlns:a16="http://schemas.microsoft.com/office/drawing/2014/main" id="{9CDF3FC1-6FFD-4305-14AF-4CEC01B73DF5}"/>
              </a:ext>
            </a:extLst>
          </p:cNvPr>
          <p:cNvSpPr>
            <a:spLocks noGrp="1"/>
          </p:cNvSpPr>
          <p:nvPr>
            <p:ph type="sldNum" sz="quarter" idx="12"/>
          </p:nvPr>
        </p:nvSpPr>
        <p:spPr/>
        <p:txBody>
          <a:bodyPr/>
          <a:lstStyle/>
          <a:p>
            <a:fld id="{85D74467-FFC2-5C49-A08A-98A9FE9BCA53}" type="slidenum">
              <a:rPr kumimoji="1" lang="ja-JP" altLang="en-US" smtClean="0"/>
              <a:pPr/>
              <a:t>2</a:t>
            </a:fld>
            <a:endParaRPr kumimoji="1" lang="ja-JP" altLang="en-US"/>
          </a:p>
        </p:txBody>
      </p:sp>
      <p:sp>
        <p:nvSpPr>
          <p:cNvPr id="193" name="テキスト ボックス 192">
            <a:extLst>
              <a:ext uri="{FF2B5EF4-FFF2-40B4-BE49-F238E27FC236}">
                <a16:creationId xmlns:a16="http://schemas.microsoft.com/office/drawing/2014/main" id="{593445BC-2AF6-6DAE-31A1-C963D94A51A7}"/>
              </a:ext>
            </a:extLst>
          </p:cNvPr>
          <p:cNvSpPr txBox="1"/>
          <p:nvPr/>
        </p:nvSpPr>
        <p:spPr>
          <a:xfrm>
            <a:off x="844401" y="9021604"/>
            <a:ext cx="15106828" cy="369332"/>
          </a:xfrm>
          <a:prstGeom prst="rect">
            <a:avLst/>
          </a:prstGeom>
          <a:noFill/>
        </p:spPr>
        <p:txBody>
          <a:bodyPr wrap="none" rtlCol="0">
            <a:spAutoFit/>
          </a:bodyPr>
          <a:lstStyle/>
          <a:p>
            <a:r>
              <a:rPr lang="en-US" altLang="ja-JP" dirty="0"/>
              <a:t>[2] Toward an understanding of the motivation of open source software developers, 25th International Conference on Software Engineering, 2003. Proceedings.</a:t>
            </a:r>
            <a:endParaRPr kumimoji="1" lang="ja-JP" altLang="en-US"/>
          </a:p>
        </p:txBody>
      </p:sp>
      <p:sp>
        <p:nvSpPr>
          <p:cNvPr id="195" name="テキスト ボックス 194">
            <a:extLst>
              <a:ext uri="{FF2B5EF4-FFF2-40B4-BE49-F238E27FC236}">
                <a16:creationId xmlns:a16="http://schemas.microsoft.com/office/drawing/2014/main" id="{C62215C3-1404-CE63-82B0-5F1E2DDA2179}"/>
              </a:ext>
            </a:extLst>
          </p:cNvPr>
          <p:cNvSpPr txBox="1"/>
          <p:nvPr/>
        </p:nvSpPr>
        <p:spPr>
          <a:xfrm>
            <a:off x="844401" y="8717301"/>
            <a:ext cx="8673352" cy="369332"/>
          </a:xfrm>
          <a:prstGeom prst="rect">
            <a:avLst/>
          </a:prstGeom>
          <a:noFill/>
        </p:spPr>
        <p:txBody>
          <a:bodyPr wrap="square">
            <a:spAutoFit/>
          </a:bodyPr>
          <a:lstStyle/>
          <a:p>
            <a:r>
              <a:rPr lang="en-US" altLang="ja-JP" dirty="0"/>
              <a:t>[1] Raymond, E.: The cathedral and the bazaar, Knowledge, Technology &amp; Policy,</a:t>
            </a:r>
            <a:endParaRPr lang="ja-JP" altLang="en-US"/>
          </a:p>
        </p:txBody>
      </p:sp>
      <p:grpSp>
        <p:nvGrpSpPr>
          <p:cNvPr id="6" name="グループ化 5">
            <a:extLst>
              <a:ext uri="{FF2B5EF4-FFF2-40B4-BE49-F238E27FC236}">
                <a16:creationId xmlns:a16="http://schemas.microsoft.com/office/drawing/2014/main" id="{EF93FBFB-4DCB-BD7F-E3B6-CFE56C3E9636}"/>
              </a:ext>
            </a:extLst>
          </p:cNvPr>
          <p:cNvGrpSpPr/>
          <p:nvPr/>
        </p:nvGrpSpPr>
        <p:grpSpPr>
          <a:xfrm>
            <a:off x="4156107" y="5293947"/>
            <a:ext cx="8163580" cy="3474923"/>
            <a:chOff x="32990" y="9536222"/>
            <a:chExt cx="10423928" cy="4437066"/>
          </a:xfrm>
        </p:grpSpPr>
        <p:pic>
          <p:nvPicPr>
            <p:cNvPr id="13" name="グラフィックス 12" descr="データベース 枠線">
              <a:extLst>
                <a:ext uri="{FF2B5EF4-FFF2-40B4-BE49-F238E27FC236}">
                  <a16:creationId xmlns:a16="http://schemas.microsoft.com/office/drawing/2014/main" id="{975CEEB6-DBD9-5650-2237-48D3E2F8ED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3285" y="11449577"/>
              <a:ext cx="1038794" cy="1038796"/>
            </a:xfrm>
            <a:prstGeom prst="rect">
              <a:avLst/>
            </a:prstGeom>
          </p:spPr>
        </p:pic>
        <p:sp>
          <p:nvSpPr>
            <p:cNvPr id="14" name="円/楕円 13">
              <a:extLst>
                <a:ext uri="{FF2B5EF4-FFF2-40B4-BE49-F238E27FC236}">
                  <a16:creationId xmlns:a16="http://schemas.microsoft.com/office/drawing/2014/main" id="{BD38F7F6-E97A-E29C-DFDA-4D1C6E31B612}"/>
                </a:ext>
              </a:extLst>
            </p:cNvPr>
            <p:cNvSpPr/>
            <p:nvPr/>
          </p:nvSpPr>
          <p:spPr>
            <a:xfrm>
              <a:off x="5353289" y="10482659"/>
              <a:ext cx="651050" cy="651049"/>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グラフィックス 14" descr="ユーザー 枠線">
              <a:extLst>
                <a:ext uri="{FF2B5EF4-FFF2-40B4-BE49-F238E27FC236}">
                  <a16:creationId xmlns:a16="http://schemas.microsoft.com/office/drawing/2014/main" id="{E57AAD22-FDF6-0235-296E-2B5521FF54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53289" y="10505408"/>
              <a:ext cx="651050" cy="651049"/>
            </a:xfrm>
            <a:prstGeom prst="rect">
              <a:avLst/>
            </a:prstGeom>
          </p:spPr>
        </p:pic>
        <p:sp>
          <p:nvSpPr>
            <p:cNvPr id="16" name="円/楕円 15">
              <a:extLst>
                <a:ext uri="{FF2B5EF4-FFF2-40B4-BE49-F238E27FC236}">
                  <a16:creationId xmlns:a16="http://schemas.microsoft.com/office/drawing/2014/main" id="{087B651C-077E-3650-66F8-E71FBA902834}"/>
                </a:ext>
              </a:extLst>
            </p:cNvPr>
            <p:cNvSpPr/>
            <p:nvPr/>
          </p:nvSpPr>
          <p:spPr>
            <a:xfrm>
              <a:off x="1558692" y="11281133"/>
              <a:ext cx="785080" cy="785081"/>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グラフィックス 16" descr="ユーザー 枠線">
              <a:extLst>
                <a:ext uri="{FF2B5EF4-FFF2-40B4-BE49-F238E27FC236}">
                  <a16:creationId xmlns:a16="http://schemas.microsoft.com/office/drawing/2014/main" id="{CFFCEB1D-11A6-C5A1-349B-79EABD78BA9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8692" y="11308565"/>
              <a:ext cx="785080" cy="785081"/>
            </a:xfrm>
            <a:prstGeom prst="rect">
              <a:avLst/>
            </a:prstGeom>
          </p:spPr>
        </p:pic>
        <p:cxnSp>
          <p:nvCxnSpPr>
            <p:cNvPr id="18" name="直線コネクタ 17">
              <a:extLst>
                <a:ext uri="{FF2B5EF4-FFF2-40B4-BE49-F238E27FC236}">
                  <a16:creationId xmlns:a16="http://schemas.microsoft.com/office/drawing/2014/main" id="{37BC40D1-2C34-F236-4EEE-8966D7FC3DD1}"/>
                </a:ext>
              </a:extLst>
            </p:cNvPr>
            <p:cNvCxnSpPr>
              <a:cxnSpLocks/>
            </p:cNvCxnSpPr>
            <p:nvPr/>
          </p:nvCxnSpPr>
          <p:spPr>
            <a:xfrm flipH="1" flipV="1">
              <a:off x="2578081" y="11710521"/>
              <a:ext cx="745204" cy="25845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8B5BD696-75E3-4A36-761A-4AA271D2F4D8}"/>
                </a:ext>
              </a:extLst>
            </p:cNvPr>
            <p:cNvCxnSpPr>
              <a:cxnSpLocks/>
            </p:cNvCxnSpPr>
            <p:nvPr/>
          </p:nvCxnSpPr>
          <p:spPr>
            <a:xfrm flipH="1">
              <a:off x="4348959" y="11032961"/>
              <a:ext cx="915627" cy="71380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09092023-8C49-2928-76E0-9A5BA273D0F0}"/>
                </a:ext>
              </a:extLst>
            </p:cNvPr>
            <p:cNvCxnSpPr>
              <a:cxnSpLocks/>
            </p:cNvCxnSpPr>
            <p:nvPr/>
          </p:nvCxnSpPr>
          <p:spPr>
            <a:xfrm>
              <a:off x="2578081" y="10482659"/>
              <a:ext cx="845197" cy="95928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円/楕円 20">
              <a:extLst>
                <a:ext uri="{FF2B5EF4-FFF2-40B4-BE49-F238E27FC236}">
                  <a16:creationId xmlns:a16="http://schemas.microsoft.com/office/drawing/2014/main" id="{E3C20769-64BF-E08D-8C7C-940EAA2CFFA0}"/>
                </a:ext>
              </a:extLst>
            </p:cNvPr>
            <p:cNvSpPr/>
            <p:nvPr/>
          </p:nvSpPr>
          <p:spPr>
            <a:xfrm>
              <a:off x="1897819" y="9767113"/>
              <a:ext cx="651051" cy="651052"/>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グラフィックス 21" descr="ユーザー 枠線">
              <a:extLst>
                <a:ext uri="{FF2B5EF4-FFF2-40B4-BE49-F238E27FC236}">
                  <a16:creationId xmlns:a16="http://schemas.microsoft.com/office/drawing/2014/main" id="{F23D4FE4-AB6F-8B50-623F-43E7BAE174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97819" y="9787823"/>
              <a:ext cx="651051" cy="651052"/>
            </a:xfrm>
            <a:prstGeom prst="rect">
              <a:avLst/>
            </a:prstGeom>
          </p:spPr>
        </p:pic>
        <p:sp>
          <p:nvSpPr>
            <p:cNvPr id="23" name="円/楕円 22">
              <a:extLst>
                <a:ext uri="{FF2B5EF4-FFF2-40B4-BE49-F238E27FC236}">
                  <a16:creationId xmlns:a16="http://schemas.microsoft.com/office/drawing/2014/main" id="{C20F4C64-A5F5-080C-4FC8-1DBBBD1995BE}"/>
                </a:ext>
              </a:extLst>
            </p:cNvPr>
            <p:cNvSpPr/>
            <p:nvPr/>
          </p:nvSpPr>
          <p:spPr>
            <a:xfrm>
              <a:off x="4153127" y="13283020"/>
              <a:ext cx="666962" cy="666963"/>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グラフィックス 23" descr="ユーザー 枠線">
              <a:extLst>
                <a:ext uri="{FF2B5EF4-FFF2-40B4-BE49-F238E27FC236}">
                  <a16:creationId xmlns:a16="http://schemas.microsoft.com/office/drawing/2014/main" id="{6A7CFB2F-6AFF-DC3A-734F-F5463EED68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53127" y="13306325"/>
              <a:ext cx="666962" cy="666963"/>
            </a:xfrm>
            <a:prstGeom prst="rect">
              <a:avLst/>
            </a:prstGeom>
          </p:spPr>
        </p:pic>
        <p:cxnSp>
          <p:nvCxnSpPr>
            <p:cNvPr id="25" name="直線コネクタ 24">
              <a:extLst>
                <a:ext uri="{FF2B5EF4-FFF2-40B4-BE49-F238E27FC236}">
                  <a16:creationId xmlns:a16="http://schemas.microsoft.com/office/drawing/2014/main" id="{6DFF1F92-3C59-D18E-94E4-88832C9DAAB1}"/>
                </a:ext>
              </a:extLst>
            </p:cNvPr>
            <p:cNvCxnSpPr>
              <a:cxnSpLocks/>
            </p:cNvCxnSpPr>
            <p:nvPr/>
          </p:nvCxnSpPr>
          <p:spPr>
            <a:xfrm>
              <a:off x="4040310" y="12516525"/>
              <a:ext cx="278607" cy="632643"/>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477BE18E-8F3C-FB7C-3829-FA468B2993DF}"/>
                </a:ext>
              </a:extLst>
            </p:cNvPr>
            <p:cNvCxnSpPr>
              <a:cxnSpLocks/>
            </p:cNvCxnSpPr>
            <p:nvPr/>
          </p:nvCxnSpPr>
          <p:spPr>
            <a:xfrm>
              <a:off x="4404663" y="12098438"/>
              <a:ext cx="1274151" cy="3990"/>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7" name="グループ化 26">
              <a:extLst>
                <a:ext uri="{FF2B5EF4-FFF2-40B4-BE49-F238E27FC236}">
                  <a16:creationId xmlns:a16="http://schemas.microsoft.com/office/drawing/2014/main" id="{76142A20-85CD-788A-00F9-0F24967E71EF}"/>
                </a:ext>
              </a:extLst>
            </p:cNvPr>
            <p:cNvGrpSpPr/>
            <p:nvPr/>
          </p:nvGrpSpPr>
          <p:grpSpPr>
            <a:xfrm>
              <a:off x="5844620" y="11710521"/>
              <a:ext cx="709154" cy="733934"/>
              <a:chOff x="5260642" y="12156375"/>
              <a:chExt cx="709154" cy="733934"/>
            </a:xfrm>
          </p:grpSpPr>
          <p:sp>
            <p:nvSpPr>
              <p:cNvPr id="49" name="円/楕円 48">
                <a:extLst>
                  <a:ext uri="{FF2B5EF4-FFF2-40B4-BE49-F238E27FC236}">
                    <a16:creationId xmlns:a16="http://schemas.microsoft.com/office/drawing/2014/main" id="{69276A2F-4A4A-8D30-FD93-F65CFB4531FA}"/>
                  </a:ext>
                </a:extLst>
              </p:cNvPr>
              <p:cNvSpPr/>
              <p:nvPr/>
            </p:nvSpPr>
            <p:spPr>
              <a:xfrm>
                <a:off x="5260642" y="12156375"/>
                <a:ext cx="709154" cy="709155"/>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0" name="グラフィックス 49" descr="ユーザー 枠線">
                <a:extLst>
                  <a:ext uri="{FF2B5EF4-FFF2-40B4-BE49-F238E27FC236}">
                    <a16:creationId xmlns:a16="http://schemas.microsoft.com/office/drawing/2014/main" id="{57EBE65D-CC21-DF13-8D2A-3B12D656D3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0642" y="12181154"/>
                <a:ext cx="709154" cy="709155"/>
              </a:xfrm>
              <a:prstGeom prst="rect">
                <a:avLst/>
              </a:prstGeom>
            </p:spPr>
          </p:pic>
        </p:grpSp>
        <p:pic>
          <p:nvPicPr>
            <p:cNvPr id="28" name="グラフィックス 27" descr="データベース 枠線">
              <a:extLst>
                <a:ext uri="{FF2B5EF4-FFF2-40B4-BE49-F238E27FC236}">
                  <a16:creationId xmlns:a16="http://schemas.microsoft.com/office/drawing/2014/main" id="{D82E3C22-8756-A753-D368-002B14B62D7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85545" y="9536222"/>
              <a:ext cx="822035" cy="822035"/>
            </a:xfrm>
            <a:prstGeom prst="rect">
              <a:avLst/>
            </a:prstGeom>
          </p:spPr>
        </p:pic>
        <p:cxnSp>
          <p:nvCxnSpPr>
            <p:cNvPr id="29" name="直線コネクタ 28">
              <a:extLst>
                <a:ext uri="{FF2B5EF4-FFF2-40B4-BE49-F238E27FC236}">
                  <a16:creationId xmlns:a16="http://schemas.microsoft.com/office/drawing/2014/main" id="{86899B57-3AE0-949D-844B-F59A914F3FCD}"/>
                </a:ext>
              </a:extLst>
            </p:cNvPr>
            <p:cNvCxnSpPr>
              <a:cxnSpLocks/>
            </p:cNvCxnSpPr>
            <p:nvPr/>
          </p:nvCxnSpPr>
          <p:spPr>
            <a:xfrm flipH="1">
              <a:off x="6152523" y="10173542"/>
              <a:ext cx="1078237" cy="46337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EE5F2E0-DF36-EE9F-DDA0-814B3604502E}"/>
                </a:ext>
              </a:extLst>
            </p:cNvPr>
            <p:cNvCxnSpPr>
              <a:cxnSpLocks/>
            </p:cNvCxnSpPr>
            <p:nvPr/>
          </p:nvCxnSpPr>
          <p:spPr>
            <a:xfrm>
              <a:off x="7696562" y="10376743"/>
              <a:ext cx="375490" cy="91842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1" name="グラフィックス 30" descr="データベース 枠線">
              <a:extLst>
                <a:ext uri="{FF2B5EF4-FFF2-40B4-BE49-F238E27FC236}">
                  <a16:creationId xmlns:a16="http://schemas.microsoft.com/office/drawing/2014/main" id="{E66140D2-7DCE-9C10-086D-9E22CC5519A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61035" y="12875339"/>
              <a:ext cx="970652" cy="970652"/>
            </a:xfrm>
            <a:prstGeom prst="rect">
              <a:avLst/>
            </a:prstGeom>
          </p:spPr>
        </p:pic>
        <p:cxnSp>
          <p:nvCxnSpPr>
            <p:cNvPr id="32" name="直線コネクタ 31">
              <a:extLst>
                <a:ext uri="{FF2B5EF4-FFF2-40B4-BE49-F238E27FC236}">
                  <a16:creationId xmlns:a16="http://schemas.microsoft.com/office/drawing/2014/main" id="{3A98B7B1-1FEE-AFDF-64EB-9DC8FC6D86C7}"/>
                </a:ext>
              </a:extLst>
            </p:cNvPr>
            <p:cNvCxnSpPr>
              <a:cxnSpLocks/>
            </p:cNvCxnSpPr>
            <p:nvPr/>
          </p:nvCxnSpPr>
          <p:spPr>
            <a:xfrm>
              <a:off x="6690383" y="12438162"/>
              <a:ext cx="970652" cy="99482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B45A082F-6E11-3F05-9C65-883525DB44B1}"/>
                </a:ext>
              </a:extLst>
            </p:cNvPr>
            <p:cNvCxnSpPr>
              <a:cxnSpLocks/>
            </p:cNvCxnSpPr>
            <p:nvPr/>
          </p:nvCxnSpPr>
          <p:spPr>
            <a:xfrm flipH="1">
              <a:off x="2897450" y="10011878"/>
              <a:ext cx="4333310" cy="11649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F2C94481-85A7-19BF-E78C-B68217543713}"/>
                </a:ext>
              </a:extLst>
            </p:cNvPr>
            <p:cNvCxnSpPr>
              <a:cxnSpLocks/>
            </p:cNvCxnSpPr>
            <p:nvPr/>
          </p:nvCxnSpPr>
          <p:spPr>
            <a:xfrm flipH="1">
              <a:off x="8079476" y="12194835"/>
              <a:ext cx="188093" cy="68902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836F773E-9508-A08C-8291-E8449457555B}"/>
                </a:ext>
              </a:extLst>
            </p:cNvPr>
            <p:cNvCxnSpPr>
              <a:cxnSpLocks/>
            </p:cNvCxnSpPr>
            <p:nvPr/>
          </p:nvCxnSpPr>
          <p:spPr>
            <a:xfrm flipH="1">
              <a:off x="4973051" y="13585153"/>
              <a:ext cx="2687984" cy="1796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8EAE376F-7CC2-9F4E-C1B4-E36806C13A69}"/>
                </a:ext>
              </a:extLst>
            </p:cNvPr>
            <p:cNvCxnSpPr>
              <a:cxnSpLocks/>
            </p:cNvCxnSpPr>
            <p:nvPr/>
          </p:nvCxnSpPr>
          <p:spPr>
            <a:xfrm flipH="1">
              <a:off x="6530579" y="10482663"/>
              <a:ext cx="823254" cy="119542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7" name="グラフィックス 36" descr="データベース 枠線">
              <a:extLst>
                <a:ext uri="{FF2B5EF4-FFF2-40B4-BE49-F238E27FC236}">
                  <a16:creationId xmlns:a16="http://schemas.microsoft.com/office/drawing/2014/main" id="{86C18486-B798-8C7D-609E-50FC11BD3BC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75415" y="13101825"/>
              <a:ext cx="822035" cy="822035"/>
            </a:xfrm>
            <a:prstGeom prst="rect">
              <a:avLst/>
            </a:prstGeom>
          </p:spPr>
        </p:pic>
        <p:cxnSp>
          <p:nvCxnSpPr>
            <p:cNvPr id="38" name="直線コネクタ 37">
              <a:extLst>
                <a:ext uri="{FF2B5EF4-FFF2-40B4-BE49-F238E27FC236}">
                  <a16:creationId xmlns:a16="http://schemas.microsoft.com/office/drawing/2014/main" id="{12835CCC-25C4-01E9-723E-7C9113A57407}"/>
                </a:ext>
              </a:extLst>
            </p:cNvPr>
            <p:cNvCxnSpPr>
              <a:cxnSpLocks/>
            </p:cNvCxnSpPr>
            <p:nvPr/>
          </p:nvCxnSpPr>
          <p:spPr>
            <a:xfrm flipH="1" flipV="1">
              <a:off x="2142670" y="12275587"/>
              <a:ext cx="315326" cy="71849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AF4659D6-F848-2812-6658-6056891BDB88}"/>
                </a:ext>
              </a:extLst>
            </p:cNvPr>
            <p:cNvCxnSpPr>
              <a:cxnSpLocks/>
            </p:cNvCxnSpPr>
            <p:nvPr/>
          </p:nvCxnSpPr>
          <p:spPr>
            <a:xfrm>
              <a:off x="2935005" y="13538860"/>
              <a:ext cx="976547" cy="46293"/>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グループ化 39">
              <a:extLst>
                <a:ext uri="{FF2B5EF4-FFF2-40B4-BE49-F238E27FC236}">
                  <a16:creationId xmlns:a16="http://schemas.microsoft.com/office/drawing/2014/main" id="{E1E98201-89B9-8B5C-0B3F-60C2E0EFE1EB}"/>
                </a:ext>
              </a:extLst>
            </p:cNvPr>
            <p:cNvGrpSpPr/>
            <p:nvPr/>
          </p:nvGrpSpPr>
          <p:grpSpPr>
            <a:xfrm>
              <a:off x="7933867" y="11417963"/>
              <a:ext cx="686419" cy="710405"/>
              <a:chOff x="5260642" y="12156375"/>
              <a:chExt cx="709154" cy="733934"/>
            </a:xfrm>
          </p:grpSpPr>
          <p:sp>
            <p:nvSpPr>
              <p:cNvPr id="47" name="円/楕円 46">
                <a:extLst>
                  <a:ext uri="{FF2B5EF4-FFF2-40B4-BE49-F238E27FC236}">
                    <a16:creationId xmlns:a16="http://schemas.microsoft.com/office/drawing/2014/main" id="{522462B3-1E2F-5F5C-E235-8E46DBDD85B2}"/>
                  </a:ext>
                </a:extLst>
              </p:cNvPr>
              <p:cNvSpPr/>
              <p:nvPr/>
            </p:nvSpPr>
            <p:spPr>
              <a:xfrm>
                <a:off x="5260642" y="12156375"/>
                <a:ext cx="709154" cy="709155"/>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8" name="グラフィックス 47" descr="ユーザー 枠線">
                <a:extLst>
                  <a:ext uri="{FF2B5EF4-FFF2-40B4-BE49-F238E27FC236}">
                    <a16:creationId xmlns:a16="http://schemas.microsoft.com/office/drawing/2014/main" id="{08D20588-DB3D-71DA-B58D-4FDEC14362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0642" y="12181154"/>
                <a:ext cx="709154" cy="709155"/>
              </a:xfrm>
              <a:prstGeom prst="rect">
                <a:avLst/>
              </a:prstGeom>
            </p:spPr>
          </p:pic>
        </p:grpSp>
        <p:cxnSp>
          <p:nvCxnSpPr>
            <p:cNvPr id="41" name="直線コネクタ 40">
              <a:extLst>
                <a:ext uri="{FF2B5EF4-FFF2-40B4-BE49-F238E27FC236}">
                  <a16:creationId xmlns:a16="http://schemas.microsoft.com/office/drawing/2014/main" id="{B4E02292-9FC6-7C08-BE03-A8E9742AB1C2}"/>
                </a:ext>
              </a:extLst>
            </p:cNvPr>
            <p:cNvCxnSpPr>
              <a:cxnSpLocks/>
            </p:cNvCxnSpPr>
            <p:nvPr/>
          </p:nvCxnSpPr>
          <p:spPr>
            <a:xfrm flipH="1">
              <a:off x="32990" y="11730287"/>
              <a:ext cx="1393713" cy="238688"/>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0FCABA8D-71D8-996A-7094-EF274BE8B458}"/>
                </a:ext>
              </a:extLst>
            </p:cNvPr>
            <p:cNvCxnSpPr>
              <a:cxnSpLocks/>
            </p:cNvCxnSpPr>
            <p:nvPr/>
          </p:nvCxnSpPr>
          <p:spPr>
            <a:xfrm>
              <a:off x="267687" y="9898387"/>
              <a:ext cx="1432253" cy="94219"/>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E5922086-0FBC-BEF4-05FF-21D96EFD69D2}"/>
                </a:ext>
              </a:extLst>
            </p:cNvPr>
            <p:cNvCxnSpPr>
              <a:cxnSpLocks/>
            </p:cNvCxnSpPr>
            <p:nvPr/>
          </p:nvCxnSpPr>
          <p:spPr>
            <a:xfrm flipV="1">
              <a:off x="8162365" y="9640868"/>
              <a:ext cx="1900100" cy="324860"/>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B436121C-971A-992B-97C7-0862477B8228}"/>
                </a:ext>
              </a:extLst>
            </p:cNvPr>
            <p:cNvCxnSpPr>
              <a:cxnSpLocks/>
            </p:cNvCxnSpPr>
            <p:nvPr/>
          </p:nvCxnSpPr>
          <p:spPr>
            <a:xfrm flipH="1" flipV="1">
              <a:off x="267687" y="13432987"/>
              <a:ext cx="1686940" cy="201348"/>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5F3887A8-60B8-1C75-726A-846C00728ECD}"/>
                </a:ext>
              </a:extLst>
            </p:cNvPr>
            <p:cNvCxnSpPr>
              <a:cxnSpLocks/>
            </p:cNvCxnSpPr>
            <p:nvPr/>
          </p:nvCxnSpPr>
          <p:spPr>
            <a:xfrm flipH="1" flipV="1">
              <a:off x="8538894" y="13652182"/>
              <a:ext cx="1744465" cy="321105"/>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729F115-92FD-E1FF-853D-C0AA04AE4C38}"/>
                </a:ext>
              </a:extLst>
            </p:cNvPr>
            <p:cNvCxnSpPr>
              <a:cxnSpLocks/>
            </p:cNvCxnSpPr>
            <p:nvPr/>
          </p:nvCxnSpPr>
          <p:spPr>
            <a:xfrm flipV="1">
              <a:off x="8720568" y="11673673"/>
              <a:ext cx="1736350" cy="131977"/>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0212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0778E-2DF7-CC7D-FBC5-7F30AE675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0D9667-BCAC-C033-95FC-13EB54614BD8}"/>
              </a:ext>
            </a:extLst>
          </p:cNvPr>
          <p:cNvSpPr>
            <a:spLocks noGrp="1"/>
          </p:cNvSpPr>
          <p:nvPr>
            <p:ph type="title"/>
          </p:nvPr>
        </p:nvSpPr>
        <p:spPr/>
        <p:txBody>
          <a:bodyPr/>
          <a:lstStyle/>
          <a:p>
            <a:r>
              <a:rPr kumimoji="1" lang="ja-JP" altLang="en-US"/>
              <a:t>プロジェクトの持続可能性について</a:t>
            </a:r>
          </a:p>
        </p:txBody>
      </p:sp>
      <p:sp>
        <p:nvSpPr>
          <p:cNvPr id="4" name="スライド番号プレースホルダー 3">
            <a:extLst>
              <a:ext uri="{FF2B5EF4-FFF2-40B4-BE49-F238E27FC236}">
                <a16:creationId xmlns:a16="http://schemas.microsoft.com/office/drawing/2014/main" id="{8FBF07A7-EDBD-EF4B-EF1C-EE69541F6276}"/>
              </a:ext>
            </a:extLst>
          </p:cNvPr>
          <p:cNvSpPr>
            <a:spLocks noGrp="1"/>
          </p:cNvSpPr>
          <p:nvPr>
            <p:ph type="sldNum" sz="quarter" idx="12"/>
          </p:nvPr>
        </p:nvSpPr>
        <p:spPr/>
        <p:txBody>
          <a:bodyPr/>
          <a:lstStyle/>
          <a:p>
            <a:fld id="{85D74467-FFC2-5C49-A08A-98A9FE9BCA53}" type="slidenum">
              <a:rPr kumimoji="1" lang="ja-JP" altLang="en-US" smtClean="0"/>
              <a:pPr/>
              <a:t>3</a:t>
            </a:fld>
            <a:endParaRPr kumimoji="1" lang="ja-JP" altLang="en-US"/>
          </a:p>
        </p:txBody>
      </p:sp>
      <p:sp>
        <p:nvSpPr>
          <p:cNvPr id="137" name="テキスト ボックス 136">
            <a:extLst>
              <a:ext uri="{FF2B5EF4-FFF2-40B4-BE49-F238E27FC236}">
                <a16:creationId xmlns:a16="http://schemas.microsoft.com/office/drawing/2014/main" id="{C7F4C6E9-CE4F-7648-B6B0-33027408CF3E}"/>
              </a:ext>
            </a:extLst>
          </p:cNvPr>
          <p:cNvSpPr txBox="1"/>
          <p:nvPr/>
        </p:nvSpPr>
        <p:spPr>
          <a:xfrm>
            <a:off x="407517" y="8850910"/>
            <a:ext cx="16522053" cy="276999"/>
          </a:xfrm>
          <a:prstGeom prst="rect">
            <a:avLst/>
          </a:prstGeom>
          <a:noFill/>
        </p:spPr>
        <p:txBody>
          <a:bodyPr wrap="square">
            <a:spAutoFit/>
          </a:bodyPr>
          <a:lstStyle/>
          <a:p>
            <a:r>
              <a:rPr lang="en-US" altLang="ja-JP" sz="1200" dirty="0"/>
              <a:t>[3] Lee, A. and Carver, J. C.: Are One-Time Contributors Different? A Comparison to Core and Periphery Developers in FLOSS Repositories, 2017 ACM/IEEE International Symposium on Empirical Software Engineering and Measurement (ESEM)</a:t>
            </a:r>
            <a:endParaRPr lang="ja-JP" altLang="en-US" sz="1200"/>
          </a:p>
        </p:txBody>
      </p:sp>
      <p:grpSp>
        <p:nvGrpSpPr>
          <p:cNvPr id="53" name="グループ化 52">
            <a:extLst>
              <a:ext uri="{FF2B5EF4-FFF2-40B4-BE49-F238E27FC236}">
                <a16:creationId xmlns:a16="http://schemas.microsoft.com/office/drawing/2014/main" id="{1811B6B2-16AF-1F9D-928A-F09A20DC0407}"/>
              </a:ext>
            </a:extLst>
          </p:cNvPr>
          <p:cNvGrpSpPr/>
          <p:nvPr/>
        </p:nvGrpSpPr>
        <p:grpSpPr>
          <a:xfrm>
            <a:off x="939474" y="5381980"/>
            <a:ext cx="7108969" cy="3474923"/>
            <a:chOff x="293979" y="10522829"/>
            <a:chExt cx="11648655" cy="5693960"/>
          </a:xfrm>
        </p:grpSpPr>
        <p:grpSp>
          <p:nvGrpSpPr>
            <p:cNvPr id="54" name="グループ化 53">
              <a:extLst>
                <a:ext uri="{FF2B5EF4-FFF2-40B4-BE49-F238E27FC236}">
                  <a16:creationId xmlns:a16="http://schemas.microsoft.com/office/drawing/2014/main" id="{ECFA19E8-11C9-4B7D-F2AE-A3BD94465CDD}"/>
                </a:ext>
              </a:extLst>
            </p:cNvPr>
            <p:cNvGrpSpPr/>
            <p:nvPr/>
          </p:nvGrpSpPr>
          <p:grpSpPr>
            <a:xfrm>
              <a:off x="293979" y="10522829"/>
              <a:ext cx="11648655" cy="5693960"/>
              <a:chOff x="525026" y="9536222"/>
              <a:chExt cx="9077314" cy="4437066"/>
            </a:xfrm>
          </p:grpSpPr>
          <p:pic>
            <p:nvPicPr>
              <p:cNvPr id="61" name="グラフィックス 60" descr="データベース 枠線">
                <a:extLst>
                  <a:ext uri="{FF2B5EF4-FFF2-40B4-BE49-F238E27FC236}">
                    <a16:creationId xmlns:a16="http://schemas.microsoft.com/office/drawing/2014/main" id="{C5A19EDB-D4CA-102F-ECE2-8E930AEC57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3285" y="11449577"/>
                <a:ext cx="1038794" cy="1038796"/>
              </a:xfrm>
              <a:prstGeom prst="rect">
                <a:avLst/>
              </a:prstGeom>
            </p:spPr>
          </p:pic>
          <p:sp>
            <p:nvSpPr>
              <p:cNvPr id="62" name="円/楕円 61">
                <a:extLst>
                  <a:ext uri="{FF2B5EF4-FFF2-40B4-BE49-F238E27FC236}">
                    <a16:creationId xmlns:a16="http://schemas.microsoft.com/office/drawing/2014/main" id="{5726280F-15BE-7F36-E3A6-3B90E09A9BB2}"/>
                  </a:ext>
                </a:extLst>
              </p:cNvPr>
              <p:cNvSpPr/>
              <p:nvPr/>
            </p:nvSpPr>
            <p:spPr>
              <a:xfrm>
                <a:off x="5353289" y="10482659"/>
                <a:ext cx="651050" cy="651049"/>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3" name="グラフィックス 62" descr="ユーザー 枠線">
                <a:extLst>
                  <a:ext uri="{FF2B5EF4-FFF2-40B4-BE49-F238E27FC236}">
                    <a16:creationId xmlns:a16="http://schemas.microsoft.com/office/drawing/2014/main" id="{CC34623D-F6AE-B77E-FF33-03B8C63AFF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53289" y="10505408"/>
                <a:ext cx="651050" cy="651049"/>
              </a:xfrm>
              <a:prstGeom prst="rect">
                <a:avLst/>
              </a:prstGeom>
            </p:spPr>
          </p:pic>
          <p:sp>
            <p:nvSpPr>
              <p:cNvPr id="64" name="円/楕円 63">
                <a:extLst>
                  <a:ext uri="{FF2B5EF4-FFF2-40B4-BE49-F238E27FC236}">
                    <a16:creationId xmlns:a16="http://schemas.microsoft.com/office/drawing/2014/main" id="{0A1D55C1-E249-C833-1F56-B3225A5CBFE7}"/>
                  </a:ext>
                </a:extLst>
              </p:cNvPr>
              <p:cNvSpPr/>
              <p:nvPr/>
            </p:nvSpPr>
            <p:spPr>
              <a:xfrm>
                <a:off x="1558692" y="11281133"/>
                <a:ext cx="785080" cy="785081"/>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5" name="グラフィックス 64" descr="ユーザー 枠線">
                <a:extLst>
                  <a:ext uri="{FF2B5EF4-FFF2-40B4-BE49-F238E27FC236}">
                    <a16:creationId xmlns:a16="http://schemas.microsoft.com/office/drawing/2014/main" id="{38C14F0D-7838-4FD9-8D4C-786ECF711D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8692" y="11308565"/>
                <a:ext cx="785080" cy="785081"/>
              </a:xfrm>
              <a:prstGeom prst="rect">
                <a:avLst/>
              </a:prstGeom>
            </p:spPr>
          </p:pic>
          <p:cxnSp>
            <p:nvCxnSpPr>
              <p:cNvPr id="66" name="直線コネクタ 65">
                <a:extLst>
                  <a:ext uri="{FF2B5EF4-FFF2-40B4-BE49-F238E27FC236}">
                    <a16:creationId xmlns:a16="http://schemas.microsoft.com/office/drawing/2014/main" id="{C33A9B79-00B9-65DD-4D9A-FB82DEFD60A3}"/>
                  </a:ext>
                </a:extLst>
              </p:cNvPr>
              <p:cNvCxnSpPr>
                <a:cxnSpLocks/>
              </p:cNvCxnSpPr>
              <p:nvPr/>
            </p:nvCxnSpPr>
            <p:spPr>
              <a:xfrm flipH="1" flipV="1">
                <a:off x="2578081" y="11710521"/>
                <a:ext cx="745204" cy="25845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1530A243-5AA0-9665-BC17-73DA8DC54938}"/>
                  </a:ext>
                </a:extLst>
              </p:cNvPr>
              <p:cNvCxnSpPr>
                <a:cxnSpLocks/>
              </p:cNvCxnSpPr>
              <p:nvPr/>
            </p:nvCxnSpPr>
            <p:spPr>
              <a:xfrm flipH="1">
                <a:off x="4348959" y="11032961"/>
                <a:ext cx="915627" cy="71380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559323F6-AA58-144B-4135-3612F65AE086}"/>
                  </a:ext>
                </a:extLst>
              </p:cNvPr>
              <p:cNvCxnSpPr>
                <a:cxnSpLocks/>
              </p:cNvCxnSpPr>
              <p:nvPr/>
            </p:nvCxnSpPr>
            <p:spPr>
              <a:xfrm>
                <a:off x="2578081" y="10482659"/>
                <a:ext cx="845197" cy="95928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9" name="円/楕円 68">
                <a:extLst>
                  <a:ext uri="{FF2B5EF4-FFF2-40B4-BE49-F238E27FC236}">
                    <a16:creationId xmlns:a16="http://schemas.microsoft.com/office/drawing/2014/main" id="{3119CD92-350B-1C9F-C610-197E050DCC82}"/>
                  </a:ext>
                </a:extLst>
              </p:cNvPr>
              <p:cNvSpPr/>
              <p:nvPr/>
            </p:nvSpPr>
            <p:spPr>
              <a:xfrm>
                <a:off x="1897819" y="9767113"/>
                <a:ext cx="651051" cy="651052"/>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0" name="グラフィックス 69" descr="ユーザー 枠線">
                <a:extLst>
                  <a:ext uri="{FF2B5EF4-FFF2-40B4-BE49-F238E27FC236}">
                    <a16:creationId xmlns:a16="http://schemas.microsoft.com/office/drawing/2014/main" id="{ABE079CB-F1FE-A2C5-75EE-071D829C21F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97819" y="9787823"/>
                <a:ext cx="651051" cy="651052"/>
              </a:xfrm>
              <a:prstGeom prst="rect">
                <a:avLst/>
              </a:prstGeom>
            </p:spPr>
          </p:pic>
          <p:sp>
            <p:nvSpPr>
              <p:cNvPr id="71" name="円/楕円 70">
                <a:extLst>
                  <a:ext uri="{FF2B5EF4-FFF2-40B4-BE49-F238E27FC236}">
                    <a16:creationId xmlns:a16="http://schemas.microsoft.com/office/drawing/2014/main" id="{5DA85B68-5FC0-5F3E-8841-E10A9AD2D223}"/>
                  </a:ext>
                </a:extLst>
              </p:cNvPr>
              <p:cNvSpPr/>
              <p:nvPr/>
            </p:nvSpPr>
            <p:spPr>
              <a:xfrm>
                <a:off x="4153127" y="13283020"/>
                <a:ext cx="666962" cy="666963"/>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2" name="グラフィックス 71" descr="ユーザー 枠線">
                <a:extLst>
                  <a:ext uri="{FF2B5EF4-FFF2-40B4-BE49-F238E27FC236}">
                    <a16:creationId xmlns:a16="http://schemas.microsoft.com/office/drawing/2014/main" id="{9B0C2E26-6E37-1A62-CE64-7D36608270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53127" y="13306325"/>
                <a:ext cx="666962" cy="666963"/>
              </a:xfrm>
              <a:prstGeom prst="rect">
                <a:avLst/>
              </a:prstGeom>
            </p:spPr>
          </p:pic>
          <p:cxnSp>
            <p:nvCxnSpPr>
              <p:cNvPr id="73" name="直線コネクタ 72">
                <a:extLst>
                  <a:ext uri="{FF2B5EF4-FFF2-40B4-BE49-F238E27FC236}">
                    <a16:creationId xmlns:a16="http://schemas.microsoft.com/office/drawing/2014/main" id="{1D6C6DE5-36D6-235E-D6B8-C54643378A95}"/>
                  </a:ext>
                </a:extLst>
              </p:cNvPr>
              <p:cNvCxnSpPr>
                <a:cxnSpLocks/>
              </p:cNvCxnSpPr>
              <p:nvPr/>
            </p:nvCxnSpPr>
            <p:spPr>
              <a:xfrm>
                <a:off x="4040310" y="12516525"/>
                <a:ext cx="278607" cy="632643"/>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A03A00D2-D844-9BEC-CCA6-4812A6E6BA78}"/>
                  </a:ext>
                </a:extLst>
              </p:cNvPr>
              <p:cNvCxnSpPr>
                <a:cxnSpLocks/>
              </p:cNvCxnSpPr>
              <p:nvPr/>
            </p:nvCxnSpPr>
            <p:spPr>
              <a:xfrm>
                <a:off x="4404663" y="12098438"/>
                <a:ext cx="1274151" cy="3990"/>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5" name="グループ化 74">
                <a:extLst>
                  <a:ext uri="{FF2B5EF4-FFF2-40B4-BE49-F238E27FC236}">
                    <a16:creationId xmlns:a16="http://schemas.microsoft.com/office/drawing/2014/main" id="{20472C55-3141-91AD-C5CF-09246C2AFA50}"/>
                  </a:ext>
                </a:extLst>
              </p:cNvPr>
              <p:cNvGrpSpPr/>
              <p:nvPr/>
            </p:nvGrpSpPr>
            <p:grpSpPr>
              <a:xfrm>
                <a:off x="5844620" y="11710521"/>
                <a:ext cx="709154" cy="733934"/>
                <a:chOff x="5260642" y="12156375"/>
                <a:chExt cx="709154" cy="733934"/>
              </a:xfrm>
            </p:grpSpPr>
            <p:sp>
              <p:nvSpPr>
                <p:cNvPr id="138" name="円/楕円 137">
                  <a:extLst>
                    <a:ext uri="{FF2B5EF4-FFF2-40B4-BE49-F238E27FC236}">
                      <a16:creationId xmlns:a16="http://schemas.microsoft.com/office/drawing/2014/main" id="{9BBAA734-706C-DFB0-5E3E-DE758E85D734}"/>
                    </a:ext>
                  </a:extLst>
                </p:cNvPr>
                <p:cNvSpPr/>
                <p:nvPr/>
              </p:nvSpPr>
              <p:spPr>
                <a:xfrm>
                  <a:off x="5260642" y="12156375"/>
                  <a:ext cx="709154" cy="709155"/>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9" name="グラフィックス 138" descr="ユーザー 枠線">
                  <a:extLst>
                    <a:ext uri="{FF2B5EF4-FFF2-40B4-BE49-F238E27FC236}">
                      <a16:creationId xmlns:a16="http://schemas.microsoft.com/office/drawing/2014/main" id="{55964385-1076-8D93-8C97-0119BDDB282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0642" y="12181154"/>
                  <a:ext cx="709154" cy="709155"/>
                </a:xfrm>
                <a:prstGeom prst="rect">
                  <a:avLst/>
                </a:prstGeom>
              </p:spPr>
            </p:pic>
          </p:grpSp>
          <p:pic>
            <p:nvPicPr>
              <p:cNvPr id="76" name="グラフィックス 75" descr="データベース 枠線">
                <a:extLst>
                  <a:ext uri="{FF2B5EF4-FFF2-40B4-BE49-F238E27FC236}">
                    <a16:creationId xmlns:a16="http://schemas.microsoft.com/office/drawing/2014/main" id="{942FEF22-F31D-E437-B2D2-6AC10DB5583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85545" y="9536222"/>
                <a:ext cx="822035" cy="822035"/>
              </a:xfrm>
              <a:prstGeom prst="rect">
                <a:avLst/>
              </a:prstGeom>
            </p:spPr>
          </p:pic>
          <p:cxnSp>
            <p:nvCxnSpPr>
              <p:cNvPr id="77" name="直線コネクタ 76">
                <a:extLst>
                  <a:ext uri="{FF2B5EF4-FFF2-40B4-BE49-F238E27FC236}">
                    <a16:creationId xmlns:a16="http://schemas.microsoft.com/office/drawing/2014/main" id="{B40B4CCF-E35C-2470-EA54-1BA91744A195}"/>
                  </a:ext>
                </a:extLst>
              </p:cNvPr>
              <p:cNvCxnSpPr>
                <a:cxnSpLocks/>
              </p:cNvCxnSpPr>
              <p:nvPr/>
            </p:nvCxnSpPr>
            <p:spPr>
              <a:xfrm flipH="1">
                <a:off x="6152523" y="10173542"/>
                <a:ext cx="1078237" cy="46337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AE402D43-E588-7E0A-15E0-9A4E99F61A6A}"/>
                  </a:ext>
                </a:extLst>
              </p:cNvPr>
              <p:cNvCxnSpPr>
                <a:cxnSpLocks/>
              </p:cNvCxnSpPr>
              <p:nvPr/>
            </p:nvCxnSpPr>
            <p:spPr>
              <a:xfrm>
                <a:off x="7696562" y="10376743"/>
                <a:ext cx="375490" cy="91842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9" name="グラフィックス 78" descr="データベース 枠線">
                <a:extLst>
                  <a:ext uri="{FF2B5EF4-FFF2-40B4-BE49-F238E27FC236}">
                    <a16:creationId xmlns:a16="http://schemas.microsoft.com/office/drawing/2014/main" id="{6A3D03A2-C6AD-D1D3-71EC-50453125C3F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61035" y="12875339"/>
                <a:ext cx="970652" cy="970652"/>
              </a:xfrm>
              <a:prstGeom prst="rect">
                <a:avLst/>
              </a:prstGeom>
            </p:spPr>
          </p:pic>
          <p:cxnSp>
            <p:nvCxnSpPr>
              <p:cNvPr id="80" name="直線コネクタ 79">
                <a:extLst>
                  <a:ext uri="{FF2B5EF4-FFF2-40B4-BE49-F238E27FC236}">
                    <a16:creationId xmlns:a16="http://schemas.microsoft.com/office/drawing/2014/main" id="{35286B41-EE5F-CD99-4727-FF9B946819BA}"/>
                  </a:ext>
                </a:extLst>
              </p:cNvPr>
              <p:cNvCxnSpPr>
                <a:cxnSpLocks/>
              </p:cNvCxnSpPr>
              <p:nvPr/>
            </p:nvCxnSpPr>
            <p:spPr>
              <a:xfrm>
                <a:off x="6690383" y="12438162"/>
                <a:ext cx="970652" cy="99482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79B0D81F-D8C7-3F1C-498A-BAC0945EF218}"/>
                  </a:ext>
                </a:extLst>
              </p:cNvPr>
              <p:cNvCxnSpPr>
                <a:cxnSpLocks/>
              </p:cNvCxnSpPr>
              <p:nvPr/>
            </p:nvCxnSpPr>
            <p:spPr>
              <a:xfrm flipH="1">
                <a:off x="2897450" y="10011878"/>
                <a:ext cx="4333310" cy="11649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BF626C2B-B05C-95BE-07AD-024442BCA4D3}"/>
                  </a:ext>
                </a:extLst>
              </p:cNvPr>
              <p:cNvCxnSpPr>
                <a:cxnSpLocks/>
              </p:cNvCxnSpPr>
              <p:nvPr/>
            </p:nvCxnSpPr>
            <p:spPr>
              <a:xfrm flipH="1">
                <a:off x="8079476" y="12194835"/>
                <a:ext cx="188093" cy="68902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3EE2373D-48BB-7326-96BD-C9E6A36ADFB4}"/>
                  </a:ext>
                </a:extLst>
              </p:cNvPr>
              <p:cNvCxnSpPr>
                <a:cxnSpLocks/>
              </p:cNvCxnSpPr>
              <p:nvPr/>
            </p:nvCxnSpPr>
            <p:spPr>
              <a:xfrm flipH="1">
                <a:off x="4973051" y="13585153"/>
                <a:ext cx="2687984" cy="1796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20B89A8C-E437-F454-AF26-39E1770B8C41}"/>
                  </a:ext>
                </a:extLst>
              </p:cNvPr>
              <p:cNvCxnSpPr>
                <a:cxnSpLocks/>
              </p:cNvCxnSpPr>
              <p:nvPr/>
            </p:nvCxnSpPr>
            <p:spPr>
              <a:xfrm flipH="1">
                <a:off x="6530579" y="10482663"/>
                <a:ext cx="823254" cy="119542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5" name="グラフィックス 84" descr="データベース 枠線">
                <a:extLst>
                  <a:ext uri="{FF2B5EF4-FFF2-40B4-BE49-F238E27FC236}">
                    <a16:creationId xmlns:a16="http://schemas.microsoft.com/office/drawing/2014/main" id="{557667D6-EE1F-7E2D-BE00-00F09D40173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75415" y="13101825"/>
                <a:ext cx="822035" cy="822035"/>
              </a:xfrm>
              <a:prstGeom prst="rect">
                <a:avLst/>
              </a:prstGeom>
            </p:spPr>
          </p:pic>
          <p:cxnSp>
            <p:nvCxnSpPr>
              <p:cNvPr id="90" name="直線コネクタ 89">
                <a:extLst>
                  <a:ext uri="{FF2B5EF4-FFF2-40B4-BE49-F238E27FC236}">
                    <a16:creationId xmlns:a16="http://schemas.microsoft.com/office/drawing/2014/main" id="{16650990-708A-4475-E554-FBE313F0AB53}"/>
                  </a:ext>
                </a:extLst>
              </p:cNvPr>
              <p:cNvCxnSpPr>
                <a:cxnSpLocks/>
              </p:cNvCxnSpPr>
              <p:nvPr/>
            </p:nvCxnSpPr>
            <p:spPr>
              <a:xfrm flipH="1" flipV="1">
                <a:off x="2142670" y="12275587"/>
                <a:ext cx="315326" cy="71849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2FF1C7AF-B953-1B81-8D58-812C3C71238E}"/>
                  </a:ext>
                </a:extLst>
              </p:cNvPr>
              <p:cNvCxnSpPr>
                <a:cxnSpLocks/>
              </p:cNvCxnSpPr>
              <p:nvPr/>
            </p:nvCxnSpPr>
            <p:spPr>
              <a:xfrm>
                <a:off x="2935005" y="13538860"/>
                <a:ext cx="976547" cy="46293"/>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7" name="グループ化 96">
                <a:extLst>
                  <a:ext uri="{FF2B5EF4-FFF2-40B4-BE49-F238E27FC236}">
                    <a16:creationId xmlns:a16="http://schemas.microsoft.com/office/drawing/2014/main" id="{7B66117C-0FFC-070C-C56F-369B8BDEE6E7}"/>
                  </a:ext>
                </a:extLst>
              </p:cNvPr>
              <p:cNvGrpSpPr/>
              <p:nvPr/>
            </p:nvGrpSpPr>
            <p:grpSpPr>
              <a:xfrm>
                <a:off x="7933867" y="11417963"/>
                <a:ext cx="686419" cy="710405"/>
                <a:chOff x="5260642" y="12156375"/>
                <a:chExt cx="709154" cy="733934"/>
              </a:xfrm>
            </p:grpSpPr>
            <p:sp>
              <p:nvSpPr>
                <p:cNvPr id="129" name="円/楕円 128">
                  <a:extLst>
                    <a:ext uri="{FF2B5EF4-FFF2-40B4-BE49-F238E27FC236}">
                      <a16:creationId xmlns:a16="http://schemas.microsoft.com/office/drawing/2014/main" id="{9780A34D-449B-0277-9606-EE7C8D4F4C4D}"/>
                    </a:ext>
                  </a:extLst>
                </p:cNvPr>
                <p:cNvSpPr/>
                <p:nvPr/>
              </p:nvSpPr>
              <p:spPr>
                <a:xfrm>
                  <a:off x="5260642" y="12156375"/>
                  <a:ext cx="709154" cy="709155"/>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6" name="グラフィックス 135" descr="ユーザー 枠線">
                  <a:extLst>
                    <a:ext uri="{FF2B5EF4-FFF2-40B4-BE49-F238E27FC236}">
                      <a16:creationId xmlns:a16="http://schemas.microsoft.com/office/drawing/2014/main" id="{72E9CDC8-3CEA-291E-6B23-62DE9C99D13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0642" y="12181154"/>
                  <a:ext cx="709154" cy="709155"/>
                </a:xfrm>
                <a:prstGeom prst="rect">
                  <a:avLst/>
                </a:prstGeom>
              </p:spPr>
            </p:pic>
          </p:grpSp>
          <p:cxnSp>
            <p:nvCxnSpPr>
              <p:cNvPr id="121" name="直線コネクタ 120">
                <a:extLst>
                  <a:ext uri="{FF2B5EF4-FFF2-40B4-BE49-F238E27FC236}">
                    <a16:creationId xmlns:a16="http://schemas.microsoft.com/office/drawing/2014/main" id="{672DE753-3A2B-6BAB-7F84-3DD457FF1745}"/>
                  </a:ext>
                </a:extLst>
              </p:cNvPr>
              <p:cNvCxnSpPr>
                <a:cxnSpLocks/>
              </p:cNvCxnSpPr>
              <p:nvPr/>
            </p:nvCxnSpPr>
            <p:spPr>
              <a:xfrm flipH="1">
                <a:off x="818071" y="11730287"/>
                <a:ext cx="608632" cy="148053"/>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3DEE83CD-0D26-D6CA-B6ED-96DDF61FE930}"/>
                  </a:ext>
                </a:extLst>
              </p:cNvPr>
              <p:cNvCxnSpPr>
                <a:cxnSpLocks/>
              </p:cNvCxnSpPr>
              <p:nvPr/>
            </p:nvCxnSpPr>
            <p:spPr>
              <a:xfrm>
                <a:off x="525026" y="9844552"/>
                <a:ext cx="1174914" cy="148053"/>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5" name="直線コネクタ 124">
                <a:extLst>
                  <a:ext uri="{FF2B5EF4-FFF2-40B4-BE49-F238E27FC236}">
                    <a16:creationId xmlns:a16="http://schemas.microsoft.com/office/drawing/2014/main" id="{F6BEF8D5-7018-28C9-E1DC-30E028AF8F53}"/>
                  </a:ext>
                </a:extLst>
              </p:cNvPr>
              <p:cNvCxnSpPr>
                <a:cxnSpLocks/>
              </p:cNvCxnSpPr>
              <p:nvPr/>
            </p:nvCxnSpPr>
            <p:spPr>
              <a:xfrm flipV="1">
                <a:off x="8162365" y="9827140"/>
                <a:ext cx="1040627" cy="138588"/>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D52DBEB9-C9B0-9DBD-157C-32857C0D4DB9}"/>
                  </a:ext>
                </a:extLst>
              </p:cNvPr>
              <p:cNvCxnSpPr>
                <a:cxnSpLocks/>
              </p:cNvCxnSpPr>
              <p:nvPr/>
            </p:nvCxnSpPr>
            <p:spPr>
              <a:xfrm flipH="1" flipV="1">
                <a:off x="687572" y="13321375"/>
                <a:ext cx="1278092" cy="231592"/>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7" name="直線コネクタ 126">
                <a:extLst>
                  <a:ext uri="{FF2B5EF4-FFF2-40B4-BE49-F238E27FC236}">
                    <a16:creationId xmlns:a16="http://schemas.microsoft.com/office/drawing/2014/main" id="{F584034F-610D-0A45-D5AE-68EEF7BBD918}"/>
                  </a:ext>
                </a:extLst>
              </p:cNvPr>
              <p:cNvCxnSpPr>
                <a:cxnSpLocks/>
              </p:cNvCxnSpPr>
              <p:nvPr/>
            </p:nvCxnSpPr>
            <p:spPr>
              <a:xfrm flipH="1" flipV="1">
                <a:off x="8538894" y="13652182"/>
                <a:ext cx="1063446" cy="186114"/>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7FD0583F-5E46-ACC2-9FA3-7E4EC4AFA047}"/>
                  </a:ext>
                </a:extLst>
              </p:cNvPr>
              <p:cNvCxnSpPr>
                <a:cxnSpLocks/>
              </p:cNvCxnSpPr>
              <p:nvPr/>
            </p:nvCxnSpPr>
            <p:spPr>
              <a:xfrm flipV="1">
                <a:off x="8720568" y="11770072"/>
                <a:ext cx="861100" cy="35578"/>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55" name="乗算記号 54">
              <a:extLst>
                <a:ext uri="{FF2B5EF4-FFF2-40B4-BE49-F238E27FC236}">
                  <a16:creationId xmlns:a16="http://schemas.microsoft.com/office/drawing/2014/main" id="{52ED7F1A-6B44-F01E-417C-784102EB7C95}"/>
                </a:ext>
              </a:extLst>
            </p:cNvPr>
            <p:cNvSpPr/>
            <p:nvPr/>
          </p:nvSpPr>
          <p:spPr>
            <a:xfrm>
              <a:off x="3534734" y="15292350"/>
              <a:ext cx="855893" cy="861011"/>
            </a:xfrm>
            <a:prstGeom prst="mathMultiply">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乗算記号 55">
              <a:extLst>
                <a:ext uri="{FF2B5EF4-FFF2-40B4-BE49-F238E27FC236}">
                  <a16:creationId xmlns:a16="http://schemas.microsoft.com/office/drawing/2014/main" id="{17B46CB0-2C54-F393-65C4-6777A13542B8}"/>
                </a:ext>
              </a:extLst>
            </p:cNvPr>
            <p:cNvSpPr/>
            <p:nvPr/>
          </p:nvSpPr>
          <p:spPr>
            <a:xfrm>
              <a:off x="2144232" y="14064711"/>
              <a:ext cx="855893" cy="861011"/>
            </a:xfrm>
            <a:prstGeom prst="mathMultiply">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7" name="グループ化 56">
              <a:extLst>
                <a:ext uri="{FF2B5EF4-FFF2-40B4-BE49-F238E27FC236}">
                  <a16:creationId xmlns:a16="http://schemas.microsoft.com/office/drawing/2014/main" id="{B1EFD0A7-C79D-AC21-1014-DF9EA0887AB6}"/>
                </a:ext>
              </a:extLst>
            </p:cNvPr>
            <p:cNvGrpSpPr/>
            <p:nvPr/>
          </p:nvGrpSpPr>
          <p:grpSpPr>
            <a:xfrm>
              <a:off x="2644956" y="14720690"/>
              <a:ext cx="989702" cy="989675"/>
              <a:chOff x="11530549" y="14934677"/>
              <a:chExt cx="520125" cy="520112"/>
            </a:xfrm>
          </p:grpSpPr>
          <p:sp>
            <p:nvSpPr>
              <p:cNvPr id="59" name="三角形 58">
                <a:extLst>
                  <a:ext uri="{FF2B5EF4-FFF2-40B4-BE49-F238E27FC236}">
                    <a16:creationId xmlns:a16="http://schemas.microsoft.com/office/drawing/2014/main" id="{2611E21A-37DB-24DF-2C90-A478450067AB}"/>
                  </a:ext>
                </a:extLst>
              </p:cNvPr>
              <p:cNvSpPr/>
              <p:nvPr/>
            </p:nvSpPr>
            <p:spPr>
              <a:xfrm>
                <a:off x="11530549" y="14954377"/>
                <a:ext cx="520112" cy="447948"/>
              </a:xfrm>
              <a:prstGeom prst="triangle">
                <a:avLst>
                  <a:gd name="adj" fmla="val 50000"/>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0" name="グラフィックス 59" descr="警告 枠線">
                <a:extLst>
                  <a:ext uri="{FF2B5EF4-FFF2-40B4-BE49-F238E27FC236}">
                    <a16:creationId xmlns:a16="http://schemas.microsoft.com/office/drawing/2014/main" id="{A340D06C-D7C4-9236-64D0-6025BFD8DB8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530562" y="14934677"/>
                <a:ext cx="520112" cy="520112"/>
              </a:xfrm>
              <a:prstGeom prst="rect">
                <a:avLst/>
              </a:prstGeom>
            </p:spPr>
          </p:pic>
        </p:grpSp>
        <p:sp>
          <p:nvSpPr>
            <p:cNvPr id="58" name="乗算記号 57">
              <a:extLst>
                <a:ext uri="{FF2B5EF4-FFF2-40B4-BE49-F238E27FC236}">
                  <a16:creationId xmlns:a16="http://schemas.microsoft.com/office/drawing/2014/main" id="{9F169395-790F-1619-EB43-B5E0219F3CFD}"/>
                </a:ext>
              </a:extLst>
            </p:cNvPr>
            <p:cNvSpPr/>
            <p:nvPr/>
          </p:nvSpPr>
          <p:spPr>
            <a:xfrm>
              <a:off x="5711500" y="13389465"/>
              <a:ext cx="855893" cy="861011"/>
            </a:xfrm>
            <a:prstGeom prst="mathMultiply">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6" name="グループ化 205">
            <a:extLst>
              <a:ext uri="{FF2B5EF4-FFF2-40B4-BE49-F238E27FC236}">
                <a16:creationId xmlns:a16="http://schemas.microsoft.com/office/drawing/2014/main" id="{EB19E942-BF67-7C58-22EB-185AF1D9A27D}"/>
              </a:ext>
            </a:extLst>
          </p:cNvPr>
          <p:cNvGrpSpPr/>
          <p:nvPr/>
        </p:nvGrpSpPr>
        <p:grpSpPr>
          <a:xfrm>
            <a:off x="1101645" y="4763137"/>
            <a:ext cx="6674580" cy="550120"/>
            <a:chOff x="1039349" y="4748329"/>
            <a:chExt cx="6674580" cy="550120"/>
          </a:xfrm>
        </p:grpSpPr>
        <p:sp>
          <p:nvSpPr>
            <p:cNvPr id="207" name="角丸四角形 206">
              <a:extLst>
                <a:ext uri="{FF2B5EF4-FFF2-40B4-BE49-F238E27FC236}">
                  <a16:creationId xmlns:a16="http://schemas.microsoft.com/office/drawing/2014/main" id="{5D4BEE2D-4253-BC4D-0818-9C4AF4279BA7}"/>
                </a:ext>
              </a:extLst>
            </p:cNvPr>
            <p:cNvSpPr/>
            <p:nvPr/>
          </p:nvSpPr>
          <p:spPr>
            <a:xfrm>
              <a:off x="1039349" y="4748329"/>
              <a:ext cx="6674580" cy="549097"/>
            </a:xfrm>
            <a:prstGeom prst="roundRect">
              <a:avLst/>
            </a:prstGeom>
            <a:solidFill>
              <a:schemeClr val="bg1"/>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 name="テキスト ボックス 207">
              <a:extLst>
                <a:ext uri="{FF2B5EF4-FFF2-40B4-BE49-F238E27FC236}">
                  <a16:creationId xmlns:a16="http://schemas.microsoft.com/office/drawing/2014/main" id="{D196206B-BD73-FCED-CA48-1E1644E29DF7}"/>
                </a:ext>
              </a:extLst>
            </p:cNvPr>
            <p:cNvSpPr txBox="1"/>
            <p:nvPr/>
          </p:nvSpPr>
          <p:spPr>
            <a:xfrm>
              <a:off x="1429358" y="4836784"/>
              <a:ext cx="5894562" cy="461665"/>
            </a:xfrm>
            <a:prstGeom prst="rect">
              <a:avLst/>
            </a:prstGeom>
            <a:noFill/>
            <a:ln w="57150">
              <a:noFill/>
            </a:ln>
          </p:spPr>
          <p:txBody>
            <a:bodyPr wrap="none" rtlCol="0">
              <a:spAutoFit/>
            </a:bodyPr>
            <a:lstStyle/>
            <a:p>
              <a:r>
                <a:rPr kumimoji="1" lang="ja-JP" altLang="en-US" sz="2400"/>
                <a:t>開発者の離脱により保守運用ができなくなる</a:t>
              </a:r>
            </a:p>
          </p:txBody>
        </p:sp>
      </p:grpSp>
      <p:sp>
        <p:nvSpPr>
          <p:cNvPr id="9" name="テキスト プレースホルダー 8">
            <a:extLst>
              <a:ext uri="{FF2B5EF4-FFF2-40B4-BE49-F238E27FC236}">
                <a16:creationId xmlns:a16="http://schemas.microsoft.com/office/drawing/2014/main" id="{D2A0B85E-5556-1CA9-3DDA-9C50C8DAA970}"/>
              </a:ext>
            </a:extLst>
          </p:cNvPr>
          <p:cNvSpPr>
            <a:spLocks noGrp="1"/>
          </p:cNvSpPr>
          <p:nvPr>
            <p:ph type="body" sz="quarter" idx="13"/>
          </p:nvPr>
        </p:nvSpPr>
        <p:spPr>
          <a:xfrm>
            <a:off x="576000" y="2160000"/>
            <a:ext cx="7963566" cy="2500236"/>
          </a:xfrm>
        </p:spPr>
        <p:txBody>
          <a:bodyPr/>
          <a:lstStyle/>
          <a:p>
            <a:r>
              <a:rPr lang="ja-JP" altLang="en-US"/>
              <a:t>課題</a:t>
            </a:r>
            <a:endParaRPr lang="en-US" altLang="ja-JP" dirty="0"/>
          </a:p>
          <a:p>
            <a:pPr lvl="1"/>
            <a:r>
              <a:rPr lang="ja-JP" altLang="en-US"/>
              <a:t>貢献するタイミングや量が見積りにくい</a:t>
            </a:r>
            <a:endParaRPr lang="en-US" altLang="ja-JP" dirty="0"/>
          </a:p>
          <a:p>
            <a:pPr lvl="1"/>
            <a:r>
              <a:rPr lang="ja-JP" altLang="en-US"/>
              <a:t>開発者の流動性が高い</a:t>
            </a:r>
            <a:endParaRPr lang="en-US" altLang="ja-JP" dirty="0"/>
          </a:p>
          <a:p>
            <a:pPr lvl="2"/>
            <a:r>
              <a:rPr lang="ja-JP" altLang="en-US"/>
              <a:t>多くの開発者は一度の貢献で離脱</a:t>
            </a:r>
            <a:r>
              <a:rPr lang="en-US" altLang="ja-JP" baseline="30000" dirty="0"/>
              <a:t>[3]</a:t>
            </a:r>
            <a:endParaRPr lang="en-US" altLang="ja-JP" dirty="0"/>
          </a:p>
        </p:txBody>
      </p:sp>
      <p:sp>
        <p:nvSpPr>
          <p:cNvPr id="16" name="正方形/長方形 15">
            <a:extLst>
              <a:ext uri="{FF2B5EF4-FFF2-40B4-BE49-F238E27FC236}">
                <a16:creationId xmlns:a16="http://schemas.microsoft.com/office/drawing/2014/main" id="{4FDC4F96-1D3C-5DA1-96EF-D61753B5C841}"/>
              </a:ext>
            </a:extLst>
          </p:cNvPr>
          <p:cNvSpPr/>
          <p:nvPr/>
        </p:nvSpPr>
        <p:spPr>
          <a:xfrm>
            <a:off x="8710670" y="3216711"/>
            <a:ext cx="8143300" cy="510363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0D7A175-55B6-BFA5-6D4B-D34C51890C0E}"/>
              </a:ext>
            </a:extLst>
          </p:cNvPr>
          <p:cNvSpPr txBox="1"/>
          <p:nvPr/>
        </p:nvSpPr>
        <p:spPr>
          <a:xfrm>
            <a:off x="11459700" y="2872015"/>
            <a:ext cx="2386929" cy="707886"/>
          </a:xfrm>
          <a:prstGeom prst="rect">
            <a:avLst/>
          </a:prstGeom>
          <a:solidFill>
            <a:schemeClr val="bg1"/>
          </a:solidFill>
        </p:spPr>
        <p:txBody>
          <a:bodyPr wrap="square">
            <a:spAutoFit/>
          </a:bodyPr>
          <a:lstStyle/>
          <a:p>
            <a:r>
              <a:rPr lang="ja-JP" altLang="en-US" sz="4000"/>
              <a:t>従来研究</a:t>
            </a:r>
            <a:endParaRPr lang="en-US" altLang="ja-JP" sz="4000" dirty="0"/>
          </a:p>
        </p:txBody>
      </p:sp>
      <p:sp>
        <p:nvSpPr>
          <p:cNvPr id="24" name="テキスト プレースホルダー 8">
            <a:extLst>
              <a:ext uri="{FF2B5EF4-FFF2-40B4-BE49-F238E27FC236}">
                <a16:creationId xmlns:a16="http://schemas.microsoft.com/office/drawing/2014/main" id="{EDC8595A-3AA6-3957-F18A-28A74066291C}"/>
              </a:ext>
            </a:extLst>
          </p:cNvPr>
          <p:cNvSpPr txBox="1">
            <a:spLocks/>
          </p:cNvSpPr>
          <p:nvPr/>
        </p:nvSpPr>
        <p:spPr>
          <a:xfrm>
            <a:off x="8939127" y="3739854"/>
            <a:ext cx="7614739" cy="965521"/>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r>
              <a:rPr lang="ja-JP" altLang="en-US" sz="2800"/>
              <a:t>開発者の継続・離脱要因について</a:t>
            </a:r>
            <a:endParaRPr lang="en-US" altLang="ja-JP" sz="2800" dirty="0"/>
          </a:p>
          <a:p>
            <a:pPr lvl="1"/>
            <a:r>
              <a:rPr lang="ja-JP" altLang="en-US" sz="2400"/>
              <a:t>個人要因と組織要因が影響</a:t>
            </a:r>
            <a:endParaRPr lang="en-US" altLang="ja-JP" sz="2400" dirty="0"/>
          </a:p>
        </p:txBody>
      </p:sp>
      <p:sp>
        <p:nvSpPr>
          <p:cNvPr id="25" name="テキスト プレースホルダー 8">
            <a:extLst>
              <a:ext uri="{FF2B5EF4-FFF2-40B4-BE49-F238E27FC236}">
                <a16:creationId xmlns:a16="http://schemas.microsoft.com/office/drawing/2014/main" id="{83EA2AB1-C337-32FA-7774-289023F0DD9F}"/>
              </a:ext>
            </a:extLst>
          </p:cNvPr>
          <p:cNvSpPr txBox="1">
            <a:spLocks/>
          </p:cNvSpPr>
          <p:nvPr/>
        </p:nvSpPr>
        <p:spPr>
          <a:xfrm>
            <a:off x="8939127" y="5013780"/>
            <a:ext cx="7614739" cy="1408719"/>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r>
              <a:rPr lang="ja-JP" altLang="en-US" sz="2800"/>
              <a:t>継続予測</a:t>
            </a:r>
          </a:p>
          <a:p>
            <a:pPr lvl="1"/>
            <a:r>
              <a:rPr lang="ja-JP" altLang="en-US" sz="2400"/>
              <a:t>参加後 </a:t>
            </a:r>
            <a:r>
              <a:rPr lang="en-US" altLang="ja-JP" sz="2400" dirty="0"/>
              <a:t>1 </a:t>
            </a:r>
            <a:r>
              <a:rPr lang="ja-JP" altLang="en-US" sz="2400"/>
              <a:t>か月の累積活動量から、</a:t>
            </a:r>
            <a:r>
              <a:rPr lang="en-US" altLang="ja-JP" sz="2400" dirty="0"/>
              <a:t>1 </a:t>
            </a:r>
            <a:r>
              <a:rPr lang="ja-JP" altLang="en-US" sz="2400"/>
              <a:t>年後以降も貢献するか予測</a:t>
            </a:r>
          </a:p>
        </p:txBody>
      </p:sp>
      <p:sp>
        <p:nvSpPr>
          <p:cNvPr id="27" name="テキスト プレースホルダー 8">
            <a:extLst>
              <a:ext uri="{FF2B5EF4-FFF2-40B4-BE49-F238E27FC236}">
                <a16:creationId xmlns:a16="http://schemas.microsoft.com/office/drawing/2014/main" id="{9B7A22F3-F81A-C2BB-C1F7-F3F233D17DE6}"/>
              </a:ext>
            </a:extLst>
          </p:cNvPr>
          <p:cNvSpPr txBox="1">
            <a:spLocks/>
          </p:cNvSpPr>
          <p:nvPr/>
        </p:nvSpPr>
        <p:spPr>
          <a:xfrm>
            <a:off x="8939126" y="6620078"/>
            <a:ext cx="7614739" cy="2028376"/>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r>
              <a:rPr lang="ja-JP" altLang="en-US" sz="2800"/>
              <a:t>タスク予測</a:t>
            </a:r>
            <a:endParaRPr lang="en-US" altLang="ja-JP" sz="2800" dirty="0"/>
          </a:p>
          <a:p>
            <a:pPr lvl="1"/>
            <a:r>
              <a:rPr lang="ja-JP" altLang="en-US" sz="2400"/>
              <a:t>ある時点のレビュー依頼に対して、開発者が貢献するか否かを予測</a:t>
            </a:r>
          </a:p>
          <a:p>
            <a:pPr lvl="1"/>
            <a:endParaRPr lang="ja-JP" altLang="en-US" sz="2400"/>
          </a:p>
        </p:txBody>
      </p:sp>
      <p:sp>
        <p:nvSpPr>
          <p:cNvPr id="28" name="正方形/長方形 27">
            <a:extLst>
              <a:ext uri="{FF2B5EF4-FFF2-40B4-BE49-F238E27FC236}">
                <a16:creationId xmlns:a16="http://schemas.microsoft.com/office/drawing/2014/main" id="{880D8A87-7CAD-DCC0-FC15-D9E4BBE271FA}"/>
              </a:ext>
            </a:extLst>
          </p:cNvPr>
          <p:cNvSpPr/>
          <p:nvPr/>
        </p:nvSpPr>
        <p:spPr>
          <a:xfrm>
            <a:off x="8644068" y="2749180"/>
            <a:ext cx="8314914" cy="5684581"/>
          </a:xfrm>
          <a:prstGeom prst="rect">
            <a:avLst/>
          </a:prstGeom>
          <a:solidFill>
            <a:srgbClr val="FFFFFF">
              <a:alpha val="85098"/>
            </a:srgbClr>
          </a:solidFill>
          <a:ln>
            <a:solidFill>
              <a:srgbClr val="FFFFFF">
                <a:alpha val="8549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1730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5731-06DB-9266-6845-9A6556F271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4729A55-1F4D-6A79-82BE-54BC658ADCED}"/>
              </a:ext>
            </a:extLst>
          </p:cNvPr>
          <p:cNvSpPr>
            <a:spLocks noGrp="1"/>
          </p:cNvSpPr>
          <p:nvPr>
            <p:ph type="title"/>
          </p:nvPr>
        </p:nvSpPr>
        <p:spPr/>
        <p:txBody>
          <a:bodyPr/>
          <a:lstStyle/>
          <a:p>
            <a:r>
              <a:rPr kumimoji="1" lang="ja-JP" altLang="en-US"/>
              <a:t>プロジェクトの持続可能性について</a:t>
            </a:r>
          </a:p>
        </p:txBody>
      </p:sp>
      <p:sp>
        <p:nvSpPr>
          <p:cNvPr id="4" name="スライド番号プレースホルダー 3">
            <a:extLst>
              <a:ext uri="{FF2B5EF4-FFF2-40B4-BE49-F238E27FC236}">
                <a16:creationId xmlns:a16="http://schemas.microsoft.com/office/drawing/2014/main" id="{D1E97C4A-692D-7FF2-46F0-322B4F31BBA7}"/>
              </a:ext>
            </a:extLst>
          </p:cNvPr>
          <p:cNvSpPr>
            <a:spLocks noGrp="1"/>
          </p:cNvSpPr>
          <p:nvPr>
            <p:ph type="sldNum" sz="quarter" idx="12"/>
          </p:nvPr>
        </p:nvSpPr>
        <p:spPr/>
        <p:txBody>
          <a:bodyPr/>
          <a:lstStyle/>
          <a:p>
            <a:fld id="{85D74467-FFC2-5C49-A08A-98A9FE9BCA53}" type="slidenum">
              <a:rPr kumimoji="1" lang="ja-JP" altLang="en-US" smtClean="0"/>
              <a:pPr/>
              <a:t>4</a:t>
            </a:fld>
            <a:endParaRPr kumimoji="1" lang="ja-JP" altLang="en-US"/>
          </a:p>
        </p:txBody>
      </p:sp>
      <p:sp>
        <p:nvSpPr>
          <p:cNvPr id="137" name="テキスト ボックス 136">
            <a:extLst>
              <a:ext uri="{FF2B5EF4-FFF2-40B4-BE49-F238E27FC236}">
                <a16:creationId xmlns:a16="http://schemas.microsoft.com/office/drawing/2014/main" id="{810170DC-DDB8-5478-1E0A-287D77F2D9EB}"/>
              </a:ext>
            </a:extLst>
          </p:cNvPr>
          <p:cNvSpPr txBox="1"/>
          <p:nvPr/>
        </p:nvSpPr>
        <p:spPr>
          <a:xfrm>
            <a:off x="24774" y="8837506"/>
            <a:ext cx="17029583" cy="738664"/>
          </a:xfrm>
          <a:prstGeom prst="rect">
            <a:avLst/>
          </a:prstGeom>
          <a:noFill/>
        </p:spPr>
        <p:txBody>
          <a:bodyPr wrap="square">
            <a:spAutoFit/>
          </a:bodyPr>
          <a:lstStyle/>
          <a:p>
            <a:r>
              <a:rPr lang="en-US" altLang="ja-JP" sz="1050" dirty="0">
                <a:solidFill>
                  <a:schemeClr val="bg1">
                    <a:lumMod val="50000"/>
                  </a:schemeClr>
                </a:solidFill>
              </a:rPr>
              <a:t>[3] Lee, A. and Carver, J. C.: Are One-Time Contributors Different? A Comparison to Core and Periphery Developers in FLOSS Repositories, 2017 ACM/IEEE International Symposium on Empirical Software Engineering and Measurement (ESEM)[4] </a:t>
            </a:r>
            <a:r>
              <a:rPr lang="en-US" altLang="ja-JP" sz="1050" dirty="0" err="1">
                <a:solidFill>
                  <a:schemeClr val="bg1">
                    <a:lumMod val="50000"/>
                  </a:schemeClr>
                </a:solidFill>
              </a:rPr>
              <a:t>Izqaffaldano</a:t>
            </a:r>
            <a:r>
              <a:rPr lang="en-US" altLang="ja-JP" sz="1050" dirty="0">
                <a:solidFill>
                  <a:schemeClr val="bg1">
                    <a:lumMod val="50000"/>
                  </a:schemeClr>
                </a:solidFill>
              </a:rPr>
              <a:t>, G. et al.: Why do developers take breaks from contributing to OSS projects? A preliminary analysis, arXiv:1903.09528 (2019).</a:t>
            </a:r>
            <a:r>
              <a:rPr lang="ja-JP" altLang="en-US" sz="1050">
                <a:solidFill>
                  <a:schemeClr val="bg1">
                    <a:lumMod val="50000"/>
                  </a:schemeClr>
                </a:solidFill>
              </a:rPr>
              <a:t>　</a:t>
            </a:r>
            <a:r>
              <a:rPr lang="en-US" altLang="ja-JP" sz="1050" dirty="0">
                <a:solidFill>
                  <a:schemeClr val="bg1">
                    <a:lumMod val="50000"/>
                  </a:schemeClr>
                </a:solidFill>
              </a:rPr>
              <a:t> [5] </a:t>
            </a:r>
            <a:r>
              <a:rPr lang="en-US" altLang="ja-JP" sz="1050" dirty="0" err="1">
                <a:solidFill>
                  <a:schemeClr val="bg1">
                    <a:lumMod val="50000"/>
                  </a:schemeClr>
                </a:solidFill>
              </a:rPr>
              <a:t>Ruangwan</a:t>
            </a:r>
            <a:r>
              <a:rPr lang="en-US" altLang="ja-JP" sz="1050" dirty="0">
                <a:solidFill>
                  <a:schemeClr val="bg1">
                    <a:lumMod val="50000"/>
                  </a:schemeClr>
                </a:solidFill>
              </a:rPr>
              <a:t>, S. et al.: The impact of human factors on the participation decision of reviewers in modern code review, EMSE, Vol. 24, No. 2, pp. 973–1016 (2019). [6] Zhou, M. and Mockus, A.: What make long term contributors: Willingness and opportunity in OSS community, ICSE, pp. 518–528 (2012).</a:t>
            </a:r>
            <a:r>
              <a:rPr lang="ja-JP" altLang="en-US" sz="1050">
                <a:solidFill>
                  <a:schemeClr val="bg1">
                    <a:lumMod val="50000"/>
                  </a:schemeClr>
                </a:solidFill>
              </a:rPr>
              <a:t>　</a:t>
            </a:r>
            <a:endParaRPr lang="en-US" altLang="ja-JP" sz="1050" dirty="0">
              <a:solidFill>
                <a:schemeClr val="bg1">
                  <a:lumMod val="50000"/>
                </a:schemeClr>
              </a:solidFill>
            </a:endParaRPr>
          </a:p>
          <a:p>
            <a:endParaRPr lang="ja-JP" altLang="en-US" sz="1050">
              <a:solidFill>
                <a:schemeClr val="bg1">
                  <a:lumMod val="50000"/>
                </a:schemeClr>
              </a:solidFill>
            </a:endParaRPr>
          </a:p>
        </p:txBody>
      </p:sp>
      <p:grpSp>
        <p:nvGrpSpPr>
          <p:cNvPr id="53" name="グループ化 52">
            <a:extLst>
              <a:ext uri="{FF2B5EF4-FFF2-40B4-BE49-F238E27FC236}">
                <a16:creationId xmlns:a16="http://schemas.microsoft.com/office/drawing/2014/main" id="{5827EE2B-3BEF-2393-14E0-ECA6F1214F5B}"/>
              </a:ext>
            </a:extLst>
          </p:cNvPr>
          <p:cNvGrpSpPr/>
          <p:nvPr/>
        </p:nvGrpSpPr>
        <p:grpSpPr>
          <a:xfrm>
            <a:off x="939474" y="5381980"/>
            <a:ext cx="7108969" cy="3474923"/>
            <a:chOff x="293979" y="10522829"/>
            <a:chExt cx="11648655" cy="5693960"/>
          </a:xfrm>
        </p:grpSpPr>
        <p:grpSp>
          <p:nvGrpSpPr>
            <p:cNvPr id="54" name="グループ化 53">
              <a:extLst>
                <a:ext uri="{FF2B5EF4-FFF2-40B4-BE49-F238E27FC236}">
                  <a16:creationId xmlns:a16="http://schemas.microsoft.com/office/drawing/2014/main" id="{F8A1CCEF-60D2-CFE9-8C9F-4D4567A8D33E}"/>
                </a:ext>
              </a:extLst>
            </p:cNvPr>
            <p:cNvGrpSpPr/>
            <p:nvPr/>
          </p:nvGrpSpPr>
          <p:grpSpPr>
            <a:xfrm>
              <a:off x="293979" y="10522829"/>
              <a:ext cx="11648655" cy="5693960"/>
              <a:chOff x="525026" y="9536222"/>
              <a:chExt cx="9077314" cy="4437066"/>
            </a:xfrm>
          </p:grpSpPr>
          <p:pic>
            <p:nvPicPr>
              <p:cNvPr id="61" name="グラフィックス 60" descr="データベース 枠線">
                <a:extLst>
                  <a:ext uri="{FF2B5EF4-FFF2-40B4-BE49-F238E27FC236}">
                    <a16:creationId xmlns:a16="http://schemas.microsoft.com/office/drawing/2014/main" id="{B613A71A-2F62-8CA9-5C69-1B126487C8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3285" y="11449577"/>
                <a:ext cx="1038794" cy="1038796"/>
              </a:xfrm>
              <a:prstGeom prst="rect">
                <a:avLst/>
              </a:prstGeom>
            </p:spPr>
          </p:pic>
          <p:sp>
            <p:nvSpPr>
              <p:cNvPr id="62" name="円/楕円 61">
                <a:extLst>
                  <a:ext uri="{FF2B5EF4-FFF2-40B4-BE49-F238E27FC236}">
                    <a16:creationId xmlns:a16="http://schemas.microsoft.com/office/drawing/2014/main" id="{C674FB37-0C41-E807-4C9A-897A9CF8D8AC}"/>
                  </a:ext>
                </a:extLst>
              </p:cNvPr>
              <p:cNvSpPr/>
              <p:nvPr/>
            </p:nvSpPr>
            <p:spPr>
              <a:xfrm>
                <a:off x="5353289" y="10482659"/>
                <a:ext cx="651050" cy="651049"/>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3" name="グラフィックス 62" descr="ユーザー 枠線">
                <a:extLst>
                  <a:ext uri="{FF2B5EF4-FFF2-40B4-BE49-F238E27FC236}">
                    <a16:creationId xmlns:a16="http://schemas.microsoft.com/office/drawing/2014/main" id="{D98CE10D-37DE-DB1A-58A6-BC13B8A43A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53289" y="10505408"/>
                <a:ext cx="651050" cy="651049"/>
              </a:xfrm>
              <a:prstGeom prst="rect">
                <a:avLst/>
              </a:prstGeom>
            </p:spPr>
          </p:pic>
          <p:sp>
            <p:nvSpPr>
              <p:cNvPr id="64" name="円/楕円 63">
                <a:extLst>
                  <a:ext uri="{FF2B5EF4-FFF2-40B4-BE49-F238E27FC236}">
                    <a16:creationId xmlns:a16="http://schemas.microsoft.com/office/drawing/2014/main" id="{8C439C5C-F4FD-A050-EA02-BAC2ADF10DC4}"/>
                  </a:ext>
                </a:extLst>
              </p:cNvPr>
              <p:cNvSpPr/>
              <p:nvPr/>
            </p:nvSpPr>
            <p:spPr>
              <a:xfrm>
                <a:off x="1558692" y="11281133"/>
                <a:ext cx="785080" cy="785081"/>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5" name="グラフィックス 64" descr="ユーザー 枠線">
                <a:extLst>
                  <a:ext uri="{FF2B5EF4-FFF2-40B4-BE49-F238E27FC236}">
                    <a16:creationId xmlns:a16="http://schemas.microsoft.com/office/drawing/2014/main" id="{39508111-FCFD-4B23-35F1-9B80BFAEF8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8692" y="11308565"/>
                <a:ext cx="785080" cy="785081"/>
              </a:xfrm>
              <a:prstGeom prst="rect">
                <a:avLst/>
              </a:prstGeom>
            </p:spPr>
          </p:pic>
          <p:cxnSp>
            <p:nvCxnSpPr>
              <p:cNvPr id="66" name="直線コネクタ 65">
                <a:extLst>
                  <a:ext uri="{FF2B5EF4-FFF2-40B4-BE49-F238E27FC236}">
                    <a16:creationId xmlns:a16="http://schemas.microsoft.com/office/drawing/2014/main" id="{1B5DF233-EFE9-1160-7F0B-C720BA8BD60B}"/>
                  </a:ext>
                </a:extLst>
              </p:cNvPr>
              <p:cNvCxnSpPr>
                <a:cxnSpLocks/>
              </p:cNvCxnSpPr>
              <p:nvPr/>
            </p:nvCxnSpPr>
            <p:spPr>
              <a:xfrm flipH="1" flipV="1">
                <a:off x="2578081" y="11710521"/>
                <a:ext cx="745204" cy="25845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92655FCF-24E4-3845-9EC9-81ADC13B49B9}"/>
                  </a:ext>
                </a:extLst>
              </p:cNvPr>
              <p:cNvCxnSpPr>
                <a:cxnSpLocks/>
              </p:cNvCxnSpPr>
              <p:nvPr/>
            </p:nvCxnSpPr>
            <p:spPr>
              <a:xfrm flipH="1">
                <a:off x="4348959" y="11032961"/>
                <a:ext cx="915627" cy="71380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89C0743E-77D1-1ADB-CD84-C1D2B25F9825}"/>
                  </a:ext>
                </a:extLst>
              </p:cNvPr>
              <p:cNvCxnSpPr>
                <a:cxnSpLocks/>
              </p:cNvCxnSpPr>
              <p:nvPr/>
            </p:nvCxnSpPr>
            <p:spPr>
              <a:xfrm>
                <a:off x="2578081" y="10482659"/>
                <a:ext cx="845197" cy="95928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9" name="円/楕円 68">
                <a:extLst>
                  <a:ext uri="{FF2B5EF4-FFF2-40B4-BE49-F238E27FC236}">
                    <a16:creationId xmlns:a16="http://schemas.microsoft.com/office/drawing/2014/main" id="{33F730D9-EFF1-B7DB-A00D-7B2334B767F8}"/>
                  </a:ext>
                </a:extLst>
              </p:cNvPr>
              <p:cNvSpPr/>
              <p:nvPr/>
            </p:nvSpPr>
            <p:spPr>
              <a:xfrm>
                <a:off x="1897819" y="9767113"/>
                <a:ext cx="651051" cy="651052"/>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0" name="グラフィックス 69" descr="ユーザー 枠線">
                <a:extLst>
                  <a:ext uri="{FF2B5EF4-FFF2-40B4-BE49-F238E27FC236}">
                    <a16:creationId xmlns:a16="http://schemas.microsoft.com/office/drawing/2014/main" id="{CABC7B6F-1AFD-A7C7-D92F-7C13BB95C1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97819" y="9787823"/>
                <a:ext cx="651051" cy="651052"/>
              </a:xfrm>
              <a:prstGeom prst="rect">
                <a:avLst/>
              </a:prstGeom>
            </p:spPr>
          </p:pic>
          <p:sp>
            <p:nvSpPr>
              <p:cNvPr id="71" name="円/楕円 70">
                <a:extLst>
                  <a:ext uri="{FF2B5EF4-FFF2-40B4-BE49-F238E27FC236}">
                    <a16:creationId xmlns:a16="http://schemas.microsoft.com/office/drawing/2014/main" id="{E0601689-4EA3-C86C-7B6A-E74E9C467956}"/>
                  </a:ext>
                </a:extLst>
              </p:cNvPr>
              <p:cNvSpPr/>
              <p:nvPr/>
            </p:nvSpPr>
            <p:spPr>
              <a:xfrm>
                <a:off x="4153127" y="13283020"/>
                <a:ext cx="666962" cy="666963"/>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2" name="グラフィックス 71" descr="ユーザー 枠線">
                <a:extLst>
                  <a:ext uri="{FF2B5EF4-FFF2-40B4-BE49-F238E27FC236}">
                    <a16:creationId xmlns:a16="http://schemas.microsoft.com/office/drawing/2014/main" id="{B8ADFBCE-333C-A52B-04C7-91346C34052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53127" y="13306325"/>
                <a:ext cx="666962" cy="666963"/>
              </a:xfrm>
              <a:prstGeom prst="rect">
                <a:avLst/>
              </a:prstGeom>
            </p:spPr>
          </p:pic>
          <p:cxnSp>
            <p:nvCxnSpPr>
              <p:cNvPr id="73" name="直線コネクタ 72">
                <a:extLst>
                  <a:ext uri="{FF2B5EF4-FFF2-40B4-BE49-F238E27FC236}">
                    <a16:creationId xmlns:a16="http://schemas.microsoft.com/office/drawing/2014/main" id="{10854CB6-94A4-DF5B-0BEB-BECBB9A07B16}"/>
                  </a:ext>
                </a:extLst>
              </p:cNvPr>
              <p:cNvCxnSpPr>
                <a:cxnSpLocks/>
              </p:cNvCxnSpPr>
              <p:nvPr/>
            </p:nvCxnSpPr>
            <p:spPr>
              <a:xfrm>
                <a:off x="4040310" y="12516525"/>
                <a:ext cx="278607" cy="632643"/>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5533415E-7C42-9A0E-7A0E-6117CD75354A}"/>
                  </a:ext>
                </a:extLst>
              </p:cNvPr>
              <p:cNvCxnSpPr>
                <a:cxnSpLocks/>
              </p:cNvCxnSpPr>
              <p:nvPr/>
            </p:nvCxnSpPr>
            <p:spPr>
              <a:xfrm>
                <a:off x="4404663" y="12098438"/>
                <a:ext cx="1274151" cy="3990"/>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5" name="グループ化 74">
                <a:extLst>
                  <a:ext uri="{FF2B5EF4-FFF2-40B4-BE49-F238E27FC236}">
                    <a16:creationId xmlns:a16="http://schemas.microsoft.com/office/drawing/2014/main" id="{34686096-345D-7F0A-9403-228592552A5F}"/>
                  </a:ext>
                </a:extLst>
              </p:cNvPr>
              <p:cNvGrpSpPr/>
              <p:nvPr/>
            </p:nvGrpSpPr>
            <p:grpSpPr>
              <a:xfrm>
                <a:off x="5844620" y="11710521"/>
                <a:ext cx="709154" cy="733934"/>
                <a:chOff x="5260642" y="12156375"/>
                <a:chExt cx="709154" cy="733934"/>
              </a:xfrm>
            </p:grpSpPr>
            <p:sp>
              <p:nvSpPr>
                <p:cNvPr id="138" name="円/楕円 137">
                  <a:extLst>
                    <a:ext uri="{FF2B5EF4-FFF2-40B4-BE49-F238E27FC236}">
                      <a16:creationId xmlns:a16="http://schemas.microsoft.com/office/drawing/2014/main" id="{8842C489-4DD0-D449-6C9A-240A1F352E5A}"/>
                    </a:ext>
                  </a:extLst>
                </p:cNvPr>
                <p:cNvSpPr/>
                <p:nvPr/>
              </p:nvSpPr>
              <p:spPr>
                <a:xfrm>
                  <a:off x="5260642" y="12156375"/>
                  <a:ext cx="709154" cy="709155"/>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9" name="グラフィックス 138" descr="ユーザー 枠線">
                  <a:extLst>
                    <a:ext uri="{FF2B5EF4-FFF2-40B4-BE49-F238E27FC236}">
                      <a16:creationId xmlns:a16="http://schemas.microsoft.com/office/drawing/2014/main" id="{D8DF9471-E692-FE60-80FA-70E3CA076EB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0642" y="12181154"/>
                  <a:ext cx="709154" cy="709155"/>
                </a:xfrm>
                <a:prstGeom prst="rect">
                  <a:avLst/>
                </a:prstGeom>
              </p:spPr>
            </p:pic>
          </p:grpSp>
          <p:pic>
            <p:nvPicPr>
              <p:cNvPr id="76" name="グラフィックス 75" descr="データベース 枠線">
                <a:extLst>
                  <a:ext uri="{FF2B5EF4-FFF2-40B4-BE49-F238E27FC236}">
                    <a16:creationId xmlns:a16="http://schemas.microsoft.com/office/drawing/2014/main" id="{C084D75D-268D-745E-CF98-869130F8AF0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85545" y="9536222"/>
                <a:ext cx="822035" cy="822035"/>
              </a:xfrm>
              <a:prstGeom prst="rect">
                <a:avLst/>
              </a:prstGeom>
            </p:spPr>
          </p:pic>
          <p:cxnSp>
            <p:nvCxnSpPr>
              <p:cNvPr id="77" name="直線コネクタ 76">
                <a:extLst>
                  <a:ext uri="{FF2B5EF4-FFF2-40B4-BE49-F238E27FC236}">
                    <a16:creationId xmlns:a16="http://schemas.microsoft.com/office/drawing/2014/main" id="{4EC7E684-9FC2-6DD9-317F-3770D9F524BF}"/>
                  </a:ext>
                </a:extLst>
              </p:cNvPr>
              <p:cNvCxnSpPr>
                <a:cxnSpLocks/>
              </p:cNvCxnSpPr>
              <p:nvPr/>
            </p:nvCxnSpPr>
            <p:spPr>
              <a:xfrm flipH="1">
                <a:off x="6152523" y="10173542"/>
                <a:ext cx="1078237" cy="46337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87C85C45-9FA8-125C-CBA0-FA4DF6A069AB}"/>
                  </a:ext>
                </a:extLst>
              </p:cNvPr>
              <p:cNvCxnSpPr>
                <a:cxnSpLocks/>
              </p:cNvCxnSpPr>
              <p:nvPr/>
            </p:nvCxnSpPr>
            <p:spPr>
              <a:xfrm>
                <a:off x="7696562" y="10376743"/>
                <a:ext cx="375490" cy="91842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9" name="グラフィックス 78" descr="データベース 枠線">
                <a:extLst>
                  <a:ext uri="{FF2B5EF4-FFF2-40B4-BE49-F238E27FC236}">
                    <a16:creationId xmlns:a16="http://schemas.microsoft.com/office/drawing/2014/main" id="{F0F6C107-F3FD-3071-CDC7-7DA4D93ADA3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61035" y="12875339"/>
                <a:ext cx="970652" cy="970652"/>
              </a:xfrm>
              <a:prstGeom prst="rect">
                <a:avLst/>
              </a:prstGeom>
            </p:spPr>
          </p:pic>
          <p:cxnSp>
            <p:nvCxnSpPr>
              <p:cNvPr id="80" name="直線コネクタ 79">
                <a:extLst>
                  <a:ext uri="{FF2B5EF4-FFF2-40B4-BE49-F238E27FC236}">
                    <a16:creationId xmlns:a16="http://schemas.microsoft.com/office/drawing/2014/main" id="{947A636E-4002-5E23-AA2C-E21D6D9EB209}"/>
                  </a:ext>
                </a:extLst>
              </p:cNvPr>
              <p:cNvCxnSpPr>
                <a:cxnSpLocks/>
              </p:cNvCxnSpPr>
              <p:nvPr/>
            </p:nvCxnSpPr>
            <p:spPr>
              <a:xfrm>
                <a:off x="6690383" y="12438162"/>
                <a:ext cx="970652" cy="99482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C7A655BE-B406-9AA3-594F-B4AE47AA6007}"/>
                  </a:ext>
                </a:extLst>
              </p:cNvPr>
              <p:cNvCxnSpPr>
                <a:cxnSpLocks/>
              </p:cNvCxnSpPr>
              <p:nvPr/>
            </p:nvCxnSpPr>
            <p:spPr>
              <a:xfrm flipH="1">
                <a:off x="2897450" y="10011878"/>
                <a:ext cx="4333310" cy="11649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24E4686B-186E-EA09-12EB-7AE681A5C4E4}"/>
                  </a:ext>
                </a:extLst>
              </p:cNvPr>
              <p:cNvCxnSpPr>
                <a:cxnSpLocks/>
              </p:cNvCxnSpPr>
              <p:nvPr/>
            </p:nvCxnSpPr>
            <p:spPr>
              <a:xfrm flipH="1">
                <a:off x="8079476" y="12194835"/>
                <a:ext cx="188093" cy="68902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E05FB2DE-BA3B-17AD-A128-FDB51A7745E1}"/>
                  </a:ext>
                </a:extLst>
              </p:cNvPr>
              <p:cNvCxnSpPr>
                <a:cxnSpLocks/>
              </p:cNvCxnSpPr>
              <p:nvPr/>
            </p:nvCxnSpPr>
            <p:spPr>
              <a:xfrm flipH="1">
                <a:off x="4973051" y="13585153"/>
                <a:ext cx="2687984" cy="17965"/>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B022ED82-9E74-1FBF-D09F-E2574B0ACDA4}"/>
                  </a:ext>
                </a:extLst>
              </p:cNvPr>
              <p:cNvCxnSpPr>
                <a:cxnSpLocks/>
              </p:cNvCxnSpPr>
              <p:nvPr/>
            </p:nvCxnSpPr>
            <p:spPr>
              <a:xfrm flipH="1">
                <a:off x="6530579" y="10482663"/>
                <a:ext cx="823254" cy="1195424"/>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5" name="グラフィックス 84" descr="データベース 枠線">
                <a:extLst>
                  <a:ext uri="{FF2B5EF4-FFF2-40B4-BE49-F238E27FC236}">
                    <a16:creationId xmlns:a16="http://schemas.microsoft.com/office/drawing/2014/main" id="{8AA8C5E4-9883-594E-7056-E0FFA07DD40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75415" y="13101825"/>
                <a:ext cx="822035" cy="822035"/>
              </a:xfrm>
              <a:prstGeom prst="rect">
                <a:avLst/>
              </a:prstGeom>
            </p:spPr>
          </p:pic>
          <p:cxnSp>
            <p:nvCxnSpPr>
              <p:cNvPr id="90" name="直線コネクタ 89">
                <a:extLst>
                  <a:ext uri="{FF2B5EF4-FFF2-40B4-BE49-F238E27FC236}">
                    <a16:creationId xmlns:a16="http://schemas.microsoft.com/office/drawing/2014/main" id="{89E1D561-36E7-DC47-5505-6C0E40970744}"/>
                  </a:ext>
                </a:extLst>
              </p:cNvPr>
              <p:cNvCxnSpPr>
                <a:cxnSpLocks/>
              </p:cNvCxnSpPr>
              <p:nvPr/>
            </p:nvCxnSpPr>
            <p:spPr>
              <a:xfrm flipH="1" flipV="1">
                <a:off x="2142670" y="12275587"/>
                <a:ext cx="315326" cy="718499"/>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4C4B6494-AB0B-2EDA-0F42-01E108874EA8}"/>
                  </a:ext>
                </a:extLst>
              </p:cNvPr>
              <p:cNvCxnSpPr>
                <a:cxnSpLocks/>
              </p:cNvCxnSpPr>
              <p:nvPr/>
            </p:nvCxnSpPr>
            <p:spPr>
              <a:xfrm>
                <a:off x="2935005" y="13538860"/>
                <a:ext cx="976547" cy="46293"/>
              </a:xfrm>
              <a:prstGeom prst="line">
                <a:avLst/>
              </a:prstGeom>
              <a:ln w="889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7" name="グループ化 96">
                <a:extLst>
                  <a:ext uri="{FF2B5EF4-FFF2-40B4-BE49-F238E27FC236}">
                    <a16:creationId xmlns:a16="http://schemas.microsoft.com/office/drawing/2014/main" id="{42A50BE1-CE5D-7B0B-7444-7051DEAAE5F8}"/>
                  </a:ext>
                </a:extLst>
              </p:cNvPr>
              <p:cNvGrpSpPr/>
              <p:nvPr/>
            </p:nvGrpSpPr>
            <p:grpSpPr>
              <a:xfrm>
                <a:off x="7933867" y="11417963"/>
                <a:ext cx="686419" cy="710405"/>
                <a:chOff x="5260642" y="12156375"/>
                <a:chExt cx="709154" cy="733934"/>
              </a:xfrm>
            </p:grpSpPr>
            <p:sp>
              <p:nvSpPr>
                <p:cNvPr id="129" name="円/楕円 128">
                  <a:extLst>
                    <a:ext uri="{FF2B5EF4-FFF2-40B4-BE49-F238E27FC236}">
                      <a16:creationId xmlns:a16="http://schemas.microsoft.com/office/drawing/2014/main" id="{184C4AB4-02E6-2914-6CAA-370895552D27}"/>
                    </a:ext>
                  </a:extLst>
                </p:cNvPr>
                <p:cNvSpPr/>
                <p:nvPr/>
              </p:nvSpPr>
              <p:spPr>
                <a:xfrm>
                  <a:off x="5260642" y="12156375"/>
                  <a:ext cx="709154" cy="709155"/>
                </a:xfrm>
                <a:prstGeom prst="ellipse">
                  <a:avLst/>
                </a:prstGeom>
                <a:noFill/>
                <a:ln w="508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6" name="グラフィックス 135" descr="ユーザー 枠線">
                  <a:extLst>
                    <a:ext uri="{FF2B5EF4-FFF2-40B4-BE49-F238E27FC236}">
                      <a16:creationId xmlns:a16="http://schemas.microsoft.com/office/drawing/2014/main" id="{D5249812-F162-F4A7-F40E-DDD58663829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0642" y="12181154"/>
                  <a:ext cx="709154" cy="709155"/>
                </a:xfrm>
                <a:prstGeom prst="rect">
                  <a:avLst/>
                </a:prstGeom>
              </p:spPr>
            </p:pic>
          </p:grpSp>
          <p:cxnSp>
            <p:nvCxnSpPr>
              <p:cNvPr id="121" name="直線コネクタ 120">
                <a:extLst>
                  <a:ext uri="{FF2B5EF4-FFF2-40B4-BE49-F238E27FC236}">
                    <a16:creationId xmlns:a16="http://schemas.microsoft.com/office/drawing/2014/main" id="{936C4AA4-0773-3041-B118-737E15373408}"/>
                  </a:ext>
                </a:extLst>
              </p:cNvPr>
              <p:cNvCxnSpPr>
                <a:cxnSpLocks/>
              </p:cNvCxnSpPr>
              <p:nvPr/>
            </p:nvCxnSpPr>
            <p:spPr>
              <a:xfrm flipH="1">
                <a:off x="818071" y="11730287"/>
                <a:ext cx="608632" cy="148053"/>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026A2AAB-ECA4-902E-B30F-98498E0F0AD4}"/>
                  </a:ext>
                </a:extLst>
              </p:cNvPr>
              <p:cNvCxnSpPr>
                <a:cxnSpLocks/>
              </p:cNvCxnSpPr>
              <p:nvPr/>
            </p:nvCxnSpPr>
            <p:spPr>
              <a:xfrm>
                <a:off x="525026" y="9844552"/>
                <a:ext cx="1174914" cy="148053"/>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5" name="直線コネクタ 124">
                <a:extLst>
                  <a:ext uri="{FF2B5EF4-FFF2-40B4-BE49-F238E27FC236}">
                    <a16:creationId xmlns:a16="http://schemas.microsoft.com/office/drawing/2014/main" id="{2F5F7A70-0EB2-6CBF-B295-99134AD1EABE}"/>
                  </a:ext>
                </a:extLst>
              </p:cNvPr>
              <p:cNvCxnSpPr>
                <a:cxnSpLocks/>
              </p:cNvCxnSpPr>
              <p:nvPr/>
            </p:nvCxnSpPr>
            <p:spPr>
              <a:xfrm flipV="1">
                <a:off x="8162365" y="9827140"/>
                <a:ext cx="1040627" cy="138588"/>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E262FA89-8349-B65A-321D-795B46767F01}"/>
                  </a:ext>
                </a:extLst>
              </p:cNvPr>
              <p:cNvCxnSpPr>
                <a:cxnSpLocks/>
              </p:cNvCxnSpPr>
              <p:nvPr/>
            </p:nvCxnSpPr>
            <p:spPr>
              <a:xfrm flipH="1" flipV="1">
                <a:off x="687572" y="13321375"/>
                <a:ext cx="1278092" cy="231592"/>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7" name="直線コネクタ 126">
                <a:extLst>
                  <a:ext uri="{FF2B5EF4-FFF2-40B4-BE49-F238E27FC236}">
                    <a16:creationId xmlns:a16="http://schemas.microsoft.com/office/drawing/2014/main" id="{1B525F0A-97CC-9D0B-6EEE-733114442E79}"/>
                  </a:ext>
                </a:extLst>
              </p:cNvPr>
              <p:cNvCxnSpPr>
                <a:cxnSpLocks/>
              </p:cNvCxnSpPr>
              <p:nvPr/>
            </p:nvCxnSpPr>
            <p:spPr>
              <a:xfrm flipH="1" flipV="1">
                <a:off x="8538894" y="13652182"/>
                <a:ext cx="1063446" cy="186114"/>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C55D840B-32E5-7D30-EDE5-BD61E698088F}"/>
                  </a:ext>
                </a:extLst>
              </p:cNvPr>
              <p:cNvCxnSpPr>
                <a:cxnSpLocks/>
              </p:cNvCxnSpPr>
              <p:nvPr/>
            </p:nvCxnSpPr>
            <p:spPr>
              <a:xfrm flipV="1">
                <a:off x="8720568" y="11770072"/>
                <a:ext cx="861100" cy="35578"/>
              </a:xfrm>
              <a:prstGeom prst="line">
                <a:avLst/>
              </a:prstGeom>
              <a:ln w="571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55" name="乗算記号 54">
              <a:extLst>
                <a:ext uri="{FF2B5EF4-FFF2-40B4-BE49-F238E27FC236}">
                  <a16:creationId xmlns:a16="http://schemas.microsoft.com/office/drawing/2014/main" id="{324B0F62-C552-3265-CB83-4C48EDAAF37B}"/>
                </a:ext>
              </a:extLst>
            </p:cNvPr>
            <p:cNvSpPr/>
            <p:nvPr/>
          </p:nvSpPr>
          <p:spPr>
            <a:xfrm>
              <a:off x="3534734" y="15292350"/>
              <a:ext cx="855893" cy="861011"/>
            </a:xfrm>
            <a:prstGeom prst="mathMultiply">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乗算記号 55">
              <a:extLst>
                <a:ext uri="{FF2B5EF4-FFF2-40B4-BE49-F238E27FC236}">
                  <a16:creationId xmlns:a16="http://schemas.microsoft.com/office/drawing/2014/main" id="{72A0F8F6-C7D6-D417-1FDE-C3C3A5E57BB9}"/>
                </a:ext>
              </a:extLst>
            </p:cNvPr>
            <p:cNvSpPr/>
            <p:nvPr/>
          </p:nvSpPr>
          <p:spPr>
            <a:xfrm>
              <a:off x="2144232" y="14064711"/>
              <a:ext cx="855893" cy="861011"/>
            </a:xfrm>
            <a:prstGeom prst="mathMultiply">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7" name="グループ化 56">
              <a:extLst>
                <a:ext uri="{FF2B5EF4-FFF2-40B4-BE49-F238E27FC236}">
                  <a16:creationId xmlns:a16="http://schemas.microsoft.com/office/drawing/2014/main" id="{45124F49-376B-7409-F5C4-3D45482FF8CD}"/>
                </a:ext>
              </a:extLst>
            </p:cNvPr>
            <p:cNvGrpSpPr/>
            <p:nvPr/>
          </p:nvGrpSpPr>
          <p:grpSpPr>
            <a:xfrm>
              <a:off x="2644956" y="14720690"/>
              <a:ext cx="989702" cy="989675"/>
              <a:chOff x="11530549" y="14934677"/>
              <a:chExt cx="520125" cy="520112"/>
            </a:xfrm>
          </p:grpSpPr>
          <p:sp>
            <p:nvSpPr>
              <p:cNvPr id="59" name="三角形 58">
                <a:extLst>
                  <a:ext uri="{FF2B5EF4-FFF2-40B4-BE49-F238E27FC236}">
                    <a16:creationId xmlns:a16="http://schemas.microsoft.com/office/drawing/2014/main" id="{5627B9B4-97CA-7861-69F4-BD2E37C29CF1}"/>
                  </a:ext>
                </a:extLst>
              </p:cNvPr>
              <p:cNvSpPr/>
              <p:nvPr/>
            </p:nvSpPr>
            <p:spPr>
              <a:xfrm>
                <a:off x="11530549" y="14954377"/>
                <a:ext cx="520112" cy="447948"/>
              </a:xfrm>
              <a:prstGeom prst="triangle">
                <a:avLst>
                  <a:gd name="adj" fmla="val 50000"/>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0" name="グラフィックス 59" descr="警告 枠線">
                <a:extLst>
                  <a:ext uri="{FF2B5EF4-FFF2-40B4-BE49-F238E27FC236}">
                    <a16:creationId xmlns:a16="http://schemas.microsoft.com/office/drawing/2014/main" id="{9C6B310D-B464-41BC-499B-F4CDAF75EB6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530562" y="14934677"/>
                <a:ext cx="520112" cy="520112"/>
              </a:xfrm>
              <a:prstGeom prst="rect">
                <a:avLst/>
              </a:prstGeom>
            </p:spPr>
          </p:pic>
        </p:grpSp>
        <p:sp>
          <p:nvSpPr>
            <p:cNvPr id="58" name="乗算記号 57">
              <a:extLst>
                <a:ext uri="{FF2B5EF4-FFF2-40B4-BE49-F238E27FC236}">
                  <a16:creationId xmlns:a16="http://schemas.microsoft.com/office/drawing/2014/main" id="{876978D7-9A0D-C69C-4E4C-BF821CB99D22}"/>
                </a:ext>
              </a:extLst>
            </p:cNvPr>
            <p:cNvSpPr/>
            <p:nvPr/>
          </p:nvSpPr>
          <p:spPr>
            <a:xfrm>
              <a:off x="5711500" y="13389465"/>
              <a:ext cx="855893" cy="861011"/>
            </a:xfrm>
            <a:prstGeom prst="mathMultiply">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6" name="グループ化 205">
            <a:extLst>
              <a:ext uri="{FF2B5EF4-FFF2-40B4-BE49-F238E27FC236}">
                <a16:creationId xmlns:a16="http://schemas.microsoft.com/office/drawing/2014/main" id="{F41EBCE7-B30C-AD5F-3BF3-8668F39C31C0}"/>
              </a:ext>
            </a:extLst>
          </p:cNvPr>
          <p:cNvGrpSpPr/>
          <p:nvPr/>
        </p:nvGrpSpPr>
        <p:grpSpPr>
          <a:xfrm>
            <a:off x="1101645" y="4763137"/>
            <a:ext cx="6674580" cy="550120"/>
            <a:chOff x="1039349" y="4748329"/>
            <a:chExt cx="6674580" cy="550120"/>
          </a:xfrm>
        </p:grpSpPr>
        <p:sp>
          <p:nvSpPr>
            <p:cNvPr id="207" name="角丸四角形 206">
              <a:extLst>
                <a:ext uri="{FF2B5EF4-FFF2-40B4-BE49-F238E27FC236}">
                  <a16:creationId xmlns:a16="http://schemas.microsoft.com/office/drawing/2014/main" id="{C2B7795D-BC0B-E3B9-78A3-2BA006B0BAE1}"/>
                </a:ext>
              </a:extLst>
            </p:cNvPr>
            <p:cNvSpPr/>
            <p:nvPr/>
          </p:nvSpPr>
          <p:spPr>
            <a:xfrm>
              <a:off x="1039349" y="4748329"/>
              <a:ext cx="6674580" cy="549097"/>
            </a:xfrm>
            <a:prstGeom prst="roundRect">
              <a:avLst/>
            </a:prstGeom>
            <a:solidFill>
              <a:schemeClr val="bg1"/>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 name="テキスト ボックス 207">
              <a:extLst>
                <a:ext uri="{FF2B5EF4-FFF2-40B4-BE49-F238E27FC236}">
                  <a16:creationId xmlns:a16="http://schemas.microsoft.com/office/drawing/2014/main" id="{DD281BC0-BF3E-46DF-0C75-55272154470F}"/>
                </a:ext>
              </a:extLst>
            </p:cNvPr>
            <p:cNvSpPr txBox="1"/>
            <p:nvPr/>
          </p:nvSpPr>
          <p:spPr>
            <a:xfrm>
              <a:off x="1429358" y="4836784"/>
              <a:ext cx="5894562" cy="461665"/>
            </a:xfrm>
            <a:prstGeom prst="rect">
              <a:avLst/>
            </a:prstGeom>
            <a:noFill/>
            <a:ln w="57150">
              <a:noFill/>
            </a:ln>
          </p:spPr>
          <p:txBody>
            <a:bodyPr wrap="none" rtlCol="0">
              <a:spAutoFit/>
            </a:bodyPr>
            <a:lstStyle/>
            <a:p>
              <a:r>
                <a:rPr kumimoji="1" lang="ja-JP" altLang="en-US" sz="2400"/>
                <a:t>開発者の離脱により保守運用ができなくなる</a:t>
              </a:r>
            </a:p>
          </p:txBody>
        </p:sp>
      </p:grpSp>
      <p:sp>
        <p:nvSpPr>
          <p:cNvPr id="9" name="テキスト プレースホルダー 8">
            <a:extLst>
              <a:ext uri="{FF2B5EF4-FFF2-40B4-BE49-F238E27FC236}">
                <a16:creationId xmlns:a16="http://schemas.microsoft.com/office/drawing/2014/main" id="{EBB11AE6-983C-BC91-F52E-175A85630045}"/>
              </a:ext>
            </a:extLst>
          </p:cNvPr>
          <p:cNvSpPr>
            <a:spLocks noGrp="1"/>
          </p:cNvSpPr>
          <p:nvPr>
            <p:ph type="body" sz="quarter" idx="13"/>
          </p:nvPr>
        </p:nvSpPr>
        <p:spPr>
          <a:xfrm>
            <a:off x="576000" y="2160000"/>
            <a:ext cx="7963566" cy="2500236"/>
          </a:xfrm>
        </p:spPr>
        <p:txBody>
          <a:bodyPr/>
          <a:lstStyle/>
          <a:p>
            <a:r>
              <a:rPr lang="ja-JP" altLang="en-US"/>
              <a:t>課題</a:t>
            </a:r>
            <a:endParaRPr lang="en-US" altLang="ja-JP" dirty="0"/>
          </a:p>
          <a:p>
            <a:pPr lvl="1"/>
            <a:r>
              <a:rPr lang="ja-JP" altLang="en-US"/>
              <a:t>貢献するタイミングや量が見積りにくい</a:t>
            </a:r>
            <a:endParaRPr lang="en-US" altLang="ja-JP" dirty="0"/>
          </a:p>
          <a:p>
            <a:pPr lvl="1"/>
            <a:r>
              <a:rPr lang="ja-JP" altLang="en-US"/>
              <a:t>開発者の流動性が高い</a:t>
            </a:r>
            <a:endParaRPr lang="en-US" altLang="ja-JP" dirty="0"/>
          </a:p>
          <a:p>
            <a:pPr lvl="2"/>
            <a:r>
              <a:rPr lang="ja-JP" altLang="en-US"/>
              <a:t>多くの開発者は一度の貢献で離脱</a:t>
            </a:r>
            <a:r>
              <a:rPr lang="en-US" altLang="ja-JP" baseline="30000" dirty="0"/>
              <a:t>[3]</a:t>
            </a:r>
            <a:endParaRPr lang="en-US" altLang="ja-JP" dirty="0"/>
          </a:p>
        </p:txBody>
      </p:sp>
      <p:sp>
        <p:nvSpPr>
          <p:cNvPr id="16" name="正方形/長方形 15">
            <a:extLst>
              <a:ext uri="{FF2B5EF4-FFF2-40B4-BE49-F238E27FC236}">
                <a16:creationId xmlns:a16="http://schemas.microsoft.com/office/drawing/2014/main" id="{B7A8B9A6-43E5-5794-777B-6DDE1B6D12C9}"/>
              </a:ext>
            </a:extLst>
          </p:cNvPr>
          <p:cNvSpPr/>
          <p:nvPr/>
        </p:nvSpPr>
        <p:spPr>
          <a:xfrm>
            <a:off x="8710670" y="3216711"/>
            <a:ext cx="8143300" cy="510363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215B5F1-171B-0C54-C2A3-7DD8B76D96C1}"/>
              </a:ext>
            </a:extLst>
          </p:cNvPr>
          <p:cNvSpPr txBox="1"/>
          <p:nvPr/>
        </p:nvSpPr>
        <p:spPr>
          <a:xfrm>
            <a:off x="11459700" y="2872015"/>
            <a:ext cx="2386929" cy="707886"/>
          </a:xfrm>
          <a:prstGeom prst="rect">
            <a:avLst/>
          </a:prstGeom>
          <a:solidFill>
            <a:schemeClr val="bg1"/>
          </a:solidFill>
        </p:spPr>
        <p:txBody>
          <a:bodyPr wrap="square">
            <a:spAutoFit/>
          </a:bodyPr>
          <a:lstStyle/>
          <a:p>
            <a:r>
              <a:rPr lang="ja-JP" altLang="en-US" sz="4000"/>
              <a:t>従来研究</a:t>
            </a:r>
            <a:endParaRPr lang="en-US" altLang="ja-JP" sz="4000" dirty="0"/>
          </a:p>
        </p:txBody>
      </p:sp>
      <p:sp>
        <p:nvSpPr>
          <p:cNvPr id="24" name="テキスト プレースホルダー 8">
            <a:extLst>
              <a:ext uri="{FF2B5EF4-FFF2-40B4-BE49-F238E27FC236}">
                <a16:creationId xmlns:a16="http://schemas.microsoft.com/office/drawing/2014/main" id="{8EA93C59-CA9C-0869-B89E-A8CA1555CA86}"/>
              </a:ext>
            </a:extLst>
          </p:cNvPr>
          <p:cNvSpPr txBox="1">
            <a:spLocks/>
          </p:cNvSpPr>
          <p:nvPr/>
        </p:nvSpPr>
        <p:spPr>
          <a:xfrm>
            <a:off x="8939127" y="3739854"/>
            <a:ext cx="7614739" cy="965521"/>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r>
              <a:rPr lang="ja-JP" altLang="en-US" sz="2800"/>
              <a:t>開発者の継続・離脱要因について</a:t>
            </a:r>
            <a:endParaRPr lang="en-US" altLang="ja-JP" sz="2800" dirty="0"/>
          </a:p>
          <a:p>
            <a:pPr lvl="1"/>
            <a:r>
              <a:rPr lang="ja-JP" altLang="en-US" sz="2400"/>
              <a:t>個人要因と組織要因が影響</a:t>
            </a:r>
            <a:r>
              <a:rPr lang="en-US" altLang="ja-JP" sz="2400" baseline="30000" dirty="0"/>
              <a:t>[4]</a:t>
            </a:r>
          </a:p>
        </p:txBody>
      </p:sp>
      <p:sp>
        <p:nvSpPr>
          <p:cNvPr id="25" name="テキスト プレースホルダー 8">
            <a:extLst>
              <a:ext uri="{FF2B5EF4-FFF2-40B4-BE49-F238E27FC236}">
                <a16:creationId xmlns:a16="http://schemas.microsoft.com/office/drawing/2014/main" id="{B1972AFF-DF59-4898-3BA3-8004959ACC0B}"/>
              </a:ext>
            </a:extLst>
          </p:cNvPr>
          <p:cNvSpPr txBox="1">
            <a:spLocks/>
          </p:cNvSpPr>
          <p:nvPr/>
        </p:nvSpPr>
        <p:spPr>
          <a:xfrm>
            <a:off x="8939127" y="6395943"/>
            <a:ext cx="7614739" cy="1408719"/>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r>
              <a:rPr lang="ja-JP" altLang="en-US" sz="2800"/>
              <a:t>継続予測</a:t>
            </a:r>
          </a:p>
          <a:p>
            <a:pPr lvl="1"/>
            <a:r>
              <a:rPr lang="ja-JP" altLang="en-US" sz="2400"/>
              <a:t>参加後 </a:t>
            </a:r>
            <a:r>
              <a:rPr lang="en-US" altLang="ja-JP" sz="2400" dirty="0"/>
              <a:t>1 </a:t>
            </a:r>
            <a:r>
              <a:rPr lang="ja-JP" altLang="en-US" sz="2400"/>
              <a:t>か月の累積活動量から、</a:t>
            </a:r>
            <a:r>
              <a:rPr lang="en-US" altLang="ja-JP" sz="2400" dirty="0"/>
              <a:t>1 </a:t>
            </a:r>
            <a:r>
              <a:rPr lang="ja-JP" altLang="en-US" sz="2400"/>
              <a:t>年後以降も貢献するか予測</a:t>
            </a:r>
            <a:r>
              <a:rPr lang="en-US" altLang="ja-JP" sz="2400" baseline="30000" dirty="0"/>
              <a:t>[6]</a:t>
            </a:r>
            <a:endParaRPr lang="ja-JP" altLang="en-US" sz="2400" baseline="30000"/>
          </a:p>
        </p:txBody>
      </p:sp>
      <p:sp>
        <p:nvSpPr>
          <p:cNvPr id="27" name="テキスト プレースホルダー 8">
            <a:extLst>
              <a:ext uri="{FF2B5EF4-FFF2-40B4-BE49-F238E27FC236}">
                <a16:creationId xmlns:a16="http://schemas.microsoft.com/office/drawing/2014/main" id="{55FE3E0C-C3BB-F99B-CA30-A4DAD053DB7C}"/>
              </a:ext>
            </a:extLst>
          </p:cNvPr>
          <p:cNvSpPr txBox="1">
            <a:spLocks/>
          </p:cNvSpPr>
          <p:nvPr/>
        </p:nvSpPr>
        <p:spPr>
          <a:xfrm>
            <a:off x="8939126" y="4866914"/>
            <a:ext cx="7614739" cy="2028376"/>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r>
              <a:rPr lang="ja-JP" altLang="en-US" sz="2800"/>
              <a:t>タスク予測</a:t>
            </a:r>
            <a:endParaRPr lang="en-US" altLang="ja-JP" sz="2800" dirty="0"/>
          </a:p>
          <a:p>
            <a:pPr lvl="1"/>
            <a:r>
              <a:rPr lang="ja-JP" altLang="en-US" sz="2400"/>
              <a:t>ある時点のレビュー依頼に対して、開発者が貢献するか否かを予測</a:t>
            </a:r>
            <a:r>
              <a:rPr lang="en-US" altLang="ja-JP" sz="2400" baseline="30000" dirty="0"/>
              <a:t>[5]</a:t>
            </a:r>
            <a:endParaRPr lang="ja-JP" altLang="en-US" sz="2400" baseline="30000"/>
          </a:p>
          <a:p>
            <a:pPr lvl="1"/>
            <a:endParaRPr lang="ja-JP" altLang="en-US" sz="2400"/>
          </a:p>
        </p:txBody>
      </p:sp>
    </p:spTree>
    <p:extLst>
      <p:ext uri="{BB962C8B-B14F-4D97-AF65-F5344CB8AC3E}">
        <p14:creationId xmlns:p14="http://schemas.microsoft.com/office/powerpoint/2010/main" val="511634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3FD50-5436-80DA-3223-A1FF11D27364}"/>
            </a:ext>
          </a:extLst>
        </p:cNvPr>
        <p:cNvGrpSpPr/>
        <p:nvPr/>
      </p:nvGrpSpPr>
      <p:grpSpPr>
        <a:xfrm>
          <a:off x="0" y="0"/>
          <a:ext cx="0" cy="0"/>
          <a:chOff x="0" y="0"/>
          <a:chExt cx="0" cy="0"/>
        </a:xfrm>
      </p:grpSpPr>
      <p:cxnSp>
        <p:nvCxnSpPr>
          <p:cNvPr id="62" name="直線コネクタ 61">
            <a:extLst>
              <a:ext uri="{FF2B5EF4-FFF2-40B4-BE49-F238E27FC236}">
                <a16:creationId xmlns:a16="http://schemas.microsoft.com/office/drawing/2014/main" id="{8615B705-9F13-D536-2D9F-9D31AE066BCF}"/>
              </a:ext>
            </a:extLst>
          </p:cNvPr>
          <p:cNvCxnSpPr>
            <a:cxnSpLocks/>
          </p:cNvCxnSpPr>
          <p:nvPr/>
        </p:nvCxnSpPr>
        <p:spPr>
          <a:xfrm>
            <a:off x="9073304" y="8619067"/>
            <a:ext cx="7367551" cy="0"/>
          </a:xfrm>
          <a:prstGeom prst="line">
            <a:avLst/>
          </a:prstGeom>
          <a:ln w="10160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0001CD21-0F60-5C8B-4071-EC52D05BDF70}"/>
              </a:ext>
            </a:extLst>
          </p:cNvPr>
          <p:cNvCxnSpPr>
            <a:cxnSpLocks/>
          </p:cNvCxnSpPr>
          <p:nvPr/>
        </p:nvCxnSpPr>
        <p:spPr>
          <a:xfrm>
            <a:off x="1591972" y="8619067"/>
            <a:ext cx="5774026" cy="0"/>
          </a:xfrm>
          <a:prstGeom prst="line">
            <a:avLst/>
          </a:prstGeom>
          <a:ln w="1016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CF83F471-8579-F1A2-7377-8DB42E2E1600}"/>
              </a:ext>
            </a:extLst>
          </p:cNvPr>
          <p:cNvSpPr>
            <a:spLocks noGrp="1"/>
          </p:cNvSpPr>
          <p:nvPr>
            <p:ph type="title"/>
          </p:nvPr>
        </p:nvSpPr>
        <p:spPr/>
        <p:txBody>
          <a:bodyPr/>
          <a:lstStyle/>
          <a:p>
            <a:r>
              <a:rPr lang="ja-JP" altLang="en-US"/>
              <a:t>従来研究と本研究の予測する期間の違い</a:t>
            </a:r>
            <a:endParaRPr kumimoji="1" lang="ja-JP" altLang="en-US"/>
          </a:p>
        </p:txBody>
      </p:sp>
      <p:sp>
        <p:nvSpPr>
          <p:cNvPr id="3" name="テキスト プレースホルダー 2">
            <a:extLst>
              <a:ext uri="{FF2B5EF4-FFF2-40B4-BE49-F238E27FC236}">
                <a16:creationId xmlns:a16="http://schemas.microsoft.com/office/drawing/2014/main" id="{6B4B23E0-7375-4738-BD45-0E4648A3768C}"/>
              </a:ext>
            </a:extLst>
          </p:cNvPr>
          <p:cNvSpPr>
            <a:spLocks noGrp="1"/>
          </p:cNvSpPr>
          <p:nvPr>
            <p:ph type="body" sz="quarter" idx="13"/>
          </p:nvPr>
        </p:nvSpPr>
        <p:spPr>
          <a:xfrm>
            <a:off x="576000" y="2160000"/>
            <a:ext cx="7232196" cy="1241365"/>
          </a:xfrm>
        </p:spPr>
        <p:txBody>
          <a:bodyPr/>
          <a:lstStyle/>
          <a:p>
            <a:r>
              <a:rPr kumimoji="1" lang="ja-JP" altLang="en-US"/>
              <a:t>従来研究</a:t>
            </a:r>
            <a:r>
              <a:rPr kumimoji="1" lang="en-US" altLang="ja-JP" dirty="0"/>
              <a:t> </a:t>
            </a:r>
            <a:r>
              <a:rPr lang="en-US" altLang="ja-JP" sz="2800" dirty="0">
                <a:solidFill>
                  <a:schemeClr val="tx1">
                    <a:lumMod val="75000"/>
                    <a:lumOff val="25000"/>
                  </a:schemeClr>
                </a:solidFill>
              </a:rPr>
              <a:t>: </a:t>
            </a:r>
            <a:r>
              <a:rPr kumimoji="1" lang="ja-JP" altLang="en-US" sz="2800">
                <a:solidFill>
                  <a:schemeClr val="tx1">
                    <a:lumMod val="75000"/>
                    <a:lumOff val="25000"/>
                  </a:schemeClr>
                </a:solidFill>
              </a:rPr>
              <a:t>ランダムフォレスト</a:t>
            </a:r>
            <a:r>
              <a:rPr kumimoji="1" lang="en-US" altLang="ja-JP" sz="2800" dirty="0">
                <a:solidFill>
                  <a:schemeClr val="tx1">
                    <a:lumMod val="75000"/>
                    <a:lumOff val="25000"/>
                  </a:schemeClr>
                </a:solidFill>
              </a:rPr>
              <a:t>(</a:t>
            </a:r>
            <a:r>
              <a:rPr lang="en-US" altLang="ja-JP" sz="2800" dirty="0">
                <a:solidFill>
                  <a:schemeClr val="tx1">
                    <a:lumMod val="75000"/>
                    <a:lumOff val="25000"/>
                  </a:schemeClr>
                </a:solidFill>
              </a:rPr>
              <a:t>RF)</a:t>
            </a:r>
            <a:r>
              <a:rPr lang="ja-JP" altLang="en-US" sz="2800">
                <a:solidFill>
                  <a:schemeClr val="tx1">
                    <a:lumMod val="75000"/>
                    <a:lumOff val="25000"/>
                  </a:schemeClr>
                </a:solidFill>
              </a:rPr>
              <a:t>が主流</a:t>
            </a:r>
            <a:endParaRPr kumimoji="1" lang="en-US" altLang="ja-JP" sz="2800" dirty="0">
              <a:solidFill>
                <a:schemeClr val="tx1">
                  <a:lumMod val="75000"/>
                  <a:lumOff val="25000"/>
                </a:schemeClr>
              </a:solidFill>
            </a:endParaRPr>
          </a:p>
          <a:p>
            <a:pPr lvl="1"/>
            <a:r>
              <a:rPr lang="ja-JP" altLang="en-US"/>
              <a:t>特定期間以降の貢献の有無を予測</a:t>
            </a:r>
            <a:endParaRPr lang="en-US" altLang="ja-JP" dirty="0"/>
          </a:p>
        </p:txBody>
      </p:sp>
      <p:sp>
        <p:nvSpPr>
          <p:cNvPr id="4" name="スライド番号プレースホルダー 3">
            <a:extLst>
              <a:ext uri="{FF2B5EF4-FFF2-40B4-BE49-F238E27FC236}">
                <a16:creationId xmlns:a16="http://schemas.microsoft.com/office/drawing/2014/main" id="{CEEA7333-A8D6-45EF-8A6A-74EE16B230FD}"/>
              </a:ext>
            </a:extLst>
          </p:cNvPr>
          <p:cNvSpPr>
            <a:spLocks noGrp="1"/>
          </p:cNvSpPr>
          <p:nvPr>
            <p:ph type="sldNum" sz="quarter" idx="12"/>
          </p:nvPr>
        </p:nvSpPr>
        <p:spPr/>
        <p:txBody>
          <a:bodyPr/>
          <a:lstStyle/>
          <a:p>
            <a:fld id="{85D74467-FFC2-5C49-A08A-98A9FE9BCA53}" type="slidenum">
              <a:rPr kumimoji="1" lang="ja-JP" altLang="en-US" smtClean="0"/>
              <a:pPr/>
              <a:t>5</a:t>
            </a:fld>
            <a:endParaRPr kumimoji="1" lang="ja-JP" altLang="en-US"/>
          </a:p>
        </p:txBody>
      </p:sp>
      <p:sp>
        <p:nvSpPr>
          <p:cNvPr id="7" name="テキスト プレースホルダー 2">
            <a:extLst>
              <a:ext uri="{FF2B5EF4-FFF2-40B4-BE49-F238E27FC236}">
                <a16:creationId xmlns:a16="http://schemas.microsoft.com/office/drawing/2014/main" id="{D341F131-6161-5D97-99C9-73E1FC3566B9}"/>
              </a:ext>
            </a:extLst>
          </p:cNvPr>
          <p:cNvSpPr txBox="1">
            <a:spLocks/>
          </p:cNvSpPr>
          <p:nvPr/>
        </p:nvSpPr>
        <p:spPr>
          <a:xfrm>
            <a:off x="8754109" y="2160000"/>
            <a:ext cx="7485856" cy="1241365"/>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pPr marL="360000" marR="0" lvl="0" indent="-360000" algn="l" defTabSz="1300277" rtl="0" eaLnBrk="1" fontAlgn="auto" latinLnBrk="0" hangingPunct="1">
              <a:lnSpc>
                <a:spcPct val="120000"/>
              </a:lnSpc>
              <a:spcBef>
                <a:spcPts val="2250"/>
              </a:spcBef>
              <a:spcAft>
                <a:spcPts val="0"/>
              </a:spcAft>
              <a:buClr>
                <a:srgbClr val="26272A">
                  <a:lumMod val="25000"/>
                  <a:lumOff val="75000"/>
                </a:srgbClr>
              </a:buClr>
              <a:buSzPct val="125000"/>
              <a:buFont typeface="システムフォント（レギュラー）"/>
              <a:buChar char="▎"/>
              <a:tabLst/>
              <a:defRPr/>
            </a:pPr>
            <a:r>
              <a:rPr lang="ja-JP" altLang="en-US"/>
              <a:t>本研究</a:t>
            </a:r>
            <a:r>
              <a:rPr lang="en-US" altLang="ja-JP" sz="2800" dirty="0">
                <a:solidFill>
                  <a:srgbClr val="26272A">
                    <a:lumMod val="75000"/>
                    <a:lumOff val="25000"/>
                  </a:srgbClr>
                </a:solidFill>
              </a:rPr>
              <a:t> : </a:t>
            </a:r>
            <a:r>
              <a:rPr kumimoji="1" lang="ja-JP" altLang="en-US" sz="2800" b="0" i="0" u="none" strike="noStrike" kern="1200" cap="none" spc="0" normalizeH="0" baseline="0" noProof="0">
                <a:ln>
                  <a:noFill/>
                </a:ln>
                <a:solidFill>
                  <a:srgbClr val="26272A">
                    <a:lumMod val="75000"/>
                    <a:lumOff val="25000"/>
                  </a:srgbClr>
                </a:solidFill>
                <a:effectLst/>
                <a:uLnTx/>
                <a:uFillTx/>
                <a:latin typeface="MS PGothic" panose="020B0600070205080204" pitchFamily="34" charset="-128"/>
                <a:ea typeface="MS PGothic" panose="020B0600070205080204" pitchFamily="34" charset="-128"/>
                <a:cs typeface="+mn-cs"/>
              </a:rPr>
              <a:t>逆強化学習</a:t>
            </a:r>
            <a:r>
              <a:rPr lang="en-US" altLang="ja-JP" sz="2800" dirty="0">
                <a:solidFill>
                  <a:srgbClr val="26272A">
                    <a:lumMod val="75000"/>
                    <a:lumOff val="25000"/>
                  </a:srgbClr>
                </a:solidFill>
              </a:rPr>
              <a:t>(IRL</a:t>
            </a:r>
            <a:r>
              <a:rPr kumimoji="1" lang="ja-JP" altLang="en-US" sz="2800" b="0" i="0" u="none" strike="noStrike" kern="1200" cap="none" spc="0" normalizeH="0" baseline="0" noProof="0">
                <a:ln>
                  <a:noFill/>
                </a:ln>
                <a:solidFill>
                  <a:srgbClr val="26272A">
                    <a:lumMod val="75000"/>
                    <a:lumOff val="25000"/>
                  </a:srgbClr>
                </a:solidFill>
                <a:effectLst/>
                <a:uLnTx/>
                <a:uFillTx/>
                <a:latin typeface="MS PGothic" panose="020B0600070205080204" pitchFamily="34" charset="-128"/>
                <a:ea typeface="MS PGothic" panose="020B0600070205080204" pitchFamily="34" charset="-128"/>
                <a:cs typeface="+mn-cs"/>
              </a:rPr>
              <a:t>）</a:t>
            </a:r>
            <a:endParaRPr lang="en-US" altLang="ja-JP" dirty="0"/>
          </a:p>
          <a:p>
            <a:pPr lvl="1"/>
            <a:r>
              <a:rPr lang="ja-JP" altLang="en-US"/>
              <a:t>将来の貢献を区間で分割し予測</a:t>
            </a:r>
            <a:endParaRPr lang="en-US" altLang="ja-JP" dirty="0"/>
          </a:p>
        </p:txBody>
      </p:sp>
      <p:sp>
        <p:nvSpPr>
          <p:cNvPr id="57" name="テキスト ボックス 56">
            <a:extLst>
              <a:ext uri="{FF2B5EF4-FFF2-40B4-BE49-F238E27FC236}">
                <a16:creationId xmlns:a16="http://schemas.microsoft.com/office/drawing/2014/main" id="{E92B9072-B0FF-67D7-77A1-C63B2F65B8BE}"/>
              </a:ext>
            </a:extLst>
          </p:cNvPr>
          <p:cNvSpPr txBox="1"/>
          <p:nvPr/>
        </p:nvSpPr>
        <p:spPr>
          <a:xfrm>
            <a:off x="1473441" y="8206657"/>
            <a:ext cx="6143028" cy="523220"/>
          </a:xfrm>
          <a:prstGeom prst="rect">
            <a:avLst/>
          </a:prstGeom>
          <a:noFill/>
        </p:spPr>
        <p:txBody>
          <a:bodyPr wrap="none" rtlCol="0">
            <a:spAutoFit/>
          </a:bodyPr>
          <a:lstStyle/>
          <a:p>
            <a:r>
              <a:rPr kumimoji="1" lang="ja-JP" altLang="en-US" sz="2800"/>
              <a:t>開発者の一時的な離脱を予測できない</a:t>
            </a:r>
          </a:p>
        </p:txBody>
      </p:sp>
      <p:sp>
        <p:nvSpPr>
          <p:cNvPr id="58" name="テキスト ボックス 57">
            <a:extLst>
              <a:ext uri="{FF2B5EF4-FFF2-40B4-BE49-F238E27FC236}">
                <a16:creationId xmlns:a16="http://schemas.microsoft.com/office/drawing/2014/main" id="{CE355E5B-E06D-D3D3-249A-511BFD989B08}"/>
              </a:ext>
            </a:extLst>
          </p:cNvPr>
          <p:cNvSpPr txBox="1"/>
          <p:nvPr/>
        </p:nvSpPr>
        <p:spPr>
          <a:xfrm>
            <a:off x="8974188" y="8211307"/>
            <a:ext cx="7696338" cy="523220"/>
          </a:xfrm>
          <a:prstGeom prst="rect">
            <a:avLst/>
          </a:prstGeom>
          <a:noFill/>
        </p:spPr>
        <p:txBody>
          <a:bodyPr wrap="none" rtlCol="0">
            <a:spAutoFit/>
          </a:bodyPr>
          <a:lstStyle/>
          <a:p>
            <a:r>
              <a:rPr kumimoji="1" lang="ja-JP" altLang="en-US" sz="2800"/>
              <a:t>開発者の離脱・復帰などの時系列パターンも予測</a:t>
            </a:r>
          </a:p>
        </p:txBody>
      </p:sp>
      <p:grpSp>
        <p:nvGrpSpPr>
          <p:cNvPr id="38" name="グループ化 37">
            <a:extLst>
              <a:ext uri="{FF2B5EF4-FFF2-40B4-BE49-F238E27FC236}">
                <a16:creationId xmlns:a16="http://schemas.microsoft.com/office/drawing/2014/main" id="{4DE31525-7F25-FC61-4AD9-F64C9452FC62}"/>
              </a:ext>
            </a:extLst>
          </p:cNvPr>
          <p:cNvGrpSpPr/>
          <p:nvPr/>
        </p:nvGrpSpPr>
        <p:grpSpPr>
          <a:xfrm>
            <a:off x="8709837" y="3663685"/>
            <a:ext cx="8068125" cy="4067768"/>
            <a:chOff x="8709837" y="3663685"/>
            <a:chExt cx="8068125" cy="4067768"/>
          </a:xfrm>
        </p:grpSpPr>
        <p:sp>
          <p:nvSpPr>
            <p:cNvPr id="59" name="正方形/長方形 58">
              <a:extLst>
                <a:ext uri="{FF2B5EF4-FFF2-40B4-BE49-F238E27FC236}">
                  <a16:creationId xmlns:a16="http://schemas.microsoft.com/office/drawing/2014/main" id="{B754F8D3-9454-1CA0-7126-89B26A4AF3F4}"/>
                </a:ext>
              </a:extLst>
            </p:cNvPr>
            <p:cNvSpPr/>
            <p:nvPr/>
          </p:nvSpPr>
          <p:spPr>
            <a:xfrm>
              <a:off x="8810557" y="4697192"/>
              <a:ext cx="3042384" cy="2936726"/>
            </a:xfrm>
            <a:prstGeom prst="rect">
              <a:avLst/>
            </a:prstGeom>
            <a:solidFill>
              <a:schemeClr val="bg1">
                <a:lumMod val="95000"/>
              </a:schemeClr>
            </a:solidFill>
            <a:ln w="38100">
              <a:solidFill>
                <a:srgbClr val="4C90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直線コネクタ 60">
              <a:extLst>
                <a:ext uri="{FF2B5EF4-FFF2-40B4-BE49-F238E27FC236}">
                  <a16:creationId xmlns:a16="http://schemas.microsoft.com/office/drawing/2014/main" id="{770E7CEC-959E-1B86-CC7E-E1AD6300D0D9}"/>
                </a:ext>
              </a:extLst>
            </p:cNvPr>
            <p:cNvCxnSpPr>
              <a:cxnSpLocks/>
            </p:cNvCxnSpPr>
            <p:nvPr/>
          </p:nvCxnSpPr>
          <p:spPr>
            <a:xfrm flipH="1">
              <a:off x="8810556" y="4628653"/>
              <a:ext cx="0" cy="310280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円/楕円 26">
              <a:extLst>
                <a:ext uri="{FF2B5EF4-FFF2-40B4-BE49-F238E27FC236}">
                  <a16:creationId xmlns:a16="http://schemas.microsoft.com/office/drawing/2014/main" id="{72B040F3-2105-190E-28AB-FC4A06B0DAF1}"/>
                </a:ext>
              </a:extLst>
            </p:cNvPr>
            <p:cNvSpPr/>
            <p:nvPr/>
          </p:nvSpPr>
          <p:spPr>
            <a:xfrm>
              <a:off x="10717111" y="5932932"/>
              <a:ext cx="360000" cy="3600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3F39DBE6-F434-FB6B-2813-DFC75992BDAF}"/>
                </a:ext>
              </a:extLst>
            </p:cNvPr>
            <p:cNvSpPr/>
            <p:nvPr/>
          </p:nvSpPr>
          <p:spPr>
            <a:xfrm>
              <a:off x="9734606" y="5932932"/>
              <a:ext cx="360000" cy="3600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4" name="直線コネクタ 123">
              <a:extLst>
                <a:ext uri="{FF2B5EF4-FFF2-40B4-BE49-F238E27FC236}">
                  <a16:creationId xmlns:a16="http://schemas.microsoft.com/office/drawing/2014/main" id="{CF2DB962-815A-8E14-AA18-909BA8A71E42}"/>
                </a:ext>
              </a:extLst>
            </p:cNvPr>
            <p:cNvCxnSpPr>
              <a:cxnSpLocks/>
            </p:cNvCxnSpPr>
            <p:nvPr/>
          </p:nvCxnSpPr>
          <p:spPr>
            <a:xfrm>
              <a:off x="11879616" y="3677452"/>
              <a:ext cx="0" cy="39837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71931543-E847-FC71-8376-0890F7020633}"/>
                </a:ext>
              </a:extLst>
            </p:cNvPr>
            <p:cNvCxnSpPr>
              <a:cxnSpLocks/>
              <a:stCxn id="48" idx="6"/>
            </p:cNvCxnSpPr>
            <p:nvPr/>
          </p:nvCxnSpPr>
          <p:spPr>
            <a:xfrm>
              <a:off x="12067114" y="6083843"/>
              <a:ext cx="469448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6C895AC6-2BED-2BFA-0D63-CED42431C86E}"/>
                </a:ext>
              </a:extLst>
            </p:cNvPr>
            <p:cNvCxnSpPr/>
            <p:nvPr/>
          </p:nvCxnSpPr>
          <p:spPr>
            <a:xfrm>
              <a:off x="12931264" y="4730281"/>
              <a:ext cx="0" cy="2709334"/>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695BAA85-DA48-4213-F141-536B307DC4BA}"/>
                </a:ext>
              </a:extLst>
            </p:cNvPr>
            <p:cNvCxnSpPr/>
            <p:nvPr/>
          </p:nvCxnSpPr>
          <p:spPr>
            <a:xfrm>
              <a:off x="15159044" y="4758265"/>
              <a:ext cx="0" cy="2709334"/>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D6FE14C7-C1AE-8064-AC5F-316A2F134706}"/>
                </a:ext>
              </a:extLst>
            </p:cNvPr>
            <p:cNvCxnSpPr/>
            <p:nvPr/>
          </p:nvCxnSpPr>
          <p:spPr>
            <a:xfrm>
              <a:off x="14073103" y="4747216"/>
              <a:ext cx="0" cy="2709334"/>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AFA9E954-D39B-73DD-A58C-65A553B19AFB}"/>
                </a:ext>
              </a:extLst>
            </p:cNvPr>
            <p:cNvCxnSpPr>
              <a:cxnSpLocks/>
            </p:cNvCxnSpPr>
            <p:nvPr/>
          </p:nvCxnSpPr>
          <p:spPr>
            <a:xfrm>
              <a:off x="12931264" y="5610814"/>
              <a:ext cx="1113890"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AFE4A0B6-EE4E-D696-6FC9-297DA7B1598B}"/>
                </a:ext>
              </a:extLst>
            </p:cNvPr>
            <p:cNvCxnSpPr/>
            <p:nvPr/>
          </p:nvCxnSpPr>
          <p:spPr>
            <a:xfrm>
              <a:off x="16246837" y="4758265"/>
              <a:ext cx="0" cy="2709334"/>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C6A4F6D4-18CF-C012-8136-187E5204E622}"/>
                </a:ext>
              </a:extLst>
            </p:cNvPr>
            <p:cNvSpPr txBox="1"/>
            <p:nvPr/>
          </p:nvSpPr>
          <p:spPr>
            <a:xfrm>
              <a:off x="12482806" y="4169246"/>
              <a:ext cx="886781" cy="461665"/>
            </a:xfrm>
            <a:prstGeom prst="rect">
              <a:avLst/>
            </a:prstGeom>
            <a:noFill/>
          </p:spPr>
          <p:txBody>
            <a:bodyPr wrap="none" rtlCol="0">
              <a:spAutoFit/>
            </a:bodyPr>
            <a:lstStyle/>
            <a:p>
              <a:r>
                <a:rPr kumimoji="1" lang="en-US" altLang="ja-JP" sz="2400" dirty="0"/>
                <a:t>3</a:t>
              </a:r>
              <a:r>
                <a:rPr kumimoji="1" lang="ja-JP" altLang="en-US" sz="2400"/>
                <a:t>ヶ月</a:t>
              </a:r>
              <a:endParaRPr kumimoji="1" lang="en-US" altLang="ja-JP" sz="2400" dirty="0"/>
            </a:p>
          </p:txBody>
        </p:sp>
        <p:sp>
          <p:nvSpPr>
            <p:cNvPr id="35" name="テキスト ボックス 34">
              <a:extLst>
                <a:ext uri="{FF2B5EF4-FFF2-40B4-BE49-F238E27FC236}">
                  <a16:creationId xmlns:a16="http://schemas.microsoft.com/office/drawing/2014/main" id="{6928441E-DEB5-9198-4B06-653E230C9368}"/>
                </a:ext>
              </a:extLst>
            </p:cNvPr>
            <p:cNvSpPr txBox="1"/>
            <p:nvPr/>
          </p:nvSpPr>
          <p:spPr>
            <a:xfrm>
              <a:off x="13614599" y="4169246"/>
              <a:ext cx="886781" cy="461665"/>
            </a:xfrm>
            <a:prstGeom prst="rect">
              <a:avLst/>
            </a:prstGeom>
            <a:noFill/>
          </p:spPr>
          <p:txBody>
            <a:bodyPr wrap="none" rtlCol="0">
              <a:spAutoFit/>
            </a:bodyPr>
            <a:lstStyle/>
            <a:p>
              <a:r>
                <a:rPr kumimoji="1" lang="en-US" altLang="ja-JP" sz="2400" dirty="0"/>
                <a:t>6</a:t>
              </a:r>
              <a:r>
                <a:rPr kumimoji="1" lang="ja-JP" altLang="en-US" sz="2400"/>
                <a:t>ヶ月</a:t>
              </a:r>
              <a:endParaRPr kumimoji="1" lang="en-US" altLang="ja-JP" sz="2400" dirty="0"/>
            </a:p>
          </p:txBody>
        </p:sp>
        <p:sp>
          <p:nvSpPr>
            <p:cNvPr id="36" name="テキスト ボックス 35">
              <a:extLst>
                <a:ext uri="{FF2B5EF4-FFF2-40B4-BE49-F238E27FC236}">
                  <a16:creationId xmlns:a16="http://schemas.microsoft.com/office/drawing/2014/main" id="{BF76E1A8-CA66-2DC7-FFB7-82EE760C3AFE}"/>
                </a:ext>
              </a:extLst>
            </p:cNvPr>
            <p:cNvSpPr txBox="1"/>
            <p:nvPr/>
          </p:nvSpPr>
          <p:spPr>
            <a:xfrm>
              <a:off x="14684489" y="4169246"/>
              <a:ext cx="886781" cy="461665"/>
            </a:xfrm>
            <a:prstGeom prst="rect">
              <a:avLst/>
            </a:prstGeom>
            <a:noFill/>
          </p:spPr>
          <p:txBody>
            <a:bodyPr wrap="none" rtlCol="0">
              <a:spAutoFit/>
            </a:bodyPr>
            <a:lstStyle/>
            <a:p>
              <a:r>
                <a:rPr kumimoji="1" lang="en-US" altLang="ja-JP" sz="2400" dirty="0"/>
                <a:t>9</a:t>
              </a:r>
              <a:r>
                <a:rPr kumimoji="1" lang="ja-JP" altLang="en-US" sz="2400"/>
                <a:t>ヶ月</a:t>
              </a:r>
              <a:endParaRPr kumimoji="1" lang="en-US" altLang="ja-JP" sz="2400" dirty="0"/>
            </a:p>
          </p:txBody>
        </p:sp>
        <p:sp>
          <p:nvSpPr>
            <p:cNvPr id="37" name="テキスト ボックス 36">
              <a:extLst>
                <a:ext uri="{FF2B5EF4-FFF2-40B4-BE49-F238E27FC236}">
                  <a16:creationId xmlns:a16="http://schemas.microsoft.com/office/drawing/2014/main" id="{8B0EB3A1-6EDD-4C43-DDE4-EF6093CD319A}"/>
                </a:ext>
              </a:extLst>
            </p:cNvPr>
            <p:cNvSpPr txBox="1"/>
            <p:nvPr/>
          </p:nvSpPr>
          <p:spPr>
            <a:xfrm>
              <a:off x="15735689" y="4166987"/>
              <a:ext cx="1042273" cy="461665"/>
            </a:xfrm>
            <a:prstGeom prst="rect">
              <a:avLst/>
            </a:prstGeom>
            <a:noFill/>
          </p:spPr>
          <p:txBody>
            <a:bodyPr wrap="none" rtlCol="0">
              <a:spAutoFit/>
            </a:bodyPr>
            <a:lstStyle/>
            <a:p>
              <a:r>
                <a:rPr kumimoji="1" lang="en-US" altLang="ja-JP" sz="2400" dirty="0"/>
                <a:t>12</a:t>
              </a:r>
              <a:r>
                <a:rPr kumimoji="1" lang="ja-JP" altLang="en-US" sz="2400"/>
                <a:t>ヶ月</a:t>
              </a:r>
              <a:endParaRPr kumimoji="1" lang="en-US" altLang="ja-JP" sz="2400" dirty="0"/>
            </a:p>
          </p:txBody>
        </p:sp>
        <p:sp>
          <p:nvSpPr>
            <p:cNvPr id="48" name="円/楕円 47">
              <a:extLst>
                <a:ext uri="{FF2B5EF4-FFF2-40B4-BE49-F238E27FC236}">
                  <a16:creationId xmlns:a16="http://schemas.microsoft.com/office/drawing/2014/main" id="{A7A0EA2E-2655-0220-CA2B-C155DC219609}"/>
                </a:ext>
              </a:extLst>
            </p:cNvPr>
            <p:cNvSpPr/>
            <p:nvPr/>
          </p:nvSpPr>
          <p:spPr>
            <a:xfrm>
              <a:off x="11707114" y="5903843"/>
              <a:ext cx="360000" cy="360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1839C22F-3875-E6E5-4AD3-69E635E59C5E}"/>
                </a:ext>
              </a:extLst>
            </p:cNvPr>
            <p:cNvSpPr txBox="1"/>
            <p:nvPr/>
          </p:nvSpPr>
          <p:spPr>
            <a:xfrm>
              <a:off x="13101193" y="5054158"/>
              <a:ext cx="800219" cy="461665"/>
            </a:xfrm>
            <a:prstGeom prst="rect">
              <a:avLst/>
            </a:prstGeom>
            <a:noFill/>
          </p:spPr>
          <p:txBody>
            <a:bodyPr wrap="none" rtlCol="0">
              <a:spAutoFit/>
            </a:bodyPr>
            <a:lstStyle/>
            <a:p>
              <a:r>
                <a:rPr kumimoji="1" lang="ja-JP" altLang="en-US" sz="2400"/>
                <a:t>予測</a:t>
              </a:r>
              <a:endParaRPr kumimoji="1" lang="en-US" altLang="ja-JP" sz="2400" dirty="0"/>
            </a:p>
          </p:txBody>
        </p:sp>
        <p:sp>
          <p:nvSpPr>
            <p:cNvPr id="50" name="テキスト ボックス 49">
              <a:extLst>
                <a:ext uri="{FF2B5EF4-FFF2-40B4-BE49-F238E27FC236}">
                  <a16:creationId xmlns:a16="http://schemas.microsoft.com/office/drawing/2014/main" id="{ECCC53BB-A759-FBCC-957C-7257E5F8E3F2}"/>
                </a:ext>
              </a:extLst>
            </p:cNvPr>
            <p:cNvSpPr txBox="1"/>
            <p:nvPr/>
          </p:nvSpPr>
          <p:spPr>
            <a:xfrm>
              <a:off x="14196805" y="5054158"/>
              <a:ext cx="800219" cy="461665"/>
            </a:xfrm>
            <a:prstGeom prst="rect">
              <a:avLst/>
            </a:prstGeom>
            <a:noFill/>
          </p:spPr>
          <p:txBody>
            <a:bodyPr wrap="none" rtlCol="0">
              <a:spAutoFit/>
            </a:bodyPr>
            <a:lstStyle/>
            <a:p>
              <a:r>
                <a:rPr kumimoji="1" lang="ja-JP" altLang="en-US" sz="2400"/>
                <a:t>予測</a:t>
              </a:r>
              <a:endParaRPr kumimoji="1" lang="en-US" altLang="ja-JP" sz="2400" dirty="0"/>
            </a:p>
          </p:txBody>
        </p:sp>
        <p:sp>
          <p:nvSpPr>
            <p:cNvPr id="51" name="テキスト ボックス 50">
              <a:extLst>
                <a:ext uri="{FF2B5EF4-FFF2-40B4-BE49-F238E27FC236}">
                  <a16:creationId xmlns:a16="http://schemas.microsoft.com/office/drawing/2014/main" id="{9E840C4B-0526-55EC-B275-47C78F1C1E84}"/>
                </a:ext>
              </a:extLst>
            </p:cNvPr>
            <p:cNvSpPr txBox="1"/>
            <p:nvPr/>
          </p:nvSpPr>
          <p:spPr>
            <a:xfrm>
              <a:off x="15289782" y="5060055"/>
              <a:ext cx="800219" cy="461665"/>
            </a:xfrm>
            <a:prstGeom prst="rect">
              <a:avLst/>
            </a:prstGeom>
            <a:noFill/>
          </p:spPr>
          <p:txBody>
            <a:bodyPr wrap="none" rtlCol="0">
              <a:spAutoFit/>
            </a:bodyPr>
            <a:lstStyle/>
            <a:p>
              <a:r>
                <a:rPr kumimoji="1" lang="ja-JP" altLang="en-US" sz="2400"/>
                <a:t>予測</a:t>
              </a:r>
              <a:endParaRPr kumimoji="1" lang="en-US" altLang="ja-JP" sz="2400" dirty="0"/>
            </a:p>
          </p:txBody>
        </p:sp>
        <p:cxnSp>
          <p:nvCxnSpPr>
            <p:cNvPr id="106" name="直線矢印コネクタ 105">
              <a:extLst>
                <a:ext uri="{FF2B5EF4-FFF2-40B4-BE49-F238E27FC236}">
                  <a16:creationId xmlns:a16="http://schemas.microsoft.com/office/drawing/2014/main" id="{A35EE3C5-F14F-8284-6049-6B649C60D388}"/>
                </a:ext>
              </a:extLst>
            </p:cNvPr>
            <p:cNvCxnSpPr>
              <a:cxnSpLocks/>
            </p:cNvCxnSpPr>
            <p:nvPr/>
          </p:nvCxnSpPr>
          <p:spPr>
            <a:xfrm>
              <a:off x="14073103" y="5610814"/>
              <a:ext cx="1113890"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7" name="直線矢印コネクタ 106">
              <a:extLst>
                <a:ext uri="{FF2B5EF4-FFF2-40B4-BE49-F238E27FC236}">
                  <a16:creationId xmlns:a16="http://schemas.microsoft.com/office/drawing/2014/main" id="{12484D1C-4553-7FF7-E1E2-BB678F1A8810}"/>
                </a:ext>
              </a:extLst>
            </p:cNvPr>
            <p:cNvCxnSpPr>
              <a:cxnSpLocks/>
            </p:cNvCxnSpPr>
            <p:nvPr/>
          </p:nvCxnSpPr>
          <p:spPr>
            <a:xfrm>
              <a:off x="15132947" y="5610814"/>
              <a:ext cx="1113890"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8" name="円/楕円 137">
              <a:extLst>
                <a:ext uri="{FF2B5EF4-FFF2-40B4-BE49-F238E27FC236}">
                  <a16:creationId xmlns:a16="http://schemas.microsoft.com/office/drawing/2014/main" id="{588523F1-4A1A-B3E9-5308-722A1DAEB37F}"/>
                </a:ext>
              </a:extLst>
            </p:cNvPr>
            <p:cNvSpPr/>
            <p:nvPr/>
          </p:nvSpPr>
          <p:spPr>
            <a:xfrm>
              <a:off x="13321697" y="5868213"/>
              <a:ext cx="360000" cy="3600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円/楕円 138">
              <a:extLst>
                <a:ext uri="{FF2B5EF4-FFF2-40B4-BE49-F238E27FC236}">
                  <a16:creationId xmlns:a16="http://schemas.microsoft.com/office/drawing/2014/main" id="{5F2CDB9C-0B09-09BA-F409-829BCDB6B5BC}"/>
                </a:ext>
              </a:extLst>
            </p:cNvPr>
            <p:cNvSpPr/>
            <p:nvPr/>
          </p:nvSpPr>
          <p:spPr>
            <a:xfrm>
              <a:off x="15502770" y="5883413"/>
              <a:ext cx="360000" cy="3600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502DC512-CD2B-6030-E12A-53C85F747BB8}"/>
                </a:ext>
              </a:extLst>
            </p:cNvPr>
            <p:cNvSpPr/>
            <p:nvPr/>
          </p:nvSpPr>
          <p:spPr>
            <a:xfrm>
              <a:off x="9710162" y="3674154"/>
              <a:ext cx="1452209" cy="48878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B858D961-8D03-52AE-CC10-BCD96F4273B3}"/>
                </a:ext>
              </a:extLst>
            </p:cNvPr>
            <p:cNvSpPr txBox="1"/>
            <p:nvPr/>
          </p:nvSpPr>
          <p:spPr>
            <a:xfrm>
              <a:off x="9967269" y="3668256"/>
              <a:ext cx="670429" cy="523220"/>
            </a:xfrm>
            <a:prstGeom prst="rect">
              <a:avLst/>
            </a:prstGeom>
            <a:noFill/>
            <a:ln>
              <a:noFill/>
            </a:ln>
          </p:spPr>
          <p:txBody>
            <a:bodyPr wrap="none" rtlCol="0">
              <a:spAutoFit/>
            </a:bodyPr>
            <a:lstStyle/>
            <a:p>
              <a:r>
                <a:rPr kumimoji="1" lang="ja-JP" altLang="en-US" sz="2800">
                  <a:solidFill>
                    <a:schemeClr val="bg1"/>
                  </a:solidFill>
                </a:rPr>
                <a:t>学習</a:t>
              </a:r>
              <a:endParaRPr kumimoji="1" lang="en-US" altLang="ja-JP" sz="2800" dirty="0">
                <a:solidFill>
                  <a:schemeClr val="bg1"/>
                </a:solidFill>
              </a:endParaRPr>
            </a:p>
          </p:txBody>
        </p:sp>
        <p:sp>
          <p:nvSpPr>
            <p:cNvPr id="11" name="角丸四角形 10">
              <a:extLst>
                <a:ext uri="{FF2B5EF4-FFF2-40B4-BE49-F238E27FC236}">
                  <a16:creationId xmlns:a16="http://schemas.microsoft.com/office/drawing/2014/main" id="{76F4BBF0-EBED-81FD-531B-6288AF7909A7}"/>
                </a:ext>
              </a:extLst>
            </p:cNvPr>
            <p:cNvSpPr/>
            <p:nvPr/>
          </p:nvSpPr>
          <p:spPr>
            <a:xfrm>
              <a:off x="13757711" y="3676332"/>
              <a:ext cx="1327310" cy="488784"/>
            </a:xfrm>
            <a:prstGeom prst="roundRect">
              <a:avLst/>
            </a:prstGeom>
            <a:solidFill>
              <a:schemeClr val="accent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7A2B11D9-723D-21FE-0A78-3B11BE962134}"/>
                </a:ext>
              </a:extLst>
            </p:cNvPr>
            <p:cNvSpPr txBox="1"/>
            <p:nvPr/>
          </p:nvSpPr>
          <p:spPr>
            <a:xfrm>
              <a:off x="13976288" y="3663685"/>
              <a:ext cx="902811" cy="523220"/>
            </a:xfrm>
            <a:prstGeom prst="rect">
              <a:avLst/>
            </a:prstGeom>
            <a:noFill/>
            <a:ln>
              <a:noFill/>
            </a:ln>
          </p:spPr>
          <p:txBody>
            <a:bodyPr wrap="none" rtlCol="0">
              <a:spAutoFit/>
            </a:bodyPr>
            <a:lstStyle/>
            <a:p>
              <a:r>
                <a:rPr kumimoji="1" lang="ja-JP" altLang="en-US" sz="2800">
                  <a:solidFill>
                    <a:schemeClr val="bg1"/>
                  </a:solidFill>
                </a:rPr>
                <a:t>予測</a:t>
              </a:r>
            </a:p>
          </p:txBody>
        </p:sp>
        <p:sp>
          <p:nvSpPr>
            <p:cNvPr id="30" name="テキスト ボックス 29">
              <a:extLst>
                <a:ext uri="{FF2B5EF4-FFF2-40B4-BE49-F238E27FC236}">
                  <a16:creationId xmlns:a16="http://schemas.microsoft.com/office/drawing/2014/main" id="{70F57557-4B0F-CAF0-22F5-0A64EE32784A}"/>
                </a:ext>
              </a:extLst>
            </p:cNvPr>
            <p:cNvSpPr txBox="1"/>
            <p:nvPr/>
          </p:nvSpPr>
          <p:spPr>
            <a:xfrm>
              <a:off x="8956732" y="6882782"/>
              <a:ext cx="2727181" cy="646331"/>
            </a:xfrm>
            <a:prstGeom prst="rect">
              <a:avLst/>
            </a:prstGeom>
            <a:solidFill>
              <a:schemeClr val="bg1"/>
            </a:solidFill>
            <a:ln w="28575">
              <a:solidFill>
                <a:schemeClr val="bg1">
                  <a:lumMod val="50000"/>
                </a:schemeClr>
              </a:solidFill>
            </a:ln>
          </p:spPr>
          <p:txBody>
            <a:bodyPr wrap="square" rtlCol="0">
              <a:spAutoFit/>
            </a:bodyPr>
            <a:lstStyle/>
            <a:p>
              <a:pPr algn="ctr"/>
              <a:r>
                <a:rPr kumimoji="1" lang="ja-JP" altLang="en-US"/>
                <a:t>基準点以前の特徴量</a:t>
              </a:r>
              <a:endParaRPr kumimoji="1" lang="en-US" altLang="ja-JP" dirty="0"/>
            </a:p>
            <a:p>
              <a:pPr algn="ctr"/>
              <a:r>
                <a:rPr kumimoji="1" lang="ja-JP" altLang="en-US">
                  <a:solidFill>
                    <a:srgbClr val="C00000"/>
                  </a:solidFill>
                </a:rPr>
                <a:t>変化の過程</a:t>
              </a:r>
              <a:r>
                <a:rPr kumimoji="1" lang="ja-JP" altLang="en-US"/>
                <a:t>も用いて予測</a:t>
              </a:r>
            </a:p>
          </p:txBody>
        </p:sp>
        <p:cxnSp>
          <p:nvCxnSpPr>
            <p:cNvPr id="33" name="直線矢印コネクタ 32">
              <a:extLst>
                <a:ext uri="{FF2B5EF4-FFF2-40B4-BE49-F238E27FC236}">
                  <a16:creationId xmlns:a16="http://schemas.microsoft.com/office/drawing/2014/main" id="{9421D93B-E7F1-215B-65C4-06B0873FF485}"/>
                </a:ext>
              </a:extLst>
            </p:cNvPr>
            <p:cNvCxnSpPr>
              <a:cxnSpLocks/>
            </p:cNvCxnSpPr>
            <p:nvPr/>
          </p:nvCxnSpPr>
          <p:spPr>
            <a:xfrm>
              <a:off x="11879616" y="5610814"/>
              <a:ext cx="1113890"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FC0998A4-BBB4-8DED-D644-9BE2E04DC96B}"/>
                </a:ext>
              </a:extLst>
            </p:cNvPr>
            <p:cNvSpPr txBox="1"/>
            <p:nvPr/>
          </p:nvSpPr>
          <p:spPr>
            <a:xfrm>
              <a:off x="12009777" y="5054157"/>
              <a:ext cx="800219" cy="461665"/>
            </a:xfrm>
            <a:prstGeom prst="rect">
              <a:avLst/>
            </a:prstGeom>
            <a:noFill/>
          </p:spPr>
          <p:txBody>
            <a:bodyPr wrap="none" rtlCol="0">
              <a:spAutoFit/>
            </a:bodyPr>
            <a:lstStyle/>
            <a:p>
              <a:r>
                <a:rPr kumimoji="1" lang="ja-JP" altLang="en-US" sz="2400"/>
                <a:t>予測</a:t>
              </a:r>
              <a:endParaRPr kumimoji="1" lang="en-US" altLang="ja-JP" sz="2400" dirty="0"/>
            </a:p>
          </p:txBody>
        </p:sp>
        <p:sp>
          <p:nvSpPr>
            <p:cNvPr id="55" name="テキスト ボックス 54">
              <a:extLst>
                <a:ext uri="{FF2B5EF4-FFF2-40B4-BE49-F238E27FC236}">
                  <a16:creationId xmlns:a16="http://schemas.microsoft.com/office/drawing/2014/main" id="{41F524B4-82F4-8A64-5261-5454ABFBBAE2}"/>
                </a:ext>
              </a:extLst>
            </p:cNvPr>
            <p:cNvSpPr txBox="1"/>
            <p:nvPr/>
          </p:nvSpPr>
          <p:spPr>
            <a:xfrm>
              <a:off x="11459131" y="6321801"/>
              <a:ext cx="1159694" cy="461665"/>
            </a:xfrm>
            <a:prstGeom prst="rect">
              <a:avLst/>
            </a:prstGeom>
            <a:solidFill>
              <a:schemeClr val="bg1"/>
            </a:solidFill>
          </p:spPr>
          <p:txBody>
            <a:bodyPr wrap="square" rtlCol="0">
              <a:spAutoFit/>
            </a:bodyPr>
            <a:lstStyle/>
            <a:p>
              <a:r>
                <a:rPr kumimoji="1" lang="ja-JP" altLang="en-US" sz="2400"/>
                <a:t>基準点</a:t>
              </a:r>
            </a:p>
          </p:txBody>
        </p:sp>
        <p:cxnSp>
          <p:nvCxnSpPr>
            <p:cNvPr id="63" name="直線コネクタ 62">
              <a:extLst>
                <a:ext uri="{FF2B5EF4-FFF2-40B4-BE49-F238E27FC236}">
                  <a16:creationId xmlns:a16="http://schemas.microsoft.com/office/drawing/2014/main" id="{B81E1BB0-9B5A-81BC-7C4D-EE3EA6C97888}"/>
                </a:ext>
              </a:extLst>
            </p:cNvPr>
            <p:cNvCxnSpPr>
              <a:cxnSpLocks/>
            </p:cNvCxnSpPr>
            <p:nvPr/>
          </p:nvCxnSpPr>
          <p:spPr>
            <a:xfrm>
              <a:off x="8709837" y="4696541"/>
              <a:ext cx="1000325" cy="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3A420165-9BC2-89F7-0742-6385A31A82FB}"/>
                </a:ext>
              </a:extLst>
            </p:cNvPr>
            <p:cNvCxnSpPr>
              <a:cxnSpLocks/>
            </p:cNvCxnSpPr>
            <p:nvPr/>
          </p:nvCxnSpPr>
          <p:spPr>
            <a:xfrm>
              <a:off x="8709837" y="7633918"/>
              <a:ext cx="1000325" cy="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5DD502AB-DCD5-FB54-0264-3CAD1BB0F904}"/>
                </a:ext>
              </a:extLst>
            </p:cNvPr>
            <p:cNvCxnSpPr>
              <a:cxnSpLocks/>
            </p:cNvCxnSpPr>
            <p:nvPr/>
          </p:nvCxnSpPr>
          <p:spPr>
            <a:xfrm flipV="1">
              <a:off x="8810557" y="6101883"/>
              <a:ext cx="2939236" cy="0"/>
            </a:xfrm>
            <a:prstGeom prst="straightConnector1">
              <a:avLst/>
            </a:prstGeom>
            <a:ln w="762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3" name="円/楕円 142">
              <a:extLst>
                <a:ext uri="{FF2B5EF4-FFF2-40B4-BE49-F238E27FC236}">
                  <a16:creationId xmlns:a16="http://schemas.microsoft.com/office/drawing/2014/main" id="{63602CCB-8EBD-CD14-4448-5F409821D1E8}"/>
                </a:ext>
              </a:extLst>
            </p:cNvPr>
            <p:cNvSpPr/>
            <p:nvPr/>
          </p:nvSpPr>
          <p:spPr>
            <a:xfrm>
              <a:off x="10717111" y="5932932"/>
              <a:ext cx="360000" cy="3600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円/楕円 143">
              <a:extLst>
                <a:ext uri="{FF2B5EF4-FFF2-40B4-BE49-F238E27FC236}">
                  <a16:creationId xmlns:a16="http://schemas.microsoft.com/office/drawing/2014/main" id="{36DD705A-46BE-5193-63B8-D6ABEA3F4B5F}"/>
                </a:ext>
              </a:extLst>
            </p:cNvPr>
            <p:cNvSpPr/>
            <p:nvPr/>
          </p:nvSpPr>
          <p:spPr>
            <a:xfrm>
              <a:off x="9734606" y="5932932"/>
              <a:ext cx="360000" cy="3600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7037AA4F-E8FD-6A7E-B993-ED8B1E0A7333}"/>
              </a:ext>
            </a:extLst>
          </p:cNvPr>
          <p:cNvGrpSpPr/>
          <p:nvPr/>
        </p:nvGrpSpPr>
        <p:grpSpPr>
          <a:xfrm>
            <a:off x="525865" y="3668256"/>
            <a:ext cx="7282330" cy="4063197"/>
            <a:chOff x="525865" y="3668256"/>
            <a:chExt cx="7282330" cy="4063197"/>
          </a:xfrm>
        </p:grpSpPr>
        <p:sp>
          <p:nvSpPr>
            <p:cNvPr id="72" name="正方形/長方形 71">
              <a:extLst>
                <a:ext uri="{FF2B5EF4-FFF2-40B4-BE49-F238E27FC236}">
                  <a16:creationId xmlns:a16="http://schemas.microsoft.com/office/drawing/2014/main" id="{21D159C2-C1BC-DD0F-B97B-D010E55FB5E0}"/>
                </a:ext>
              </a:extLst>
            </p:cNvPr>
            <p:cNvSpPr/>
            <p:nvPr/>
          </p:nvSpPr>
          <p:spPr>
            <a:xfrm>
              <a:off x="525865" y="4397819"/>
              <a:ext cx="3071477" cy="3333634"/>
            </a:xfrm>
            <a:prstGeom prst="rect">
              <a:avLst/>
            </a:prstGeom>
            <a:solidFill>
              <a:schemeClr val="bg1">
                <a:lumMod val="95000"/>
              </a:schemeClr>
            </a:solidFill>
            <a:ln w="38100">
              <a:solidFill>
                <a:srgbClr val="4C90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AA75C7C8-DFCD-BA4A-E530-95E34AE23AF3}"/>
                </a:ext>
              </a:extLst>
            </p:cNvPr>
            <p:cNvSpPr/>
            <p:nvPr/>
          </p:nvSpPr>
          <p:spPr>
            <a:xfrm>
              <a:off x="974916" y="4561220"/>
              <a:ext cx="2253858" cy="2243894"/>
            </a:xfrm>
            <a:prstGeom prst="ellipse">
              <a:avLst/>
            </a:prstGeom>
            <a:solidFill>
              <a:schemeClr val="bg1"/>
            </a:solidFill>
            <a:ln w="28575">
              <a:solidFill>
                <a:srgbClr val="4C90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6" name="直線コネクタ 125">
              <a:extLst>
                <a:ext uri="{FF2B5EF4-FFF2-40B4-BE49-F238E27FC236}">
                  <a16:creationId xmlns:a16="http://schemas.microsoft.com/office/drawing/2014/main" id="{6948CBB3-ABA7-AC71-6C9F-46410DE5FED6}"/>
                </a:ext>
              </a:extLst>
            </p:cNvPr>
            <p:cNvCxnSpPr>
              <a:cxnSpLocks/>
            </p:cNvCxnSpPr>
            <p:nvPr/>
          </p:nvCxnSpPr>
          <p:spPr>
            <a:xfrm>
              <a:off x="3625292" y="3747712"/>
              <a:ext cx="0" cy="39837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D91D02AE-3787-A39D-E98A-F6F290A3E71F}"/>
                </a:ext>
              </a:extLst>
            </p:cNvPr>
            <p:cNvCxnSpPr>
              <a:cxnSpLocks/>
              <a:stCxn id="47" idx="6"/>
            </p:cNvCxnSpPr>
            <p:nvPr/>
          </p:nvCxnSpPr>
          <p:spPr>
            <a:xfrm>
              <a:off x="3805292" y="6129867"/>
              <a:ext cx="40029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AC9E1C37-860B-224D-009D-725C3034E889}"/>
                </a:ext>
              </a:extLst>
            </p:cNvPr>
            <p:cNvCxnSpPr>
              <a:cxnSpLocks/>
            </p:cNvCxnSpPr>
            <p:nvPr/>
          </p:nvCxnSpPr>
          <p:spPr>
            <a:xfrm>
              <a:off x="6179921" y="4758265"/>
              <a:ext cx="0" cy="2709334"/>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D43C4C9D-5EE7-36E3-C8C5-D6A9BC5ADEE7}"/>
                </a:ext>
              </a:extLst>
            </p:cNvPr>
            <p:cNvSpPr txBox="1"/>
            <p:nvPr/>
          </p:nvSpPr>
          <p:spPr>
            <a:xfrm>
              <a:off x="6542652" y="4876006"/>
              <a:ext cx="902811" cy="523220"/>
            </a:xfrm>
            <a:prstGeom prst="rect">
              <a:avLst/>
            </a:prstGeom>
            <a:noFill/>
          </p:spPr>
          <p:txBody>
            <a:bodyPr wrap="square" rtlCol="0">
              <a:spAutoFit/>
            </a:bodyPr>
            <a:lstStyle/>
            <a:p>
              <a:r>
                <a:rPr kumimoji="1" lang="ja-JP" altLang="en-US" sz="2800"/>
                <a:t>予測</a:t>
              </a:r>
              <a:endParaRPr kumimoji="1" lang="en-US" altLang="ja-JP" sz="2800" dirty="0"/>
            </a:p>
          </p:txBody>
        </p:sp>
        <p:cxnSp>
          <p:nvCxnSpPr>
            <p:cNvPr id="32" name="直線矢印コネクタ 31">
              <a:extLst>
                <a:ext uri="{FF2B5EF4-FFF2-40B4-BE49-F238E27FC236}">
                  <a16:creationId xmlns:a16="http://schemas.microsoft.com/office/drawing/2014/main" id="{DB7BE3B0-F740-2E60-C5CF-F7A709CCBC2B}"/>
                </a:ext>
              </a:extLst>
            </p:cNvPr>
            <p:cNvCxnSpPr>
              <a:cxnSpLocks/>
            </p:cNvCxnSpPr>
            <p:nvPr/>
          </p:nvCxnSpPr>
          <p:spPr>
            <a:xfrm>
              <a:off x="6179921" y="5435599"/>
              <a:ext cx="162827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C0F8BCB2-BBEA-FE1F-0C04-4E154E8C20E2}"/>
                </a:ext>
              </a:extLst>
            </p:cNvPr>
            <p:cNvSpPr txBox="1"/>
            <p:nvPr/>
          </p:nvSpPr>
          <p:spPr>
            <a:xfrm>
              <a:off x="5585848" y="4173321"/>
              <a:ext cx="1188146" cy="523220"/>
            </a:xfrm>
            <a:prstGeom prst="rect">
              <a:avLst/>
            </a:prstGeom>
            <a:noFill/>
          </p:spPr>
          <p:txBody>
            <a:bodyPr wrap="square" rtlCol="0">
              <a:spAutoFit/>
            </a:bodyPr>
            <a:lstStyle/>
            <a:p>
              <a:r>
                <a:rPr kumimoji="1" lang="en-US" altLang="ja-JP" sz="2800" dirty="0"/>
                <a:t>12</a:t>
              </a:r>
              <a:r>
                <a:rPr kumimoji="1" lang="ja-JP" altLang="en-US" sz="2800"/>
                <a:t>ヶ月</a:t>
              </a:r>
              <a:endParaRPr kumimoji="1" lang="en-US" altLang="ja-JP" sz="2800" dirty="0"/>
            </a:p>
          </p:txBody>
        </p:sp>
        <p:grpSp>
          <p:nvGrpSpPr>
            <p:cNvPr id="5" name="グループ化 4">
              <a:extLst>
                <a:ext uri="{FF2B5EF4-FFF2-40B4-BE49-F238E27FC236}">
                  <a16:creationId xmlns:a16="http://schemas.microsoft.com/office/drawing/2014/main" id="{9539FD3D-16D2-EBC5-1B0E-219FB2A4FF2D}"/>
                </a:ext>
              </a:extLst>
            </p:cNvPr>
            <p:cNvGrpSpPr/>
            <p:nvPr/>
          </p:nvGrpSpPr>
          <p:grpSpPr>
            <a:xfrm>
              <a:off x="5093696" y="3668256"/>
              <a:ext cx="1327310" cy="523220"/>
              <a:chOff x="5093696" y="3668256"/>
              <a:chExt cx="1327310" cy="523220"/>
            </a:xfrm>
          </p:grpSpPr>
          <p:sp>
            <p:nvSpPr>
              <p:cNvPr id="129" name="角丸四角形 128">
                <a:extLst>
                  <a:ext uri="{FF2B5EF4-FFF2-40B4-BE49-F238E27FC236}">
                    <a16:creationId xmlns:a16="http://schemas.microsoft.com/office/drawing/2014/main" id="{1CAD1750-9A4D-6048-44FC-B5C97376BDB1}"/>
                  </a:ext>
                </a:extLst>
              </p:cNvPr>
              <p:cNvSpPr/>
              <p:nvPr/>
            </p:nvSpPr>
            <p:spPr>
              <a:xfrm>
                <a:off x="5093696" y="3680903"/>
                <a:ext cx="1327310" cy="488784"/>
              </a:xfrm>
              <a:prstGeom prst="roundRect">
                <a:avLst/>
              </a:prstGeom>
              <a:solidFill>
                <a:schemeClr val="accent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テキスト ボックス 127">
                <a:extLst>
                  <a:ext uri="{FF2B5EF4-FFF2-40B4-BE49-F238E27FC236}">
                    <a16:creationId xmlns:a16="http://schemas.microsoft.com/office/drawing/2014/main" id="{B63D58DC-F5D8-7B8F-2CBA-8FA4D4090A74}"/>
                  </a:ext>
                </a:extLst>
              </p:cNvPr>
              <p:cNvSpPr txBox="1"/>
              <p:nvPr/>
            </p:nvSpPr>
            <p:spPr>
              <a:xfrm>
                <a:off x="5312273" y="3668256"/>
                <a:ext cx="902811" cy="523220"/>
              </a:xfrm>
              <a:prstGeom prst="rect">
                <a:avLst/>
              </a:prstGeom>
              <a:noFill/>
              <a:ln>
                <a:noFill/>
              </a:ln>
            </p:spPr>
            <p:txBody>
              <a:bodyPr wrap="none" rtlCol="0">
                <a:spAutoFit/>
              </a:bodyPr>
              <a:lstStyle/>
              <a:p>
                <a:r>
                  <a:rPr kumimoji="1" lang="ja-JP" altLang="en-US" sz="2800">
                    <a:solidFill>
                      <a:schemeClr val="bg1"/>
                    </a:solidFill>
                  </a:rPr>
                  <a:t>予測</a:t>
                </a:r>
              </a:p>
            </p:txBody>
          </p:sp>
        </p:grpSp>
        <p:grpSp>
          <p:nvGrpSpPr>
            <p:cNvPr id="134" name="グループ化 133">
              <a:extLst>
                <a:ext uri="{FF2B5EF4-FFF2-40B4-BE49-F238E27FC236}">
                  <a16:creationId xmlns:a16="http://schemas.microsoft.com/office/drawing/2014/main" id="{CBC68C13-0AC2-D754-A4CC-260FF228EC29}"/>
                </a:ext>
              </a:extLst>
            </p:cNvPr>
            <p:cNvGrpSpPr/>
            <p:nvPr/>
          </p:nvGrpSpPr>
          <p:grpSpPr>
            <a:xfrm>
              <a:off x="1376039" y="3694662"/>
              <a:ext cx="1452209" cy="523220"/>
              <a:chOff x="9402038" y="3676719"/>
              <a:chExt cx="1955568" cy="523220"/>
            </a:xfrm>
            <a:solidFill>
              <a:schemeClr val="accent2"/>
            </a:solidFill>
          </p:grpSpPr>
          <p:sp>
            <p:nvSpPr>
              <p:cNvPr id="135" name="角丸四角形 134">
                <a:extLst>
                  <a:ext uri="{FF2B5EF4-FFF2-40B4-BE49-F238E27FC236}">
                    <a16:creationId xmlns:a16="http://schemas.microsoft.com/office/drawing/2014/main" id="{53366BAB-8847-C0A9-3F1B-5943BEAF7D74}"/>
                  </a:ext>
                </a:extLst>
              </p:cNvPr>
              <p:cNvSpPr/>
              <p:nvPr/>
            </p:nvSpPr>
            <p:spPr>
              <a:xfrm>
                <a:off x="9402038" y="3682617"/>
                <a:ext cx="1955568" cy="488784"/>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6" name="テキスト ボックス 135">
                <a:extLst>
                  <a:ext uri="{FF2B5EF4-FFF2-40B4-BE49-F238E27FC236}">
                    <a16:creationId xmlns:a16="http://schemas.microsoft.com/office/drawing/2014/main" id="{E1AC3B4B-2216-82FC-3A0C-989E7AACA16D}"/>
                  </a:ext>
                </a:extLst>
              </p:cNvPr>
              <p:cNvSpPr txBox="1"/>
              <p:nvPr/>
            </p:nvSpPr>
            <p:spPr>
              <a:xfrm>
                <a:off x="9748262" y="3676719"/>
                <a:ext cx="902810" cy="523220"/>
              </a:xfrm>
              <a:prstGeom prst="rect">
                <a:avLst/>
              </a:prstGeom>
              <a:noFill/>
              <a:ln>
                <a:noFill/>
              </a:ln>
            </p:spPr>
            <p:txBody>
              <a:bodyPr wrap="none" rtlCol="0">
                <a:spAutoFit/>
              </a:bodyPr>
              <a:lstStyle/>
              <a:p>
                <a:r>
                  <a:rPr kumimoji="1" lang="ja-JP" altLang="en-US" sz="2800">
                    <a:solidFill>
                      <a:schemeClr val="bg1"/>
                    </a:solidFill>
                  </a:rPr>
                  <a:t>学習</a:t>
                </a:r>
                <a:endParaRPr kumimoji="1" lang="en-US" altLang="ja-JP" sz="2800" dirty="0">
                  <a:solidFill>
                    <a:schemeClr val="bg1"/>
                  </a:solidFill>
                </a:endParaRPr>
              </a:p>
            </p:txBody>
          </p:sp>
        </p:grpSp>
        <p:sp>
          <p:nvSpPr>
            <p:cNvPr id="140" name="円/楕円 139">
              <a:extLst>
                <a:ext uri="{FF2B5EF4-FFF2-40B4-BE49-F238E27FC236}">
                  <a16:creationId xmlns:a16="http://schemas.microsoft.com/office/drawing/2014/main" id="{D67CDE93-A61F-B8D9-D068-DB7F01948503}"/>
                </a:ext>
              </a:extLst>
            </p:cNvPr>
            <p:cNvSpPr/>
            <p:nvPr/>
          </p:nvSpPr>
          <p:spPr>
            <a:xfrm>
              <a:off x="6759561" y="5949867"/>
              <a:ext cx="360000" cy="3600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0DE01D71-404F-9243-386E-926ADBA7CB2A}"/>
                </a:ext>
              </a:extLst>
            </p:cNvPr>
            <p:cNvSpPr/>
            <p:nvPr/>
          </p:nvSpPr>
          <p:spPr>
            <a:xfrm>
              <a:off x="2024067" y="5990121"/>
              <a:ext cx="327172" cy="327172"/>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5" name="円/楕円 14">
              <a:extLst>
                <a:ext uri="{FF2B5EF4-FFF2-40B4-BE49-F238E27FC236}">
                  <a16:creationId xmlns:a16="http://schemas.microsoft.com/office/drawing/2014/main" id="{5CF3B592-8FB9-FD4E-C2B1-AA5B71C51DE6}"/>
                </a:ext>
              </a:extLst>
            </p:cNvPr>
            <p:cNvSpPr/>
            <p:nvPr/>
          </p:nvSpPr>
          <p:spPr>
            <a:xfrm>
              <a:off x="1492103" y="5489871"/>
              <a:ext cx="327172" cy="327172"/>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7" name="円/楕円 16">
              <a:extLst>
                <a:ext uri="{FF2B5EF4-FFF2-40B4-BE49-F238E27FC236}">
                  <a16:creationId xmlns:a16="http://schemas.microsoft.com/office/drawing/2014/main" id="{12452705-8142-07E5-5C5F-633CE6E3D92E}"/>
                </a:ext>
              </a:extLst>
            </p:cNvPr>
            <p:cNvSpPr/>
            <p:nvPr/>
          </p:nvSpPr>
          <p:spPr>
            <a:xfrm>
              <a:off x="2110806" y="5024373"/>
              <a:ext cx="327172" cy="327172"/>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3" name="テキスト ボックス 22">
              <a:extLst>
                <a:ext uri="{FF2B5EF4-FFF2-40B4-BE49-F238E27FC236}">
                  <a16:creationId xmlns:a16="http://schemas.microsoft.com/office/drawing/2014/main" id="{DF04A292-84BE-FEDD-4577-685BA0D59113}"/>
                </a:ext>
              </a:extLst>
            </p:cNvPr>
            <p:cNvSpPr txBox="1"/>
            <p:nvPr/>
          </p:nvSpPr>
          <p:spPr>
            <a:xfrm>
              <a:off x="663598" y="6923359"/>
              <a:ext cx="2778325" cy="646331"/>
            </a:xfrm>
            <a:prstGeom prst="rect">
              <a:avLst/>
            </a:prstGeom>
            <a:solidFill>
              <a:schemeClr val="bg1"/>
            </a:solidFill>
            <a:ln w="28575">
              <a:solidFill>
                <a:schemeClr val="bg1">
                  <a:lumMod val="50000"/>
                </a:schemeClr>
              </a:solidFill>
            </a:ln>
          </p:spPr>
          <p:txBody>
            <a:bodyPr wrap="none" rtlCol="0">
              <a:spAutoFit/>
            </a:bodyPr>
            <a:lstStyle/>
            <a:p>
              <a:pPr algn="ctr"/>
              <a:r>
                <a:rPr kumimoji="1" lang="ja-JP" altLang="en-US"/>
                <a:t>基準点以前の特徴量の</a:t>
              </a:r>
              <a:endParaRPr kumimoji="1" lang="en-US" altLang="ja-JP" dirty="0"/>
            </a:p>
            <a:p>
              <a:pPr algn="ctr"/>
              <a:r>
                <a:rPr kumimoji="1" lang="ja-JP" altLang="en-US">
                  <a:solidFill>
                    <a:srgbClr val="C00000"/>
                  </a:solidFill>
                </a:rPr>
                <a:t>累積</a:t>
              </a:r>
              <a:r>
                <a:rPr kumimoji="1" lang="en-US" altLang="ja-JP" dirty="0">
                  <a:solidFill>
                    <a:srgbClr val="C00000"/>
                  </a:solidFill>
                </a:rPr>
                <a:t>/</a:t>
              </a:r>
              <a:r>
                <a:rPr kumimoji="1" lang="ja-JP" altLang="en-US">
                  <a:solidFill>
                    <a:srgbClr val="C00000"/>
                  </a:solidFill>
                </a:rPr>
                <a:t>平均値</a:t>
              </a:r>
              <a:r>
                <a:rPr kumimoji="1" lang="ja-JP" altLang="en-US"/>
                <a:t>を用いて予測</a:t>
              </a:r>
            </a:p>
          </p:txBody>
        </p:sp>
        <p:sp>
          <p:nvSpPr>
            <p:cNvPr id="47" name="円/楕円 46">
              <a:extLst>
                <a:ext uri="{FF2B5EF4-FFF2-40B4-BE49-F238E27FC236}">
                  <a16:creationId xmlns:a16="http://schemas.microsoft.com/office/drawing/2014/main" id="{CD602060-C755-4CCF-0F12-15210EA5858E}"/>
                </a:ext>
              </a:extLst>
            </p:cNvPr>
            <p:cNvSpPr/>
            <p:nvPr/>
          </p:nvSpPr>
          <p:spPr>
            <a:xfrm>
              <a:off x="3445292" y="5949867"/>
              <a:ext cx="360000" cy="360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8514579B-3FF1-7D49-D24C-544C65FD662A}"/>
                </a:ext>
              </a:extLst>
            </p:cNvPr>
            <p:cNvSpPr/>
            <p:nvPr/>
          </p:nvSpPr>
          <p:spPr>
            <a:xfrm>
              <a:off x="3085498" y="6391535"/>
              <a:ext cx="965003" cy="4519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24C3CEF6-63E3-04CA-CF60-625D877321FE}"/>
                </a:ext>
              </a:extLst>
            </p:cNvPr>
            <p:cNvSpPr/>
            <p:nvPr/>
          </p:nvSpPr>
          <p:spPr>
            <a:xfrm>
              <a:off x="4077452" y="5630054"/>
              <a:ext cx="1739739" cy="1077651"/>
            </a:xfrm>
            <a:prstGeom prst="rect">
              <a:avLst/>
            </a:prstGeom>
            <a:solidFill>
              <a:schemeClr val="bg1">
                <a:lumMod val="9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46B4E117-EC7C-061C-36E5-005B138BA441}"/>
                </a:ext>
              </a:extLst>
            </p:cNvPr>
            <p:cNvSpPr txBox="1"/>
            <p:nvPr/>
          </p:nvSpPr>
          <p:spPr>
            <a:xfrm>
              <a:off x="4434320" y="5622061"/>
              <a:ext cx="1031051" cy="1107996"/>
            </a:xfrm>
            <a:prstGeom prst="rect">
              <a:avLst/>
            </a:prstGeom>
            <a:noFill/>
            <a:ln>
              <a:noFill/>
            </a:ln>
          </p:spPr>
          <p:txBody>
            <a:bodyPr wrap="none" rtlCol="0">
              <a:spAutoFit/>
            </a:bodyPr>
            <a:lstStyle/>
            <a:p>
              <a:r>
                <a:rPr kumimoji="1" lang="ja-JP" altLang="en-US" sz="6600">
                  <a:solidFill>
                    <a:schemeClr val="bg1">
                      <a:lumMod val="50000"/>
                    </a:schemeClr>
                  </a:solidFill>
                  <a:latin typeface="Hiragino Sans W4" panose="020B0400000000000000" pitchFamily="34" charset="-128"/>
                  <a:ea typeface="Hiragino Sans W4" panose="020B0400000000000000" pitchFamily="34" charset="-128"/>
                  <a:cs typeface="Baloo Bhaijaan" panose="03080902040302020200" pitchFamily="66" charset="-78"/>
                </a:rPr>
                <a:t>？</a:t>
              </a:r>
            </a:p>
          </p:txBody>
        </p:sp>
        <p:cxnSp>
          <p:nvCxnSpPr>
            <p:cNvPr id="43" name="直線矢印コネクタ 42">
              <a:extLst>
                <a:ext uri="{FF2B5EF4-FFF2-40B4-BE49-F238E27FC236}">
                  <a16:creationId xmlns:a16="http://schemas.microsoft.com/office/drawing/2014/main" id="{CDE37878-C873-11FD-63C9-45AB07957257}"/>
                </a:ext>
              </a:extLst>
            </p:cNvPr>
            <p:cNvCxnSpPr>
              <a:cxnSpLocks/>
            </p:cNvCxnSpPr>
            <p:nvPr/>
          </p:nvCxnSpPr>
          <p:spPr>
            <a:xfrm flipV="1">
              <a:off x="3625292" y="5435599"/>
              <a:ext cx="2554629" cy="11338"/>
            </a:xfrm>
            <a:prstGeom prst="straightConnector1">
              <a:avLst/>
            </a:prstGeom>
            <a:ln w="57150">
              <a:solidFill>
                <a:srgbClr val="C0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BCB4D8BA-3A6B-E76B-12EE-46999576BBD1}"/>
                </a:ext>
              </a:extLst>
            </p:cNvPr>
            <p:cNvSpPr txBox="1"/>
            <p:nvPr/>
          </p:nvSpPr>
          <p:spPr>
            <a:xfrm>
              <a:off x="4190250" y="5012314"/>
              <a:ext cx="1367682" cy="400110"/>
            </a:xfrm>
            <a:prstGeom prst="rect">
              <a:avLst/>
            </a:prstGeom>
            <a:noFill/>
          </p:spPr>
          <p:txBody>
            <a:bodyPr wrap="none" rtlCol="0">
              <a:spAutoFit/>
            </a:bodyPr>
            <a:lstStyle/>
            <a:p>
              <a:r>
                <a:rPr kumimoji="1" lang="ja-JP" altLang="en-US" sz="2000"/>
                <a:t>予測しない</a:t>
              </a:r>
            </a:p>
          </p:txBody>
        </p:sp>
        <p:sp>
          <p:nvSpPr>
            <p:cNvPr id="66" name="テキスト ボックス 65">
              <a:extLst>
                <a:ext uri="{FF2B5EF4-FFF2-40B4-BE49-F238E27FC236}">
                  <a16:creationId xmlns:a16="http://schemas.microsoft.com/office/drawing/2014/main" id="{6C9A59F2-3FEA-A583-797A-8895D2F1CCAA}"/>
                </a:ext>
              </a:extLst>
            </p:cNvPr>
            <p:cNvSpPr txBox="1"/>
            <p:nvPr/>
          </p:nvSpPr>
          <p:spPr>
            <a:xfrm>
              <a:off x="3096151" y="6343449"/>
              <a:ext cx="1135715" cy="461665"/>
            </a:xfrm>
            <a:prstGeom prst="rect">
              <a:avLst/>
            </a:prstGeom>
            <a:noFill/>
            <a:ln>
              <a:noFill/>
            </a:ln>
          </p:spPr>
          <p:txBody>
            <a:bodyPr wrap="square" rtlCol="0">
              <a:spAutoFit/>
            </a:bodyPr>
            <a:lstStyle/>
            <a:p>
              <a:r>
                <a:rPr kumimoji="1" lang="ja-JP" altLang="en-US" sz="2400"/>
                <a:t>基準点</a:t>
              </a:r>
            </a:p>
          </p:txBody>
        </p:sp>
      </p:grpSp>
      <p:cxnSp>
        <p:nvCxnSpPr>
          <p:cNvPr id="52" name="直線コネクタ 51">
            <a:extLst>
              <a:ext uri="{FF2B5EF4-FFF2-40B4-BE49-F238E27FC236}">
                <a16:creationId xmlns:a16="http://schemas.microsoft.com/office/drawing/2014/main" id="{4EB276EB-FB81-93AC-1E2A-03A8D92E1B14}"/>
              </a:ext>
            </a:extLst>
          </p:cNvPr>
          <p:cNvCxnSpPr/>
          <p:nvPr/>
        </p:nvCxnSpPr>
        <p:spPr>
          <a:xfrm>
            <a:off x="8302752" y="2303545"/>
            <a:ext cx="0" cy="6462165"/>
          </a:xfrm>
          <a:prstGeom prst="line">
            <a:avLst/>
          </a:prstGeom>
          <a:ln w="381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494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9D292-7A01-3FD4-044F-1129A344D9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D300E1-3523-C094-876C-7C3FB4B3BFBF}"/>
              </a:ext>
            </a:extLst>
          </p:cNvPr>
          <p:cNvSpPr>
            <a:spLocks noGrp="1"/>
          </p:cNvSpPr>
          <p:nvPr>
            <p:ph type="title"/>
          </p:nvPr>
        </p:nvSpPr>
        <p:spPr/>
        <p:txBody>
          <a:bodyPr/>
          <a:lstStyle/>
          <a:p>
            <a:r>
              <a:rPr kumimoji="1" lang="ja-JP" altLang="en-US"/>
              <a:t>従来研究との予測する対象の粒度の違い</a:t>
            </a:r>
          </a:p>
        </p:txBody>
      </p:sp>
      <p:sp>
        <p:nvSpPr>
          <p:cNvPr id="3" name="テキスト プレースホルダー 2">
            <a:extLst>
              <a:ext uri="{FF2B5EF4-FFF2-40B4-BE49-F238E27FC236}">
                <a16:creationId xmlns:a16="http://schemas.microsoft.com/office/drawing/2014/main" id="{3072EA11-5C55-8641-5800-E1B62B9B8C00}"/>
              </a:ext>
            </a:extLst>
          </p:cNvPr>
          <p:cNvSpPr>
            <a:spLocks noGrp="1"/>
          </p:cNvSpPr>
          <p:nvPr>
            <p:ph type="body" sz="quarter" idx="13"/>
          </p:nvPr>
        </p:nvSpPr>
        <p:spPr>
          <a:xfrm>
            <a:off x="576000" y="2160000"/>
            <a:ext cx="7232196" cy="2628412"/>
          </a:xfrm>
        </p:spPr>
        <p:txBody>
          <a:bodyPr/>
          <a:lstStyle/>
          <a:p>
            <a:r>
              <a:rPr kumimoji="1" lang="ja-JP" altLang="en-US"/>
              <a:t>従来研究</a:t>
            </a:r>
            <a:r>
              <a:rPr kumimoji="1" lang="en-US" altLang="ja-JP" dirty="0"/>
              <a:t> </a:t>
            </a:r>
            <a:r>
              <a:rPr kumimoji="1" lang="en-US" altLang="ja-JP" sz="2800" b="0" i="0" u="none" strike="noStrike" kern="1200" cap="none" spc="0" normalizeH="0" baseline="0" noProof="0" dirty="0">
                <a:ln>
                  <a:noFill/>
                </a:ln>
                <a:solidFill>
                  <a:srgbClr val="26272A">
                    <a:lumMod val="75000"/>
                    <a:lumOff val="25000"/>
                  </a:srgbClr>
                </a:solidFill>
                <a:effectLst/>
                <a:uLnTx/>
                <a:uFillTx/>
                <a:latin typeface="MS PGothic" panose="020B0600070205080204" pitchFamily="34" charset="-128"/>
                <a:ea typeface="MS PGothic" panose="020B0600070205080204" pitchFamily="34" charset="-128"/>
                <a:cs typeface="+mn-cs"/>
              </a:rPr>
              <a:t>: </a:t>
            </a:r>
            <a:r>
              <a:rPr kumimoji="1" lang="ja-JP" altLang="en-US" sz="2800" b="0" i="0" u="none" strike="noStrike" kern="1200" cap="none" spc="0" normalizeH="0" baseline="0" noProof="0">
                <a:ln>
                  <a:noFill/>
                </a:ln>
                <a:solidFill>
                  <a:srgbClr val="26272A">
                    <a:lumMod val="75000"/>
                    <a:lumOff val="25000"/>
                  </a:srgbClr>
                </a:solidFill>
                <a:effectLst/>
                <a:uLnTx/>
                <a:uFillTx/>
                <a:latin typeface="MS PGothic" panose="020B0600070205080204" pitchFamily="34" charset="-128"/>
                <a:ea typeface="MS PGothic" panose="020B0600070205080204" pitchFamily="34" charset="-128"/>
                <a:cs typeface="+mn-cs"/>
              </a:rPr>
              <a:t>ランダムフォレスト</a:t>
            </a:r>
            <a:r>
              <a:rPr kumimoji="1" lang="en-US" altLang="ja-JP" sz="2800" b="0" i="0" u="none" strike="noStrike" kern="1200" cap="none" spc="0" normalizeH="0" baseline="0" noProof="0" dirty="0">
                <a:ln>
                  <a:noFill/>
                </a:ln>
                <a:solidFill>
                  <a:srgbClr val="26272A">
                    <a:lumMod val="75000"/>
                    <a:lumOff val="25000"/>
                  </a:srgbClr>
                </a:solidFill>
                <a:effectLst/>
                <a:uLnTx/>
                <a:uFillTx/>
                <a:latin typeface="MS PGothic" panose="020B0600070205080204" pitchFamily="34" charset="-128"/>
                <a:ea typeface="MS PGothic" panose="020B0600070205080204" pitchFamily="34" charset="-128"/>
                <a:cs typeface="+mn-cs"/>
              </a:rPr>
              <a:t>(RF)</a:t>
            </a:r>
            <a:r>
              <a:rPr kumimoji="1" lang="ja-JP" altLang="en-US" sz="2800" b="0" i="0" u="none" strike="noStrike" kern="1200" cap="none" spc="0" normalizeH="0" baseline="0" noProof="0">
                <a:ln>
                  <a:noFill/>
                </a:ln>
                <a:solidFill>
                  <a:srgbClr val="26272A">
                    <a:lumMod val="75000"/>
                    <a:lumOff val="25000"/>
                  </a:srgbClr>
                </a:solidFill>
                <a:effectLst/>
                <a:uLnTx/>
                <a:uFillTx/>
                <a:latin typeface="MS PGothic" panose="020B0600070205080204" pitchFamily="34" charset="-128"/>
                <a:ea typeface="MS PGothic" panose="020B0600070205080204" pitchFamily="34" charset="-128"/>
                <a:cs typeface="+mn-cs"/>
              </a:rPr>
              <a:t>が主流</a:t>
            </a:r>
            <a:endParaRPr kumimoji="1" lang="en-US" altLang="ja-JP" dirty="0"/>
          </a:p>
          <a:p>
            <a:pPr lvl="1"/>
            <a:r>
              <a:rPr lang="ja-JP" altLang="en-US">
                <a:solidFill>
                  <a:schemeClr val="bg1">
                    <a:lumMod val="50000"/>
                  </a:schemeClr>
                </a:solidFill>
              </a:rPr>
              <a:t>特定期間以降の貢献の有無を予測</a:t>
            </a:r>
            <a:endParaRPr lang="en-US" altLang="ja-JP" dirty="0">
              <a:solidFill>
                <a:schemeClr val="bg1">
                  <a:lumMod val="50000"/>
                </a:schemeClr>
              </a:solidFill>
            </a:endParaRPr>
          </a:p>
          <a:p>
            <a:pPr lvl="1"/>
            <a:r>
              <a:rPr lang="ja-JP" altLang="en-US"/>
              <a:t>開発者単位で継続を予測</a:t>
            </a:r>
            <a:endParaRPr lang="en-US" altLang="ja-JP" dirty="0"/>
          </a:p>
          <a:p>
            <a:pPr lvl="1"/>
            <a:endParaRPr lang="en-US" altLang="ja-JP" dirty="0">
              <a:solidFill>
                <a:schemeClr val="bg1">
                  <a:lumMod val="50000"/>
                </a:schemeClr>
              </a:solidFill>
            </a:endParaRPr>
          </a:p>
        </p:txBody>
      </p:sp>
      <p:sp>
        <p:nvSpPr>
          <p:cNvPr id="4" name="スライド番号プレースホルダー 3">
            <a:extLst>
              <a:ext uri="{FF2B5EF4-FFF2-40B4-BE49-F238E27FC236}">
                <a16:creationId xmlns:a16="http://schemas.microsoft.com/office/drawing/2014/main" id="{134795E8-18FB-DEF8-FA71-17F88086A5BC}"/>
              </a:ext>
            </a:extLst>
          </p:cNvPr>
          <p:cNvSpPr>
            <a:spLocks noGrp="1"/>
          </p:cNvSpPr>
          <p:nvPr>
            <p:ph type="sldNum" sz="quarter" idx="12"/>
          </p:nvPr>
        </p:nvSpPr>
        <p:spPr/>
        <p:txBody>
          <a:bodyPr/>
          <a:lstStyle/>
          <a:p>
            <a:fld id="{85D74467-FFC2-5C49-A08A-98A9FE9BCA53}" type="slidenum">
              <a:rPr kumimoji="1" lang="ja-JP" altLang="en-US" smtClean="0"/>
              <a:pPr/>
              <a:t>6</a:t>
            </a:fld>
            <a:endParaRPr kumimoji="1" lang="ja-JP" altLang="en-US"/>
          </a:p>
        </p:txBody>
      </p:sp>
      <p:sp>
        <p:nvSpPr>
          <p:cNvPr id="7" name="テキスト プレースホルダー 2">
            <a:extLst>
              <a:ext uri="{FF2B5EF4-FFF2-40B4-BE49-F238E27FC236}">
                <a16:creationId xmlns:a16="http://schemas.microsoft.com/office/drawing/2014/main" id="{BC02D08B-7ED1-81B8-5196-C7EE933AEA38}"/>
              </a:ext>
            </a:extLst>
          </p:cNvPr>
          <p:cNvSpPr txBox="1">
            <a:spLocks/>
          </p:cNvSpPr>
          <p:nvPr/>
        </p:nvSpPr>
        <p:spPr>
          <a:xfrm>
            <a:off x="8754108" y="2160000"/>
            <a:ext cx="8077755" cy="1934889"/>
          </a:xfrm>
          <a:prstGeom prst="rect">
            <a:avLst/>
          </a:prstGeom>
        </p:spPr>
        <p:txBody>
          <a:bodyPr wrap="square" lIns="0" tIns="0" rIns="0" bIns="0">
            <a:spAutoFit/>
          </a:bodyPr>
          <a:lstStyle>
            <a:lvl1pPr marL="360000" indent="-360000" algn="l" defTabSz="1300277" rtl="0" eaLnBrk="1" latinLnBrk="0" hangingPunct="1">
              <a:lnSpc>
                <a:spcPct val="120000"/>
              </a:lnSpc>
              <a:spcBef>
                <a:spcPts val="2250"/>
              </a:spcBef>
              <a:buClr>
                <a:schemeClr val="tx1">
                  <a:lumMod val="25000"/>
                  <a:lumOff val="75000"/>
                </a:schemeClr>
              </a:buClr>
              <a:buSzPct val="125000"/>
              <a:buFont typeface="システムフォント（レギュラー）"/>
              <a:buChar char="▎"/>
              <a:defRPr kumimoji="1" sz="3600" kern="1200">
                <a:solidFill>
                  <a:schemeClr val="tx1"/>
                </a:solidFill>
                <a:latin typeface="MS PGothic" panose="020B0600070205080204" pitchFamily="34" charset="-128"/>
                <a:ea typeface="MS PGothic" panose="020B0600070205080204" pitchFamily="34" charset="-128"/>
                <a:cs typeface="+mn-cs"/>
              </a:defRPr>
            </a:lvl1pPr>
            <a:lvl2pPr marL="900000" indent="-360000" algn="l" defTabSz="1300277" rtl="0" eaLnBrk="1" latinLnBrk="0" hangingPunct="1">
              <a:lnSpc>
                <a:spcPct val="120000"/>
              </a:lnSpc>
              <a:spcBef>
                <a:spcPts val="500"/>
              </a:spcBef>
              <a:spcAft>
                <a:spcPts val="250"/>
              </a:spcAft>
              <a:buSzPct val="75000"/>
              <a:buFont typeface="システムフォント（レギュラー）"/>
              <a:buChar char="▪"/>
              <a:defRPr kumimoji="1" sz="3200" kern="1200">
                <a:solidFill>
                  <a:schemeClr val="tx1"/>
                </a:solidFill>
                <a:latin typeface="MS PGothic" panose="020B0600070205080204" pitchFamily="34" charset="-128"/>
                <a:ea typeface="MS PGothic" panose="020B0600070205080204" pitchFamily="34" charset="-128"/>
                <a:cs typeface="+mn-cs"/>
              </a:defRPr>
            </a:lvl2pPr>
            <a:lvl3pPr marL="1170000" indent="-360000" algn="l" defTabSz="1300277" rtl="0" eaLnBrk="1" latinLnBrk="0" hangingPunct="1">
              <a:lnSpc>
                <a:spcPct val="120000"/>
              </a:lnSpc>
              <a:spcBef>
                <a:spcPts val="0"/>
              </a:spcBef>
              <a:spcAft>
                <a:spcPts val="500"/>
              </a:spcAft>
              <a:buFont typeface="システムフォント（レギュラー）"/>
              <a:buChar char="▸"/>
              <a:defRPr kumimoji="1" sz="2800" kern="1200">
                <a:solidFill>
                  <a:schemeClr val="tx1"/>
                </a:solidFill>
                <a:latin typeface="MS PGothic" panose="020B0600070205080204" pitchFamily="34" charset="-128"/>
                <a:ea typeface="MS PGothic" panose="020B0600070205080204" pitchFamily="34" charset="-128"/>
                <a:cs typeface="+mn-cs"/>
              </a:defRPr>
            </a:lvl3pPr>
            <a:lvl4pPr marL="1530000" indent="-288000" algn="l" defTabSz="1300277" rtl="0" eaLnBrk="1" latinLnBrk="0" hangingPunct="1">
              <a:lnSpc>
                <a:spcPct val="120000"/>
              </a:lnSpc>
              <a:spcBef>
                <a:spcPts val="0"/>
              </a:spcBef>
              <a:spcAft>
                <a:spcPts val="250"/>
              </a:spcAft>
              <a:buSzPct val="125000"/>
              <a:buFont typeface="システムフォント（レギュラー）"/>
              <a:buChar char="-"/>
              <a:defRPr kumimoji="1" sz="2400" kern="1200">
                <a:solidFill>
                  <a:schemeClr val="tx1"/>
                </a:solidFill>
                <a:latin typeface="MS PGothic" panose="020B0600070205080204" pitchFamily="34" charset="-128"/>
                <a:ea typeface="MS PGothic" panose="020B0600070205080204" pitchFamily="34" charset="-128"/>
                <a:cs typeface="+mn-cs"/>
              </a:defRPr>
            </a:lvl4pPr>
            <a:lvl5pPr marL="1800000" indent="-288000" algn="l" defTabSz="1300277" rtl="0" eaLnBrk="1" latinLnBrk="0" hangingPunct="1">
              <a:lnSpc>
                <a:spcPct val="120000"/>
              </a:lnSpc>
              <a:spcBef>
                <a:spcPts val="0"/>
              </a:spcBef>
              <a:buSzPct val="125000"/>
              <a:buFont typeface="システムフォント（レギュラー）"/>
              <a:buChar char="-"/>
              <a:defRPr kumimoji="1" sz="2000" kern="1200">
                <a:solidFill>
                  <a:schemeClr val="tx1"/>
                </a:solidFill>
                <a:latin typeface="MS PGothic" panose="020B0600070205080204" pitchFamily="34" charset="-128"/>
                <a:ea typeface="MS PGothic" panose="020B0600070205080204" pitchFamily="34" charset="-128"/>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a:lstStyle>
          <a:p>
            <a:pPr>
              <a:buClr>
                <a:srgbClr val="26272A">
                  <a:lumMod val="25000"/>
                  <a:lumOff val="75000"/>
                </a:srgbClr>
              </a:buClr>
              <a:defRPr/>
            </a:pPr>
            <a:r>
              <a:rPr lang="ja-JP" altLang="en-US"/>
              <a:t>本研究</a:t>
            </a:r>
            <a:r>
              <a:rPr lang="en-US" altLang="ja-JP" sz="2800" dirty="0"/>
              <a:t> </a:t>
            </a:r>
            <a:r>
              <a:rPr kumimoji="0" lang="en-US" altLang="ja-JP" sz="2800" b="0" i="0" u="none" strike="noStrike" kern="1200" cap="none" spc="0" normalizeH="0" baseline="0" noProof="0" dirty="0">
                <a:ln>
                  <a:noFill/>
                </a:ln>
                <a:solidFill>
                  <a:srgbClr val="26272A">
                    <a:lumMod val="75000"/>
                    <a:lumOff val="25000"/>
                  </a:srgbClr>
                </a:solidFill>
                <a:effectLst/>
                <a:uLnTx/>
                <a:uFillTx/>
                <a:latin typeface="+mj-ea"/>
                <a:ea typeface="+mj-ea"/>
                <a:cs typeface="+mn-cs"/>
              </a:rPr>
              <a:t>:</a:t>
            </a:r>
            <a:r>
              <a:rPr kumimoji="0" lang="en-US" altLang="ja-JP" sz="2800" dirty="0">
                <a:solidFill>
                  <a:srgbClr val="26272A">
                    <a:lumMod val="75000"/>
                    <a:lumOff val="25000"/>
                  </a:srgbClr>
                </a:solidFill>
                <a:latin typeface="+mj-ea"/>
                <a:ea typeface="+mj-ea"/>
              </a:rPr>
              <a:t> </a:t>
            </a:r>
            <a:r>
              <a:rPr kumimoji="1" lang="ja-JP" altLang="en-US" sz="2800" b="0" i="0" u="none" strike="noStrike" kern="1200" cap="none" spc="0" normalizeH="0" baseline="0" noProof="0">
                <a:ln>
                  <a:noFill/>
                </a:ln>
                <a:solidFill>
                  <a:srgbClr val="26272A">
                    <a:lumMod val="75000"/>
                    <a:lumOff val="25000"/>
                  </a:srgbClr>
                </a:solidFill>
                <a:effectLst/>
                <a:uLnTx/>
                <a:uFillTx/>
                <a:latin typeface="+mj-ea"/>
                <a:ea typeface="+mj-ea"/>
                <a:cs typeface="+mn-cs"/>
              </a:rPr>
              <a:t>逆強化学習</a:t>
            </a:r>
            <a:r>
              <a:rPr kumimoji="0" lang="en-US" altLang="ja-JP" sz="2800" b="0" i="0" u="none" strike="noStrike" kern="1200" cap="none" spc="0" normalizeH="0" baseline="0" noProof="0" dirty="0">
                <a:ln>
                  <a:noFill/>
                </a:ln>
                <a:solidFill>
                  <a:srgbClr val="26272A">
                    <a:lumMod val="75000"/>
                    <a:lumOff val="25000"/>
                  </a:srgbClr>
                </a:solidFill>
                <a:effectLst/>
                <a:uLnTx/>
                <a:uFillTx/>
                <a:latin typeface="+mj-ea"/>
                <a:ea typeface="+mj-ea"/>
                <a:cs typeface="+mn-cs"/>
              </a:rPr>
              <a:t>(IRL</a:t>
            </a:r>
            <a:r>
              <a:rPr kumimoji="1" lang="ja-JP" altLang="en-US" sz="2800" b="0" i="0" u="none" strike="noStrike" kern="1200" cap="none" spc="0" normalizeH="0" baseline="0" noProof="0">
                <a:ln>
                  <a:noFill/>
                </a:ln>
                <a:solidFill>
                  <a:srgbClr val="26272A">
                    <a:lumMod val="75000"/>
                    <a:lumOff val="25000"/>
                  </a:srgbClr>
                </a:solidFill>
                <a:effectLst/>
                <a:uLnTx/>
                <a:uFillTx/>
                <a:latin typeface="+mj-ea"/>
                <a:ea typeface="+mj-ea"/>
                <a:cs typeface="+mn-cs"/>
              </a:rPr>
              <a:t>）</a:t>
            </a:r>
            <a:endParaRPr lang="en-US" altLang="ja-JP" dirty="0">
              <a:latin typeface="+mj-ea"/>
              <a:ea typeface="+mj-ea"/>
            </a:endParaRPr>
          </a:p>
          <a:p>
            <a:pPr lvl="1"/>
            <a:r>
              <a:rPr lang="ja-JP" altLang="en-US">
                <a:solidFill>
                  <a:schemeClr val="bg1">
                    <a:lumMod val="50000"/>
                  </a:schemeClr>
                </a:solidFill>
              </a:rPr>
              <a:t>将来の貢献を区間で分割し予測</a:t>
            </a:r>
            <a:endParaRPr lang="en-US" altLang="ja-JP" dirty="0">
              <a:solidFill>
                <a:schemeClr val="bg1">
                  <a:lumMod val="50000"/>
                </a:schemeClr>
              </a:solidFill>
            </a:endParaRPr>
          </a:p>
          <a:p>
            <a:pPr lvl="1"/>
            <a:r>
              <a:rPr lang="ja-JP" altLang="en-US"/>
              <a:t>開発者</a:t>
            </a:r>
            <a:r>
              <a:rPr lang="en-US" altLang="ja-JP" dirty="0"/>
              <a:t>×</a:t>
            </a:r>
            <a:r>
              <a:rPr lang="ja-JP" altLang="en-US"/>
              <a:t>ディレクトリ単位で継続を予測</a:t>
            </a:r>
            <a:endParaRPr lang="en-US" altLang="ja-JP" dirty="0"/>
          </a:p>
        </p:txBody>
      </p:sp>
      <p:grpSp>
        <p:nvGrpSpPr>
          <p:cNvPr id="6" name="グループ化 5">
            <a:extLst>
              <a:ext uri="{FF2B5EF4-FFF2-40B4-BE49-F238E27FC236}">
                <a16:creationId xmlns:a16="http://schemas.microsoft.com/office/drawing/2014/main" id="{8A70F4E7-2F8A-6357-3752-2B453EF83B0F}"/>
              </a:ext>
            </a:extLst>
          </p:cNvPr>
          <p:cNvGrpSpPr/>
          <p:nvPr/>
        </p:nvGrpSpPr>
        <p:grpSpPr>
          <a:xfrm>
            <a:off x="384071" y="4275529"/>
            <a:ext cx="16953017" cy="2347085"/>
            <a:chOff x="279017" y="2011680"/>
            <a:chExt cx="11700848" cy="1619941"/>
          </a:xfrm>
        </p:grpSpPr>
        <p:sp>
          <p:nvSpPr>
            <p:cNvPr id="10" name="Shape 6">
              <a:extLst>
                <a:ext uri="{FF2B5EF4-FFF2-40B4-BE49-F238E27FC236}">
                  <a16:creationId xmlns:a16="http://schemas.microsoft.com/office/drawing/2014/main" id="{706A2888-0851-483F-2956-F95119C60308}"/>
                </a:ext>
              </a:extLst>
            </p:cNvPr>
            <p:cNvSpPr/>
            <p:nvPr/>
          </p:nvSpPr>
          <p:spPr>
            <a:xfrm>
              <a:off x="279017" y="2011680"/>
              <a:ext cx="5181513" cy="1619941"/>
            </a:xfrm>
            <a:prstGeom prst="rect">
              <a:avLst/>
            </a:prstGeom>
            <a:solidFill>
              <a:srgbClr val="F2F2F3"/>
            </a:solidFill>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24" name="Shape 7">
              <a:extLst>
                <a:ext uri="{FF2B5EF4-FFF2-40B4-BE49-F238E27FC236}">
                  <a16:creationId xmlns:a16="http://schemas.microsoft.com/office/drawing/2014/main" id="{AD770FE3-11AA-2948-EE53-2C2ED9E57EDC}"/>
                </a:ext>
              </a:extLst>
            </p:cNvPr>
            <p:cNvSpPr/>
            <p:nvPr/>
          </p:nvSpPr>
          <p:spPr>
            <a:xfrm>
              <a:off x="279017" y="2011680"/>
              <a:ext cx="5181513" cy="402336"/>
            </a:xfrm>
            <a:prstGeom prst="rect">
              <a:avLst/>
            </a:prstGeom>
            <a:solidFill>
              <a:srgbClr val="575860"/>
            </a:solidFill>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46" name="Text 8">
              <a:extLst>
                <a:ext uri="{FF2B5EF4-FFF2-40B4-BE49-F238E27FC236}">
                  <a16:creationId xmlns:a16="http://schemas.microsoft.com/office/drawing/2014/main" id="{7037FCEC-D466-6A8C-11EC-C89920AA3DA3}"/>
                </a:ext>
              </a:extLst>
            </p:cNvPr>
            <p:cNvSpPr/>
            <p:nvPr/>
          </p:nvSpPr>
          <p:spPr>
            <a:xfrm>
              <a:off x="311147" y="2011680"/>
              <a:ext cx="5065776" cy="402336"/>
            </a:xfrm>
            <a:prstGeom prst="rect">
              <a:avLst/>
            </a:prstGeom>
            <a:noFill/>
            <a:ln/>
          </p:spPr>
          <p:txBody>
            <a:bodyPr wrap="square" lIns="0" tIns="0" rIns="0" bIns="0" rtlCol="0" anchor="ctr"/>
            <a:lstStyle/>
            <a:p>
              <a:pPr marL="0" indent="0" algn="ctr">
                <a:buNone/>
              </a:pPr>
              <a:r>
                <a:rPr lang="en-US" sz="2800" b="1" dirty="0" err="1">
                  <a:solidFill>
                    <a:srgbClr val="FFFFFF"/>
                  </a:solidFill>
                  <a:latin typeface="MS PGothic" panose="020B0600070205080204" pitchFamily="34" charset="-128"/>
                  <a:ea typeface="MS PGothic" panose="020B0600070205080204" pitchFamily="34" charset="-128"/>
                  <a:cs typeface="Meiryo" pitchFamily="34" charset="-120"/>
                </a:rPr>
                <a:t>開発者単位</a:t>
              </a:r>
              <a:endParaRPr lang="en-US" sz="2800" dirty="0">
                <a:latin typeface="MS PGothic" panose="020B0600070205080204" pitchFamily="34" charset="-128"/>
                <a:ea typeface="MS PGothic" panose="020B0600070205080204" pitchFamily="34" charset="-128"/>
              </a:endParaRPr>
            </a:p>
          </p:txBody>
        </p:sp>
        <p:sp>
          <p:nvSpPr>
            <p:cNvPr id="52" name="Text 9">
              <a:extLst>
                <a:ext uri="{FF2B5EF4-FFF2-40B4-BE49-F238E27FC236}">
                  <a16:creationId xmlns:a16="http://schemas.microsoft.com/office/drawing/2014/main" id="{FA403707-F372-269F-C71D-B8F789BB1692}"/>
                </a:ext>
              </a:extLst>
            </p:cNvPr>
            <p:cNvSpPr/>
            <p:nvPr/>
          </p:nvSpPr>
          <p:spPr>
            <a:xfrm>
              <a:off x="461897" y="2487168"/>
              <a:ext cx="5029200" cy="384048"/>
            </a:xfrm>
            <a:prstGeom prst="rect">
              <a:avLst/>
            </a:prstGeom>
            <a:noFill/>
            <a:ln/>
          </p:spPr>
          <p:txBody>
            <a:bodyPr wrap="square" lIns="0" tIns="0" rIns="0" bIns="0" rtlCol="0" anchor="ctr"/>
            <a:lstStyle/>
            <a:p>
              <a:pPr marL="0" indent="0" algn="l">
                <a:buNone/>
              </a:pPr>
              <a:r>
                <a:rPr lang="en-US" sz="2400" b="1" dirty="0" err="1">
                  <a:solidFill>
                    <a:srgbClr val="262626"/>
                  </a:solidFill>
                  <a:latin typeface="MS PGothic" panose="020B0600070205080204" pitchFamily="34" charset="-128"/>
                  <a:ea typeface="MS PGothic" panose="020B0600070205080204" pitchFamily="34" charset="-128"/>
                  <a:cs typeface="Meiryo" pitchFamily="34" charset="-120"/>
                </a:rPr>
                <a:t>この開発者は将来も活動しているか</a:t>
              </a:r>
              <a:r>
                <a:rPr lang="en-US" sz="2400" b="1" dirty="0">
                  <a:solidFill>
                    <a:srgbClr val="262626"/>
                  </a:solidFill>
                  <a:latin typeface="MS PGothic" panose="020B0600070205080204" pitchFamily="34" charset="-128"/>
                  <a:ea typeface="MS PGothic" panose="020B0600070205080204" pitchFamily="34" charset="-128"/>
                  <a:cs typeface="Meiryo" pitchFamily="34" charset="-120"/>
                </a:rPr>
                <a:t>？</a:t>
              </a:r>
              <a:endParaRPr lang="en-US" sz="2400" dirty="0">
                <a:latin typeface="MS PGothic" panose="020B0600070205080204" pitchFamily="34" charset="-128"/>
                <a:ea typeface="MS PGothic" panose="020B0600070205080204" pitchFamily="34" charset="-128"/>
              </a:endParaRPr>
            </a:p>
          </p:txBody>
        </p:sp>
        <p:sp>
          <p:nvSpPr>
            <p:cNvPr id="53" name="Text 10">
              <a:extLst>
                <a:ext uri="{FF2B5EF4-FFF2-40B4-BE49-F238E27FC236}">
                  <a16:creationId xmlns:a16="http://schemas.microsoft.com/office/drawing/2014/main" id="{8AB2189E-1D4F-01D5-C1C9-57FFB58D6FEF}"/>
                </a:ext>
              </a:extLst>
            </p:cNvPr>
            <p:cNvSpPr/>
            <p:nvPr/>
          </p:nvSpPr>
          <p:spPr>
            <a:xfrm>
              <a:off x="355178" y="2931102"/>
              <a:ext cx="5029200" cy="552609"/>
            </a:xfrm>
            <a:prstGeom prst="rect">
              <a:avLst/>
            </a:prstGeom>
            <a:noFill/>
            <a:ln>
              <a:noFill/>
            </a:ln>
          </p:spPr>
          <p:txBody>
            <a:bodyPr wrap="square" lIns="0" tIns="0" rIns="0" bIns="0" rtlCol="0" anchor="t"/>
            <a:lstStyle/>
            <a:p>
              <a:pPr marL="0" indent="0" algn="ctr">
                <a:buNone/>
              </a:pPr>
              <a:r>
                <a:rPr lang="en-US" sz="2800" dirty="0" err="1">
                  <a:solidFill>
                    <a:schemeClr val="accent6">
                      <a:lumMod val="75000"/>
                    </a:schemeClr>
                  </a:solidFill>
                  <a:latin typeface="MS PGothic" panose="020B0600070205080204" pitchFamily="34" charset="-128"/>
                  <a:ea typeface="MS PGothic" panose="020B0600070205080204" pitchFamily="34" charset="-128"/>
                  <a:cs typeface="Meiryo" pitchFamily="34" charset="-120"/>
                </a:rPr>
                <a:t>開発者が残っていても，そのモジュールを</a:t>
              </a:r>
              <a:endParaRPr lang="en-US" sz="2800" dirty="0">
                <a:solidFill>
                  <a:schemeClr val="accent6">
                    <a:lumMod val="75000"/>
                  </a:schemeClr>
                </a:solidFill>
                <a:latin typeface="MS PGothic" panose="020B0600070205080204" pitchFamily="34" charset="-128"/>
                <a:ea typeface="MS PGothic" panose="020B0600070205080204" pitchFamily="34" charset="-128"/>
                <a:cs typeface="Meiryo" pitchFamily="34" charset="-120"/>
              </a:endParaRPr>
            </a:p>
            <a:p>
              <a:pPr marL="0" indent="0" algn="ctr">
                <a:buNone/>
              </a:pPr>
              <a:r>
                <a:rPr lang="en-US" sz="2800" dirty="0" err="1">
                  <a:solidFill>
                    <a:schemeClr val="accent6">
                      <a:lumMod val="75000"/>
                    </a:schemeClr>
                  </a:solidFill>
                  <a:latin typeface="MS PGothic" panose="020B0600070205080204" pitchFamily="34" charset="-128"/>
                  <a:ea typeface="MS PGothic" panose="020B0600070205080204" pitchFamily="34" charset="-128"/>
                  <a:cs typeface="Meiryo" pitchFamily="34" charset="-120"/>
                </a:rPr>
                <a:t>レビューする人がいなければ，保守は困難</a:t>
              </a:r>
              <a:endParaRPr lang="en-US" sz="2800" dirty="0">
                <a:solidFill>
                  <a:schemeClr val="accent6">
                    <a:lumMod val="75000"/>
                  </a:schemeClr>
                </a:solidFill>
                <a:latin typeface="MS PGothic" panose="020B0600070205080204" pitchFamily="34" charset="-128"/>
                <a:ea typeface="MS PGothic" panose="020B0600070205080204" pitchFamily="34" charset="-128"/>
                <a:cs typeface="Meiryo" pitchFamily="34" charset="-120"/>
              </a:endParaRPr>
            </a:p>
          </p:txBody>
        </p:sp>
        <p:sp>
          <p:nvSpPr>
            <p:cNvPr id="54" name="Shape 11">
              <a:extLst>
                <a:ext uri="{FF2B5EF4-FFF2-40B4-BE49-F238E27FC236}">
                  <a16:creationId xmlns:a16="http://schemas.microsoft.com/office/drawing/2014/main" id="{78150674-8DFC-76BC-8965-7F96F1E44154}"/>
                </a:ext>
              </a:extLst>
            </p:cNvPr>
            <p:cNvSpPr/>
            <p:nvPr/>
          </p:nvSpPr>
          <p:spPr>
            <a:xfrm>
              <a:off x="6400801" y="2011680"/>
              <a:ext cx="5288589" cy="1619940"/>
            </a:xfrm>
            <a:prstGeom prst="rect">
              <a:avLst/>
            </a:prstGeom>
            <a:solidFill>
              <a:srgbClr val="FFFFFF"/>
            </a:solidFill>
            <a:ln w="19050">
              <a:solidFill>
                <a:srgbClr val="3E4492"/>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56" name="Shape 12">
              <a:extLst>
                <a:ext uri="{FF2B5EF4-FFF2-40B4-BE49-F238E27FC236}">
                  <a16:creationId xmlns:a16="http://schemas.microsoft.com/office/drawing/2014/main" id="{1938DF1F-52F8-2642-68C6-3D73C0C91145}"/>
                </a:ext>
              </a:extLst>
            </p:cNvPr>
            <p:cNvSpPr/>
            <p:nvPr/>
          </p:nvSpPr>
          <p:spPr>
            <a:xfrm>
              <a:off x="6400801" y="2011680"/>
              <a:ext cx="5288589" cy="402336"/>
            </a:xfrm>
            <a:prstGeom prst="rect">
              <a:avLst/>
            </a:prstGeom>
            <a:solidFill>
              <a:srgbClr val="3E4492"/>
            </a:solidFill>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64" name="Text 13">
              <a:extLst>
                <a:ext uri="{FF2B5EF4-FFF2-40B4-BE49-F238E27FC236}">
                  <a16:creationId xmlns:a16="http://schemas.microsoft.com/office/drawing/2014/main" id="{D1A82138-B780-340F-F937-27DE6FF3D7CF}"/>
                </a:ext>
              </a:extLst>
            </p:cNvPr>
            <p:cNvSpPr/>
            <p:nvPr/>
          </p:nvSpPr>
          <p:spPr>
            <a:xfrm>
              <a:off x="6565392" y="2011680"/>
              <a:ext cx="5065776" cy="402336"/>
            </a:xfrm>
            <a:prstGeom prst="rect">
              <a:avLst/>
            </a:prstGeom>
            <a:noFill/>
            <a:ln/>
          </p:spPr>
          <p:txBody>
            <a:bodyPr wrap="square" lIns="0" tIns="0" rIns="0" bIns="0" rtlCol="0" anchor="ctr"/>
            <a:lstStyle/>
            <a:p>
              <a:pPr marL="0" indent="0" algn="ctr">
                <a:buNone/>
              </a:pPr>
              <a:r>
                <a:rPr lang="en-US" sz="2800" b="1" dirty="0" err="1">
                  <a:solidFill>
                    <a:srgbClr val="FFFFFF"/>
                  </a:solidFill>
                  <a:latin typeface="MS PGothic" panose="020B0600070205080204" pitchFamily="34" charset="-128"/>
                  <a:ea typeface="MS PGothic" panose="020B0600070205080204" pitchFamily="34" charset="-128"/>
                  <a:cs typeface="Meiryo" pitchFamily="34" charset="-120"/>
                </a:rPr>
                <a:t>開発者</a:t>
              </a:r>
              <a:r>
                <a:rPr lang="en-US" sz="2800" b="1" dirty="0">
                  <a:solidFill>
                    <a:srgbClr val="FFFFFF"/>
                  </a:solidFill>
                  <a:latin typeface="MS PGothic" panose="020B0600070205080204" pitchFamily="34" charset="-128"/>
                  <a:ea typeface="MS PGothic" panose="020B0600070205080204" pitchFamily="34" charset="-128"/>
                  <a:cs typeface="Meiryo" pitchFamily="34" charset="-120"/>
                </a:rPr>
                <a:t> × ディレクトリ</a:t>
              </a:r>
              <a:endParaRPr lang="en-US" sz="2800" dirty="0">
                <a:latin typeface="MS PGothic" panose="020B0600070205080204" pitchFamily="34" charset="-128"/>
                <a:ea typeface="MS PGothic" panose="020B0600070205080204" pitchFamily="34" charset="-128"/>
              </a:endParaRPr>
            </a:p>
          </p:txBody>
        </p:sp>
        <p:sp>
          <p:nvSpPr>
            <p:cNvPr id="65" name="Text 14">
              <a:extLst>
                <a:ext uri="{FF2B5EF4-FFF2-40B4-BE49-F238E27FC236}">
                  <a16:creationId xmlns:a16="http://schemas.microsoft.com/office/drawing/2014/main" id="{E606DFB5-2EC4-FD12-9A19-6A49F11B98C4}"/>
                </a:ext>
              </a:extLst>
            </p:cNvPr>
            <p:cNvSpPr/>
            <p:nvPr/>
          </p:nvSpPr>
          <p:spPr>
            <a:xfrm>
              <a:off x="6565392" y="2487168"/>
              <a:ext cx="5414473" cy="384048"/>
            </a:xfrm>
            <a:prstGeom prst="rect">
              <a:avLst/>
            </a:prstGeom>
            <a:noFill/>
            <a:ln/>
          </p:spPr>
          <p:txBody>
            <a:bodyPr wrap="square" lIns="0" tIns="0" rIns="0" bIns="0" rtlCol="0" anchor="ctr"/>
            <a:lstStyle/>
            <a:p>
              <a:pPr marL="0" indent="0" algn="l">
                <a:buNone/>
              </a:pPr>
              <a:r>
                <a:rPr lang="en-US" sz="2400" b="1" dirty="0" err="1">
                  <a:solidFill>
                    <a:srgbClr val="262626"/>
                  </a:solidFill>
                  <a:latin typeface="MS PGothic" panose="020B0600070205080204" pitchFamily="34" charset="-128"/>
                  <a:ea typeface="MS PGothic" panose="020B0600070205080204" pitchFamily="34" charset="-128"/>
                  <a:cs typeface="Meiryo" pitchFamily="34" charset="-120"/>
                </a:rPr>
                <a:t>このディレクトリに，将来この開発者は貢献するか</a:t>
              </a:r>
              <a:r>
                <a:rPr lang="en-US" sz="2400" b="1" dirty="0">
                  <a:solidFill>
                    <a:srgbClr val="262626"/>
                  </a:solidFill>
                  <a:latin typeface="MS PGothic" panose="020B0600070205080204" pitchFamily="34" charset="-128"/>
                  <a:ea typeface="MS PGothic" panose="020B0600070205080204" pitchFamily="34" charset="-128"/>
                  <a:cs typeface="Meiryo" pitchFamily="34" charset="-120"/>
                </a:rPr>
                <a:t>？</a:t>
              </a:r>
              <a:endParaRPr lang="en-US" sz="2400" dirty="0">
                <a:latin typeface="MS PGothic" panose="020B0600070205080204" pitchFamily="34" charset="-128"/>
                <a:ea typeface="MS PGothic" panose="020B0600070205080204" pitchFamily="34" charset="-128"/>
              </a:endParaRPr>
            </a:p>
          </p:txBody>
        </p:sp>
        <p:sp>
          <p:nvSpPr>
            <p:cNvPr id="67" name="Text 15">
              <a:extLst>
                <a:ext uri="{FF2B5EF4-FFF2-40B4-BE49-F238E27FC236}">
                  <a16:creationId xmlns:a16="http://schemas.microsoft.com/office/drawing/2014/main" id="{88FB9B58-86F9-75F7-FF71-175EEC75CBA2}"/>
                </a:ext>
              </a:extLst>
            </p:cNvPr>
            <p:cNvSpPr/>
            <p:nvPr/>
          </p:nvSpPr>
          <p:spPr>
            <a:xfrm>
              <a:off x="6583680" y="2893471"/>
              <a:ext cx="5105710" cy="530353"/>
            </a:xfrm>
            <a:prstGeom prst="rect">
              <a:avLst/>
            </a:prstGeom>
            <a:noFill/>
            <a:ln/>
          </p:spPr>
          <p:txBody>
            <a:bodyPr wrap="square" lIns="0" tIns="0" rIns="0" bIns="0" rtlCol="0" anchor="t"/>
            <a:lstStyle/>
            <a:p>
              <a:pPr marL="0" indent="0" algn="ctr">
                <a:buNone/>
              </a:pPr>
              <a:r>
                <a:rPr lang="en-US" sz="2800" dirty="0" err="1">
                  <a:solidFill>
                    <a:schemeClr val="accent3">
                      <a:lumMod val="75000"/>
                    </a:schemeClr>
                  </a:solidFill>
                  <a:latin typeface="MS PGothic" panose="020B0600070205080204" pitchFamily="34" charset="-128"/>
                  <a:ea typeface="MS PGothic" panose="020B0600070205080204" pitchFamily="34" charset="-128"/>
                  <a:cs typeface="Meiryo" pitchFamily="34" charset="-120"/>
                </a:rPr>
                <a:t>モジュール単位で</a:t>
              </a:r>
              <a:endParaRPr lang="en-US" sz="2800" dirty="0">
                <a:solidFill>
                  <a:schemeClr val="accent3">
                    <a:lumMod val="75000"/>
                  </a:schemeClr>
                </a:solidFill>
                <a:latin typeface="MS PGothic" panose="020B0600070205080204" pitchFamily="34" charset="-128"/>
                <a:ea typeface="MS PGothic" panose="020B0600070205080204" pitchFamily="34" charset="-128"/>
                <a:cs typeface="Meiryo" pitchFamily="34" charset="-120"/>
              </a:endParaRPr>
            </a:p>
            <a:p>
              <a:pPr marL="0" indent="0" algn="ctr">
                <a:buNone/>
              </a:pPr>
              <a:r>
                <a:rPr lang="en-US" sz="2800" dirty="0" err="1">
                  <a:solidFill>
                    <a:schemeClr val="accent3">
                      <a:lumMod val="75000"/>
                    </a:schemeClr>
                  </a:solidFill>
                  <a:latin typeface="MS PGothic" panose="020B0600070205080204" pitchFamily="34" charset="-128"/>
                  <a:ea typeface="MS PGothic" panose="020B0600070205080204" pitchFamily="34" charset="-128"/>
                  <a:cs typeface="Meiryo" pitchFamily="34" charset="-120"/>
                </a:rPr>
                <a:t>貢献者を確保できるかを見積もることが可能</a:t>
              </a:r>
              <a:endParaRPr lang="en-US" sz="2800" dirty="0">
                <a:solidFill>
                  <a:schemeClr val="accent3">
                    <a:lumMod val="75000"/>
                  </a:schemeClr>
                </a:solidFill>
                <a:latin typeface="MS PGothic" panose="020B0600070205080204" pitchFamily="34" charset="-128"/>
                <a:ea typeface="MS PGothic" panose="020B0600070205080204" pitchFamily="34" charset="-128"/>
              </a:endParaRPr>
            </a:p>
          </p:txBody>
        </p:sp>
      </p:grpSp>
      <p:sp>
        <p:nvSpPr>
          <p:cNvPr id="69" name="角丸四角形 68">
            <a:extLst>
              <a:ext uri="{FF2B5EF4-FFF2-40B4-BE49-F238E27FC236}">
                <a16:creationId xmlns:a16="http://schemas.microsoft.com/office/drawing/2014/main" id="{FCFE6C9F-2C66-9595-65D4-F32836608F7F}"/>
              </a:ext>
            </a:extLst>
          </p:cNvPr>
          <p:cNvSpPr/>
          <p:nvPr/>
        </p:nvSpPr>
        <p:spPr>
          <a:xfrm>
            <a:off x="14556053" y="7119422"/>
            <a:ext cx="2752764" cy="185327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0" name="グラフィックス 69" descr="プログラマー男性 単色塗りつぶし">
            <a:extLst>
              <a:ext uri="{FF2B5EF4-FFF2-40B4-BE49-F238E27FC236}">
                <a16:creationId xmlns:a16="http://schemas.microsoft.com/office/drawing/2014/main" id="{4E65CAE1-B3BB-5CC7-FAD0-F969640843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03714" y="7161319"/>
            <a:ext cx="1516338" cy="1516338"/>
          </a:xfrm>
          <a:prstGeom prst="rect">
            <a:avLst/>
          </a:prstGeom>
        </p:spPr>
      </p:pic>
      <p:pic>
        <p:nvPicPr>
          <p:cNvPr id="71" name="グラフィックス 70" descr="フォルダー検索 単色塗りつぶし">
            <a:extLst>
              <a:ext uri="{FF2B5EF4-FFF2-40B4-BE49-F238E27FC236}">
                <a16:creationId xmlns:a16="http://schemas.microsoft.com/office/drawing/2014/main" id="{30354881-0B65-EBEC-C1E1-6E582493EA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71041" y="7174314"/>
            <a:ext cx="1730697" cy="1730695"/>
          </a:xfrm>
          <a:prstGeom prst="rect">
            <a:avLst/>
          </a:prstGeom>
        </p:spPr>
      </p:pic>
      <p:sp>
        <p:nvSpPr>
          <p:cNvPr id="73" name="乗算記号 72">
            <a:extLst>
              <a:ext uri="{FF2B5EF4-FFF2-40B4-BE49-F238E27FC236}">
                <a16:creationId xmlns:a16="http://schemas.microsoft.com/office/drawing/2014/main" id="{56D34499-EDA0-3C8B-5603-86D72E3E567B}"/>
              </a:ext>
            </a:extLst>
          </p:cNvPr>
          <p:cNvSpPr/>
          <p:nvPr/>
        </p:nvSpPr>
        <p:spPr>
          <a:xfrm>
            <a:off x="11820052" y="7720964"/>
            <a:ext cx="539148" cy="53914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4" name="グラフィックス 73" descr="プログラマー男性 単色塗りつぶし">
            <a:extLst>
              <a:ext uri="{FF2B5EF4-FFF2-40B4-BE49-F238E27FC236}">
                <a16:creationId xmlns:a16="http://schemas.microsoft.com/office/drawing/2014/main" id="{6ABA416A-A49E-6A35-BFCD-AA65CDBD1A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17671" y="7161319"/>
            <a:ext cx="1516338" cy="1516338"/>
          </a:xfrm>
          <a:prstGeom prst="rect">
            <a:avLst/>
          </a:prstGeom>
        </p:spPr>
      </p:pic>
      <p:sp>
        <p:nvSpPr>
          <p:cNvPr id="75" name="テキスト ボックス 74">
            <a:extLst>
              <a:ext uri="{FF2B5EF4-FFF2-40B4-BE49-F238E27FC236}">
                <a16:creationId xmlns:a16="http://schemas.microsoft.com/office/drawing/2014/main" id="{EF33B1D8-F6E0-51DC-2C5C-A54BDD615FC7}"/>
              </a:ext>
            </a:extLst>
          </p:cNvPr>
          <p:cNvSpPr txBox="1"/>
          <p:nvPr/>
        </p:nvSpPr>
        <p:spPr>
          <a:xfrm>
            <a:off x="14654971" y="7196050"/>
            <a:ext cx="2492115" cy="1569660"/>
          </a:xfrm>
          <a:prstGeom prst="rect">
            <a:avLst/>
          </a:prstGeom>
          <a:noFill/>
        </p:spPr>
        <p:txBody>
          <a:bodyPr wrap="square" rtlCol="0">
            <a:spAutoFit/>
          </a:bodyPr>
          <a:lstStyle/>
          <a:p>
            <a:r>
              <a:rPr kumimoji="1" lang="ja-JP" altLang="en-US" sz="2400"/>
              <a:t>例</a:t>
            </a:r>
            <a:r>
              <a:rPr kumimoji="1" lang="en-US" altLang="ja-JP" sz="2400" dirty="0"/>
              <a:t>:</a:t>
            </a:r>
          </a:p>
          <a:p>
            <a:r>
              <a:rPr kumimoji="1" lang="en-US" altLang="ja-JP" sz="2400" dirty="0"/>
              <a:t>  - nova/compute</a:t>
            </a:r>
          </a:p>
          <a:p>
            <a:r>
              <a:rPr kumimoji="1" lang="en-US" altLang="ja-JP" sz="2400" dirty="0"/>
              <a:t>  - nova/API</a:t>
            </a:r>
          </a:p>
          <a:p>
            <a:r>
              <a:rPr kumimoji="1" lang="en-US" altLang="ja-JP" sz="2400" dirty="0"/>
              <a:t>  - neutron/agent</a:t>
            </a:r>
            <a:endParaRPr kumimoji="1" lang="ja-JP" altLang="en-US" sz="2400"/>
          </a:p>
        </p:txBody>
      </p:sp>
      <p:pic>
        <p:nvPicPr>
          <p:cNvPr id="78" name="グラフィックス 77" descr="データベース 単色塗りつぶし">
            <a:extLst>
              <a:ext uri="{FF2B5EF4-FFF2-40B4-BE49-F238E27FC236}">
                <a16:creationId xmlns:a16="http://schemas.microsoft.com/office/drawing/2014/main" id="{ED13C6A6-EFC5-6E61-B095-B4171C86F74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34008" y="7382323"/>
            <a:ext cx="914400" cy="914400"/>
          </a:xfrm>
          <a:prstGeom prst="rect">
            <a:avLst/>
          </a:prstGeom>
        </p:spPr>
      </p:pic>
      <p:sp>
        <p:nvSpPr>
          <p:cNvPr id="79" name="テキスト ボックス 78">
            <a:extLst>
              <a:ext uri="{FF2B5EF4-FFF2-40B4-BE49-F238E27FC236}">
                <a16:creationId xmlns:a16="http://schemas.microsoft.com/office/drawing/2014/main" id="{BEADE436-D2C0-8B67-E604-61FDFE2D06C4}"/>
              </a:ext>
            </a:extLst>
          </p:cNvPr>
          <p:cNvSpPr txBox="1"/>
          <p:nvPr/>
        </p:nvSpPr>
        <p:spPr>
          <a:xfrm>
            <a:off x="2104613" y="6740018"/>
            <a:ext cx="4059701" cy="461665"/>
          </a:xfrm>
          <a:prstGeom prst="rect">
            <a:avLst/>
          </a:prstGeom>
          <a:noFill/>
        </p:spPr>
        <p:txBody>
          <a:bodyPr wrap="none" rtlCol="0">
            <a:spAutoFit/>
          </a:bodyPr>
          <a:lstStyle/>
          <a:p>
            <a:r>
              <a:rPr kumimoji="1" lang="en-US" altLang="ja-JP" sz="2400" dirty="0"/>
              <a:t>nova</a:t>
            </a:r>
            <a:r>
              <a:rPr kumimoji="1" lang="ja-JP" altLang="en-US" sz="2400"/>
              <a:t>プロジェクトに貢献するか</a:t>
            </a:r>
          </a:p>
        </p:txBody>
      </p:sp>
      <p:sp>
        <p:nvSpPr>
          <p:cNvPr id="80" name="テキスト ボックス 79">
            <a:extLst>
              <a:ext uri="{FF2B5EF4-FFF2-40B4-BE49-F238E27FC236}">
                <a16:creationId xmlns:a16="http://schemas.microsoft.com/office/drawing/2014/main" id="{CA88F422-9150-ADF5-04B5-71DA0A1B102F}"/>
              </a:ext>
            </a:extLst>
          </p:cNvPr>
          <p:cNvSpPr txBox="1"/>
          <p:nvPr/>
        </p:nvSpPr>
        <p:spPr>
          <a:xfrm>
            <a:off x="9986573" y="6715312"/>
            <a:ext cx="6196825" cy="461665"/>
          </a:xfrm>
          <a:prstGeom prst="rect">
            <a:avLst/>
          </a:prstGeom>
          <a:noFill/>
        </p:spPr>
        <p:txBody>
          <a:bodyPr wrap="none" rtlCol="0">
            <a:spAutoFit/>
          </a:bodyPr>
          <a:lstStyle/>
          <a:p>
            <a:r>
              <a:rPr kumimoji="1" lang="en-US" altLang="ja-JP" sz="2400" dirty="0"/>
              <a:t>nova</a:t>
            </a:r>
            <a:r>
              <a:rPr kumimoji="1" lang="ja-JP" altLang="en-US" sz="2400"/>
              <a:t>プロジェクトの</a:t>
            </a:r>
            <a:r>
              <a:rPr kumimoji="1" lang="en-US" altLang="ja-JP" sz="2400" dirty="0"/>
              <a:t>nova/compute</a:t>
            </a:r>
            <a:r>
              <a:rPr kumimoji="1" lang="ja-JP" altLang="en-US" sz="2400"/>
              <a:t>に貢献するか</a:t>
            </a:r>
            <a:endParaRPr kumimoji="1" lang="en-US" altLang="ja-JP" sz="2400" dirty="0"/>
          </a:p>
        </p:txBody>
      </p:sp>
      <p:cxnSp>
        <p:nvCxnSpPr>
          <p:cNvPr id="81" name="直線コネクタ 80">
            <a:extLst>
              <a:ext uri="{FF2B5EF4-FFF2-40B4-BE49-F238E27FC236}">
                <a16:creationId xmlns:a16="http://schemas.microsoft.com/office/drawing/2014/main" id="{603AD38C-21F9-6FB3-C74A-4A8EC852C144}"/>
              </a:ext>
            </a:extLst>
          </p:cNvPr>
          <p:cNvCxnSpPr>
            <a:cxnSpLocks/>
            <a:endCxn id="75" idx="1"/>
          </p:cNvCxnSpPr>
          <p:nvPr/>
        </p:nvCxnSpPr>
        <p:spPr>
          <a:xfrm>
            <a:off x="14098343" y="7929827"/>
            <a:ext cx="556628" cy="5105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2" name="テキスト ボックス 81">
            <a:extLst>
              <a:ext uri="{FF2B5EF4-FFF2-40B4-BE49-F238E27FC236}">
                <a16:creationId xmlns:a16="http://schemas.microsoft.com/office/drawing/2014/main" id="{E69CDBDA-6F7A-9AA1-D7C1-E50437789BDA}"/>
              </a:ext>
            </a:extLst>
          </p:cNvPr>
          <p:cNvSpPr txBox="1"/>
          <p:nvPr/>
        </p:nvSpPr>
        <p:spPr>
          <a:xfrm>
            <a:off x="4266395" y="8260112"/>
            <a:ext cx="1300356" cy="369332"/>
          </a:xfrm>
          <a:prstGeom prst="rect">
            <a:avLst/>
          </a:prstGeom>
          <a:noFill/>
        </p:spPr>
        <p:txBody>
          <a:bodyPr wrap="none" rtlCol="0">
            <a:spAutoFit/>
          </a:bodyPr>
          <a:lstStyle/>
          <a:p>
            <a:r>
              <a:rPr kumimoji="1" lang="ja-JP" altLang="en-US"/>
              <a:t>プロジェクト</a:t>
            </a:r>
          </a:p>
        </p:txBody>
      </p:sp>
      <p:sp>
        <p:nvSpPr>
          <p:cNvPr id="83" name="テキスト ボックス 82">
            <a:extLst>
              <a:ext uri="{FF2B5EF4-FFF2-40B4-BE49-F238E27FC236}">
                <a16:creationId xmlns:a16="http://schemas.microsoft.com/office/drawing/2014/main" id="{A6449820-F9F8-CA94-C0EF-2A35263D1B9B}"/>
              </a:ext>
            </a:extLst>
          </p:cNvPr>
          <p:cNvSpPr txBox="1"/>
          <p:nvPr/>
        </p:nvSpPr>
        <p:spPr>
          <a:xfrm>
            <a:off x="12653231" y="8719765"/>
            <a:ext cx="1494571" cy="646331"/>
          </a:xfrm>
          <a:prstGeom prst="rect">
            <a:avLst/>
          </a:prstGeom>
          <a:noFill/>
        </p:spPr>
        <p:txBody>
          <a:bodyPr wrap="square" rtlCol="0">
            <a:spAutoFit/>
          </a:bodyPr>
          <a:lstStyle/>
          <a:p>
            <a:pPr algn="ctr"/>
            <a:r>
              <a:rPr kumimoji="1" lang="ja-JP" altLang="en-US"/>
              <a:t>ディレクトリ</a:t>
            </a:r>
            <a:endParaRPr kumimoji="1" lang="en-US" altLang="ja-JP" dirty="0"/>
          </a:p>
          <a:p>
            <a:pPr algn="ctr"/>
            <a:r>
              <a:rPr kumimoji="1" lang="ja-JP" altLang="en-US"/>
              <a:t>（モジュール）</a:t>
            </a:r>
          </a:p>
        </p:txBody>
      </p:sp>
      <p:cxnSp>
        <p:nvCxnSpPr>
          <p:cNvPr id="87" name="直線コネクタ 86">
            <a:extLst>
              <a:ext uri="{FF2B5EF4-FFF2-40B4-BE49-F238E27FC236}">
                <a16:creationId xmlns:a16="http://schemas.microsoft.com/office/drawing/2014/main" id="{09007C3F-C8D7-F3FE-117A-3E9D12C04A45}"/>
              </a:ext>
            </a:extLst>
          </p:cNvPr>
          <p:cNvCxnSpPr/>
          <p:nvPr/>
        </p:nvCxnSpPr>
        <p:spPr>
          <a:xfrm>
            <a:off x="8302752" y="2303545"/>
            <a:ext cx="0" cy="6462165"/>
          </a:xfrm>
          <a:prstGeom prst="line">
            <a:avLst/>
          </a:prstGeom>
          <a:ln w="381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5922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E690F9-ED98-19F1-5BCE-9D17D0FEEDE3}"/>
              </a:ext>
            </a:extLst>
          </p:cNvPr>
          <p:cNvSpPr>
            <a:spLocks noGrp="1"/>
          </p:cNvSpPr>
          <p:nvPr>
            <p:ph type="title"/>
          </p:nvPr>
        </p:nvSpPr>
        <p:spPr/>
        <p:txBody>
          <a:bodyPr/>
          <a:lstStyle/>
          <a:p>
            <a:r>
              <a:rPr kumimoji="1" lang="ja-JP" altLang="en-US"/>
              <a:t>目的・キーアイデア</a:t>
            </a:r>
          </a:p>
        </p:txBody>
      </p:sp>
      <p:sp>
        <p:nvSpPr>
          <p:cNvPr id="3" name="スライド番号プレースホルダー 2">
            <a:extLst>
              <a:ext uri="{FF2B5EF4-FFF2-40B4-BE49-F238E27FC236}">
                <a16:creationId xmlns:a16="http://schemas.microsoft.com/office/drawing/2014/main" id="{1BD21BD2-54F3-AD6F-293E-BF0EDB8D3800}"/>
              </a:ext>
            </a:extLst>
          </p:cNvPr>
          <p:cNvSpPr>
            <a:spLocks noGrp="1"/>
          </p:cNvSpPr>
          <p:nvPr>
            <p:ph type="sldNum" sz="quarter" idx="12"/>
          </p:nvPr>
        </p:nvSpPr>
        <p:spPr/>
        <p:txBody>
          <a:bodyPr/>
          <a:lstStyle/>
          <a:p>
            <a:fld id="{85D74467-FFC2-5C49-A08A-98A9FE9BCA53}" type="slidenum">
              <a:rPr kumimoji="1" lang="ja-JP" altLang="en-US" smtClean="0"/>
              <a:pPr/>
              <a:t>7</a:t>
            </a:fld>
            <a:endParaRPr kumimoji="1" lang="ja-JP" altLang="en-US"/>
          </a:p>
        </p:txBody>
      </p:sp>
      <p:sp>
        <p:nvSpPr>
          <p:cNvPr id="4" name="テキスト プレースホルダー 3">
            <a:extLst>
              <a:ext uri="{FF2B5EF4-FFF2-40B4-BE49-F238E27FC236}">
                <a16:creationId xmlns:a16="http://schemas.microsoft.com/office/drawing/2014/main" id="{0243FF93-DE87-4813-4C8B-092954A032AC}"/>
              </a:ext>
            </a:extLst>
          </p:cNvPr>
          <p:cNvSpPr>
            <a:spLocks noGrp="1"/>
          </p:cNvSpPr>
          <p:nvPr>
            <p:ph type="body" sz="quarter" idx="13"/>
          </p:nvPr>
        </p:nvSpPr>
        <p:spPr>
          <a:xfrm>
            <a:off x="576000" y="2160000"/>
            <a:ext cx="16185600" cy="1241365"/>
          </a:xfrm>
        </p:spPr>
        <p:txBody>
          <a:bodyPr/>
          <a:lstStyle/>
          <a:p>
            <a:r>
              <a:rPr lang="ja-JP" altLang="en-US"/>
              <a:t>目的</a:t>
            </a:r>
            <a:endParaRPr lang="en-US" altLang="ja-JP" dirty="0"/>
          </a:p>
          <a:p>
            <a:pPr lvl="1"/>
            <a:r>
              <a:rPr lang="ja-JP" altLang="en-US"/>
              <a:t>モジュール単位での，</a:t>
            </a:r>
            <a:r>
              <a:rPr kumimoji="1" lang="ja-JP" altLang="en-US" sz="3200"/>
              <a:t>開発者の離脱・復帰などの時系列パターンを考慮した継続予測</a:t>
            </a:r>
            <a:endParaRPr lang="en-US" altLang="ja-JP" dirty="0"/>
          </a:p>
        </p:txBody>
      </p:sp>
      <p:sp>
        <p:nvSpPr>
          <p:cNvPr id="6" name="Text 25">
            <a:extLst>
              <a:ext uri="{FF2B5EF4-FFF2-40B4-BE49-F238E27FC236}">
                <a16:creationId xmlns:a16="http://schemas.microsoft.com/office/drawing/2014/main" id="{97B82B40-C196-D3B2-9FA4-4D5D5A8C5002}"/>
              </a:ext>
            </a:extLst>
          </p:cNvPr>
          <p:cNvSpPr/>
          <p:nvPr/>
        </p:nvSpPr>
        <p:spPr>
          <a:xfrm>
            <a:off x="1159115" y="5173089"/>
            <a:ext cx="8070130" cy="376606"/>
          </a:xfrm>
          <a:prstGeom prst="rect">
            <a:avLst/>
          </a:prstGeom>
          <a:noFill/>
          <a:ln/>
        </p:spPr>
        <p:txBody>
          <a:bodyPr wrap="square" lIns="0" tIns="0" rIns="0" bIns="0" rtlCol="0" anchor="ctr"/>
          <a:lstStyle/>
          <a:p>
            <a:pPr marL="0" indent="0">
              <a:buNone/>
            </a:pPr>
            <a:endParaRPr lang="en-US" sz="2800" dirty="0">
              <a:latin typeface="MS PGothic" panose="020B0600070205080204" pitchFamily="34" charset="-128"/>
              <a:ea typeface="MS PGothic" panose="020B0600070205080204" pitchFamily="34" charset="-128"/>
            </a:endParaRPr>
          </a:p>
        </p:txBody>
      </p:sp>
      <p:sp>
        <p:nvSpPr>
          <p:cNvPr id="7" name="Text 26">
            <a:extLst>
              <a:ext uri="{FF2B5EF4-FFF2-40B4-BE49-F238E27FC236}">
                <a16:creationId xmlns:a16="http://schemas.microsoft.com/office/drawing/2014/main" id="{E18E5A1E-FCCD-658B-7A1A-FD1FDAC716C9}"/>
              </a:ext>
            </a:extLst>
          </p:cNvPr>
          <p:cNvSpPr/>
          <p:nvPr/>
        </p:nvSpPr>
        <p:spPr>
          <a:xfrm>
            <a:off x="784100" y="4816016"/>
            <a:ext cx="4661531" cy="376606"/>
          </a:xfrm>
          <a:prstGeom prst="rect">
            <a:avLst/>
          </a:prstGeom>
          <a:noFill/>
          <a:ln/>
        </p:spPr>
        <p:txBody>
          <a:bodyPr wrap="square" lIns="0" tIns="0" rIns="0" bIns="0" rtlCol="0" anchor="ctr"/>
          <a:lstStyle/>
          <a:p>
            <a:pPr marL="0" indent="0">
              <a:buNone/>
            </a:pPr>
            <a:r>
              <a:rPr lang="en-US" sz="2800" dirty="0" err="1">
                <a:latin typeface="MS PGothic" panose="020B0600070205080204" pitchFamily="34" charset="-128"/>
                <a:ea typeface="MS PGothic" panose="020B0600070205080204" pitchFamily="34" charset="-128"/>
                <a:cs typeface="Meiryo" pitchFamily="34" charset="-120"/>
              </a:rPr>
              <a:t>累積統計量として学習</a:t>
            </a:r>
            <a:r>
              <a:rPr lang="en-US" sz="2800" dirty="0">
                <a:latin typeface="MS PGothic" panose="020B0600070205080204" pitchFamily="34" charset="-128"/>
                <a:ea typeface="MS PGothic" panose="020B0600070205080204" pitchFamily="34" charset="-128"/>
                <a:cs typeface="Meiryo" pitchFamily="34" charset="-120"/>
              </a:rPr>
              <a:t>(</a:t>
            </a:r>
            <a:r>
              <a:rPr lang="en-US" sz="2800" dirty="0" err="1">
                <a:latin typeface="MS PGothic" panose="020B0600070205080204" pitchFamily="34" charset="-128"/>
                <a:ea typeface="MS PGothic" panose="020B0600070205080204" pitchFamily="34" charset="-128"/>
                <a:cs typeface="Meiryo" pitchFamily="34" charset="-120"/>
              </a:rPr>
              <a:t>従来</a:t>
            </a:r>
            <a:r>
              <a:rPr lang="en-US" sz="2800" dirty="0">
                <a:latin typeface="MS PGothic" panose="020B0600070205080204" pitchFamily="34" charset="-128"/>
                <a:ea typeface="MS PGothic" panose="020B0600070205080204" pitchFamily="34" charset="-128"/>
                <a:cs typeface="Meiryo" pitchFamily="34" charset="-120"/>
              </a:rPr>
              <a:t>)</a:t>
            </a:r>
            <a:endParaRPr lang="en-US" sz="2800" dirty="0">
              <a:latin typeface="MS PGothic" panose="020B0600070205080204" pitchFamily="34" charset="-128"/>
              <a:ea typeface="MS PGothic" panose="020B0600070205080204" pitchFamily="34" charset="-128"/>
            </a:endParaRPr>
          </a:p>
        </p:txBody>
      </p:sp>
      <p:grpSp>
        <p:nvGrpSpPr>
          <p:cNvPr id="76" name="グループ化 75">
            <a:extLst>
              <a:ext uri="{FF2B5EF4-FFF2-40B4-BE49-F238E27FC236}">
                <a16:creationId xmlns:a16="http://schemas.microsoft.com/office/drawing/2014/main" id="{7C8F1BC5-A26B-9E22-F9B4-4B78D18186F1}"/>
              </a:ext>
            </a:extLst>
          </p:cNvPr>
          <p:cNvGrpSpPr/>
          <p:nvPr/>
        </p:nvGrpSpPr>
        <p:grpSpPr>
          <a:xfrm>
            <a:off x="1700015" y="6871742"/>
            <a:ext cx="1910602" cy="449630"/>
            <a:chOff x="3001705" y="5837326"/>
            <a:chExt cx="2400456" cy="564909"/>
          </a:xfrm>
        </p:grpSpPr>
        <p:sp>
          <p:nvSpPr>
            <p:cNvPr id="8" name="Shape 27">
              <a:extLst>
                <a:ext uri="{FF2B5EF4-FFF2-40B4-BE49-F238E27FC236}">
                  <a16:creationId xmlns:a16="http://schemas.microsoft.com/office/drawing/2014/main" id="{2E3FF276-9BC9-80BA-96B4-936F600FB0AF}"/>
                </a:ext>
              </a:extLst>
            </p:cNvPr>
            <p:cNvSpPr/>
            <p:nvPr/>
          </p:nvSpPr>
          <p:spPr>
            <a:xfrm>
              <a:off x="4229616" y="5837326"/>
              <a:ext cx="564909" cy="564909"/>
            </a:xfrm>
            <a:prstGeom prst="roundRect">
              <a:avLst>
                <a:gd name="adj" fmla="val 11905"/>
              </a:avLst>
            </a:prstGeom>
            <a:solidFill>
              <a:srgbClr val="4B90B1"/>
            </a:solidFill>
            <a:ln w="12700">
              <a:solidFill>
                <a:srgbClr val="4B90B1"/>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9" name="Text 28">
              <a:extLst>
                <a:ext uri="{FF2B5EF4-FFF2-40B4-BE49-F238E27FC236}">
                  <a16:creationId xmlns:a16="http://schemas.microsoft.com/office/drawing/2014/main" id="{234AD8A9-6BC4-6ED1-8342-2C51D9FAD765}"/>
                </a:ext>
              </a:extLst>
            </p:cNvPr>
            <p:cNvSpPr/>
            <p:nvPr/>
          </p:nvSpPr>
          <p:spPr>
            <a:xfrm>
              <a:off x="4229616" y="5837326"/>
              <a:ext cx="564909" cy="564909"/>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1</a:t>
              </a:r>
              <a:endParaRPr lang="en-US" sz="2400" dirty="0">
                <a:latin typeface="MS PGothic" panose="020B0600070205080204" pitchFamily="34" charset="-128"/>
                <a:ea typeface="MS PGothic" panose="020B0600070205080204" pitchFamily="34" charset="-128"/>
              </a:endParaRPr>
            </a:p>
          </p:txBody>
        </p:sp>
        <p:sp>
          <p:nvSpPr>
            <p:cNvPr id="10" name="Shape 29">
              <a:extLst>
                <a:ext uri="{FF2B5EF4-FFF2-40B4-BE49-F238E27FC236}">
                  <a16:creationId xmlns:a16="http://schemas.microsoft.com/office/drawing/2014/main" id="{ABE3A627-385D-9BA6-EEEC-2D0C87A536C7}"/>
                </a:ext>
              </a:extLst>
            </p:cNvPr>
            <p:cNvSpPr/>
            <p:nvPr/>
          </p:nvSpPr>
          <p:spPr>
            <a:xfrm>
              <a:off x="4837252" y="5837326"/>
              <a:ext cx="564909" cy="564909"/>
            </a:xfrm>
            <a:prstGeom prst="roundRect">
              <a:avLst>
                <a:gd name="adj" fmla="val 11905"/>
              </a:avLst>
            </a:prstGeom>
            <a:solidFill>
              <a:srgbClr val="4B90B1"/>
            </a:solidFill>
            <a:ln w="12700">
              <a:solidFill>
                <a:srgbClr val="4B90B1"/>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11" name="Text 30">
              <a:extLst>
                <a:ext uri="{FF2B5EF4-FFF2-40B4-BE49-F238E27FC236}">
                  <a16:creationId xmlns:a16="http://schemas.microsoft.com/office/drawing/2014/main" id="{B3F3F599-CEB3-38C7-61EB-2C493277FAF0}"/>
                </a:ext>
              </a:extLst>
            </p:cNvPr>
            <p:cNvSpPr/>
            <p:nvPr/>
          </p:nvSpPr>
          <p:spPr>
            <a:xfrm>
              <a:off x="4837252" y="5837326"/>
              <a:ext cx="564909" cy="564909"/>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1</a:t>
              </a:r>
              <a:endParaRPr lang="en-US" sz="2400" dirty="0">
                <a:latin typeface="MS PGothic" panose="020B0600070205080204" pitchFamily="34" charset="-128"/>
                <a:ea typeface="MS PGothic" panose="020B0600070205080204" pitchFamily="34" charset="-128"/>
              </a:endParaRPr>
            </a:p>
          </p:txBody>
        </p:sp>
        <p:grpSp>
          <p:nvGrpSpPr>
            <p:cNvPr id="58" name="グループ化 57">
              <a:extLst>
                <a:ext uri="{FF2B5EF4-FFF2-40B4-BE49-F238E27FC236}">
                  <a16:creationId xmlns:a16="http://schemas.microsoft.com/office/drawing/2014/main" id="{E3AA4EDA-CAFE-2331-C5CF-9DE94E559D15}"/>
                </a:ext>
              </a:extLst>
            </p:cNvPr>
            <p:cNvGrpSpPr/>
            <p:nvPr/>
          </p:nvGrpSpPr>
          <p:grpSpPr>
            <a:xfrm>
              <a:off x="3608342" y="5837326"/>
              <a:ext cx="564909" cy="564909"/>
              <a:chOff x="1786433" y="5837326"/>
              <a:chExt cx="564909" cy="564909"/>
            </a:xfrm>
          </p:grpSpPr>
          <p:sp>
            <p:nvSpPr>
              <p:cNvPr id="12" name="Shape 31">
                <a:extLst>
                  <a:ext uri="{FF2B5EF4-FFF2-40B4-BE49-F238E27FC236}">
                    <a16:creationId xmlns:a16="http://schemas.microsoft.com/office/drawing/2014/main" id="{35262526-A0BF-4578-A63A-C992659B9D20}"/>
                  </a:ext>
                </a:extLst>
              </p:cNvPr>
              <p:cNvSpPr/>
              <p:nvPr/>
            </p:nvSpPr>
            <p:spPr>
              <a:xfrm>
                <a:off x="1786433" y="5837326"/>
                <a:ext cx="564909" cy="564909"/>
              </a:xfrm>
              <a:prstGeom prst="roundRect">
                <a:avLst>
                  <a:gd name="adj" fmla="val 11905"/>
                </a:avLst>
              </a:prstGeom>
              <a:solidFill>
                <a:srgbClr val="8C8C8C"/>
              </a:solidFill>
              <a:ln w="12700">
                <a:solidFill>
                  <a:srgbClr val="8C8C8C"/>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13" name="Text 32">
                <a:extLst>
                  <a:ext uri="{FF2B5EF4-FFF2-40B4-BE49-F238E27FC236}">
                    <a16:creationId xmlns:a16="http://schemas.microsoft.com/office/drawing/2014/main" id="{BF383AC5-8F2F-BBA3-FD64-5EF02CA0C411}"/>
                  </a:ext>
                </a:extLst>
              </p:cNvPr>
              <p:cNvSpPr/>
              <p:nvPr/>
            </p:nvSpPr>
            <p:spPr>
              <a:xfrm>
                <a:off x="1786433" y="5837326"/>
                <a:ext cx="564909" cy="564909"/>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0</a:t>
                </a:r>
                <a:endParaRPr lang="en-US" sz="2400" dirty="0">
                  <a:latin typeface="MS PGothic" panose="020B0600070205080204" pitchFamily="34" charset="-128"/>
                  <a:ea typeface="MS PGothic" panose="020B0600070205080204" pitchFamily="34" charset="-128"/>
                </a:endParaRPr>
              </a:p>
            </p:txBody>
          </p:sp>
        </p:grpSp>
        <p:sp>
          <p:nvSpPr>
            <p:cNvPr id="16" name="Shape 35">
              <a:extLst>
                <a:ext uri="{FF2B5EF4-FFF2-40B4-BE49-F238E27FC236}">
                  <a16:creationId xmlns:a16="http://schemas.microsoft.com/office/drawing/2014/main" id="{4C1653AB-6C21-FB6D-6A41-9CB76F81AAFA}"/>
                </a:ext>
              </a:extLst>
            </p:cNvPr>
            <p:cNvSpPr/>
            <p:nvPr/>
          </p:nvSpPr>
          <p:spPr>
            <a:xfrm>
              <a:off x="3001705" y="5837326"/>
              <a:ext cx="564909" cy="564909"/>
            </a:xfrm>
            <a:prstGeom prst="roundRect">
              <a:avLst>
                <a:gd name="adj" fmla="val 11905"/>
              </a:avLst>
            </a:prstGeom>
            <a:solidFill>
              <a:srgbClr val="8C8C8C"/>
            </a:solidFill>
            <a:ln w="12700">
              <a:solidFill>
                <a:srgbClr val="8C8C8C"/>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17" name="Text 36">
              <a:extLst>
                <a:ext uri="{FF2B5EF4-FFF2-40B4-BE49-F238E27FC236}">
                  <a16:creationId xmlns:a16="http://schemas.microsoft.com/office/drawing/2014/main" id="{AB9B783B-1C26-CD00-EBE2-0785E724E81B}"/>
                </a:ext>
              </a:extLst>
            </p:cNvPr>
            <p:cNvSpPr/>
            <p:nvPr/>
          </p:nvSpPr>
          <p:spPr>
            <a:xfrm>
              <a:off x="3001705" y="5837326"/>
              <a:ext cx="564909" cy="564909"/>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0</a:t>
              </a:r>
              <a:endParaRPr lang="en-US" sz="2400" dirty="0">
                <a:latin typeface="MS PGothic" panose="020B0600070205080204" pitchFamily="34" charset="-128"/>
                <a:ea typeface="MS PGothic" panose="020B0600070205080204" pitchFamily="34" charset="-128"/>
              </a:endParaRPr>
            </a:p>
          </p:txBody>
        </p:sp>
      </p:grpSp>
      <p:sp>
        <p:nvSpPr>
          <p:cNvPr id="23" name="Text 42">
            <a:extLst>
              <a:ext uri="{FF2B5EF4-FFF2-40B4-BE49-F238E27FC236}">
                <a16:creationId xmlns:a16="http://schemas.microsoft.com/office/drawing/2014/main" id="{C3837688-6192-BBEA-76BF-270706BE9F83}"/>
              </a:ext>
            </a:extLst>
          </p:cNvPr>
          <p:cNvSpPr/>
          <p:nvPr/>
        </p:nvSpPr>
        <p:spPr>
          <a:xfrm>
            <a:off x="4503463" y="6860827"/>
            <a:ext cx="2112804" cy="495960"/>
          </a:xfrm>
          <a:prstGeom prst="rect">
            <a:avLst/>
          </a:prstGeom>
          <a:noFill/>
          <a:ln w="19050">
            <a:solidFill>
              <a:schemeClr val="bg1">
                <a:lumMod val="65000"/>
              </a:schemeClr>
            </a:solidFill>
          </a:ln>
        </p:spPr>
        <p:txBody>
          <a:bodyPr wrap="square" lIns="0" tIns="0" rIns="0" bIns="0" rtlCol="0" anchor="ctr"/>
          <a:lstStyle/>
          <a:p>
            <a:pPr marL="0" indent="0" algn="ctr">
              <a:buNone/>
            </a:pPr>
            <a:r>
              <a:rPr lang="en-US" sz="2400" dirty="0">
                <a:solidFill>
                  <a:srgbClr val="262626"/>
                </a:solidFill>
                <a:latin typeface="MS PGothic" panose="020B0600070205080204" pitchFamily="34" charset="-128"/>
                <a:ea typeface="MS PGothic" panose="020B0600070205080204" pitchFamily="34" charset="-128"/>
                <a:cs typeface="Meiryo" pitchFamily="34" charset="-120"/>
              </a:rPr>
              <a:t>承諾率 = 0.50</a:t>
            </a:r>
            <a:endParaRPr lang="en-US" sz="2400" dirty="0">
              <a:latin typeface="MS PGothic" panose="020B0600070205080204" pitchFamily="34" charset="-128"/>
              <a:ea typeface="MS PGothic" panose="020B0600070205080204" pitchFamily="34" charset="-128"/>
            </a:endParaRPr>
          </a:p>
        </p:txBody>
      </p:sp>
      <p:sp>
        <p:nvSpPr>
          <p:cNvPr id="24" name="Text 43">
            <a:extLst>
              <a:ext uri="{FF2B5EF4-FFF2-40B4-BE49-F238E27FC236}">
                <a16:creationId xmlns:a16="http://schemas.microsoft.com/office/drawing/2014/main" id="{DAF40215-7691-462D-FACA-7C8CF67EFEE1}"/>
              </a:ext>
            </a:extLst>
          </p:cNvPr>
          <p:cNvSpPr/>
          <p:nvPr/>
        </p:nvSpPr>
        <p:spPr>
          <a:xfrm>
            <a:off x="1530842" y="8292259"/>
            <a:ext cx="5612164" cy="349706"/>
          </a:xfrm>
          <a:prstGeom prst="rect">
            <a:avLst/>
          </a:prstGeom>
          <a:noFill/>
          <a:ln/>
        </p:spPr>
        <p:txBody>
          <a:bodyPr wrap="square" lIns="0" tIns="0" rIns="0" bIns="0" rtlCol="0" anchor="ctr"/>
          <a:lstStyle/>
          <a:p>
            <a:pPr marL="0" indent="0">
              <a:buNone/>
            </a:pPr>
            <a:r>
              <a:rPr lang="en-US" sz="2400" dirty="0" err="1">
                <a:solidFill>
                  <a:srgbClr val="C00000"/>
                </a:solidFill>
                <a:latin typeface="MS PGothic" panose="020B0600070205080204" pitchFamily="34" charset="-128"/>
                <a:ea typeface="MS PGothic" panose="020B0600070205080204" pitchFamily="34" charset="-128"/>
              </a:rPr>
              <a:t>いつ・どの順なのか区別できない</a:t>
            </a:r>
            <a:endParaRPr lang="en-US" sz="2400" dirty="0">
              <a:latin typeface="MS PGothic" panose="020B0600070205080204" pitchFamily="34" charset="-128"/>
              <a:ea typeface="MS PGothic" panose="020B0600070205080204" pitchFamily="34" charset="-128"/>
            </a:endParaRPr>
          </a:p>
        </p:txBody>
      </p:sp>
      <p:sp>
        <p:nvSpPr>
          <p:cNvPr id="25" name="Shape 44">
            <a:extLst>
              <a:ext uri="{FF2B5EF4-FFF2-40B4-BE49-F238E27FC236}">
                <a16:creationId xmlns:a16="http://schemas.microsoft.com/office/drawing/2014/main" id="{D8C88CDF-9F44-4021-8272-ABB627144EC4}"/>
              </a:ext>
            </a:extLst>
          </p:cNvPr>
          <p:cNvSpPr/>
          <p:nvPr/>
        </p:nvSpPr>
        <p:spPr>
          <a:xfrm>
            <a:off x="6833982" y="4896640"/>
            <a:ext cx="0" cy="3797514"/>
          </a:xfrm>
          <a:prstGeom prst="line">
            <a:avLst/>
          </a:prstGeom>
          <a:noFill/>
          <a:ln w="12700">
            <a:solidFill>
              <a:srgbClr val="BFBFBF"/>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26" name="Text 45">
            <a:extLst>
              <a:ext uri="{FF2B5EF4-FFF2-40B4-BE49-F238E27FC236}">
                <a16:creationId xmlns:a16="http://schemas.microsoft.com/office/drawing/2014/main" id="{CFA73722-72FF-7771-D911-02586B4AE7B3}"/>
              </a:ext>
            </a:extLst>
          </p:cNvPr>
          <p:cNvSpPr/>
          <p:nvPr/>
        </p:nvSpPr>
        <p:spPr>
          <a:xfrm>
            <a:off x="7026302" y="4746671"/>
            <a:ext cx="6052597" cy="376606"/>
          </a:xfrm>
          <a:prstGeom prst="rect">
            <a:avLst/>
          </a:prstGeom>
          <a:noFill/>
          <a:ln/>
        </p:spPr>
        <p:txBody>
          <a:bodyPr wrap="square" lIns="0" tIns="0" rIns="0" bIns="0" rtlCol="0" anchor="ctr"/>
          <a:lstStyle/>
          <a:p>
            <a:pPr marL="0" indent="0">
              <a:buNone/>
            </a:pPr>
            <a:r>
              <a:rPr lang="en-US" sz="2800" b="1" dirty="0" err="1">
                <a:solidFill>
                  <a:srgbClr val="3E4492"/>
                </a:solidFill>
                <a:latin typeface="MS PGothic" panose="020B0600070205080204" pitchFamily="34" charset="-128"/>
                <a:ea typeface="MS PGothic" panose="020B0600070205080204" pitchFamily="34" charset="-128"/>
                <a:cs typeface="Meiryo" pitchFamily="34" charset="-120"/>
              </a:rPr>
              <a:t>状態遷移として逆強化学習（提案</a:t>
            </a:r>
            <a:r>
              <a:rPr lang="en-US" sz="2800" b="1" dirty="0">
                <a:solidFill>
                  <a:srgbClr val="3E4492"/>
                </a:solidFill>
                <a:latin typeface="MS PGothic" panose="020B0600070205080204" pitchFamily="34" charset="-128"/>
                <a:ea typeface="MS PGothic" panose="020B0600070205080204" pitchFamily="34" charset="-128"/>
                <a:cs typeface="Meiryo" pitchFamily="34" charset="-120"/>
              </a:rPr>
              <a:t>）</a:t>
            </a:r>
            <a:endParaRPr lang="en-US" sz="2800" dirty="0">
              <a:latin typeface="MS PGothic" panose="020B0600070205080204" pitchFamily="34" charset="-128"/>
              <a:ea typeface="MS PGothic" panose="020B0600070205080204" pitchFamily="34" charset="-128"/>
            </a:endParaRPr>
          </a:p>
        </p:txBody>
      </p:sp>
      <p:grpSp>
        <p:nvGrpSpPr>
          <p:cNvPr id="107" name="グループ化 106">
            <a:extLst>
              <a:ext uri="{FF2B5EF4-FFF2-40B4-BE49-F238E27FC236}">
                <a16:creationId xmlns:a16="http://schemas.microsoft.com/office/drawing/2014/main" id="{BF1D4235-FF43-0980-6415-EE9A4EB1A85C}"/>
              </a:ext>
            </a:extLst>
          </p:cNvPr>
          <p:cNvGrpSpPr/>
          <p:nvPr/>
        </p:nvGrpSpPr>
        <p:grpSpPr>
          <a:xfrm>
            <a:off x="8093837" y="5788836"/>
            <a:ext cx="7753834" cy="2342403"/>
            <a:chOff x="8732105" y="5921356"/>
            <a:chExt cx="7753834" cy="2342403"/>
          </a:xfrm>
        </p:grpSpPr>
        <p:sp>
          <p:nvSpPr>
            <p:cNvPr id="27" name="Shape 46">
              <a:extLst>
                <a:ext uri="{FF2B5EF4-FFF2-40B4-BE49-F238E27FC236}">
                  <a16:creationId xmlns:a16="http://schemas.microsoft.com/office/drawing/2014/main" id="{88626E98-488A-0F11-8970-64BC04AE6C33}"/>
                </a:ext>
              </a:extLst>
            </p:cNvPr>
            <p:cNvSpPr/>
            <p:nvPr/>
          </p:nvSpPr>
          <p:spPr>
            <a:xfrm>
              <a:off x="10008140" y="6002660"/>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28" name="Shape 47">
              <a:extLst>
                <a:ext uri="{FF2B5EF4-FFF2-40B4-BE49-F238E27FC236}">
                  <a16:creationId xmlns:a16="http://schemas.microsoft.com/office/drawing/2014/main" id="{89A5CBB5-74D0-F3A9-BD41-4A3A7D22652D}"/>
                </a:ext>
              </a:extLst>
            </p:cNvPr>
            <p:cNvSpPr/>
            <p:nvPr/>
          </p:nvSpPr>
          <p:spPr>
            <a:xfrm flipV="1">
              <a:off x="9339740" y="6270019"/>
              <a:ext cx="712861" cy="780113"/>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29" name="Shape 48">
              <a:extLst>
                <a:ext uri="{FF2B5EF4-FFF2-40B4-BE49-F238E27FC236}">
                  <a16:creationId xmlns:a16="http://schemas.microsoft.com/office/drawing/2014/main" id="{F039E7D3-598E-46AC-DFA9-0515FC66CC07}"/>
                </a:ext>
              </a:extLst>
            </p:cNvPr>
            <p:cNvSpPr/>
            <p:nvPr/>
          </p:nvSpPr>
          <p:spPr>
            <a:xfrm>
              <a:off x="10008140" y="7752651"/>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0" name="Shape 49">
              <a:extLst>
                <a:ext uri="{FF2B5EF4-FFF2-40B4-BE49-F238E27FC236}">
                  <a16:creationId xmlns:a16="http://schemas.microsoft.com/office/drawing/2014/main" id="{0B36024E-8EEF-04A4-CF74-EACF641CF128}"/>
                </a:ext>
              </a:extLst>
            </p:cNvPr>
            <p:cNvSpPr/>
            <p:nvPr/>
          </p:nvSpPr>
          <p:spPr>
            <a:xfrm>
              <a:off x="9339740" y="7266542"/>
              <a:ext cx="712861" cy="753211"/>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1" name="Shape 50">
              <a:extLst>
                <a:ext uri="{FF2B5EF4-FFF2-40B4-BE49-F238E27FC236}">
                  <a16:creationId xmlns:a16="http://schemas.microsoft.com/office/drawing/2014/main" id="{18BC3185-D598-4C01-3064-DBB65F7AF9FD}"/>
                </a:ext>
              </a:extLst>
            </p:cNvPr>
            <p:cNvSpPr/>
            <p:nvPr/>
          </p:nvSpPr>
          <p:spPr>
            <a:xfrm>
              <a:off x="12560211" y="6002660"/>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2" name="Shape 51">
              <a:extLst>
                <a:ext uri="{FF2B5EF4-FFF2-40B4-BE49-F238E27FC236}">
                  <a16:creationId xmlns:a16="http://schemas.microsoft.com/office/drawing/2014/main" id="{AE2A1431-63D1-4CE6-45A7-DF188B9E79E9}"/>
                </a:ext>
              </a:extLst>
            </p:cNvPr>
            <p:cNvSpPr/>
            <p:nvPr/>
          </p:nvSpPr>
          <p:spPr>
            <a:xfrm flipV="1">
              <a:off x="11891810" y="6270019"/>
              <a:ext cx="712861" cy="780113"/>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3" name="Shape 52">
              <a:extLst>
                <a:ext uri="{FF2B5EF4-FFF2-40B4-BE49-F238E27FC236}">
                  <a16:creationId xmlns:a16="http://schemas.microsoft.com/office/drawing/2014/main" id="{D9DFDDBF-DA4F-2975-6A74-2862E567664F}"/>
                </a:ext>
              </a:extLst>
            </p:cNvPr>
            <p:cNvSpPr/>
            <p:nvPr/>
          </p:nvSpPr>
          <p:spPr>
            <a:xfrm>
              <a:off x="12560211" y="7752651"/>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4" name="Shape 53">
              <a:extLst>
                <a:ext uri="{FF2B5EF4-FFF2-40B4-BE49-F238E27FC236}">
                  <a16:creationId xmlns:a16="http://schemas.microsoft.com/office/drawing/2014/main" id="{C07AE5BA-C3CA-7925-E893-EB1598596292}"/>
                </a:ext>
              </a:extLst>
            </p:cNvPr>
            <p:cNvSpPr/>
            <p:nvPr/>
          </p:nvSpPr>
          <p:spPr>
            <a:xfrm>
              <a:off x="11891810" y="7266542"/>
              <a:ext cx="712861" cy="753211"/>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5" name="Shape 54">
              <a:extLst>
                <a:ext uri="{FF2B5EF4-FFF2-40B4-BE49-F238E27FC236}">
                  <a16:creationId xmlns:a16="http://schemas.microsoft.com/office/drawing/2014/main" id="{D2ABDF2A-49E1-83DE-987B-8C5886CBEFD2}"/>
                </a:ext>
              </a:extLst>
            </p:cNvPr>
            <p:cNvSpPr/>
            <p:nvPr/>
          </p:nvSpPr>
          <p:spPr>
            <a:xfrm>
              <a:off x="8732105" y="6877656"/>
              <a:ext cx="726312" cy="726312"/>
            </a:xfrm>
            <a:prstGeom prst="ellipse">
              <a:avLst/>
            </a:prstGeom>
            <a:solidFill>
              <a:srgbClr val="E8EAF6"/>
            </a:solidFill>
            <a:ln w="19050">
              <a:solidFill>
                <a:srgbClr val="3E4492"/>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6" name="Text 55">
              <a:extLst>
                <a:ext uri="{FF2B5EF4-FFF2-40B4-BE49-F238E27FC236}">
                  <a16:creationId xmlns:a16="http://schemas.microsoft.com/office/drawing/2014/main" id="{507FD149-DF88-3CFE-EAAB-82CA954AC45B}"/>
                </a:ext>
              </a:extLst>
            </p:cNvPr>
            <p:cNvSpPr/>
            <p:nvPr/>
          </p:nvSpPr>
          <p:spPr>
            <a:xfrm>
              <a:off x="8732105" y="6877656"/>
              <a:ext cx="726312" cy="726312"/>
            </a:xfrm>
            <a:prstGeom prst="rect">
              <a:avLst/>
            </a:prstGeom>
            <a:noFill/>
            <a:ln/>
          </p:spPr>
          <p:txBody>
            <a:bodyPr wrap="square" lIns="0" tIns="0" rIns="0" bIns="0" rtlCol="0" anchor="ctr"/>
            <a:lstStyle/>
            <a:p>
              <a:pPr marL="0" indent="0" algn="ctr">
                <a:buNone/>
              </a:pPr>
              <a:r>
                <a:rPr lang="en-US" sz="2400" b="1" dirty="0">
                  <a:solidFill>
                    <a:srgbClr val="3E4492"/>
                  </a:solidFill>
                  <a:latin typeface="MS PGothic" panose="020B0600070205080204" pitchFamily="34" charset="-128"/>
                  <a:ea typeface="MS PGothic" panose="020B0600070205080204" pitchFamily="34" charset="-128"/>
                  <a:cs typeface="Meiryo" pitchFamily="34" charset="-120"/>
                </a:rPr>
                <a:t>sₜ</a:t>
              </a:r>
              <a:endParaRPr lang="en-US" sz="2400" dirty="0">
                <a:latin typeface="MS PGothic" panose="020B0600070205080204" pitchFamily="34" charset="-128"/>
                <a:ea typeface="MS PGothic" panose="020B0600070205080204" pitchFamily="34" charset="-128"/>
              </a:endParaRPr>
            </a:p>
          </p:txBody>
        </p:sp>
        <p:sp>
          <p:nvSpPr>
            <p:cNvPr id="37" name="Shape 56">
              <a:extLst>
                <a:ext uri="{FF2B5EF4-FFF2-40B4-BE49-F238E27FC236}">
                  <a16:creationId xmlns:a16="http://schemas.microsoft.com/office/drawing/2014/main" id="{26A22323-9A51-7DB0-9A8E-1CD616F5FFCD}"/>
                </a:ext>
              </a:extLst>
            </p:cNvPr>
            <p:cNvSpPr/>
            <p:nvPr/>
          </p:nvSpPr>
          <p:spPr>
            <a:xfrm>
              <a:off x="9436962" y="7205778"/>
              <a:ext cx="1926873" cy="1"/>
            </a:xfrm>
            <a:prstGeom prst="line">
              <a:avLst/>
            </a:prstGeom>
            <a:noFill/>
            <a:ln w="31750">
              <a:solidFill>
                <a:srgbClr val="1E8A6E"/>
              </a:solidFill>
              <a:prstDash val="solid"/>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8" name="Text 57">
              <a:extLst>
                <a:ext uri="{FF2B5EF4-FFF2-40B4-BE49-F238E27FC236}">
                  <a16:creationId xmlns:a16="http://schemas.microsoft.com/office/drawing/2014/main" id="{44263426-B5B3-C844-C7A2-7DD137501ADA}"/>
                </a:ext>
              </a:extLst>
            </p:cNvPr>
            <p:cNvSpPr/>
            <p:nvPr/>
          </p:nvSpPr>
          <p:spPr>
            <a:xfrm>
              <a:off x="9315435" y="7242237"/>
              <a:ext cx="2421039" cy="322805"/>
            </a:xfrm>
            <a:prstGeom prst="rect">
              <a:avLst/>
            </a:prstGeom>
            <a:noFill/>
            <a:ln/>
          </p:spPr>
          <p:txBody>
            <a:bodyPr wrap="square" lIns="0" tIns="0" rIns="0" bIns="0" rtlCol="0" anchor="ctr"/>
            <a:lstStyle/>
            <a:p>
              <a:pPr marL="0" indent="0" algn="ctr">
                <a:buNone/>
              </a:pPr>
              <a:r>
                <a:rPr lang="en-US" sz="1600" dirty="0">
                  <a:solidFill>
                    <a:srgbClr val="1E8A6E"/>
                  </a:solidFill>
                  <a:latin typeface="MS PGothic" panose="020B0600070205080204" pitchFamily="34" charset="-128"/>
                  <a:ea typeface="MS PGothic" panose="020B0600070205080204" pitchFamily="34" charset="-128"/>
                  <a:cs typeface="Meiryo" pitchFamily="34" charset="-120"/>
                </a:rPr>
                <a:t>a（承諾／拒否）</a:t>
              </a:r>
              <a:endParaRPr lang="en-US" sz="1600" dirty="0">
                <a:latin typeface="MS PGothic" panose="020B0600070205080204" pitchFamily="34" charset="-128"/>
                <a:ea typeface="MS PGothic" panose="020B0600070205080204" pitchFamily="34" charset="-128"/>
              </a:endParaRPr>
            </a:p>
          </p:txBody>
        </p:sp>
        <p:sp>
          <p:nvSpPr>
            <p:cNvPr id="39" name="Text 58">
              <a:extLst>
                <a:ext uri="{FF2B5EF4-FFF2-40B4-BE49-F238E27FC236}">
                  <a16:creationId xmlns:a16="http://schemas.microsoft.com/office/drawing/2014/main" id="{0D1B3C41-DF2F-4126-44D1-B8F41B616268}"/>
                </a:ext>
              </a:extLst>
            </p:cNvPr>
            <p:cNvSpPr/>
            <p:nvPr/>
          </p:nvSpPr>
          <p:spPr>
            <a:xfrm>
              <a:off x="9315435" y="6853350"/>
              <a:ext cx="2421039" cy="322805"/>
            </a:xfrm>
            <a:prstGeom prst="rect">
              <a:avLst/>
            </a:prstGeom>
            <a:noFill/>
            <a:ln/>
          </p:spPr>
          <p:txBody>
            <a:bodyPr wrap="square" lIns="0" tIns="0" rIns="0" bIns="0" rtlCol="0" anchor="ctr"/>
            <a:lstStyle/>
            <a:p>
              <a:pPr marL="0" indent="0" algn="ctr">
                <a:buNone/>
              </a:pPr>
              <a:r>
                <a:rPr lang="en-US" sz="2000" b="1" dirty="0">
                  <a:solidFill>
                    <a:srgbClr val="3E4492"/>
                  </a:solidFill>
                  <a:latin typeface="MS PGothic" panose="020B0600070205080204" pitchFamily="34" charset="-128"/>
                  <a:ea typeface="MS PGothic" panose="020B0600070205080204" pitchFamily="34" charset="-128"/>
                  <a:cs typeface="Cambria" pitchFamily="34" charset="-120"/>
                </a:rPr>
                <a:t>rθ(s, a)</a:t>
              </a:r>
              <a:endParaRPr lang="en-US" sz="2000" dirty="0">
                <a:latin typeface="MS PGothic" panose="020B0600070205080204" pitchFamily="34" charset="-128"/>
                <a:ea typeface="MS PGothic" panose="020B0600070205080204" pitchFamily="34" charset="-128"/>
              </a:endParaRPr>
            </a:p>
          </p:txBody>
        </p:sp>
        <p:sp>
          <p:nvSpPr>
            <p:cNvPr id="40" name="Shape 59">
              <a:extLst>
                <a:ext uri="{FF2B5EF4-FFF2-40B4-BE49-F238E27FC236}">
                  <a16:creationId xmlns:a16="http://schemas.microsoft.com/office/drawing/2014/main" id="{873C4EF6-9B8A-AD87-F756-F49970DCEB93}"/>
                </a:ext>
              </a:extLst>
            </p:cNvPr>
            <p:cNvSpPr/>
            <p:nvPr/>
          </p:nvSpPr>
          <p:spPr>
            <a:xfrm>
              <a:off x="11284175" y="6877656"/>
              <a:ext cx="726312" cy="726312"/>
            </a:xfrm>
            <a:prstGeom prst="ellipse">
              <a:avLst/>
            </a:prstGeom>
            <a:solidFill>
              <a:srgbClr val="E8EAF6"/>
            </a:solidFill>
            <a:ln w="19050">
              <a:solidFill>
                <a:srgbClr val="3E4492"/>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1" name="Text 60">
              <a:extLst>
                <a:ext uri="{FF2B5EF4-FFF2-40B4-BE49-F238E27FC236}">
                  <a16:creationId xmlns:a16="http://schemas.microsoft.com/office/drawing/2014/main" id="{68494B0A-77FE-A164-327A-C203DDC6833C}"/>
                </a:ext>
              </a:extLst>
            </p:cNvPr>
            <p:cNvSpPr/>
            <p:nvPr/>
          </p:nvSpPr>
          <p:spPr>
            <a:xfrm>
              <a:off x="11284175" y="6877656"/>
              <a:ext cx="726312" cy="726312"/>
            </a:xfrm>
            <a:prstGeom prst="rect">
              <a:avLst/>
            </a:prstGeom>
            <a:noFill/>
            <a:ln/>
          </p:spPr>
          <p:txBody>
            <a:bodyPr wrap="square" lIns="0" tIns="0" rIns="0" bIns="0" rtlCol="0" anchor="ctr"/>
            <a:lstStyle/>
            <a:p>
              <a:pPr marL="0" indent="0" algn="ctr">
                <a:buNone/>
              </a:pPr>
              <a:r>
                <a:rPr lang="en-US" sz="2400" b="1" dirty="0">
                  <a:solidFill>
                    <a:srgbClr val="3E4492"/>
                  </a:solidFill>
                  <a:latin typeface="MS PGothic" panose="020B0600070205080204" pitchFamily="34" charset="-128"/>
                  <a:ea typeface="MS PGothic" panose="020B0600070205080204" pitchFamily="34" charset="-128"/>
                  <a:cs typeface="Meiryo" pitchFamily="34" charset="-120"/>
                </a:rPr>
                <a:t>sₜ₊₁</a:t>
              </a:r>
              <a:endParaRPr lang="en-US" sz="2400" dirty="0">
                <a:latin typeface="MS PGothic" panose="020B0600070205080204" pitchFamily="34" charset="-128"/>
                <a:ea typeface="MS PGothic" panose="020B0600070205080204" pitchFamily="34" charset="-128"/>
              </a:endParaRPr>
            </a:p>
          </p:txBody>
        </p:sp>
        <p:sp>
          <p:nvSpPr>
            <p:cNvPr id="42" name="Shape 61">
              <a:extLst>
                <a:ext uri="{FF2B5EF4-FFF2-40B4-BE49-F238E27FC236}">
                  <a16:creationId xmlns:a16="http://schemas.microsoft.com/office/drawing/2014/main" id="{5BCD2744-D393-5276-EE97-76F58715D833}"/>
                </a:ext>
              </a:extLst>
            </p:cNvPr>
            <p:cNvSpPr/>
            <p:nvPr/>
          </p:nvSpPr>
          <p:spPr>
            <a:xfrm>
              <a:off x="11989032" y="7205778"/>
              <a:ext cx="1926873" cy="1"/>
            </a:xfrm>
            <a:prstGeom prst="line">
              <a:avLst/>
            </a:prstGeom>
            <a:noFill/>
            <a:ln w="31750">
              <a:solidFill>
                <a:srgbClr val="1E8A6E"/>
              </a:solidFill>
              <a:prstDash val="solid"/>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3" name="Text 62">
              <a:extLst>
                <a:ext uri="{FF2B5EF4-FFF2-40B4-BE49-F238E27FC236}">
                  <a16:creationId xmlns:a16="http://schemas.microsoft.com/office/drawing/2014/main" id="{54D9BC3F-46D7-0EC1-ECCB-BDC0E5F21220}"/>
                </a:ext>
              </a:extLst>
            </p:cNvPr>
            <p:cNvSpPr/>
            <p:nvPr/>
          </p:nvSpPr>
          <p:spPr>
            <a:xfrm>
              <a:off x="11867506" y="7242237"/>
              <a:ext cx="2421039" cy="322805"/>
            </a:xfrm>
            <a:prstGeom prst="rect">
              <a:avLst/>
            </a:prstGeom>
            <a:noFill/>
            <a:ln/>
          </p:spPr>
          <p:txBody>
            <a:bodyPr wrap="square" lIns="0" tIns="0" rIns="0" bIns="0" rtlCol="0" anchor="ctr"/>
            <a:lstStyle/>
            <a:p>
              <a:pPr marL="0" indent="0" algn="ctr">
                <a:buNone/>
              </a:pPr>
              <a:r>
                <a:rPr lang="en-US" sz="1600" dirty="0">
                  <a:solidFill>
                    <a:srgbClr val="1E8A6E"/>
                  </a:solidFill>
                  <a:latin typeface="MS PGothic" panose="020B0600070205080204" pitchFamily="34" charset="-128"/>
                  <a:ea typeface="MS PGothic" panose="020B0600070205080204" pitchFamily="34" charset="-128"/>
                  <a:cs typeface="Meiryo" pitchFamily="34" charset="-120"/>
                </a:rPr>
                <a:t>a（承諾／拒否）</a:t>
              </a:r>
              <a:endParaRPr lang="en-US" sz="1600" dirty="0">
                <a:latin typeface="MS PGothic" panose="020B0600070205080204" pitchFamily="34" charset="-128"/>
                <a:ea typeface="MS PGothic" panose="020B0600070205080204" pitchFamily="34" charset="-128"/>
              </a:endParaRPr>
            </a:p>
          </p:txBody>
        </p:sp>
        <p:sp>
          <p:nvSpPr>
            <p:cNvPr id="44" name="Text 63">
              <a:extLst>
                <a:ext uri="{FF2B5EF4-FFF2-40B4-BE49-F238E27FC236}">
                  <a16:creationId xmlns:a16="http://schemas.microsoft.com/office/drawing/2014/main" id="{729F5DE0-5446-5CBB-56FD-F3612FC0ADBD}"/>
                </a:ext>
              </a:extLst>
            </p:cNvPr>
            <p:cNvSpPr/>
            <p:nvPr/>
          </p:nvSpPr>
          <p:spPr>
            <a:xfrm>
              <a:off x="11867506" y="6853350"/>
              <a:ext cx="2421039" cy="322805"/>
            </a:xfrm>
            <a:prstGeom prst="rect">
              <a:avLst/>
            </a:prstGeom>
            <a:noFill/>
            <a:ln/>
          </p:spPr>
          <p:txBody>
            <a:bodyPr wrap="square" lIns="0" tIns="0" rIns="0" bIns="0" rtlCol="0" anchor="ctr"/>
            <a:lstStyle/>
            <a:p>
              <a:pPr marL="0" indent="0" algn="ctr">
                <a:buNone/>
              </a:pPr>
              <a:r>
                <a:rPr lang="en-US" sz="2000" b="1" dirty="0">
                  <a:solidFill>
                    <a:srgbClr val="3E4492"/>
                  </a:solidFill>
                  <a:latin typeface="MS PGothic" panose="020B0600070205080204" pitchFamily="34" charset="-128"/>
                  <a:ea typeface="MS PGothic" panose="020B0600070205080204" pitchFamily="34" charset="-128"/>
                  <a:cs typeface="Cambria" pitchFamily="34" charset="-120"/>
                </a:rPr>
                <a:t>rθ(s, a)</a:t>
              </a:r>
              <a:endParaRPr lang="en-US" sz="2000" dirty="0">
                <a:latin typeface="MS PGothic" panose="020B0600070205080204" pitchFamily="34" charset="-128"/>
                <a:ea typeface="MS PGothic" panose="020B0600070205080204" pitchFamily="34" charset="-128"/>
              </a:endParaRPr>
            </a:p>
          </p:txBody>
        </p:sp>
        <p:sp>
          <p:nvSpPr>
            <p:cNvPr id="45" name="Shape 64">
              <a:extLst>
                <a:ext uri="{FF2B5EF4-FFF2-40B4-BE49-F238E27FC236}">
                  <a16:creationId xmlns:a16="http://schemas.microsoft.com/office/drawing/2014/main" id="{36A10927-C1AC-4249-4D77-CBBD9B0A4503}"/>
                </a:ext>
              </a:extLst>
            </p:cNvPr>
            <p:cNvSpPr/>
            <p:nvPr/>
          </p:nvSpPr>
          <p:spPr>
            <a:xfrm>
              <a:off x="13836246" y="6877656"/>
              <a:ext cx="726312" cy="726312"/>
            </a:xfrm>
            <a:prstGeom prst="ellipse">
              <a:avLst/>
            </a:prstGeom>
            <a:solidFill>
              <a:srgbClr val="E8EAF6"/>
            </a:solidFill>
            <a:ln w="19050">
              <a:solidFill>
                <a:srgbClr val="3E4492"/>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6" name="Text 65">
              <a:extLst>
                <a:ext uri="{FF2B5EF4-FFF2-40B4-BE49-F238E27FC236}">
                  <a16:creationId xmlns:a16="http://schemas.microsoft.com/office/drawing/2014/main" id="{FF61F089-573F-70B6-8D4C-49707BA5E509}"/>
                </a:ext>
              </a:extLst>
            </p:cNvPr>
            <p:cNvSpPr/>
            <p:nvPr/>
          </p:nvSpPr>
          <p:spPr>
            <a:xfrm>
              <a:off x="13836246" y="6877656"/>
              <a:ext cx="726312" cy="726312"/>
            </a:xfrm>
            <a:prstGeom prst="rect">
              <a:avLst/>
            </a:prstGeom>
            <a:noFill/>
            <a:ln/>
          </p:spPr>
          <p:txBody>
            <a:bodyPr wrap="square" lIns="0" tIns="0" rIns="0" bIns="0" rtlCol="0" anchor="ctr"/>
            <a:lstStyle/>
            <a:p>
              <a:pPr marL="0" indent="0" algn="ctr">
                <a:buNone/>
              </a:pPr>
              <a:r>
                <a:rPr lang="en-US" sz="2400" b="1" dirty="0">
                  <a:solidFill>
                    <a:srgbClr val="3E4492"/>
                  </a:solidFill>
                  <a:latin typeface="MS PGothic" panose="020B0600070205080204" pitchFamily="34" charset="-128"/>
                  <a:ea typeface="MS PGothic" panose="020B0600070205080204" pitchFamily="34" charset="-128"/>
                  <a:cs typeface="Meiryo" pitchFamily="34" charset="-120"/>
                </a:rPr>
                <a:t>sₜ₊₂</a:t>
              </a:r>
              <a:endParaRPr lang="en-US" sz="2400" dirty="0">
                <a:latin typeface="MS PGothic" panose="020B0600070205080204" pitchFamily="34" charset="-128"/>
                <a:ea typeface="MS PGothic" panose="020B0600070205080204" pitchFamily="34" charset="-128"/>
              </a:endParaRPr>
            </a:p>
          </p:txBody>
        </p:sp>
        <p:sp>
          <p:nvSpPr>
            <p:cNvPr id="47" name="Text 66">
              <a:extLst>
                <a:ext uri="{FF2B5EF4-FFF2-40B4-BE49-F238E27FC236}">
                  <a16:creationId xmlns:a16="http://schemas.microsoft.com/office/drawing/2014/main" id="{CBAF7D07-C632-ADA4-F76C-994F364D5C60}"/>
                </a:ext>
              </a:extLst>
            </p:cNvPr>
            <p:cNvSpPr/>
            <p:nvPr/>
          </p:nvSpPr>
          <p:spPr>
            <a:xfrm>
              <a:off x="14626172" y="6877656"/>
              <a:ext cx="941515" cy="726312"/>
            </a:xfrm>
            <a:prstGeom prst="rect">
              <a:avLst/>
            </a:prstGeom>
            <a:noFill/>
            <a:ln/>
          </p:spPr>
          <p:txBody>
            <a:bodyPr wrap="square" lIns="0" tIns="0" rIns="0" bIns="0" rtlCol="0" anchor="ctr"/>
            <a:lstStyle/>
            <a:p>
              <a:pPr marL="0" indent="0" algn="ctr">
                <a:buNone/>
              </a:pPr>
              <a:r>
                <a:rPr lang="en-US" sz="2800" dirty="0">
                  <a:solidFill>
                    <a:srgbClr val="575860"/>
                  </a:solidFill>
                  <a:latin typeface="MS PGothic" panose="020B0600070205080204" pitchFamily="34" charset="-128"/>
                  <a:ea typeface="MS PGothic" panose="020B0600070205080204" pitchFamily="34" charset="-128"/>
                  <a:cs typeface="Meiryo" pitchFamily="34" charset="-120"/>
                </a:rPr>
                <a:t>・・・</a:t>
              </a:r>
              <a:endParaRPr lang="en-US" sz="2800" dirty="0">
                <a:latin typeface="MS PGothic" panose="020B0600070205080204" pitchFamily="34" charset="-128"/>
                <a:ea typeface="MS PGothic" panose="020B0600070205080204" pitchFamily="34" charset="-128"/>
              </a:endParaRPr>
            </a:p>
          </p:txBody>
        </p:sp>
        <p:sp>
          <p:nvSpPr>
            <p:cNvPr id="48" name="Shape 67">
              <a:extLst>
                <a:ext uri="{FF2B5EF4-FFF2-40B4-BE49-F238E27FC236}">
                  <a16:creationId xmlns:a16="http://schemas.microsoft.com/office/drawing/2014/main" id="{FC0E2E9D-5CFF-4BFD-628A-845423047301}"/>
                </a:ext>
              </a:extLst>
            </p:cNvPr>
            <p:cNvSpPr/>
            <p:nvPr/>
          </p:nvSpPr>
          <p:spPr>
            <a:xfrm>
              <a:off x="13616073" y="6082757"/>
              <a:ext cx="494737" cy="1"/>
            </a:xfrm>
            <a:prstGeom prst="line">
              <a:avLst/>
            </a:prstGeom>
            <a:noFill/>
            <a:ln w="31750">
              <a:solidFill>
                <a:srgbClr val="1E8A6E"/>
              </a:solidFill>
              <a:prstDash val="solid"/>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9" name="Text 68">
              <a:extLst>
                <a:ext uri="{FF2B5EF4-FFF2-40B4-BE49-F238E27FC236}">
                  <a16:creationId xmlns:a16="http://schemas.microsoft.com/office/drawing/2014/main" id="{45006EF5-08B2-BFC3-3F64-67F5F674DED7}"/>
                </a:ext>
              </a:extLst>
            </p:cNvPr>
            <p:cNvSpPr/>
            <p:nvPr/>
          </p:nvSpPr>
          <p:spPr>
            <a:xfrm>
              <a:off x="14199402" y="5921356"/>
              <a:ext cx="2286537" cy="322805"/>
            </a:xfrm>
            <a:prstGeom prst="rect">
              <a:avLst/>
            </a:prstGeom>
            <a:noFill/>
            <a:ln/>
          </p:spPr>
          <p:txBody>
            <a:bodyPr wrap="square" lIns="0" tIns="0" rIns="0" bIns="0" rtlCol="0" anchor="ctr"/>
            <a:lstStyle/>
            <a:p>
              <a:pPr marL="0" indent="0">
                <a:buNone/>
              </a:pPr>
              <a:r>
                <a:rPr lang="en-US" dirty="0">
                  <a:solidFill>
                    <a:srgbClr val="262626"/>
                  </a:solidFill>
                  <a:latin typeface="MS PGothic" panose="020B0600070205080204" pitchFamily="34" charset="-128"/>
                  <a:ea typeface="MS PGothic" panose="020B0600070205080204" pitchFamily="34" charset="-128"/>
                  <a:cs typeface="Meiryo" pitchFamily="34" charset="-120"/>
                </a:rPr>
                <a:t>実際に観測された選択</a:t>
              </a:r>
              <a:endParaRPr lang="en-US" dirty="0">
                <a:latin typeface="MS PGothic" panose="020B0600070205080204" pitchFamily="34" charset="-128"/>
                <a:ea typeface="MS PGothic" panose="020B0600070205080204" pitchFamily="34" charset="-128"/>
              </a:endParaRPr>
            </a:p>
          </p:txBody>
        </p:sp>
        <p:sp>
          <p:nvSpPr>
            <p:cNvPr id="50" name="Shape 69">
              <a:extLst>
                <a:ext uri="{FF2B5EF4-FFF2-40B4-BE49-F238E27FC236}">
                  <a16:creationId xmlns:a16="http://schemas.microsoft.com/office/drawing/2014/main" id="{D0175A60-6BDC-F06F-F65C-490B04619B01}"/>
                </a:ext>
              </a:extLst>
            </p:cNvPr>
            <p:cNvSpPr/>
            <p:nvPr/>
          </p:nvSpPr>
          <p:spPr>
            <a:xfrm>
              <a:off x="13616073" y="6484274"/>
              <a:ext cx="494737" cy="1"/>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51" name="Text 70">
              <a:extLst>
                <a:ext uri="{FF2B5EF4-FFF2-40B4-BE49-F238E27FC236}">
                  <a16:creationId xmlns:a16="http://schemas.microsoft.com/office/drawing/2014/main" id="{AD38392A-693B-509A-C0C1-C5E00D815A38}"/>
                </a:ext>
              </a:extLst>
            </p:cNvPr>
            <p:cNvSpPr/>
            <p:nvPr/>
          </p:nvSpPr>
          <p:spPr>
            <a:xfrm>
              <a:off x="14199402" y="6338442"/>
              <a:ext cx="2286537" cy="322805"/>
            </a:xfrm>
            <a:prstGeom prst="rect">
              <a:avLst/>
            </a:prstGeom>
            <a:noFill/>
            <a:ln/>
          </p:spPr>
          <p:txBody>
            <a:bodyPr wrap="square" lIns="0" tIns="0" rIns="0" bIns="0" rtlCol="0" anchor="ctr"/>
            <a:lstStyle/>
            <a:p>
              <a:pPr marL="0" indent="0">
                <a:buNone/>
              </a:pPr>
              <a:r>
                <a:rPr lang="en-US" dirty="0">
                  <a:solidFill>
                    <a:srgbClr val="595959"/>
                  </a:solidFill>
                  <a:latin typeface="MS PGothic" panose="020B0600070205080204" pitchFamily="34" charset="-128"/>
                  <a:ea typeface="MS PGothic" panose="020B0600070205080204" pitchFamily="34" charset="-128"/>
                  <a:cs typeface="Meiryo" pitchFamily="34" charset="-120"/>
                </a:rPr>
                <a:t>選ばれなかった選択肢</a:t>
              </a:r>
              <a:endParaRPr lang="en-US" dirty="0">
                <a:latin typeface="MS PGothic" panose="020B0600070205080204" pitchFamily="34" charset="-128"/>
                <a:ea typeface="MS PGothic" panose="020B0600070205080204" pitchFamily="34" charset="-128"/>
              </a:endParaRPr>
            </a:p>
          </p:txBody>
        </p:sp>
      </p:grpSp>
      <p:sp>
        <p:nvSpPr>
          <p:cNvPr id="52" name="Text 71">
            <a:extLst>
              <a:ext uri="{FF2B5EF4-FFF2-40B4-BE49-F238E27FC236}">
                <a16:creationId xmlns:a16="http://schemas.microsoft.com/office/drawing/2014/main" id="{E059898F-8E56-E8BB-7CBB-C4D0217EB4A8}"/>
              </a:ext>
            </a:extLst>
          </p:cNvPr>
          <p:cNvSpPr/>
          <p:nvPr/>
        </p:nvSpPr>
        <p:spPr>
          <a:xfrm>
            <a:off x="7907987" y="8288655"/>
            <a:ext cx="7810964" cy="349706"/>
          </a:xfrm>
          <a:prstGeom prst="rect">
            <a:avLst/>
          </a:prstGeom>
          <a:noFill/>
          <a:ln/>
        </p:spPr>
        <p:txBody>
          <a:bodyPr wrap="square" lIns="0" tIns="0" rIns="0" bIns="0" rtlCol="0" anchor="ctr"/>
          <a:lstStyle/>
          <a:p>
            <a:pPr marL="0" indent="0">
              <a:buNone/>
            </a:pPr>
            <a:r>
              <a:rPr lang="en-US" sz="2400" b="1" dirty="0" err="1">
                <a:solidFill>
                  <a:srgbClr val="3E4492"/>
                </a:solidFill>
                <a:latin typeface="MS PGothic" panose="020B0600070205080204" pitchFamily="34" charset="-128"/>
                <a:ea typeface="MS PGothic" panose="020B0600070205080204" pitchFamily="34" charset="-128"/>
                <a:cs typeface="Meiryo" pitchFamily="34" charset="-120"/>
              </a:rPr>
              <a:t>軌跡として学習すること，いつ・どの順なのかを区別できる</a:t>
            </a:r>
            <a:endParaRPr lang="en-US" sz="2400" dirty="0">
              <a:latin typeface="MS PGothic" panose="020B0600070205080204" pitchFamily="34" charset="-128"/>
              <a:ea typeface="MS PGothic" panose="020B0600070205080204" pitchFamily="34" charset="-128"/>
            </a:endParaRPr>
          </a:p>
        </p:txBody>
      </p:sp>
      <p:sp>
        <p:nvSpPr>
          <p:cNvPr id="53" name="Shape 72">
            <a:extLst>
              <a:ext uri="{FF2B5EF4-FFF2-40B4-BE49-F238E27FC236}">
                <a16:creationId xmlns:a16="http://schemas.microsoft.com/office/drawing/2014/main" id="{EEC30732-3D80-68A4-449C-12286CD1AE01}"/>
              </a:ext>
            </a:extLst>
          </p:cNvPr>
          <p:cNvSpPr/>
          <p:nvPr/>
        </p:nvSpPr>
        <p:spPr>
          <a:xfrm>
            <a:off x="3441032" y="8887089"/>
            <a:ext cx="10031510" cy="457200"/>
          </a:xfrm>
          <a:prstGeom prst="rect">
            <a:avLst/>
          </a:prstGeom>
          <a:solidFill>
            <a:srgbClr val="575860"/>
          </a:solidFill>
          <a:ln w="12700">
            <a:solidFill>
              <a:srgbClr val="575860"/>
            </a:solidFill>
            <a:prstDash val="solid"/>
          </a:ln>
        </p:spPr>
        <p:txBody>
          <a:bodyPr/>
          <a:lstStyle/>
          <a:p>
            <a:endParaRPr lang="ja-JP" altLang="en-US" sz="2000"/>
          </a:p>
        </p:txBody>
      </p:sp>
      <p:sp>
        <p:nvSpPr>
          <p:cNvPr id="56" name="Text 73">
            <a:extLst>
              <a:ext uri="{FF2B5EF4-FFF2-40B4-BE49-F238E27FC236}">
                <a16:creationId xmlns:a16="http://schemas.microsoft.com/office/drawing/2014/main" id="{8EC75B98-CD78-973E-5358-5E46298237EC}"/>
              </a:ext>
            </a:extLst>
          </p:cNvPr>
          <p:cNvSpPr/>
          <p:nvPr/>
        </p:nvSpPr>
        <p:spPr>
          <a:xfrm>
            <a:off x="3185801" y="8939278"/>
            <a:ext cx="11311018" cy="457200"/>
          </a:xfrm>
          <a:prstGeom prst="rect">
            <a:avLst/>
          </a:prstGeom>
          <a:noFill/>
          <a:ln/>
        </p:spPr>
        <p:txBody>
          <a:bodyPr wrap="square" lIns="0" tIns="0" rIns="0" bIns="0" rtlCol="0" anchor="ctr"/>
          <a:lstStyle/>
          <a:p>
            <a:pPr marL="0" indent="0" algn="ctr">
              <a:lnSpc>
                <a:spcPts val="1900"/>
              </a:lnSpc>
              <a:buNone/>
            </a:pPr>
            <a:endParaRPr lang="en-US" sz="2400" dirty="0">
              <a:latin typeface="MS PGothic" panose="020B0600070205080204" pitchFamily="34" charset="-128"/>
              <a:ea typeface="MS PGothic" panose="020B0600070205080204" pitchFamily="34" charset="-128"/>
            </a:endParaRPr>
          </a:p>
        </p:txBody>
      </p:sp>
      <p:grpSp>
        <p:nvGrpSpPr>
          <p:cNvPr id="79" name="グループ化 78">
            <a:extLst>
              <a:ext uri="{FF2B5EF4-FFF2-40B4-BE49-F238E27FC236}">
                <a16:creationId xmlns:a16="http://schemas.microsoft.com/office/drawing/2014/main" id="{5ACD9B09-0700-2AC6-EBD0-A6931BEFF913}"/>
              </a:ext>
            </a:extLst>
          </p:cNvPr>
          <p:cNvGrpSpPr/>
          <p:nvPr/>
        </p:nvGrpSpPr>
        <p:grpSpPr>
          <a:xfrm>
            <a:off x="1723809" y="7625212"/>
            <a:ext cx="1900543" cy="449630"/>
            <a:chOff x="809748" y="7840862"/>
            <a:chExt cx="1900543" cy="449630"/>
          </a:xfrm>
        </p:grpSpPr>
        <p:sp>
          <p:nvSpPr>
            <p:cNvPr id="64" name="Shape 29">
              <a:extLst>
                <a:ext uri="{FF2B5EF4-FFF2-40B4-BE49-F238E27FC236}">
                  <a16:creationId xmlns:a16="http://schemas.microsoft.com/office/drawing/2014/main" id="{9B6C45B3-840F-8C67-090D-A54508DAC2F1}"/>
                </a:ext>
              </a:extLst>
            </p:cNvPr>
            <p:cNvSpPr/>
            <p:nvPr/>
          </p:nvSpPr>
          <p:spPr>
            <a:xfrm>
              <a:off x="809748" y="7840862"/>
              <a:ext cx="449630" cy="449630"/>
            </a:xfrm>
            <a:prstGeom prst="roundRect">
              <a:avLst>
                <a:gd name="adj" fmla="val 11905"/>
              </a:avLst>
            </a:prstGeom>
            <a:solidFill>
              <a:srgbClr val="4B90B1"/>
            </a:solidFill>
            <a:ln w="12700">
              <a:solidFill>
                <a:srgbClr val="4B90B1"/>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65" name="Text 30">
              <a:extLst>
                <a:ext uri="{FF2B5EF4-FFF2-40B4-BE49-F238E27FC236}">
                  <a16:creationId xmlns:a16="http://schemas.microsoft.com/office/drawing/2014/main" id="{ABFA822B-C1E9-1D53-0A69-9489716F5D9E}"/>
                </a:ext>
              </a:extLst>
            </p:cNvPr>
            <p:cNvSpPr/>
            <p:nvPr/>
          </p:nvSpPr>
          <p:spPr>
            <a:xfrm>
              <a:off x="809748" y="7840862"/>
              <a:ext cx="449630" cy="449630"/>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1</a:t>
              </a:r>
              <a:endParaRPr lang="en-US" sz="2400" dirty="0">
                <a:latin typeface="MS PGothic" panose="020B0600070205080204" pitchFamily="34" charset="-128"/>
                <a:ea typeface="MS PGothic" panose="020B0600070205080204" pitchFamily="34" charset="-128"/>
              </a:endParaRPr>
            </a:p>
          </p:txBody>
        </p:sp>
        <p:sp>
          <p:nvSpPr>
            <p:cNvPr id="67" name="Shape 33">
              <a:extLst>
                <a:ext uri="{FF2B5EF4-FFF2-40B4-BE49-F238E27FC236}">
                  <a16:creationId xmlns:a16="http://schemas.microsoft.com/office/drawing/2014/main" id="{1EF678F7-3D78-C5DE-CCCE-92C4326C6A69}"/>
                </a:ext>
              </a:extLst>
            </p:cNvPr>
            <p:cNvSpPr/>
            <p:nvPr/>
          </p:nvSpPr>
          <p:spPr>
            <a:xfrm>
              <a:off x="1777023" y="7840862"/>
              <a:ext cx="449630" cy="449630"/>
            </a:xfrm>
            <a:prstGeom prst="roundRect">
              <a:avLst>
                <a:gd name="adj" fmla="val 11905"/>
              </a:avLst>
            </a:prstGeom>
            <a:solidFill>
              <a:srgbClr val="8C8C8C"/>
            </a:solidFill>
            <a:ln w="12700">
              <a:solidFill>
                <a:srgbClr val="8C8C8C"/>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68" name="Text 34">
              <a:extLst>
                <a:ext uri="{FF2B5EF4-FFF2-40B4-BE49-F238E27FC236}">
                  <a16:creationId xmlns:a16="http://schemas.microsoft.com/office/drawing/2014/main" id="{AA61F105-A280-F4C9-3D93-B1CB9968D66C}"/>
                </a:ext>
              </a:extLst>
            </p:cNvPr>
            <p:cNvSpPr/>
            <p:nvPr/>
          </p:nvSpPr>
          <p:spPr>
            <a:xfrm>
              <a:off x="1777023" y="7840862"/>
              <a:ext cx="449630" cy="449630"/>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0</a:t>
              </a:r>
              <a:endParaRPr lang="en-US" sz="2400" dirty="0">
                <a:latin typeface="MS PGothic" panose="020B0600070205080204" pitchFamily="34" charset="-128"/>
                <a:ea typeface="MS PGothic" panose="020B0600070205080204" pitchFamily="34" charset="-128"/>
              </a:endParaRPr>
            </a:p>
          </p:txBody>
        </p:sp>
        <p:sp>
          <p:nvSpPr>
            <p:cNvPr id="69" name="Shape 35">
              <a:extLst>
                <a:ext uri="{FF2B5EF4-FFF2-40B4-BE49-F238E27FC236}">
                  <a16:creationId xmlns:a16="http://schemas.microsoft.com/office/drawing/2014/main" id="{B3BFC8DA-D286-A066-633E-085B8C13E547}"/>
                </a:ext>
              </a:extLst>
            </p:cNvPr>
            <p:cNvSpPr/>
            <p:nvPr/>
          </p:nvSpPr>
          <p:spPr>
            <a:xfrm>
              <a:off x="2260661" y="7840862"/>
              <a:ext cx="449630" cy="449630"/>
            </a:xfrm>
            <a:prstGeom prst="roundRect">
              <a:avLst>
                <a:gd name="adj" fmla="val 11905"/>
              </a:avLst>
            </a:prstGeom>
            <a:solidFill>
              <a:srgbClr val="8C8C8C"/>
            </a:solidFill>
            <a:ln w="12700">
              <a:solidFill>
                <a:srgbClr val="8C8C8C"/>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70" name="Text 36">
              <a:extLst>
                <a:ext uri="{FF2B5EF4-FFF2-40B4-BE49-F238E27FC236}">
                  <a16:creationId xmlns:a16="http://schemas.microsoft.com/office/drawing/2014/main" id="{48BFC259-5656-3B6C-28D3-0BE8FABE1A4D}"/>
                </a:ext>
              </a:extLst>
            </p:cNvPr>
            <p:cNvSpPr/>
            <p:nvPr/>
          </p:nvSpPr>
          <p:spPr>
            <a:xfrm>
              <a:off x="2260661" y="7840862"/>
              <a:ext cx="449630" cy="449630"/>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0</a:t>
              </a:r>
              <a:endParaRPr lang="en-US" sz="2400" dirty="0">
                <a:latin typeface="MS PGothic" panose="020B0600070205080204" pitchFamily="34" charset="-128"/>
                <a:ea typeface="MS PGothic" panose="020B0600070205080204" pitchFamily="34" charset="-128"/>
              </a:endParaRPr>
            </a:p>
          </p:txBody>
        </p:sp>
        <p:grpSp>
          <p:nvGrpSpPr>
            <p:cNvPr id="71" name="グループ化 70">
              <a:extLst>
                <a:ext uri="{FF2B5EF4-FFF2-40B4-BE49-F238E27FC236}">
                  <a16:creationId xmlns:a16="http://schemas.microsoft.com/office/drawing/2014/main" id="{E74AB6F7-46D4-036F-FFDF-CD378EB54430}"/>
                </a:ext>
              </a:extLst>
            </p:cNvPr>
            <p:cNvGrpSpPr/>
            <p:nvPr/>
          </p:nvGrpSpPr>
          <p:grpSpPr>
            <a:xfrm>
              <a:off x="1289204" y="7840862"/>
              <a:ext cx="449630" cy="449630"/>
              <a:chOff x="3609340" y="5837326"/>
              <a:chExt cx="564909" cy="564909"/>
            </a:xfrm>
          </p:grpSpPr>
          <p:sp>
            <p:nvSpPr>
              <p:cNvPr id="72" name="Shape 37">
                <a:extLst>
                  <a:ext uri="{FF2B5EF4-FFF2-40B4-BE49-F238E27FC236}">
                    <a16:creationId xmlns:a16="http://schemas.microsoft.com/office/drawing/2014/main" id="{A81C7606-76B7-FA77-9CD3-A0EFA9BF0A2C}"/>
                  </a:ext>
                </a:extLst>
              </p:cNvPr>
              <p:cNvSpPr/>
              <p:nvPr/>
            </p:nvSpPr>
            <p:spPr>
              <a:xfrm>
                <a:off x="3609340" y="5837326"/>
                <a:ext cx="564909" cy="564909"/>
              </a:xfrm>
              <a:prstGeom prst="roundRect">
                <a:avLst>
                  <a:gd name="adj" fmla="val 11905"/>
                </a:avLst>
              </a:prstGeom>
              <a:solidFill>
                <a:srgbClr val="4B90B1"/>
              </a:solidFill>
              <a:ln w="12700">
                <a:solidFill>
                  <a:srgbClr val="4B90B1"/>
                </a:solidFill>
                <a:prstDash val="solid"/>
              </a:ln>
            </p:spPr>
            <p:txBody>
              <a:bodyPr/>
              <a:lstStyle/>
              <a:p>
                <a:endParaRPr lang="ja-JP" altLang="en-US" sz="3600">
                  <a:latin typeface="MS PGothic" panose="020B0600070205080204" pitchFamily="34" charset="-128"/>
                  <a:ea typeface="MS PGothic" panose="020B0600070205080204" pitchFamily="34" charset="-128"/>
                </a:endParaRPr>
              </a:p>
            </p:txBody>
          </p:sp>
          <p:sp>
            <p:nvSpPr>
              <p:cNvPr id="73" name="Text 38">
                <a:extLst>
                  <a:ext uri="{FF2B5EF4-FFF2-40B4-BE49-F238E27FC236}">
                    <a16:creationId xmlns:a16="http://schemas.microsoft.com/office/drawing/2014/main" id="{1DE99C81-FF9B-8C34-FF20-ECFE7FC7B36E}"/>
                  </a:ext>
                </a:extLst>
              </p:cNvPr>
              <p:cNvSpPr/>
              <p:nvPr/>
            </p:nvSpPr>
            <p:spPr>
              <a:xfrm>
                <a:off x="3609340" y="5837326"/>
                <a:ext cx="564909" cy="564909"/>
              </a:xfrm>
              <a:prstGeom prst="rect">
                <a:avLst/>
              </a:prstGeom>
              <a:noFill/>
              <a:ln/>
            </p:spPr>
            <p:txBody>
              <a:bodyPr wrap="square" lIns="0" tIns="0" rIns="0" bIns="0" rtlCol="0" anchor="ct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Arial" pitchFamily="34" charset="-120"/>
                  </a:rPr>
                  <a:t>1</a:t>
                </a:r>
                <a:endParaRPr lang="en-US" sz="2400" dirty="0">
                  <a:latin typeface="MS PGothic" panose="020B0600070205080204" pitchFamily="34" charset="-128"/>
                  <a:ea typeface="MS PGothic" panose="020B0600070205080204" pitchFamily="34" charset="-128"/>
                </a:endParaRPr>
              </a:p>
            </p:txBody>
          </p:sp>
        </p:grpSp>
      </p:grpSp>
      <p:sp>
        <p:nvSpPr>
          <p:cNvPr id="77" name="テキスト ボックス 76">
            <a:extLst>
              <a:ext uri="{FF2B5EF4-FFF2-40B4-BE49-F238E27FC236}">
                <a16:creationId xmlns:a16="http://schemas.microsoft.com/office/drawing/2014/main" id="{FA3FF717-B25A-BC82-BF38-F828A5548D7A}"/>
              </a:ext>
            </a:extLst>
          </p:cNvPr>
          <p:cNvSpPr txBox="1"/>
          <p:nvPr/>
        </p:nvSpPr>
        <p:spPr>
          <a:xfrm>
            <a:off x="593327" y="6896502"/>
            <a:ext cx="1103187" cy="400110"/>
          </a:xfrm>
          <a:prstGeom prst="rect">
            <a:avLst/>
          </a:prstGeom>
          <a:noFill/>
        </p:spPr>
        <p:txBody>
          <a:bodyPr wrap="none" rtlCol="0">
            <a:spAutoFit/>
          </a:bodyPr>
          <a:lstStyle/>
          <a:p>
            <a:r>
              <a:rPr kumimoji="1" lang="ja-JP" altLang="en-US" sz="2000"/>
              <a:t>開発者</a:t>
            </a:r>
            <a:r>
              <a:rPr kumimoji="1" lang="en-US" altLang="ja-JP" sz="2000" dirty="0"/>
              <a:t>A</a:t>
            </a:r>
          </a:p>
        </p:txBody>
      </p:sp>
      <p:sp>
        <p:nvSpPr>
          <p:cNvPr id="78" name="テキスト ボックス 77">
            <a:extLst>
              <a:ext uri="{FF2B5EF4-FFF2-40B4-BE49-F238E27FC236}">
                <a16:creationId xmlns:a16="http://schemas.microsoft.com/office/drawing/2014/main" id="{4B281AF4-5F27-C93D-F32B-447003738866}"/>
              </a:ext>
            </a:extLst>
          </p:cNvPr>
          <p:cNvSpPr txBox="1"/>
          <p:nvPr/>
        </p:nvSpPr>
        <p:spPr>
          <a:xfrm>
            <a:off x="593327" y="7653685"/>
            <a:ext cx="1292113" cy="400110"/>
          </a:xfrm>
          <a:prstGeom prst="rect">
            <a:avLst/>
          </a:prstGeom>
          <a:noFill/>
        </p:spPr>
        <p:txBody>
          <a:bodyPr wrap="square" rtlCol="0">
            <a:spAutoFit/>
          </a:bodyPr>
          <a:lstStyle/>
          <a:p>
            <a:r>
              <a:rPr kumimoji="1" lang="ja-JP" altLang="en-US" sz="2000"/>
              <a:t>開発者</a:t>
            </a:r>
            <a:r>
              <a:rPr kumimoji="1" lang="en-US" altLang="ja-JP" sz="2000" dirty="0"/>
              <a:t>B</a:t>
            </a:r>
          </a:p>
        </p:txBody>
      </p:sp>
      <p:cxnSp>
        <p:nvCxnSpPr>
          <p:cNvPr id="82" name="直線矢印コネクタ 81">
            <a:extLst>
              <a:ext uri="{FF2B5EF4-FFF2-40B4-BE49-F238E27FC236}">
                <a16:creationId xmlns:a16="http://schemas.microsoft.com/office/drawing/2014/main" id="{B89584BD-FDD4-984B-3312-F0AECEE958CB}"/>
              </a:ext>
            </a:extLst>
          </p:cNvPr>
          <p:cNvCxnSpPr>
            <a:cxnSpLocks/>
          </p:cNvCxnSpPr>
          <p:nvPr/>
        </p:nvCxnSpPr>
        <p:spPr>
          <a:xfrm>
            <a:off x="3810543" y="7096557"/>
            <a:ext cx="52638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94813C03-341C-CE01-BEE6-ED2354C73E3C}"/>
              </a:ext>
            </a:extLst>
          </p:cNvPr>
          <p:cNvCxnSpPr>
            <a:cxnSpLocks/>
          </p:cNvCxnSpPr>
          <p:nvPr/>
        </p:nvCxnSpPr>
        <p:spPr>
          <a:xfrm>
            <a:off x="3810543" y="7844364"/>
            <a:ext cx="52638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9" name="Text 42">
            <a:extLst>
              <a:ext uri="{FF2B5EF4-FFF2-40B4-BE49-F238E27FC236}">
                <a16:creationId xmlns:a16="http://schemas.microsoft.com/office/drawing/2014/main" id="{EBA8FBB5-A8A1-C029-06B4-54227FBF8ECE}"/>
              </a:ext>
            </a:extLst>
          </p:cNvPr>
          <p:cNvSpPr/>
          <p:nvPr/>
        </p:nvSpPr>
        <p:spPr>
          <a:xfrm>
            <a:off x="4503463" y="7605760"/>
            <a:ext cx="2112804" cy="495960"/>
          </a:xfrm>
          <a:prstGeom prst="rect">
            <a:avLst/>
          </a:prstGeom>
          <a:noFill/>
          <a:ln w="19050">
            <a:solidFill>
              <a:schemeClr val="bg1">
                <a:lumMod val="65000"/>
              </a:schemeClr>
            </a:solidFill>
          </a:ln>
        </p:spPr>
        <p:txBody>
          <a:bodyPr wrap="square" lIns="0" tIns="0" rIns="0" bIns="0" rtlCol="0" anchor="ctr"/>
          <a:lstStyle/>
          <a:p>
            <a:pPr marL="0" indent="0" algn="ctr">
              <a:buNone/>
            </a:pPr>
            <a:r>
              <a:rPr lang="en-US" sz="2400" dirty="0">
                <a:solidFill>
                  <a:srgbClr val="262626"/>
                </a:solidFill>
                <a:latin typeface="MS PGothic" panose="020B0600070205080204" pitchFamily="34" charset="-128"/>
                <a:ea typeface="MS PGothic" panose="020B0600070205080204" pitchFamily="34" charset="-128"/>
                <a:cs typeface="Meiryo" pitchFamily="34" charset="-120"/>
              </a:rPr>
              <a:t>承諾率 = 0.50</a:t>
            </a:r>
            <a:endParaRPr lang="en-US" sz="2400" dirty="0">
              <a:latin typeface="MS PGothic" panose="020B0600070205080204" pitchFamily="34" charset="-128"/>
              <a:ea typeface="MS PGothic" panose="020B0600070205080204" pitchFamily="34" charset="-128"/>
            </a:endParaRPr>
          </a:p>
        </p:txBody>
      </p:sp>
      <p:sp>
        <p:nvSpPr>
          <p:cNvPr id="90" name="等号 89">
            <a:extLst>
              <a:ext uri="{FF2B5EF4-FFF2-40B4-BE49-F238E27FC236}">
                <a16:creationId xmlns:a16="http://schemas.microsoft.com/office/drawing/2014/main" id="{9210230E-9A32-86E8-08AB-15262A1F36FB}"/>
              </a:ext>
            </a:extLst>
          </p:cNvPr>
          <p:cNvSpPr/>
          <p:nvPr/>
        </p:nvSpPr>
        <p:spPr>
          <a:xfrm rot="5400000">
            <a:off x="5440744" y="7373969"/>
            <a:ext cx="238240" cy="228465"/>
          </a:xfrm>
          <a:prstGeom prst="mathEqual">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100" name="グループ化 99">
            <a:extLst>
              <a:ext uri="{FF2B5EF4-FFF2-40B4-BE49-F238E27FC236}">
                <a16:creationId xmlns:a16="http://schemas.microsoft.com/office/drawing/2014/main" id="{3B540140-757D-909C-5768-6052456F5A7B}"/>
              </a:ext>
            </a:extLst>
          </p:cNvPr>
          <p:cNvGrpSpPr/>
          <p:nvPr/>
        </p:nvGrpSpPr>
        <p:grpSpPr>
          <a:xfrm>
            <a:off x="1029699" y="5417320"/>
            <a:ext cx="1045285" cy="1040664"/>
            <a:chOff x="974916" y="5764450"/>
            <a:chExt cx="1045285" cy="1040664"/>
          </a:xfrm>
        </p:grpSpPr>
        <p:sp>
          <p:nvSpPr>
            <p:cNvPr id="93" name="円/楕円 92">
              <a:extLst>
                <a:ext uri="{FF2B5EF4-FFF2-40B4-BE49-F238E27FC236}">
                  <a16:creationId xmlns:a16="http://schemas.microsoft.com/office/drawing/2014/main" id="{57D63217-6C91-9611-C50D-A50064D6629F}"/>
                </a:ext>
              </a:extLst>
            </p:cNvPr>
            <p:cNvSpPr/>
            <p:nvPr/>
          </p:nvSpPr>
          <p:spPr>
            <a:xfrm>
              <a:off x="974916" y="5764450"/>
              <a:ext cx="1045285" cy="1040664"/>
            </a:xfrm>
            <a:prstGeom prst="ellipse">
              <a:avLst/>
            </a:prstGeom>
            <a:solidFill>
              <a:schemeClr val="bg1"/>
            </a:solidFill>
            <a:ln w="28575">
              <a:solidFill>
                <a:srgbClr val="4C90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円/楕円 94">
              <a:extLst>
                <a:ext uri="{FF2B5EF4-FFF2-40B4-BE49-F238E27FC236}">
                  <a16:creationId xmlns:a16="http://schemas.microsoft.com/office/drawing/2014/main" id="{342238C5-36C8-0AA5-E887-F77B2954818D}"/>
                </a:ext>
              </a:extLst>
            </p:cNvPr>
            <p:cNvSpPr/>
            <p:nvPr/>
          </p:nvSpPr>
          <p:spPr>
            <a:xfrm>
              <a:off x="1291079" y="5953828"/>
              <a:ext cx="239452" cy="239452"/>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97" name="円/楕円 96">
              <a:extLst>
                <a:ext uri="{FF2B5EF4-FFF2-40B4-BE49-F238E27FC236}">
                  <a16:creationId xmlns:a16="http://schemas.microsoft.com/office/drawing/2014/main" id="{3755EFD9-1DC7-3918-5CED-97E190D070BF}"/>
                </a:ext>
              </a:extLst>
            </p:cNvPr>
            <p:cNvSpPr/>
            <p:nvPr/>
          </p:nvSpPr>
          <p:spPr>
            <a:xfrm>
              <a:off x="1139200" y="6259625"/>
              <a:ext cx="239452" cy="239452"/>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98" name="円/楕円 97">
              <a:extLst>
                <a:ext uri="{FF2B5EF4-FFF2-40B4-BE49-F238E27FC236}">
                  <a16:creationId xmlns:a16="http://schemas.microsoft.com/office/drawing/2014/main" id="{85A9F465-A1BC-0C9C-8C21-5AA07D1FFA79}"/>
                </a:ext>
              </a:extLst>
            </p:cNvPr>
            <p:cNvSpPr/>
            <p:nvPr/>
          </p:nvSpPr>
          <p:spPr>
            <a:xfrm>
              <a:off x="1491244" y="6383513"/>
              <a:ext cx="239452" cy="239452"/>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99" name="円/楕円 98">
              <a:extLst>
                <a:ext uri="{FF2B5EF4-FFF2-40B4-BE49-F238E27FC236}">
                  <a16:creationId xmlns:a16="http://schemas.microsoft.com/office/drawing/2014/main" id="{7B5CD0F2-CB2E-A3FF-324F-3F00CF9942B5}"/>
                </a:ext>
              </a:extLst>
            </p:cNvPr>
            <p:cNvSpPr/>
            <p:nvPr/>
          </p:nvSpPr>
          <p:spPr>
            <a:xfrm>
              <a:off x="1610970" y="5981925"/>
              <a:ext cx="239452" cy="239452"/>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grpSp>
      <p:sp>
        <p:nvSpPr>
          <p:cNvPr id="101" name="テキスト ボックス 100">
            <a:extLst>
              <a:ext uri="{FF2B5EF4-FFF2-40B4-BE49-F238E27FC236}">
                <a16:creationId xmlns:a16="http://schemas.microsoft.com/office/drawing/2014/main" id="{E62AF681-E2E0-2042-34E5-68D58E517001}"/>
              </a:ext>
            </a:extLst>
          </p:cNvPr>
          <p:cNvSpPr txBox="1"/>
          <p:nvPr/>
        </p:nvSpPr>
        <p:spPr>
          <a:xfrm>
            <a:off x="2168248" y="5706819"/>
            <a:ext cx="3669000" cy="461665"/>
          </a:xfrm>
          <a:prstGeom prst="rect">
            <a:avLst/>
          </a:prstGeom>
          <a:noFill/>
        </p:spPr>
        <p:txBody>
          <a:bodyPr wrap="square" rtlCol="0">
            <a:spAutoFit/>
          </a:bodyPr>
          <a:lstStyle/>
          <a:p>
            <a:r>
              <a:rPr kumimoji="1" lang="ja-JP" altLang="en-US" sz="2400" u="sng"/>
              <a:t>累積値や平均値から学習</a:t>
            </a:r>
          </a:p>
        </p:txBody>
      </p:sp>
      <p:sp>
        <p:nvSpPr>
          <p:cNvPr id="104" name="角丸四角形 103">
            <a:extLst>
              <a:ext uri="{FF2B5EF4-FFF2-40B4-BE49-F238E27FC236}">
                <a16:creationId xmlns:a16="http://schemas.microsoft.com/office/drawing/2014/main" id="{BB09EE34-04F5-4DAD-2A88-7AD389F36959}"/>
              </a:ext>
            </a:extLst>
          </p:cNvPr>
          <p:cNvSpPr/>
          <p:nvPr/>
        </p:nvSpPr>
        <p:spPr>
          <a:xfrm>
            <a:off x="569963" y="3592568"/>
            <a:ext cx="16387998" cy="1048251"/>
          </a:xfrm>
          <a:prstGeom prst="roundRect">
            <a:avLst/>
          </a:prstGeom>
          <a:solidFill>
            <a:schemeClr val="tx1">
              <a:lumMod val="10000"/>
              <a:lumOff val="90000"/>
            </a:schemeClr>
          </a:solidFill>
          <a:ln>
            <a:solidFill>
              <a:schemeClr val="tx1">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kumimoji="1" lang="ja-JP" altLang="en-US" sz="2800">
                <a:solidFill>
                  <a:schemeClr val="tx1"/>
                </a:solidFill>
              </a:rPr>
              <a:t>開発者の選択を，累積特徴量ではなく</a:t>
            </a:r>
            <a:r>
              <a:rPr kumimoji="1" lang="ja-JP" altLang="en-US" sz="2800" b="1">
                <a:solidFill>
                  <a:schemeClr val="tx1"/>
                </a:solidFill>
              </a:rPr>
              <a:t>軌跡</a:t>
            </a:r>
            <a:r>
              <a:rPr kumimoji="1" lang="ja-JP" altLang="en-US" sz="2800">
                <a:solidFill>
                  <a:schemeClr val="tx1"/>
                </a:solidFill>
              </a:rPr>
              <a:t>として捉え，その選択方法を学習する</a:t>
            </a:r>
            <a:r>
              <a:rPr kumimoji="1" lang="en-US" altLang="ja-JP" sz="2800" dirty="0">
                <a:solidFill>
                  <a:schemeClr val="tx1"/>
                </a:solidFill>
              </a:rPr>
              <a:t>(</a:t>
            </a:r>
            <a:r>
              <a:rPr kumimoji="1" lang="ja-JP" altLang="en-US" sz="2800">
                <a:solidFill>
                  <a:schemeClr val="tx1"/>
                </a:solidFill>
              </a:rPr>
              <a:t>逆強化学習</a:t>
            </a:r>
            <a:r>
              <a:rPr kumimoji="1" lang="en-US" altLang="ja-JP" sz="2800" dirty="0">
                <a:solidFill>
                  <a:schemeClr val="tx1"/>
                </a:solidFill>
              </a:rPr>
              <a:t>)</a:t>
            </a:r>
            <a:endParaRPr kumimoji="1" lang="ja-JP" altLang="en-US" sz="2800">
              <a:solidFill>
                <a:schemeClr val="tx1"/>
              </a:solidFill>
            </a:endParaRPr>
          </a:p>
        </p:txBody>
      </p:sp>
      <p:sp>
        <p:nvSpPr>
          <p:cNvPr id="106" name="テキスト ボックス 105">
            <a:extLst>
              <a:ext uri="{FF2B5EF4-FFF2-40B4-BE49-F238E27FC236}">
                <a16:creationId xmlns:a16="http://schemas.microsoft.com/office/drawing/2014/main" id="{CC5FDC23-8364-665C-94B4-FDBFE4BEBC23}"/>
              </a:ext>
            </a:extLst>
          </p:cNvPr>
          <p:cNvSpPr txBox="1"/>
          <p:nvPr/>
        </p:nvSpPr>
        <p:spPr>
          <a:xfrm>
            <a:off x="8226751" y="5257821"/>
            <a:ext cx="8666920" cy="461665"/>
          </a:xfrm>
          <a:prstGeom prst="rect">
            <a:avLst/>
          </a:prstGeom>
          <a:noFill/>
        </p:spPr>
        <p:txBody>
          <a:bodyPr wrap="square">
            <a:spAutoFit/>
          </a:bodyPr>
          <a:lstStyle/>
          <a:p>
            <a:r>
              <a:rPr lang="ja-JP" altLang="en-US" sz="2400" u="sng"/>
              <a:t>選択の軌跡から判断基準 </a:t>
            </a:r>
            <a:r>
              <a:rPr lang="en-US" altLang="ja-JP" sz="2400" u="sng" dirty="0"/>
              <a:t>r</a:t>
            </a:r>
            <a:r>
              <a:rPr lang="el-GR" altLang="ja-JP" sz="2400" u="sng" dirty="0"/>
              <a:t>θ(</a:t>
            </a:r>
            <a:r>
              <a:rPr lang="en-US" altLang="ja-JP" sz="2400" u="sng" dirty="0"/>
              <a:t>s, a) </a:t>
            </a:r>
            <a:r>
              <a:rPr lang="ja-JP" altLang="en-US" sz="2400" u="sng"/>
              <a:t>を逆算して学習</a:t>
            </a:r>
            <a:endParaRPr lang="en-US" altLang="ja-JP" sz="2400" u="sng" dirty="0"/>
          </a:p>
        </p:txBody>
      </p:sp>
      <p:sp>
        <p:nvSpPr>
          <p:cNvPr id="109" name="テキスト ボックス 108">
            <a:extLst>
              <a:ext uri="{FF2B5EF4-FFF2-40B4-BE49-F238E27FC236}">
                <a16:creationId xmlns:a16="http://schemas.microsoft.com/office/drawing/2014/main" id="{E2CB316C-AEB5-8DB8-0AC4-E1E234E907BA}"/>
              </a:ext>
            </a:extLst>
          </p:cNvPr>
          <p:cNvSpPr txBox="1"/>
          <p:nvPr/>
        </p:nvSpPr>
        <p:spPr>
          <a:xfrm>
            <a:off x="3712519" y="8887089"/>
            <a:ext cx="9542339" cy="461665"/>
          </a:xfrm>
          <a:prstGeom prst="rect">
            <a:avLst/>
          </a:prstGeom>
          <a:noFill/>
        </p:spPr>
        <p:txBody>
          <a:bodyPr wrap="square">
            <a:spAutoFit/>
          </a:bodyPr>
          <a:lstStyle/>
          <a:p>
            <a:r>
              <a:rPr lang="en-US" altLang="ja-JP" sz="2400" dirty="0">
                <a:solidFill>
                  <a:schemeClr val="bg1"/>
                </a:solidFill>
              </a:rPr>
              <a:t>r</a:t>
            </a:r>
            <a:r>
              <a:rPr lang="el-GR" altLang="ja-JP" sz="2400" dirty="0">
                <a:solidFill>
                  <a:schemeClr val="bg1"/>
                </a:solidFill>
              </a:rPr>
              <a:t>θ(</a:t>
            </a:r>
            <a:r>
              <a:rPr lang="en-US" altLang="ja-JP" sz="2400" dirty="0">
                <a:solidFill>
                  <a:schemeClr val="bg1"/>
                </a:solidFill>
              </a:rPr>
              <a:t>s, a) </a:t>
            </a:r>
            <a:r>
              <a:rPr lang="ja-JP" altLang="en-US" sz="2400">
                <a:solidFill>
                  <a:schemeClr val="bg1"/>
                </a:solidFill>
              </a:rPr>
              <a:t>から各時点の貢献確率を求め，期間ごとに貢献するかを予測する</a:t>
            </a:r>
          </a:p>
        </p:txBody>
      </p:sp>
    </p:spTree>
    <p:extLst>
      <p:ext uri="{BB962C8B-B14F-4D97-AF65-F5344CB8AC3E}">
        <p14:creationId xmlns:p14="http://schemas.microsoft.com/office/powerpoint/2010/main" val="1841573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E40889-07C3-5A45-1E3B-76EBD3A457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31884D-A8ED-AE4F-9372-BB5A82C40000}"/>
              </a:ext>
            </a:extLst>
          </p:cNvPr>
          <p:cNvSpPr>
            <a:spLocks noGrp="1"/>
          </p:cNvSpPr>
          <p:nvPr>
            <p:ph type="title"/>
          </p:nvPr>
        </p:nvSpPr>
        <p:spPr/>
        <p:txBody>
          <a:bodyPr/>
          <a:lstStyle/>
          <a:p>
            <a:r>
              <a:rPr kumimoji="1" lang="ja-JP" altLang="en-US"/>
              <a:t>目的・キーアイデア</a:t>
            </a:r>
          </a:p>
        </p:txBody>
      </p:sp>
      <p:sp>
        <p:nvSpPr>
          <p:cNvPr id="3" name="スライド番号プレースホルダー 2">
            <a:extLst>
              <a:ext uri="{FF2B5EF4-FFF2-40B4-BE49-F238E27FC236}">
                <a16:creationId xmlns:a16="http://schemas.microsoft.com/office/drawing/2014/main" id="{2D72F077-E8AD-C296-20A5-99165C599B53}"/>
              </a:ext>
            </a:extLst>
          </p:cNvPr>
          <p:cNvSpPr>
            <a:spLocks noGrp="1"/>
          </p:cNvSpPr>
          <p:nvPr>
            <p:ph type="sldNum" sz="quarter" idx="12"/>
          </p:nvPr>
        </p:nvSpPr>
        <p:spPr/>
        <p:txBody>
          <a:bodyPr/>
          <a:lstStyle/>
          <a:p>
            <a:fld id="{85D74467-FFC2-5C49-A08A-98A9FE9BCA53}" type="slidenum">
              <a:rPr kumimoji="1" lang="ja-JP" altLang="en-US" smtClean="0"/>
              <a:pPr/>
              <a:t>8</a:t>
            </a:fld>
            <a:endParaRPr kumimoji="1" lang="ja-JP" altLang="en-US"/>
          </a:p>
        </p:txBody>
      </p:sp>
      <p:sp>
        <p:nvSpPr>
          <p:cNvPr id="4" name="テキスト プレースホルダー 3">
            <a:extLst>
              <a:ext uri="{FF2B5EF4-FFF2-40B4-BE49-F238E27FC236}">
                <a16:creationId xmlns:a16="http://schemas.microsoft.com/office/drawing/2014/main" id="{6EA86128-3501-4A5C-310B-D501BD68F44E}"/>
              </a:ext>
            </a:extLst>
          </p:cNvPr>
          <p:cNvSpPr>
            <a:spLocks noGrp="1"/>
          </p:cNvSpPr>
          <p:nvPr>
            <p:ph type="body" sz="quarter" idx="13"/>
          </p:nvPr>
        </p:nvSpPr>
        <p:spPr>
          <a:xfrm>
            <a:off x="576000" y="2160000"/>
            <a:ext cx="16185600" cy="3588162"/>
          </a:xfrm>
        </p:spPr>
        <p:txBody>
          <a:bodyPr/>
          <a:lstStyle/>
          <a:p>
            <a:r>
              <a:rPr lang="ja-JP" altLang="en-US"/>
              <a:t>目的</a:t>
            </a:r>
            <a:endParaRPr lang="en-US" altLang="ja-JP" dirty="0"/>
          </a:p>
          <a:p>
            <a:pPr lvl="1"/>
            <a:r>
              <a:rPr lang="ja-JP" altLang="en-US"/>
              <a:t>モジュール単位での，</a:t>
            </a:r>
            <a:r>
              <a:rPr kumimoji="1" lang="ja-JP" altLang="en-US" sz="3200"/>
              <a:t>開発者の離脱・復帰などの時系列パターンを考慮した予測</a:t>
            </a:r>
            <a:endParaRPr kumimoji="1" lang="en-US" altLang="ja-JP" sz="3200" dirty="0"/>
          </a:p>
          <a:p>
            <a:r>
              <a:rPr lang="ja-JP" altLang="en-US"/>
              <a:t>キーアイデア</a:t>
            </a:r>
            <a:endParaRPr lang="en-US" altLang="ja-JP" dirty="0"/>
          </a:p>
          <a:p>
            <a:pPr lvl="1"/>
            <a:r>
              <a:rPr kumimoji="1" lang="ja-JP" altLang="en-US"/>
              <a:t>開発者を「レビュー依頼に対して 承諾／拒否 を選ぶ主体」として捉える逆強化学習</a:t>
            </a:r>
          </a:p>
          <a:p>
            <a:pPr lvl="1"/>
            <a:endParaRPr kumimoji="1" lang="ja-JP" altLang="en-US"/>
          </a:p>
        </p:txBody>
      </p:sp>
      <p:sp>
        <p:nvSpPr>
          <p:cNvPr id="6" name="Text 25">
            <a:extLst>
              <a:ext uri="{FF2B5EF4-FFF2-40B4-BE49-F238E27FC236}">
                <a16:creationId xmlns:a16="http://schemas.microsoft.com/office/drawing/2014/main" id="{8CE0D740-1CE4-FA71-EF3D-F4F43FD1FCB8}"/>
              </a:ext>
            </a:extLst>
          </p:cNvPr>
          <p:cNvSpPr/>
          <p:nvPr/>
        </p:nvSpPr>
        <p:spPr>
          <a:xfrm>
            <a:off x="771180" y="5388739"/>
            <a:ext cx="8070130" cy="376606"/>
          </a:xfrm>
          <a:prstGeom prst="rect">
            <a:avLst/>
          </a:prstGeom>
          <a:noFill/>
          <a:ln/>
        </p:spPr>
        <p:txBody>
          <a:bodyPr wrap="square" lIns="0" tIns="0" rIns="0" bIns="0" rtlCol="0" anchor="ctr"/>
          <a:lstStyle/>
          <a:p>
            <a:pPr marL="0" indent="0">
              <a:buNone/>
            </a:pPr>
            <a:endParaRPr lang="en-US" sz="2800" dirty="0">
              <a:latin typeface="MS PGothic" panose="020B0600070205080204" pitchFamily="34" charset="-128"/>
              <a:ea typeface="MS PGothic" panose="020B0600070205080204" pitchFamily="34" charset="-128"/>
            </a:endParaRPr>
          </a:p>
        </p:txBody>
      </p:sp>
      <p:sp>
        <p:nvSpPr>
          <p:cNvPr id="7" name="Text 26">
            <a:extLst>
              <a:ext uri="{FF2B5EF4-FFF2-40B4-BE49-F238E27FC236}">
                <a16:creationId xmlns:a16="http://schemas.microsoft.com/office/drawing/2014/main" id="{49FC68A0-E844-8391-9FFE-643C01BFFB68}"/>
              </a:ext>
            </a:extLst>
          </p:cNvPr>
          <p:cNvSpPr/>
          <p:nvPr/>
        </p:nvSpPr>
        <p:spPr>
          <a:xfrm>
            <a:off x="1136070" y="5351219"/>
            <a:ext cx="4438571" cy="376606"/>
          </a:xfrm>
          <a:prstGeom prst="rect">
            <a:avLst/>
          </a:prstGeom>
          <a:noFill/>
          <a:ln/>
        </p:spPr>
        <p:txBody>
          <a:bodyPr wrap="square" lIns="0" tIns="0" rIns="0" bIns="0" rtlCol="0" anchor="ctr"/>
          <a:lstStyle/>
          <a:p>
            <a:pPr marL="0" indent="0">
              <a:buNone/>
            </a:pPr>
            <a:r>
              <a:rPr lang="en-US" sz="2800" b="1" dirty="0" err="1">
                <a:latin typeface="MS PGothic" panose="020B0600070205080204" pitchFamily="34" charset="-128"/>
                <a:ea typeface="MS PGothic" panose="020B0600070205080204" pitchFamily="34" charset="-128"/>
                <a:cs typeface="Meiryo" pitchFamily="34" charset="-120"/>
              </a:rPr>
              <a:t>累積統計量（RFなど</a:t>
            </a:r>
            <a:r>
              <a:rPr lang="en-US" sz="2800" b="1" dirty="0">
                <a:latin typeface="MS PGothic" panose="020B0600070205080204" pitchFamily="34" charset="-128"/>
                <a:ea typeface="MS PGothic" panose="020B0600070205080204" pitchFamily="34" charset="-128"/>
                <a:cs typeface="Meiryo" pitchFamily="34" charset="-120"/>
              </a:rPr>
              <a:t>）</a:t>
            </a:r>
            <a:endParaRPr lang="en-US" sz="2800" dirty="0">
              <a:latin typeface="MS PGothic" panose="020B0600070205080204" pitchFamily="34" charset="-128"/>
              <a:ea typeface="MS PGothic" panose="020B0600070205080204" pitchFamily="34" charset="-128"/>
            </a:endParaRPr>
          </a:p>
        </p:txBody>
      </p:sp>
      <p:grpSp>
        <p:nvGrpSpPr>
          <p:cNvPr id="62" name="グループ化 61">
            <a:extLst>
              <a:ext uri="{FF2B5EF4-FFF2-40B4-BE49-F238E27FC236}">
                <a16:creationId xmlns:a16="http://schemas.microsoft.com/office/drawing/2014/main" id="{7DB7EEB5-FB94-8A68-3883-C60A22D61C2D}"/>
              </a:ext>
            </a:extLst>
          </p:cNvPr>
          <p:cNvGrpSpPr/>
          <p:nvPr/>
        </p:nvGrpSpPr>
        <p:grpSpPr>
          <a:xfrm>
            <a:off x="3675123" y="5930973"/>
            <a:ext cx="564909" cy="564909"/>
            <a:chOff x="801882" y="6018894"/>
            <a:chExt cx="564909" cy="564909"/>
          </a:xfrm>
        </p:grpSpPr>
        <p:sp>
          <p:nvSpPr>
            <p:cNvPr id="8" name="Shape 27">
              <a:extLst>
                <a:ext uri="{FF2B5EF4-FFF2-40B4-BE49-F238E27FC236}">
                  <a16:creationId xmlns:a16="http://schemas.microsoft.com/office/drawing/2014/main" id="{D7F552FC-DC76-A631-D2E0-F8396E6C54E2}"/>
                </a:ext>
              </a:extLst>
            </p:cNvPr>
            <p:cNvSpPr/>
            <p:nvPr/>
          </p:nvSpPr>
          <p:spPr>
            <a:xfrm>
              <a:off x="801882" y="6018894"/>
              <a:ext cx="564909" cy="564909"/>
            </a:xfrm>
            <a:prstGeom prst="roundRect">
              <a:avLst>
                <a:gd name="adj" fmla="val 11905"/>
              </a:avLst>
            </a:prstGeom>
            <a:solidFill>
              <a:srgbClr val="4B90B1"/>
            </a:solidFill>
            <a:ln w="12700">
              <a:solidFill>
                <a:srgbClr val="4B90B1"/>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9" name="Text 28">
              <a:extLst>
                <a:ext uri="{FF2B5EF4-FFF2-40B4-BE49-F238E27FC236}">
                  <a16:creationId xmlns:a16="http://schemas.microsoft.com/office/drawing/2014/main" id="{5433CB08-6917-9A9D-BD63-D6021DE9A25D}"/>
                </a:ext>
              </a:extLst>
            </p:cNvPr>
            <p:cNvSpPr/>
            <p:nvPr/>
          </p:nvSpPr>
          <p:spPr>
            <a:xfrm>
              <a:off x="801882" y="6018894"/>
              <a:ext cx="564909" cy="564909"/>
            </a:xfrm>
            <a:prstGeom prst="rect">
              <a:avLst/>
            </a:prstGeom>
            <a:noFill/>
            <a:ln/>
          </p:spPr>
          <p:txBody>
            <a:bodyPr wrap="square" lIns="0" tIns="0" rIns="0" bIns="0" rtlCol="0" anchor="ctr"/>
            <a:lstStyle/>
            <a:p>
              <a:pPr marL="0" indent="0" algn="ctr">
                <a:buNone/>
              </a:pPr>
              <a:r>
                <a:rPr lang="en-US" sz="2800" b="1" dirty="0">
                  <a:solidFill>
                    <a:srgbClr val="FFFFFF"/>
                  </a:solidFill>
                  <a:latin typeface="MS PGothic" panose="020B0600070205080204" pitchFamily="34" charset="-128"/>
                  <a:ea typeface="MS PGothic" panose="020B0600070205080204" pitchFamily="34" charset="-128"/>
                  <a:cs typeface="Arial" pitchFamily="34" charset="-120"/>
                </a:rPr>
                <a:t>1</a:t>
              </a:r>
              <a:endParaRPr lang="en-US" sz="2800" dirty="0">
                <a:latin typeface="MS PGothic" panose="020B0600070205080204" pitchFamily="34" charset="-128"/>
                <a:ea typeface="MS PGothic" panose="020B0600070205080204" pitchFamily="34" charset="-128"/>
              </a:endParaRPr>
            </a:p>
          </p:txBody>
        </p:sp>
      </p:grpSp>
      <p:grpSp>
        <p:nvGrpSpPr>
          <p:cNvPr id="54" name="グループ化 53">
            <a:extLst>
              <a:ext uri="{FF2B5EF4-FFF2-40B4-BE49-F238E27FC236}">
                <a16:creationId xmlns:a16="http://schemas.microsoft.com/office/drawing/2014/main" id="{5BCF7D4E-76B2-A7C6-A207-1F5E6BBD874C}"/>
              </a:ext>
            </a:extLst>
          </p:cNvPr>
          <p:cNvGrpSpPr/>
          <p:nvPr/>
        </p:nvGrpSpPr>
        <p:grpSpPr>
          <a:xfrm>
            <a:off x="3110214" y="5931881"/>
            <a:ext cx="564909" cy="564909"/>
            <a:chOff x="1409518" y="6018894"/>
            <a:chExt cx="564909" cy="564909"/>
          </a:xfrm>
        </p:grpSpPr>
        <p:sp>
          <p:nvSpPr>
            <p:cNvPr id="10" name="Shape 29">
              <a:extLst>
                <a:ext uri="{FF2B5EF4-FFF2-40B4-BE49-F238E27FC236}">
                  <a16:creationId xmlns:a16="http://schemas.microsoft.com/office/drawing/2014/main" id="{E3ED85B2-BCF2-62CB-90E8-BD0CFC6F21A9}"/>
                </a:ext>
              </a:extLst>
            </p:cNvPr>
            <p:cNvSpPr/>
            <p:nvPr/>
          </p:nvSpPr>
          <p:spPr>
            <a:xfrm>
              <a:off x="1409518" y="6018894"/>
              <a:ext cx="564909" cy="564909"/>
            </a:xfrm>
            <a:prstGeom prst="roundRect">
              <a:avLst>
                <a:gd name="adj" fmla="val 11905"/>
              </a:avLst>
            </a:prstGeom>
            <a:solidFill>
              <a:srgbClr val="4B90B1"/>
            </a:solidFill>
            <a:ln w="12700">
              <a:solidFill>
                <a:srgbClr val="4B90B1"/>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11" name="Text 30">
              <a:extLst>
                <a:ext uri="{FF2B5EF4-FFF2-40B4-BE49-F238E27FC236}">
                  <a16:creationId xmlns:a16="http://schemas.microsoft.com/office/drawing/2014/main" id="{B740FB03-A6C5-F64C-70D3-D6641DBD97A4}"/>
                </a:ext>
              </a:extLst>
            </p:cNvPr>
            <p:cNvSpPr/>
            <p:nvPr/>
          </p:nvSpPr>
          <p:spPr>
            <a:xfrm>
              <a:off x="1409518" y="6018894"/>
              <a:ext cx="564909" cy="564909"/>
            </a:xfrm>
            <a:prstGeom prst="rect">
              <a:avLst/>
            </a:prstGeom>
            <a:noFill/>
            <a:ln/>
          </p:spPr>
          <p:txBody>
            <a:bodyPr wrap="square" lIns="0" tIns="0" rIns="0" bIns="0" rtlCol="0" anchor="ctr"/>
            <a:lstStyle/>
            <a:p>
              <a:pPr marL="0" indent="0" algn="ctr">
                <a:buNone/>
              </a:pPr>
              <a:r>
                <a:rPr lang="en-US" sz="2800" b="1" dirty="0">
                  <a:solidFill>
                    <a:srgbClr val="FFFFFF"/>
                  </a:solidFill>
                  <a:latin typeface="MS PGothic" panose="020B0600070205080204" pitchFamily="34" charset="-128"/>
                  <a:ea typeface="MS PGothic" panose="020B0600070205080204" pitchFamily="34" charset="-128"/>
                  <a:cs typeface="Arial" pitchFamily="34" charset="-120"/>
                </a:rPr>
                <a:t>1</a:t>
              </a:r>
              <a:endParaRPr lang="en-US" sz="2800" dirty="0">
                <a:latin typeface="MS PGothic" panose="020B0600070205080204" pitchFamily="34" charset="-128"/>
                <a:ea typeface="MS PGothic" panose="020B0600070205080204" pitchFamily="34" charset="-128"/>
              </a:endParaRPr>
            </a:p>
          </p:txBody>
        </p:sp>
      </p:grpSp>
      <p:grpSp>
        <p:nvGrpSpPr>
          <p:cNvPr id="59" name="グループ化 58">
            <a:extLst>
              <a:ext uri="{FF2B5EF4-FFF2-40B4-BE49-F238E27FC236}">
                <a16:creationId xmlns:a16="http://schemas.microsoft.com/office/drawing/2014/main" id="{D0EB8E52-954E-163A-7F9E-8F936E84677A}"/>
              </a:ext>
            </a:extLst>
          </p:cNvPr>
          <p:cNvGrpSpPr/>
          <p:nvPr/>
        </p:nvGrpSpPr>
        <p:grpSpPr>
          <a:xfrm>
            <a:off x="1980148" y="5930973"/>
            <a:ext cx="564909" cy="564909"/>
            <a:chOff x="2624790" y="6018894"/>
            <a:chExt cx="564909" cy="564909"/>
          </a:xfrm>
        </p:grpSpPr>
        <p:sp>
          <p:nvSpPr>
            <p:cNvPr id="14" name="Shape 33">
              <a:extLst>
                <a:ext uri="{FF2B5EF4-FFF2-40B4-BE49-F238E27FC236}">
                  <a16:creationId xmlns:a16="http://schemas.microsoft.com/office/drawing/2014/main" id="{FADBE3A0-3239-3045-2262-408FA6A2ABD2}"/>
                </a:ext>
              </a:extLst>
            </p:cNvPr>
            <p:cNvSpPr/>
            <p:nvPr/>
          </p:nvSpPr>
          <p:spPr>
            <a:xfrm>
              <a:off x="2624790" y="6018894"/>
              <a:ext cx="564909" cy="564909"/>
            </a:xfrm>
            <a:prstGeom prst="roundRect">
              <a:avLst>
                <a:gd name="adj" fmla="val 11905"/>
              </a:avLst>
            </a:prstGeom>
            <a:solidFill>
              <a:srgbClr val="8C8C8C"/>
            </a:solidFill>
            <a:ln w="12700">
              <a:solidFill>
                <a:srgbClr val="8C8C8C"/>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15" name="Text 34">
              <a:extLst>
                <a:ext uri="{FF2B5EF4-FFF2-40B4-BE49-F238E27FC236}">
                  <a16:creationId xmlns:a16="http://schemas.microsoft.com/office/drawing/2014/main" id="{941EF867-821C-AD19-ED36-35F9CA99C7BE}"/>
                </a:ext>
              </a:extLst>
            </p:cNvPr>
            <p:cNvSpPr/>
            <p:nvPr/>
          </p:nvSpPr>
          <p:spPr>
            <a:xfrm>
              <a:off x="2624790" y="6018894"/>
              <a:ext cx="564909" cy="564909"/>
            </a:xfrm>
            <a:prstGeom prst="rect">
              <a:avLst/>
            </a:prstGeom>
            <a:noFill/>
            <a:ln/>
          </p:spPr>
          <p:txBody>
            <a:bodyPr wrap="square" lIns="0" tIns="0" rIns="0" bIns="0" rtlCol="0" anchor="ctr"/>
            <a:lstStyle/>
            <a:p>
              <a:pPr marL="0" indent="0" algn="ctr">
                <a:buNone/>
              </a:pPr>
              <a:r>
                <a:rPr lang="en-US" sz="2800" b="1" dirty="0">
                  <a:solidFill>
                    <a:srgbClr val="FFFFFF"/>
                  </a:solidFill>
                  <a:latin typeface="MS PGothic" panose="020B0600070205080204" pitchFamily="34" charset="-128"/>
                  <a:ea typeface="MS PGothic" panose="020B0600070205080204" pitchFamily="34" charset="-128"/>
                  <a:cs typeface="Arial" pitchFamily="34" charset="-120"/>
                </a:rPr>
                <a:t>0</a:t>
              </a:r>
              <a:endParaRPr lang="en-US" sz="2800" dirty="0">
                <a:latin typeface="MS PGothic" panose="020B0600070205080204" pitchFamily="34" charset="-128"/>
                <a:ea typeface="MS PGothic" panose="020B0600070205080204" pitchFamily="34" charset="-128"/>
              </a:endParaRPr>
            </a:p>
          </p:txBody>
        </p:sp>
      </p:grpSp>
      <p:grpSp>
        <p:nvGrpSpPr>
          <p:cNvPr id="60" name="グループ化 59">
            <a:extLst>
              <a:ext uri="{FF2B5EF4-FFF2-40B4-BE49-F238E27FC236}">
                <a16:creationId xmlns:a16="http://schemas.microsoft.com/office/drawing/2014/main" id="{49DB2E6B-DA45-A6F4-A3CC-F6DB342AB09E}"/>
              </a:ext>
            </a:extLst>
          </p:cNvPr>
          <p:cNvGrpSpPr/>
          <p:nvPr/>
        </p:nvGrpSpPr>
        <p:grpSpPr>
          <a:xfrm>
            <a:off x="2539630" y="5930973"/>
            <a:ext cx="564909" cy="564909"/>
            <a:chOff x="3232426" y="6018894"/>
            <a:chExt cx="564909" cy="564909"/>
          </a:xfrm>
        </p:grpSpPr>
        <p:sp>
          <p:nvSpPr>
            <p:cNvPr id="16" name="Shape 35">
              <a:extLst>
                <a:ext uri="{FF2B5EF4-FFF2-40B4-BE49-F238E27FC236}">
                  <a16:creationId xmlns:a16="http://schemas.microsoft.com/office/drawing/2014/main" id="{695F55B8-A354-1AEF-C051-028A302B8029}"/>
                </a:ext>
              </a:extLst>
            </p:cNvPr>
            <p:cNvSpPr/>
            <p:nvPr/>
          </p:nvSpPr>
          <p:spPr>
            <a:xfrm>
              <a:off x="3232426" y="6018894"/>
              <a:ext cx="564909" cy="564909"/>
            </a:xfrm>
            <a:prstGeom prst="roundRect">
              <a:avLst>
                <a:gd name="adj" fmla="val 11905"/>
              </a:avLst>
            </a:prstGeom>
            <a:solidFill>
              <a:srgbClr val="8C8C8C"/>
            </a:solidFill>
            <a:ln w="12700">
              <a:solidFill>
                <a:srgbClr val="8C8C8C"/>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17" name="Text 36">
              <a:extLst>
                <a:ext uri="{FF2B5EF4-FFF2-40B4-BE49-F238E27FC236}">
                  <a16:creationId xmlns:a16="http://schemas.microsoft.com/office/drawing/2014/main" id="{3D6B7F42-6892-32AD-01DA-416B61E5C21C}"/>
                </a:ext>
              </a:extLst>
            </p:cNvPr>
            <p:cNvSpPr/>
            <p:nvPr/>
          </p:nvSpPr>
          <p:spPr>
            <a:xfrm>
              <a:off x="3232426" y="6018894"/>
              <a:ext cx="564909" cy="564909"/>
            </a:xfrm>
            <a:prstGeom prst="rect">
              <a:avLst/>
            </a:prstGeom>
            <a:noFill/>
            <a:ln/>
          </p:spPr>
          <p:txBody>
            <a:bodyPr wrap="square" lIns="0" tIns="0" rIns="0" bIns="0" rtlCol="0" anchor="ctr"/>
            <a:lstStyle/>
            <a:p>
              <a:pPr marL="0" indent="0" algn="ctr">
                <a:buNone/>
              </a:pPr>
              <a:r>
                <a:rPr lang="en-US" sz="2800" b="1" dirty="0">
                  <a:solidFill>
                    <a:srgbClr val="FFFFFF"/>
                  </a:solidFill>
                  <a:latin typeface="MS PGothic" panose="020B0600070205080204" pitchFamily="34" charset="-128"/>
                  <a:ea typeface="MS PGothic" panose="020B0600070205080204" pitchFamily="34" charset="-128"/>
                  <a:cs typeface="Arial" pitchFamily="34" charset="-120"/>
                </a:rPr>
                <a:t>0</a:t>
              </a:r>
              <a:endParaRPr lang="en-US" sz="2800" dirty="0">
                <a:latin typeface="MS PGothic" panose="020B0600070205080204" pitchFamily="34" charset="-128"/>
                <a:ea typeface="MS PGothic" panose="020B0600070205080204" pitchFamily="34" charset="-128"/>
              </a:endParaRPr>
            </a:p>
          </p:txBody>
        </p:sp>
      </p:grpSp>
      <p:sp>
        <p:nvSpPr>
          <p:cNvPr id="20" name="Text 39">
            <a:extLst>
              <a:ext uri="{FF2B5EF4-FFF2-40B4-BE49-F238E27FC236}">
                <a16:creationId xmlns:a16="http://schemas.microsoft.com/office/drawing/2014/main" id="{F0A4D104-AAE3-69B8-3FCA-9B7ADB37F6EB}"/>
              </a:ext>
            </a:extLst>
          </p:cNvPr>
          <p:cNvSpPr/>
          <p:nvPr/>
        </p:nvSpPr>
        <p:spPr>
          <a:xfrm>
            <a:off x="42437" y="4919602"/>
            <a:ext cx="4438571" cy="322805"/>
          </a:xfrm>
          <a:prstGeom prst="rect">
            <a:avLst/>
          </a:prstGeom>
          <a:noFill/>
          <a:ln/>
        </p:spPr>
        <p:txBody>
          <a:bodyPr wrap="square" lIns="0" tIns="0" rIns="0" bIns="0" rtlCol="0" anchor="ctr"/>
          <a:lstStyle/>
          <a:p>
            <a:pPr marL="0" indent="0">
              <a:buNone/>
            </a:pPr>
            <a:r>
              <a:rPr lang="en-US" dirty="0">
                <a:solidFill>
                  <a:srgbClr val="595959"/>
                </a:solidFill>
                <a:latin typeface="MS PGothic" panose="020B0600070205080204" pitchFamily="34" charset="-128"/>
                <a:ea typeface="MS PGothic" panose="020B0600070205080204" pitchFamily="34" charset="-128"/>
                <a:cs typeface="Meiryo" pitchFamily="34" charset="-120"/>
              </a:rPr>
              <a:t>月次の承諾（1）／非承諾（0）</a:t>
            </a:r>
            <a:endParaRPr lang="en-US" dirty="0">
              <a:latin typeface="MS PGothic" panose="020B0600070205080204" pitchFamily="34" charset="-128"/>
              <a:ea typeface="MS PGothic" panose="020B0600070205080204" pitchFamily="34" charset="-128"/>
            </a:endParaRPr>
          </a:p>
        </p:txBody>
      </p:sp>
      <p:sp>
        <p:nvSpPr>
          <p:cNvPr id="21" name="Shape 40">
            <a:extLst>
              <a:ext uri="{FF2B5EF4-FFF2-40B4-BE49-F238E27FC236}">
                <a16:creationId xmlns:a16="http://schemas.microsoft.com/office/drawing/2014/main" id="{3C254D11-86EC-5002-CC6E-6CE3CCBCD6F9}"/>
              </a:ext>
            </a:extLst>
          </p:cNvPr>
          <p:cNvSpPr/>
          <p:nvPr/>
        </p:nvSpPr>
        <p:spPr>
          <a:xfrm rot="16200000">
            <a:off x="3104324" y="6785357"/>
            <a:ext cx="376606" cy="403506"/>
          </a:xfrm>
          <a:prstGeom prst="downArrow">
            <a:avLst/>
          </a:prstGeom>
          <a:solidFill>
            <a:srgbClr val="8C8C8C"/>
          </a:solidFill>
          <a:ln w="12700">
            <a:solidFill>
              <a:srgbClr val="8C8C8C"/>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grpSp>
        <p:nvGrpSpPr>
          <p:cNvPr id="5" name="グループ化 4">
            <a:extLst>
              <a:ext uri="{FF2B5EF4-FFF2-40B4-BE49-F238E27FC236}">
                <a16:creationId xmlns:a16="http://schemas.microsoft.com/office/drawing/2014/main" id="{075ECAA0-B7AE-1400-A53C-53D358583EE5}"/>
              </a:ext>
            </a:extLst>
          </p:cNvPr>
          <p:cNvGrpSpPr/>
          <p:nvPr/>
        </p:nvGrpSpPr>
        <p:grpSpPr>
          <a:xfrm>
            <a:off x="3744628" y="6670868"/>
            <a:ext cx="2366896" cy="591810"/>
            <a:chOff x="1476347" y="7319959"/>
            <a:chExt cx="3093550" cy="591810"/>
          </a:xfrm>
        </p:grpSpPr>
        <p:sp>
          <p:nvSpPr>
            <p:cNvPr id="22" name="Shape 41">
              <a:extLst>
                <a:ext uri="{FF2B5EF4-FFF2-40B4-BE49-F238E27FC236}">
                  <a16:creationId xmlns:a16="http://schemas.microsoft.com/office/drawing/2014/main" id="{0AEC7F66-23F6-4A48-F69C-72A99388A35B}"/>
                </a:ext>
              </a:extLst>
            </p:cNvPr>
            <p:cNvSpPr/>
            <p:nvPr/>
          </p:nvSpPr>
          <p:spPr>
            <a:xfrm>
              <a:off x="1476347" y="7319959"/>
              <a:ext cx="3093550" cy="591810"/>
            </a:xfrm>
            <a:prstGeom prst="roundRect">
              <a:avLst>
                <a:gd name="adj" fmla="val 11364"/>
              </a:avLst>
            </a:prstGeom>
            <a:solidFill>
              <a:srgbClr val="F1F2F1"/>
            </a:solidFill>
            <a:ln w="12700">
              <a:solidFill>
                <a:srgbClr val="8C8C8C"/>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23" name="Text 42">
              <a:extLst>
                <a:ext uri="{FF2B5EF4-FFF2-40B4-BE49-F238E27FC236}">
                  <a16:creationId xmlns:a16="http://schemas.microsoft.com/office/drawing/2014/main" id="{FF7DE486-6731-EF7A-82FA-3781E34E3A15}"/>
                </a:ext>
              </a:extLst>
            </p:cNvPr>
            <p:cNvSpPr/>
            <p:nvPr/>
          </p:nvSpPr>
          <p:spPr>
            <a:xfrm>
              <a:off x="1476347" y="7319959"/>
              <a:ext cx="3093550" cy="591810"/>
            </a:xfrm>
            <a:prstGeom prst="rect">
              <a:avLst/>
            </a:prstGeom>
            <a:noFill/>
            <a:ln/>
          </p:spPr>
          <p:txBody>
            <a:bodyPr wrap="square" lIns="0" tIns="0" rIns="0" bIns="0" rtlCol="0" anchor="ctr"/>
            <a:lstStyle/>
            <a:p>
              <a:pPr marL="0" indent="0" algn="ctr">
                <a:buNone/>
              </a:pPr>
              <a:r>
                <a:rPr lang="en-US" sz="2400" b="1" dirty="0">
                  <a:solidFill>
                    <a:srgbClr val="262626"/>
                  </a:solidFill>
                  <a:latin typeface="MS PGothic" panose="020B0600070205080204" pitchFamily="34" charset="-128"/>
                  <a:ea typeface="MS PGothic" panose="020B0600070205080204" pitchFamily="34" charset="-128"/>
                  <a:cs typeface="Meiryo" pitchFamily="34" charset="-120"/>
                </a:rPr>
                <a:t>承諾率 = 0.50</a:t>
              </a:r>
              <a:endParaRPr lang="en-US" sz="2400" dirty="0">
                <a:latin typeface="MS PGothic" panose="020B0600070205080204" pitchFamily="34" charset="-128"/>
                <a:ea typeface="MS PGothic" panose="020B0600070205080204" pitchFamily="34" charset="-128"/>
              </a:endParaRPr>
            </a:p>
          </p:txBody>
        </p:sp>
      </p:grpSp>
      <p:sp>
        <p:nvSpPr>
          <p:cNvPr id="24" name="Text 43">
            <a:extLst>
              <a:ext uri="{FF2B5EF4-FFF2-40B4-BE49-F238E27FC236}">
                <a16:creationId xmlns:a16="http://schemas.microsoft.com/office/drawing/2014/main" id="{4826EB3D-D64E-F7B4-16DA-EEAB5ECB32D9}"/>
              </a:ext>
            </a:extLst>
          </p:cNvPr>
          <p:cNvSpPr/>
          <p:nvPr/>
        </p:nvSpPr>
        <p:spPr>
          <a:xfrm>
            <a:off x="1136071" y="7951900"/>
            <a:ext cx="4573074" cy="349706"/>
          </a:xfrm>
          <a:prstGeom prst="rect">
            <a:avLst/>
          </a:prstGeom>
          <a:noFill/>
          <a:ln/>
        </p:spPr>
        <p:txBody>
          <a:bodyPr wrap="square" lIns="0" tIns="0" rIns="0" bIns="0" rtlCol="0" anchor="ctr"/>
          <a:lstStyle/>
          <a:p>
            <a:pPr marL="0" indent="0">
              <a:buNone/>
            </a:pPr>
            <a:r>
              <a:rPr lang="en-US" sz="2400" b="1" dirty="0">
                <a:solidFill>
                  <a:srgbClr val="C00000"/>
                </a:solidFill>
                <a:latin typeface="MS PGothic" panose="020B0600070205080204" pitchFamily="34" charset="-128"/>
                <a:ea typeface="MS PGothic" panose="020B0600070205080204" pitchFamily="34" charset="-128"/>
                <a:cs typeface="Meiryo" pitchFamily="34" charset="-120"/>
              </a:rPr>
              <a:t>いつ止まったかは平均に埋もれる</a:t>
            </a:r>
            <a:endParaRPr lang="en-US" sz="2400" dirty="0">
              <a:latin typeface="MS PGothic" panose="020B0600070205080204" pitchFamily="34" charset="-128"/>
              <a:ea typeface="MS PGothic" panose="020B0600070205080204" pitchFamily="34" charset="-128"/>
            </a:endParaRPr>
          </a:p>
        </p:txBody>
      </p:sp>
      <p:sp>
        <p:nvSpPr>
          <p:cNvPr id="25" name="Shape 44">
            <a:extLst>
              <a:ext uri="{FF2B5EF4-FFF2-40B4-BE49-F238E27FC236}">
                <a16:creationId xmlns:a16="http://schemas.microsoft.com/office/drawing/2014/main" id="{6A57AB2E-E841-F377-5DB0-7C1E82C1982B}"/>
              </a:ext>
            </a:extLst>
          </p:cNvPr>
          <p:cNvSpPr/>
          <p:nvPr/>
        </p:nvSpPr>
        <p:spPr>
          <a:xfrm>
            <a:off x="6284220" y="5112290"/>
            <a:ext cx="1" cy="3497054"/>
          </a:xfrm>
          <a:prstGeom prst="line">
            <a:avLst/>
          </a:prstGeom>
          <a:noFill/>
          <a:ln w="12700">
            <a:solidFill>
              <a:srgbClr val="BFBFBF"/>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grpSp>
        <p:nvGrpSpPr>
          <p:cNvPr id="57" name="グループ化 56">
            <a:extLst>
              <a:ext uri="{FF2B5EF4-FFF2-40B4-BE49-F238E27FC236}">
                <a16:creationId xmlns:a16="http://schemas.microsoft.com/office/drawing/2014/main" id="{F919F7FC-6075-D2A9-592C-3B39FDEBE83F}"/>
              </a:ext>
            </a:extLst>
          </p:cNvPr>
          <p:cNvGrpSpPr/>
          <p:nvPr/>
        </p:nvGrpSpPr>
        <p:grpSpPr>
          <a:xfrm>
            <a:off x="7371952" y="5448590"/>
            <a:ext cx="8442555" cy="2747207"/>
            <a:chOff x="5925265" y="5363244"/>
            <a:chExt cx="8442555" cy="2747207"/>
          </a:xfrm>
        </p:grpSpPr>
        <p:sp>
          <p:nvSpPr>
            <p:cNvPr id="26" name="Text 45">
              <a:extLst>
                <a:ext uri="{FF2B5EF4-FFF2-40B4-BE49-F238E27FC236}">
                  <a16:creationId xmlns:a16="http://schemas.microsoft.com/office/drawing/2014/main" id="{A47F2BA4-80D1-28E9-FA9E-0BDE24623396}"/>
                </a:ext>
              </a:extLst>
            </p:cNvPr>
            <p:cNvSpPr/>
            <p:nvPr/>
          </p:nvSpPr>
          <p:spPr>
            <a:xfrm>
              <a:off x="5925265" y="5363244"/>
              <a:ext cx="6052597" cy="376606"/>
            </a:xfrm>
            <a:prstGeom prst="rect">
              <a:avLst/>
            </a:prstGeom>
            <a:noFill/>
            <a:ln/>
          </p:spPr>
          <p:txBody>
            <a:bodyPr wrap="square" lIns="0" tIns="0" rIns="0" bIns="0" rtlCol="0" anchor="ctr"/>
            <a:lstStyle/>
            <a:p>
              <a:pPr marL="0" indent="0">
                <a:buNone/>
              </a:pPr>
              <a:r>
                <a:rPr lang="en-US" sz="2800" b="1" dirty="0">
                  <a:solidFill>
                    <a:srgbClr val="3E4492"/>
                  </a:solidFill>
                  <a:latin typeface="MS PGothic" panose="020B0600070205080204" pitchFamily="34" charset="-128"/>
                  <a:ea typeface="MS PGothic" panose="020B0600070205080204" pitchFamily="34" charset="-128"/>
                  <a:cs typeface="Meiryo" pitchFamily="34" charset="-120"/>
                </a:rPr>
                <a:t>状態遷移として学習（IRL）</a:t>
              </a:r>
              <a:endParaRPr lang="en-US" sz="2800" dirty="0">
                <a:latin typeface="MS PGothic" panose="020B0600070205080204" pitchFamily="34" charset="-128"/>
                <a:ea typeface="MS PGothic" panose="020B0600070205080204" pitchFamily="34" charset="-128"/>
              </a:endParaRPr>
            </a:p>
          </p:txBody>
        </p:sp>
        <p:sp>
          <p:nvSpPr>
            <p:cNvPr id="27" name="Shape 46">
              <a:extLst>
                <a:ext uri="{FF2B5EF4-FFF2-40B4-BE49-F238E27FC236}">
                  <a16:creationId xmlns:a16="http://schemas.microsoft.com/office/drawing/2014/main" id="{5B788071-7597-1FB2-6A3F-9B0FC19EB1BF}"/>
                </a:ext>
              </a:extLst>
            </p:cNvPr>
            <p:cNvSpPr/>
            <p:nvPr/>
          </p:nvSpPr>
          <p:spPr>
            <a:xfrm>
              <a:off x="8173518" y="5849352"/>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28" name="Shape 47">
              <a:extLst>
                <a:ext uri="{FF2B5EF4-FFF2-40B4-BE49-F238E27FC236}">
                  <a16:creationId xmlns:a16="http://schemas.microsoft.com/office/drawing/2014/main" id="{A8DFF960-2BFF-7E4E-7210-CED770B9FAA0}"/>
                </a:ext>
              </a:extLst>
            </p:cNvPr>
            <p:cNvSpPr/>
            <p:nvPr/>
          </p:nvSpPr>
          <p:spPr>
            <a:xfrm flipV="1">
              <a:off x="7505118" y="6116711"/>
              <a:ext cx="712861" cy="780113"/>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29" name="Shape 48">
              <a:extLst>
                <a:ext uri="{FF2B5EF4-FFF2-40B4-BE49-F238E27FC236}">
                  <a16:creationId xmlns:a16="http://schemas.microsoft.com/office/drawing/2014/main" id="{C8A4CF93-CDC0-39AC-66AC-B001D9401CF4}"/>
                </a:ext>
              </a:extLst>
            </p:cNvPr>
            <p:cNvSpPr/>
            <p:nvPr/>
          </p:nvSpPr>
          <p:spPr>
            <a:xfrm>
              <a:off x="8173518" y="7599343"/>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0" name="Shape 49">
              <a:extLst>
                <a:ext uri="{FF2B5EF4-FFF2-40B4-BE49-F238E27FC236}">
                  <a16:creationId xmlns:a16="http://schemas.microsoft.com/office/drawing/2014/main" id="{FE4E767A-1428-5498-2EF9-A12A38CC87E1}"/>
                </a:ext>
              </a:extLst>
            </p:cNvPr>
            <p:cNvSpPr/>
            <p:nvPr/>
          </p:nvSpPr>
          <p:spPr>
            <a:xfrm>
              <a:off x="7505118" y="7113234"/>
              <a:ext cx="712861" cy="753211"/>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1" name="Shape 50">
              <a:extLst>
                <a:ext uri="{FF2B5EF4-FFF2-40B4-BE49-F238E27FC236}">
                  <a16:creationId xmlns:a16="http://schemas.microsoft.com/office/drawing/2014/main" id="{09D85EA8-A545-B0EE-4C4E-5A19EF5EB0E1}"/>
                </a:ext>
              </a:extLst>
            </p:cNvPr>
            <p:cNvSpPr/>
            <p:nvPr/>
          </p:nvSpPr>
          <p:spPr>
            <a:xfrm>
              <a:off x="10725589" y="5849352"/>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2" name="Shape 51">
              <a:extLst>
                <a:ext uri="{FF2B5EF4-FFF2-40B4-BE49-F238E27FC236}">
                  <a16:creationId xmlns:a16="http://schemas.microsoft.com/office/drawing/2014/main" id="{506BF5D6-CF88-C6CE-DB3E-D89605C95840}"/>
                </a:ext>
              </a:extLst>
            </p:cNvPr>
            <p:cNvSpPr/>
            <p:nvPr/>
          </p:nvSpPr>
          <p:spPr>
            <a:xfrm flipV="1">
              <a:off x="10057188" y="6116711"/>
              <a:ext cx="712861" cy="780113"/>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3" name="Shape 52">
              <a:extLst>
                <a:ext uri="{FF2B5EF4-FFF2-40B4-BE49-F238E27FC236}">
                  <a16:creationId xmlns:a16="http://schemas.microsoft.com/office/drawing/2014/main" id="{E8FBE3AF-A6F5-6CFF-EAAB-D13D6BABDCB1}"/>
                </a:ext>
              </a:extLst>
            </p:cNvPr>
            <p:cNvSpPr/>
            <p:nvPr/>
          </p:nvSpPr>
          <p:spPr>
            <a:xfrm>
              <a:off x="10725589" y="7599343"/>
              <a:ext cx="511108" cy="511108"/>
            </a:xfrm>
            <a:prstGeom prst="ellipse">
              <a:avLst/>
            </a:prstGeom>
            <a:solidFill>
              <a:srgbClr val="FFFFFF"/>
            </a:solidFill>
            <a:ln w="12700">
              <a:solidFill>
                <a:srgbClr val="575860"/>
              </a:solidFill>
              <a:prstDash val="dash"/>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4" name="Shape 53">
              <a:extLst>
                <a:ext uri="{FF2B5EF4-FFF2-40B4-BE49-F238E27FC236}">
                  <a16:creationId xmlns:a16="http://schemas.microsoft.com/office/drawing/2014/main" id="{65FF07C4-EF9E-DF14-930C-D1366A120888}"/>
                </a:ext>
              </a:extLst>
            </p:cNvPr>
            <p:cNvSpPr/>
            <p:nvPr/>
          </p:nvSpPr>
          <p:spPr>
            <a:xfrm>
              <a:off x="10057188" y="7113234"/>
              <a:ext cx="712861" cy="753211"/>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5" name="Shape 54">
              <a:extLst>
                <a:ext uri="{FF2B5EF4-FFF2-40B4-BE49-F238E27FC236}">
                  <a16:creationId xmlns:a16="http://schemas.microsoft.com/office/drawing/2014/main" id="{067DEE56-93A5-2CFB-6E18-EA14B915B79F}"/>
                </a:ext>
              </a:extLst>
            </p:cNvPr>
            <p:cNvSpPr/>
            <p:nvPr/>
          </p:nvSpPr>
          <p:spPr>
            <a:xfrm>
              <a:off x="6897483" y="6724348"/>
              <a:ext cx="726312" cy="726312"/>
            </a:xfrm>
            <a:prstGeom prst="ellipse">
              <a:avLst/>
            </a:prstGeom>
            <a:solidFill>
              <a:srgbClr val="E8EAF6"/>
            </a:solidFill>
            <a:ln w="19050">
              <a:solidFill>
                <a:srgbClr val="3E4492"/>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6" name="Text 55">
              <a:extLst>
                <a:ext uri="{FF2B5EF4-FFF2-40B4-BE49-F238E27FC236}">
                  <a16:creationId xmlns:a16="http://schemas.microsoft.com/office/drawing/2014/main" id="{F9CC994E-599E-4DB1-9A61-7AD684176590}"/>
                </a:ext>
              </a:extLst>
            </p:cNvPr>
            <p:cNvSpPr/>
            <p:nvPr/>
          </p:nvSpPr>
          <p:spPr>
            <a:xfrm>
              <a:off x="6897483" y="6724348"/>
              <a:ext cx="726312" cy="726312"/>
            </a:xfrm>
            <a:prstGeom prst="rect">
              <a:avLst/>
            </a:prstGeom>
            <a:noFill/>
            <a:ln/>
          </p:spPr>
          <p:txBody>
            <a:bodyPr wrap="square" lIns="0" tIns="0" rIns="0" bIns="0" rtlCol="0" anchor="ctr"/>
            <a:lstStyle/>
            <a:p>
              <a:pPr marL="0" indent="0" algn="ctr">
                <a:buNone/>
              </a:pPr>
              <a:r>
                <a:rPr lang="en-US" sz="2400" b="1" dirty="0">
                  <a:solidFill>
                    <a:srgbClr val="3E4492"/>
                  </a:solidFill>
                  <a:latin typeface="MS PGothic" panose="020B0600070205080204" pitchFamily="34" charset="-128"/>
                  <a:ea typeface="MS PGothic" panose="020B0600070205080204" pitchFamily="34" charset="-128"/>
                  <a:cs typeface="Meiryo" pitchFamily="34" charset="-120"/>
                </a:rPr>
                <a:t>sₜ</a:t>
              </a:r>
              <a:endParaRPr lang="en-US" sz="2400" dirty="0">
                <a:latin typeface="MS PGothic" panose="020B0600070205080204" pitchFamily="34" charset="-128"/>
                <a:ea typeface="MS PGothic" panose="020B0600070205080204" pitchFamily="34" charset="-128"/>
              </a:endParaRPr>
            </a:p>
          </p:txBody>
        </p:sp>
        <p:sp>
          <p:nvSpPr>
            <p:cNvPr id="37" name="Shape 56">
              <a:extLst>
                <a:ext uri="{FF2B5EF4-FFF2-40B4-BE49-F238E27FC236}">
                  <a16:creationId xmlns:a16="http://schemas.microsoft.com/office/drawing/2014/main" id="{6A6E4FA5-9A41-CDD0-24F9-B125B3304246}"/>
                </a:ext>
              </a:extLst>
            </p:cNvPr>
            <p:cNvSpPr/>
            <p:nvPr/>
          </p:nvSpPr>
          <p:spPr>
            <a:xfrm>
              <a:off x="7602340" y="7052470"/>
              <a:ext cx="1926873" cy="1"/>
            </a:xfrm>
            <a:prstGeom prst="line">
              <a:avLst/>
            </a:prstGeom>
            <a:noFill/>
            <a:ln w="31750">
              <a:solidFill>
                <a:srgbClr val="1E8A6E"/>
              </a:solidFill>
              <a:prstDash val="solid"/>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38" name="Text 57">
              <a:extLst>
                <a:ext uri="{FF2B5EF4-FFF2-40B4-BE49-F238E27FC236}">
                  <a16:creationId xmlns:a16="http://schemas.microsoft.com/office/drawing/2014/main" id="{A1E6B61D-688E-9FBE-C998-227491688019}"/>
                </a:ext>
              </a:extLst>
            </p:cNvPr>
            <p:cNvSpPr/>
            <p:nvPr/>
          </p:nvSpPr>
          <p:spPr>
            <a:xfrm>
              <a:off x="7480813" y="7088929"/>
              <a:ext cx="2421039" cy="322805"/>
            </a:xfrm>
            <a:prstGeom prst="rect">
              <a:avLst/>
            </a:prstGeom>
            <a:noFill/>
            <a:ln/>
          </p:spPr>
          <p:txBody>
            <a:bodyPr wrap="square" lIns="0" tIns="0" rIns="0" bIns="0" rtlCol="0" anchor="ctr"/>
            <a:lstStyle/>
            <a:p>
              <a:pPr marL="0" indent="0" algn="ctr">
                <a:buNone/>
              </a:pPr>
              <a:r>
                <a:rPr lang="en-US" sz="1600" dirty="0">
                  <a:solidFill>
                    <a:srgbClr val="1E8A6E"/>
                  </a:solidFill>
                  <a:latin typeface="MS PGothic" panose="020B0600070205080204" pitchFamily="34" charset="-128"/>
                  <a:ea typeface="MS PGothic" panose="020B0600070205080204" pitchFamily="34" charset="-128"/>
                  <a:cs typeface="Meiryo" pitchFamily="34" charset="-120"/>
                </a:rPr>
                <a:t>a（承諾／拒否）</a:t>
              </a:r>
              <a:endParaRPr lang="en-US" sz="1600" dirty="0">
                <a:latin typeface="MS PGothic" panose="020B0600070205080204" pitchFamily="34" charset="-128"/>
                <a:ea typeface="MS PGothic" panose="020B0600070205080204" pitchFamily="34" charset="-128"/>
              </a:endParaRPr>
            </a:p>
          </p:txBody>
        </p:sp>
        <p:sp>
          <p:nvSpPr>
            <p:cNvPr id="39" name="Text 58">
              <a:extLst>
                <a:ext uri="{FF2B5EF4-FFF2-40B4-BE49-F238E27FC236}">
                  <a16:creationId xmlns:a16="http://schemas.microsoft.com/office/drawing/2014/main" id="{9EAB188F-4A77-60A1-9305-D2F35AE4ECC0}"/>
                </a:ext>
              </a:extLst>
            </p:cNvPr>
            <p:cNvSpPr/>
            <p:nvPr/>
          </p:nvSpPr>
          <p:spPr>
            <a:xfrm>
              <a:off x="7480813" y="6700042"/>
              <a:ext cx="2421039" cy="322805"/>
            </a:xfrm>
            <a:prstGeom prst="rect">
              <a:avLst/>
            </a:prstGeom>
            <a:noFill/>
            <a:ln/>
          </p:spPr>
          <p:txBody>
            <a:bodyPr wrap="square" lIns="0" tIns="0" rIns="0" bIns="0" rtlCol="0" anchor="ctr"/>
            <a:lstStyle/>
            <a:p>
              <a:pPr marL="0" indent="0" algn="ctr">
                <a:buNone/>
              </a:pPr>
              <a:r>
                <a:rPr lang="en-US" sz="2000" b="1" dirty="0">
                  <a:solidFill>
                    <a:srgbClr val="3E4492"/>
                  </a:solidFill>
                  <a:latin typeface="MS PGothic" panose="020B0600070205080204" pitchFamily="34" charset="-128"/>
                  <a:ea typeface="MS PGothic" panose="020B0600070205080204" pitchFamily="34" charset="-128"/>
                  <a:cs typeface="Cambria" pitchFamily="34" charset="-120"/>
                </a:rPr>
                <a:t>rθ(s, a)</a:t>
              </a:r>
              <a:endParaRPr lang="en-US" sz="2000" dirty="0">
                <a:latin typeface="MS PGothic" panose="020B0600070205080204" pitchFamily="34" charset="-128"/>
                <a:ea typeface="MS PGothic" panose="020B0600070205080204" pitchFamily="34" charset="-128"/>
              </a:endParaRPr>
            </a:p>
          </p:txBody>
        </p:sp>
        <p:sp>
          <p:nvSpPr>
            <p:cNvPr id="40" name="Shape 59">
              <a:extLst>
                <a:ext uri="{FF2B5EF4-FFF2-40B4-BE49-F238E27FC236}">
                  <a16:creationId xmlns:a16="http://schemas.microsoft.com/office/drawing/2014/main" id="{14E92798-7937-22F5-D056-2121400B8F71}"/>
                </a:ext>
              </a:extLst>
            </p:cNvPr>
            <p:cNvSpPr/>
            <p:nvPr/>
          </p:nvSpPr>
          <p:spPr>
            <a:xfrm>
              <a:off x="9449553" y="6724348"/>
              <a:ext cx="726312" cy="726312"/>
            </a:xfrm>
            <a:prstGeom prst="ellipse">
              <a:avLst/>
            </a:prstGeom>
            <a:solidFill>
              <a:srgbClr val="E8EAF6"/>
            </a:solidFill>
            <a:ln w="19050">
              <a:solidFill>
                <a:srgbClr val="3E4492"/>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1" name="Text 60">
              <a:extLst>
                <a:ext uri="{FF2B5EF4-FFF2-40B4-BE49-F238E27FC236}">
                  <a16:creationId xmlns:a16="http://schemas.microsoft.com/office/drawing/2014/main" id="{8EC460C6-235C-3780-EC1D-7C66E1B762CA}"/>
                </a:ext>
              </a:extLst>
            </p:cNvPr>
            <p:cNvSpPr/>
            <p:nvPr/>
          </p:nvSpPr>
          <p:spPr>
            <a:xfrm>
              <a:off x="9449553" y="6724348"/>
              <a:ext cx="726312" cy="726312"/>
            </a:xfrm>
            <a:prstGeom prst="rect">
              <a:avLst/>
            </a:prstGeom>
            <a:noFill/>
            <a:ln/>
          </p:spPr>
          <p:txBody>
            <a:bodyPr wrap="square" lIns="0" tIns="0" rIns="0" bIns="0" rtlCol="0" anchor="ctr"/>
            <a:lstStyle/>
            <a:p>
              <a:pPr marL="0" indent="0" algn="ctr">
                <a:buNone/>
              </a:pPr>
              <a:r>
                <a:rPr lang="en-US" sz="2400" b="1" dirty="0">
                  <a:solidFill>
                    <a:srgbClr val="3E4492"/>
                  </a:solidFill>
                  <a:latin typeface="MS PGothic" panose="020B0600070205080204" pitchFamily="34" charset="-128"/>
                  <a:ea typeface="MS PGothic" panose="020B0600070205080204" pitchFamily="34" charset="-128"/>
                  <a:cs typeface="Meiryo" pitchFamily="34" charset="-120"/>
                </a:rPr>
                <a:t>sₜ₊₁</a:t>
              </a:r>
              <a:endParaRPr lang="en-US" sz="2400" dirty="0">
                <a:latin typeface="MS PGothic" panose="020B0600070205080204" pitchFamily="34" charset="-128"/>
                <a:ea typeface="MS PGothic" panose="020B0600070205080204" pitchFamily="34" charset="-128"/>
              </a:endParaRPr>
            </a:p>
          </p:txBody>
        </p:sp>
        <p:sp>
          <p:nvSpPr>
            <p:cNvPr id="42" name="Shape 61">
              <a:extLst>
                <a:ext uri="{FF2B5EF4-FFF2-40B4-BE49-F238E27FC236}">
                  <a16:creationId xmlns:a16="http://schemas.microsoft.com/office/drawing/2014/main" id="{212FB88C-AC4B-BF7E-3B50-12E179DB441A}"/>
                </a:ext>
              </a:extLst>
            </p:cNvPr>
            <p:cNvSpPr/>
            <p:nvPr/>
          </p:nvSpPr>
          <p:spPr>
            <a:xfrm>
              <a:off x="10154410" y="7052470"/>
              <a:ext cx="1926873" cy="1"/>
            </a:xfrm>
            <a:prstGeom prst="line">
              <a:avLst/>
            </a:prstGeom>
            <a:noFill/>
            <a:ln w="31750">
              <a:solidFill>
                <a:srgbClr val="1E8A6E"/>
              </a:solidFill>
              <a:prstDash val="solid"/>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3" name="Text 62">
              <a:extLst>
                <a:ext uri="{FF2B5EF4-FFF2-40B4-BE49-F238E27FC236}">
                  <a16:creationId xmlns:a16="http://schemas.microsoft.com/office/drawing/2014/main" id="{84AC0371-5461-0C9C-6E1C-A2B2C4A75F67}"/>
                </a:ext>
              </a:extLst>
            </p:cNvPr>
            <p:cNvSpPr/>
            <p:nvPr/>
          </p:nvSpPr>
          <p:spPr>
            <a:xfrm>
              <a:off x="10032884" y="7088929"/>
              <a:ext cx="2421039" cy="322805"/>
            </a:xfrm>
            <a:prstGeom prst="rect">
              <a:avLst/>
            </a:prstGeom>
            <a:noFill/>
            <a:ln/>
          </p:spPr>
          <p:txBody>
            <a:bodyPr wrap="square" lIns="0" tIns="0" rIns="0" bIns="0" rtlCol="0" anchor="ctr"/>
            <a:lstStyle/>
            <a:p>
              <a:pPr marL="0" indent="0" algn="ctr">
                <a:buNone/>
              </a:pPr>
              <a:r>
                <a:rPr lang="en-US" sz="1600" dirty="0">
                  <a:solidFill>
                    <a:srgbClr val="1E8A6E"/>
                  </a:solidFill>
                  <a:latin typeface="MS PGothic" panose="020B0600070205080204" pitchFamily="34" charset="-128"/>
                  <a:ea typeface="MS PGothic" panose="020B0600070205080204" pitchFamily="34" charset="-128"/>
                  <a:cs typeface="Meiryo" pitchFamily="34" charset="-120"/>
                </a:rPr>
                <a:t>a（承諾／拒否）</a:t>
              </a:r>
              <a:endParaRPr lang="en-US" sz="1600" dirty="0">
                <a:latin typeface="MS PGothic" panose="020B0600070205080204" pitchFamily="34" charset="-128"/>
                <a:ea typeface="MS PGothic" panose="020B0600070205080204" pitchFamily="34" charset="-128"/>
              </a:endParaRPr>
            </a:p>
          </p:txBody>
        </p:sp>
        <p:sp>
          <p:nvSpPr>
            <p:cNvPr id="44" name="Text 63">
              <a:extLst>
                <a:ext uri="{FF2B5EF4-FFF2-40B4-BE49-F238E27FC236}">
                  <a16:creationId xmlns:a16="http://schemas.microsoft.com/office/drawing/2014/main" id="{86F83E9F-FCC0-43F0-A327-093423D13211}"/>
                </a:ext>
              </a:extLst>
            </p:cNvPr>
            <p:cNvSpPr/>
            <p:nvPr/>
          </p:nvSpPr>
          <p:spPr>
            <a:xfrm>
              <a:off x="10032884" y="6700042"/>
              <a:ext cx="2421039" cy="322805"/>
            </a:xfrm>
            <a:prstGeom prst="rect">
              <a:avLst/>
            </a:prstGeom>
            <a:noFill/>
            <a:ln/>
          </p:spPr>
          <p:txBody>
            <a:bodyPr wrap="square" lIns="0" tIns="0" rIns="0" bIns="0" rtlCol="0" anchor="ctr"/>
            <a:lstStyle/>
            <a:p>
              <a:pPr marL="0" indent="0" algn="ctr">
                <a:buNone/>
              </a:pPr>
              <a:r>
                <a:rPr lang="en-US" sz="2000" b="1" dirty="0">
                  <a:solidFill>
                    <a:srgbClr val="3E4492"/>
                  </a:solidFill>
                  <a:latin typeface="MS PGothic" panose="020B0600070205080204" pitchFamily="34" charset="-128"/>
                  <a:ea typeface="MS PGothic" panose="020B0600070205080204" pitchFamily="34" charset="-128"/>
                  <a:cs typeface="Cambria" pitchFamily="34" charset="-120"/>
                </a:rPr>
                <a:t>rθ(s, a)</a:t>
              </a:r>
              <a:endParaRPr lang="en-US" sz="2000" dirty="0">
                <a:latin typeface="MS PGothic" panose="020B0600070205080204" pitchFamily="34" charset="-128"/>
                <a:ea typeface="MS PGothic" panose="020B0600070205080204" pitchFamily="34" charset="-128"/>
              </a:endParaRPr>
            </a:p>
          </p:txBody>
        </p:sp>
        <p:sp>
          <p:nvSpPr>
            <p:cNvPr id="45" name="Shape 64">
              <a:extLst>
                <a:ext uri="{FF2B5EF4-FFF2-40B4-BE49-F238E27FC236}">
                  <a16:creationId xmlns:a16="http://schemas.microsoft.com/office/drawing/2014/main" id="{891F4445-B6FF-CCBD-A6CF-A7A58298422C}"/>
                </a:ext>
              </a:extLst>
            </p:cNvPr>
            <p:cNvSpPr/>
            <p:nvPr/>
          </p:nvSpPr>
          <p:spPr>
            <a:xfrm>
              <a:off x="12001624" y="6724348"/>
              <a:ext cx="726312" cy="726312"/>
            </a:xfrm>
            <a:prstGeom prst="ellipse">
              <a:avLst/>
            </a:prstGeom>
            <a:solidFill>
              <a:srgbClr val="E8EAF6"/>
            </a:solidFill>
            <a:ln w="19050">
              <a:solidFill>
                <a:srgbClr val="3E4492"/>
              </a:solidFill>
              <a:prstDash val="solid"/>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6" name="Text 65">
              <a:extLst>
                <a:ext uri="{FF2B5EF4-FFF2-40B4-BE49-F238E27FC236}">
                  <a16:creationId xmlns:a16="http://schemas.microsoft.com/office/drawing/2014/main" id="{85A40D65-F44A-BEF2-C358-25DE012B7607}"/>
                </a:ext>
              </a:extLst>
            </p:cNvPr>
            <p:cNvSpPr/>
            <p:nvPr/>
          </p:nvSpPr>
          <p:spPr>
            <a:xfrm>
              <a:off x="12001624" y="6724348"/>
              <a:ext cx="726312" cy="726312"/>
            </a:xfrm>
            <a:prstGeom prst="rect">
              <a:avLst/>
            </a:prstGeom>
            <a:noFill/>
            <a:ln/>
          </p:spPr>
          <p:txBody>
            <a:bodyPr wrap="square" lIns="0" tIns="0" rIns="0" bIns="0" rtlCol="0" anchor="ctr"/>
            <a:lstStyle/>
            <a:p>
              <a:pPr marL="0" indent="0" algn="ctr">
                <a:buNone/>
              </a:pPr>
              <a:r>
                <a:rPr lang="en-US" sz="2400" b="1" dirty="0">
                  <a:solidFill>
                    <a:srgbClr val="3E4492"/>
                  </a:solidFill>
                  <a:latin typeface="MS PGothic" panose="020B0600070205080204" pitchFamily="34" charset="-128"/>
                  <a:ea typeface="MS PGothic" panose="020B0600070205080204" pitchFamily="34" charset="-128"/>
                  <a:cs typeface="Meiryo" pitchFamily="34" charset="-120"/>
                </a:rPr>
                <a:t>sₜ₊₂</a:t>
              </a:r>
              <a:endParaRPr lang="en-US" sz="2400" dirty="0">
                <a:latin typeface="MS PGothic" panose="020B0600070205080204" pitchFamily="34" charset="-128"/>
                <a:ea typeface="MS PGothic" panose="020B0600070205080204" pitchFamily="34" charset="-128"/>
              </a:endParaRPr>
            </a:p>
          </p:txBody>
        </p:sp>
        <p:sp>
          <p:nvSpPr>
            <p:cNvPr id="47" name="Text 66">
              <a:extLst>
                <a:ext uri="{FF2B5EF4-FFF2-40B4-BE49-F238E27FC236}">
                  <a16:creationId xmlns:a16="http://schemas.microsoft.com/office/drawing/2014/main" id="{5E140019-29EC-01A7-E572-B9C6773FFAA7}"/>
                </a:ext>
              </a:extLst>
            </p:cNvPr>
            <p:cNvSpPr/>
            <p:nvPr/>
          </p:nvSpPr>
          <p:spPr>
            <a:xfrm>
              <a:off x="12791550" y="6724348"/>
              <a:ext cx="941515" cy="726312"/>
            </a:xfrm>
            <a:prstGeom prst="rect">
              <a:avLst/>
            </a:prstGeom>
            <a:noFill/>
            <a:ln/>
          </p:spPr>
          <p:txBody>
            <a:bodyPr wrap="square" lIns="0" tIns="0" rIns="0" bIns="0" rtlCol="0" anchor="ctr"/>
            <a:lstStyle/>
            <a:p>
              <a:pPr marL="0" indent="0" algn="ctr">
                <a:buNone/>
              </a:pPr>
              <a:r>
                <a:rPr lang="en-US" sz="2800" dirty="0">
                  <a:solidFill>
                    <a:srgbClr val="575860"/>
                  </a:solidFill>
                  <a:latin typeface="MS PGothic" panose="020B0600070205080204" pitchFamily="34" charset="-128"/>
                  <a:ea typeface="MS PGothic" panose="020B0600070205080204" pitchFamily="34" charset="-128"/>
                  <a:cs typeface="Meiryo" pitchFamily="34" charset="-120"/>
                </a:rPr>
                <a:t>・・・</a:t>
              </a:r>
              <a:endParaRPr lang="en-US" sz="2800" dirty="0">
                <a:latin typeface="MS PGothic" panose="020B0600070205080204" pitchFamily="34" charset="-128"/>
                <a:ea typeface="MS PGothic" panose="020B0600070205080204" pitchFamily="34" charset="-128"/>
              </a:endParaRPr>
            </a:p>
          </p:txBody>
        </p:sp>
        <p:sp>
          <p:nvSpPr>
            <p:cNvPr id="48" name="Shape 67">
              <a:extLst>
                <a:ext uri="{FF2B5EF4-FFF2-40B4-BE49-F238E27FC236}">
                  <a16:creationId xmlns:a16="http://schemas.microsoft.com/office/drawing/2014/main" id="{87426F9A-4082-CBBE-09FC-F33FB0A233D0}"/>
                </a:ext>
              </a:extLst>
            </p:cNvPr>
            <p:cNvSpPr/>
            <p:nvPr/>
          </p:nvSpPr>
          <p:spPr>
            <a:xfrm>
              <a:off x="11497954" y="5740453"/>
              <a:ext cx="494737" cy="1"/>
            </a:xfrm>
            <a:prstGeom prst="line">
              <a:avLst/>
            </a:prstGeom>
            <a:noFill/>
            <a:ln w="31750">
              <a:solidFill>
                <a:srgbClr val="1E8A6E"/>
              </a:solidFill>
              <a:prstDash val="solid"/>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49" name="Text 68">
              <a:extLst>
                <a:ext uri="{FF2B5EF4-FFF2-40B4-BE49-F238E27FC236}">
                  <a16:creationId xmlns:a16="http://schemas.microsoft.com/office/drawing/2014/main" id="{CA2E989D-1530-53A1-A3DF-3B3C4FE7D40E}"/>
                </a:ext>
              </a:extLst>
            </p:cNvPr>
            <p:cNvSpPr/>
            <p:nvPr/>
          </p:nvSpPr>
          <p:spPr>
            <a:xfrm>
              <a:off x="12081283" y="5594621"/>
              <a:ext cx="2286537" cy="322805"/>
            </a:xfrm>
            <a:prstGeom prst="rect">
              <a:avLst/>
            </a:prstGeom>
            <a:noFill/>
            <a:ln/>
          </p:spPr>
          <p:txBody>
            <a:bodyPr wrap="square" lIns="0" tIns="0" rIns="0" bIns="0" rtlCol="0" anchor="ctr"/>
            <a:lstStyle/>
            <a:p>
              <a:pPr marL="0" indent="0">
                <a:buNone/>
              </a:pPr>
              <a:r>
                <a:rPr lang="en-US" dirty="0">
                  <a:solidFill>
                    <a:srgbClr val="262626"/>
                  </a:solidFill>
                  <a:latin typeface="MS PGothic" panose="020B0600070205080204" pitchFamily="34" charset="-128"/>
                  <a:ea typeface="MS PGothic" panose="020B0600070205080204" pitchFamily="34" charset="-128"/>
                  <a:cs typeface="Meiryo" pitchFamily="34" charset="-120"/>
                </a:rPr>
                <a:t>実際に観測された選択</a:t>
              </a:r>
              <a:endParaRPr lang="en-US" dirty="0">
                <a:latin typeface="MS PGothic" panose="020B0600070205080204" pitchFamily="34" charset="-128"/>
                <a:ea typeface="MS PGothic" panose="020B0600070205080204" pitchFamily="34" charset="-128"/>
              </a:endParaRPr>
            </a:p>
          </p:txBody>
        </p:sp>
        <p:sp>
          <p:nvSpPr>
            <p:cNvPr id="50" name="Shape 69">
              <a:extLst>
                <a:ext uri="{FF2B5EF4-FFF2-40B4-BE49-F238E27FC236}">
                  <a16:creationId xmlns:a16="http://schemas.microsoft.com/office/drawing/2014/main" id="{3D5B9FAD-AD4E-A7C1-6409-5F71DE583D14}"/>
                </a:ext>
              </a:extLst>
            </p:cNvPr>
            <p:cNvSpPr/>
            <p:nvPr/>
          </p:nvSpPr>
          <p:spPr>
            <a:xfrm>
              <a:off x="11497954" y="6250867"/>
              <a:ext cx="494737" cy="1"/>
            </a:xfrm>
            <a:prstGeom prst="line">
              <a:avLst/>
            </a:prstGeom>
            <a:noFill/>
            <a:ln w="15240">
              <a:solidFill>
                <a:srgbClr val="575860"/>
              </a:solidFill>
              <a:prstDash val="dash"/>
              <a:tailEnd type="triangle"/>
            </a:ln>
          </p:spPr>
          <p:txBody>
            <a:bodyPr/>
            <a:lstStyle/>
            <a:p>
              <a:endParaRPr lang="ja-JP" altLang="en-US" sz="4000">
                <a:latin typeface="MS PGothic" panose="020B0600070205080204" pitchFamily="34" charset="-128"/>
                <a:ea typeface="MS PGothic" panose="020B0600070205080204" pitchFamily="34" charset="-128"/>
              </a:endParaRPr>
            </a:p>
          </p:txBody>
        </p:sp>
        <p:sp>
          <p:nvSpPr>
            <p:cNvPr id="51" name="Text 70">
              <a:extLst>
                <a:ext uri="{FF2B5EF4-FFF2-40B4-BE49-F238E27FC236}">
                  <a16:creationId xmlns:a16="http://schemas.microsoft.com/office/drawing/2014/main" id="{D6977D87-CCA8-6341-1963-0E38AFBF5281}"/>
                </a:ext>
              </a:extLst>
            </p:cNvPr>
            <p:cNvSpPr/>
            <p:nvPr/>
          </p:nvSpPr>
          <p:spPr>
            <a:xfrm>
              <a:off x="12081283" y="6105035"/>
              <a:ext cx="2286537" cy="322805"/>
            </a:xfrm>
            <a:prstGeom prst="rect">
              <a:avLst/>
            </a:prstGeom>
            <a:noFill/>
            <a:ln/>
          </p:spPr>
          <p:txBody>
            <a:bodyPr wrap="square" lIns="0" tIns="0" rIns="0" bIns="0" rtlCol="0" anchor="ctr"/>
            <a:lstStyle/>
            <a:p>
              <a:pPr marL="0" indent="0">
                <a:buNone/>
              </a:pPr>
              <a:r>
                <a:rPr lang="en-US" dirty="0">
                  <a:solidFill>
                    <a:srgbClr val="595959"/>
                  </a:solidFill>
                  <a:latin typeface="MS PGothic" panose="020B0600070205080204" pitchFamily="34" charset="-128"/>
                  <a:ea typeface="MS PGothic" panose="020B0600070205080204" pitchFamily="34" charset="-128"/>
                  <a:cs typeface="Meiryo" pitchFamily="34" charset="-120"/>
                </a:rPr>
                <a:t>選ばれなかった選択肢</a:t>
              </a:r>
              <a:endParaRPr lang="en-US" dirty="0">
                <a:latin typeface="MS PGothic" panose="020B0600070205080204" pitchFamily="34" charset="-128"/>
                <a:ea typeface="MS PGothic" panose="020B0600070205080204" pitchFamily="34" charset="-128"/>
              </a:endParaRPr>
            </a:p>
          </p:txBody>
        </p:sp>
      </p:grpSp>
      <p:sp>
        <p:nvSpPr>
          <p:cNvPr id="52" name="Text 71">
            <a:extLst>
              <a:ext uri="{FF2B5EF4-FFF2-40B4-BE49-F238E27FC236}">
                <a16:creationId xmlns:a16="http://schemas.microsoft.com/office/drawing/2014/main" id="{8039430D-9474-738C-6092-D78EC8858DB2}"/>
              </a:ext>
            </a:extLst>
          </p:cNvPr>
          <p:cNvSpPr/>
          <p:nvPr/>
        </p:nvSpPr>
        <p:spPr>
          <a:xfrm>
            <a:off x="6590436" y="8243241"/>
            <a:ext cx="11163679" cy="349706"/>
          </a:xfrm>
          <a:prstGeom prst="rect">
            <a:avLst/>
          </a:prstGeom>
          <a:noFill/>
          <a:ln/>
        </p:spPr>
        <p:txBody>
          <a:bodyPr wrap="square" lIns="0" tIns="0" rIns="0" bIns="0" rtlCol="0" anchor="ctr"/>
          <a:lstStyle/>
          <a:p>
            <a:pPr marL="0" indent="0">
              <a:buNone/>
            </a:pPr>
            <a:r>
              <a:rPr lang="en-US" sz="2400" b="1" dirty="0">
                <a:solidFill>
                  <a:srgbClr val="3E4492"/>
                </a:solidFill>
                <a:latin typeface="MS PGothic" panose="020B0600070205080204" pitchFamily="34" charset="-128"/>
                <a:ea typeface="MS PGothic" panose="020B0600070205080204" pitchFamily="34" charset="-128"/>
                <a:cs typeface="Meiryo" pitchFamily="34" charset="-120"/>
              </a:rPr>
              <a:t>各時点で他の選択肢もあった中で、実際にどれを選んだかを軌跡として学習する</a:t>
            </a:r>
            <a:endParaRPr lang="en-US" sz="2400" dirty="0">
              <a:latin typeface="MS PGothic" panose="020B0600070205080204" pitchFamily="34" charset="-128"/>
              <a:ea typeface="MS PGothic" panose="020B0600070205080204" pitchFamily="34" charset="-128"/>
            </a:endParaRPr>
          </a:p>
        </p:txBody>
      </p:sp>
      <p:sp>
        <p:nvSpPr>
          <p:cNvPr id="53" name="Shape 72">
            <a:extLst>
              <a:ext uri="{FF2B5EF4-FFF2-40B4-BE49-F238E27FC236}">
                <a16:creationId xmlns:a16="http://schemas.microsoft.com/office/drawing/2014/main" id="{2EEADC7D-DDCE-3275-2289-9A5307B41798}"/>
              </a:ext>
            </a:extLst>
          </p:cNvPr>
          <p:cNvSpPr/>
          <p:nvPr/>
        </p:nvSpPr>
        <p:spPr>
          <a:xfrm>
            <a:off x="2793839" y="8775758"/>
            <a:ext cx="11749411" cy="457200"/>
          </a:xfrm>
          <a:prstGeom prst="rect">
            <a:avLst/>
          </a:prstGeom>
          <a:solidFill>
            <a:srgbClr val="575860"/>
          </a:solidFill>
          <a:ln w="12700">
            <a:solidFill>
              <a:srgbClr val="575860"/>
            </a:solidFill>
            <a:prstDash val="solid"/>
          </a:ln>
        </p:spPr>
        <p:txBody>
          <a:bodyPr/>
          <a:lstStyle/>
          <a:p>
            <a:endParaRPr lang="ja-JP" altLang="en-US"/>
          </a:p>
        </p:txBody>
      </p:sp>
      <p:sp>
        <p:nvSpPr>
          <p:cNvPr id="56" name="Text 73">
            <a:extLst>
              <a:ext uri="{FF2B5EF4-FFF2-40B4-BE49-F238E27FC236}">
                <a16:creationId xmlns:a16="http://schemas.microsoft.com/office/drawing/2014/main" id="{4C6071BC-503E-AA04-BAD0-43302A680029}"/>
              </a:ext>
            </a:extLst>
          </p:cNvPr>
          <p:cNvSpPr/>
          <p:nvPr/>
        </p:nvSpPr>
        <p:spPr>
          <a:xfrm>
            <a:off x="2994619" y="8827947"/>
            <a:ext cx="11311018" cy="457200"/>
          </a:xfrm>
          <a:prstGeom prst="rect">
            <a:avLst/>
          </a:prstGeom>
          <a:noFill/>
          <a:ln/>
        </p:spPr>
        <p:txBody>
          <a:bodyPr wrap="square" lIns="0" tIns="0" rIns="0" bIns="0" rtlCol="0" anchor="ctr"/>
          <a:lstStyle/>
          <a:p>
            <a:pPr marL="0" indent="0" algn="ctr">
              <a:lnSpc>
                <a:spcPts val="1900"/>
              </a:lnSpc>
              <a:buNone/>
            </a:pPr>
            <a:r>
              <a:rPr lang="en-US" sz="2400" b="1" dirty="0" err="1">
                <a:solidFill>
                  <a:srgbClr val="FFFFFF"/>
                </a:solidFill>
                <a:latin typeface="MS PGothic" panose="020B0600070205080204" pitchFamily="34" charset="-128"/>
                <a:ea typeface="MS PGothic" panose="020B0600070205080204" pitchFamily="34" charset="-128"/>
                <a:cs typeface="Meiryo" pitchFamily="34" charset="-120"/>
              </a:rPr>
              <a:t>他の選択肢もあった中である選択が繰り返された</a:t>
            </a: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 ⇒ 判断基準 rθ(s, a) </a:t>
            </a:r>
            <a:r>
              <a:rPr lang="en-US" sz="2400" b="1" dirty="0" err="1">
                <a:solidFill>
                  <a:srgbClr val="FFFFFF"/>
                </a:solidFill>
                <a:latin typeface="MS PGothic" panose="020B0600070205080204" pitchFamily="34" charset="-128"/>
                <a:ea typeface="MS PGothic" panose="020B0600070205080204" pitchFamily="34" charset="-128"/>
                <a:cs typeface="Meiryo" pitchFamily="34" charset="-120"/>
              </a:rPr>
              <a:t>を逆算できる</a:t>
            </a:r>
            <a:endParaRPr lang="en-US" sz="2400" dirty="0">
              <a:latin typeface="MS PGothic" panose="020B0600070205080204" pitchFamily="34" charset="-128"/>
              <a:ea typeface="MS PGothic" panose="020B0600070205080204" pitchFamily="34" charset="-128"/>
            </a:endParaRPr>
          </a:p>
        </p:txBody>
      </p:sp>
      <p:sp>
        <p:nvSpPr>
          <p:cNvPr id="64" name="テキスト ボックス 63">
            <a:extLst>
              <a:ext uri="{FF2B5EF4-FFF2-40B4-BE49-F238E27FC236}">
                <a16:creationId xmlns:a16="http://schemas.microsoft.com/office/drawing/2014/main" id="{8C17DD95-D1BA-0544-B4A5-EFC52565B56B}"/>
              </a:ext>
            </a:extLst>
          </p:cNvPr>
          <p:cNvSpPr txBox="1"/>
          <p:nvPr/>
        </p:nvSpPr>
        <p:spPr>
          <a:xfrm>
            <a:off x="4367463" y="4790392"/>
            <a:ext cx="8927432" cy="369332"/>
          </a:xfrm>
          <a:prstGeom prst="rect">
            <a:avLst/>
          </a:prstGeom>
          <a:noFill/>
        </p:spPr>
        <p:txBody>
          <a:bodyPr wrap="square">
            <a:spAutoFit/>
          </a:bodyPr>
          <a:lstStyle/>
          <a:p>
            <a:r>
              <a:rPr lang="en-US" altLang="ja-JP" sz="1800" b="1" dirty="0">
                <a:solidFill>
                  <a:srgbClr val="FFFFFF"/>
                </a:solidFill>
                <a:latin typeface="MS PGothic" panose="020B0600070205080204" pitchFamily="34" charset="-128"/>
                <a:ea typeface="MS PGothic" panose="020B0600070205080204" pitchFamily="34" charset="-128"/>
                <a:cs typeface="Meiryo" pitchFamily="34" charset="-120"/>
              </a:rPr>
              <a:t>× ×</a:t>
            </a:r>
            <a:endParaRPr lang="ja-JP" altLang="en-US"/>
          </a:p>
        </p:txBody>
      </p:sp>
    </p:spTree>
    <p:extLst>
      <p:ext uri="{BB962C8B-B14F-4D97-AF65-F5344CB8AC3E}">
        <p14:creationId xmlns:p14="http://schemas.microsoft.com/office/powerpoint/2010/main" val="3483299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6473-D348-ADBC-77E8-CF56069BB5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C14ED6-A5D3-8B63-72BF-351D7B948736}"/>
              </a:ext>
            </a:extLst>
          </p:cNvPr>
          <p:cNvSpPr>
            <a:spLocks noGrp="1"/>
          </p:cNvSpPr>
          <p:nvPr>
            <p:ph type="title"/>
          </p:nvPr>
        </p:nvSpPr>
        <p:spPr/>
        <p:txBody>
          <a:bodyPr/>
          <a:lstStyle/>
          <a:p>
            <a:r>
              <a:rPr kumimoji="1" lang="ja-JP" altLang="en-US" sz="3200"/>
              <a:t>アプローチ</a:t>
            </a:r>
            <a:br>
              <a:rPr kumimoji="1" lang="en-US" altLang="ja-JP" sz="3200" dirty="0"/>
            </a:br>
            <a:r>
              <a:rPr kumimoji="1" lang="ja-JP" altLang="en-US" sz="3600"/>
              <a:t>モデルの全体像</a:t>
            </a:r>
            <a:endParaRPr kumimoji="1" lang="ja-JP" altLang="en-US"/>
          </a:p>
        </p:txBody>
      </p:sp>
      <p:sp>
        <p:nvSpPr>
          <p:cNvPr id="3" name="スライド番号プレースホルダー 2">
            <a:extLst>
              <a:ext uri="{FF2B5EF4-FFF2-40B4-BE49-F238E27FC236}">
                <a16:creationId xmlns:a16="http://schemas.microsoft.com/office/drawing/2014/main" id="{66334326-717B-30E2-7583-8792A4DDE80C}"/>
              </a:ext>
            </a:extLst>
          </p:cNvPr>
          <p:cNvSpPr>
            <a:spLocks noGrp="1"/>
          </p:cNvSpPr>
          <p:nvPr>
            <p:ph type="sldNum" sz="quarter" idx="12"/>
          </p:nvPr>
        </p:nvSpPr>
        <p:spPr/>
        <p:txBody>
          <a:bodyPr/>
          <a:lstStyle/>
          <a:p>
            <a:fld id="{85D74467-FFC2-5C49-A08A-98A9FE9BCA53}" type="slidenum">
              <a:rPr kumimoji="1" lang="ja-JP" altLang="en-US" smtClean="0"/>
              <a:pPr/>
              <a:t>9</a:t>
            </a:fld>
            <a:endParaRPr kumimoji="1" lang="ja-JP" altLang="en-US"/>
          </a:p>
        </p:txBody>
      </p:sp>
      <mc:AlternateContent xmlns:mc="http://schemas.openxmlformats.org/markup-compatibility/2006" xmlns:a14="http://schemas.microsoft.com/office/drawing/2010/main">
        <mc:Choice Requires="a14">
          <p:sp>
            <p:nvSpPr>
              <p:cNvPr id="4" name="テキスト プレースホルダー 3">
                <a:extLst>
                  <a:ext uri="{FF2B5EF4-FFF2-40B4-BE49-F238E27FC236}">
                    <a16:creationId xmlns:a16="http://schemas.microsoft.com/office/drawing/2014/main" id="{4ECF8EDE-BBD5-DBDE-B8D3-1E455D5509AD}"/>
                  </a:ext>
                </a:extLst>
              </p:cNvPr>
              <p:cNvSpPr>
                <a:spLocks noGrp="1"/>
              </p:cNvSpPr>
              <p:nvPr>
                <p:ph type="body" sz="quarter" idx="13"/>
              </p:nvPr>
            </p:nvSpPr>
            <p:spPr>
              <a:xfrm>
                <a:off x="576000" y="2160000"/>
                <a:ext cx="16185600" cy="1934889"/>
              </a:xfrm>
            </p:spPr>
            <p:txBody>
              <a:bodyPr/>
              <a:lstStyle/>
              <a:p>
                <a:r>
                  <a:rPr kumimoji="1" lang="ja-JP" altLang="en-US"/>
                  <a:t>開発者</a:t>
                </a:r>
                <a14:m>
                  <m:oMath xmlns:m="http://schemas.openxmlformats.org/officeDocument/2006/math">
                    <m:r>
                      <a:rPr kumimoji="1" lang="en-US" altLang="ja-JP" sz="3200" i="1" smtClean="0">
                        <a:latin typeface="Cambria Math" panose="02040503050406030204" pitchFamily="18" charset="0"/>
                        <a:ea typeface="Cambria Math" panose="02040503050406030204" pitchFamily="18" charset="0"/>
                      </a:rPr>
                      <m:t>×</m:t>
                    </m:r>
                  </m:oMath>
                </a14:m>
                <a:r>
                  <a:rPr lang="ja-JP" altLang="en-US"/>
                  <a:t>ディレクトリのペアで</a:t>
                </a:r>
                <a:r>
                  <a:rPr kumimoji="1" lang="ja-JP" altLang="en-US"/>
                  <a:t>各期間の貢献を予測する</a:t>
                </a:r>
                <a:r>
                  <a:rPr kumimoji="1" lang="en-US" altLang="ja-JP" dirty="0"/>
                  <a:t>4</a:t>
                </a:r>
                <a:r>
                  <a:rPr kumimoji="1" lang="ja-JP" altLang="en-US"/>
                  <a:t>つのモデルを作成</a:t>
                </a:r>
                <a:endParaRPr kumimoji="1" lang="en-US" altLang="ja-JP" dirty="0"/>
              </a:p>
              <a:p>
                <a:pPr lvl="1"/>
                <a:r>
                  <a:rPr lang="ja-JP" altLang="en-US"/>
                  <a:t>予測時点</a:t>
                </a:r>
                <a:r>
                  <a:rPr lang="en-US" altLang="ja-JP" dirty="0"/>
                  <a:t>(t0)</a:t>
                </a:r>
                <a:r>
                  <a:rPr lang="ja-JP" altLang="en-US"/>
                  <a:t>以降の期間を</a:t>
                </a:r>
                <a:r>
                  <a:rPr lang="en-US" altLang="ja-JP" dirty="0"/>
                  <a:t>3</a:t>
                </a:r>
                <a:r>
                  <a:rPr lang="ja-JP" altLang="en-US"/>
                  <a:t>ヶ月ずつ</a:t>
                </a:r>
                <a:r>
                  <a:rPr lang="ja-JP" altLang="en-US" sz="2800"/>
                  <a:t>（</a:t>
                </a:r>
                <a:r>
                  <a:rPr lang="en-US" altLang="ja-JP" sz="2800" dirty="0"/>
                  <a:t>W₁:1–3m/W₂:4–6m/W₃:7–9m/W₄:10–12m</a:t>
                </a:r>
                <a:r>
                  <a:rPr lang="ja-JP" altLang="en-US" sz="2800"/>
                  <a:t>）</a:t>
                </a:r>
                <a:r>
                  <a:rPr lang="ja-JP" altLang="en-US"/>
                  <a:t>予測</a:t>
                </a:r>
                <a:endParaRPr lang="en-US" altLang="ja-JP" dirty="0"/>
              </a:p>
              <a:p>
                <a:pPr lvl="1"/>
                <a:endParaRPr kumimoji="1" lang="ja-JP" altLang="en-US"/>
              </a:p>
            </p:txBody>
          </p:sp>
        </mc:Choice>
        <mc:Fallback xmlns="">
          <p:sp>
            <p:nvSpPr>
              <p:cNvPr id="4" name="テキスト プレースホルダー 3">
                <a:extLst>
                  <a:ext uri="{FF2B5EF4-FFF2-40B4-BE49-F238E27FC236}">
                    <a16:creationId xmlns:a16="http://schemas.microsoft.com/office/drawing/2014/main" id="{4ECF8EDE-BBD5-DBDE-B8D3-1E455D5509AD}"/>
                  </a:ext>
                </a:extLst>
              </p:cNvPr>
              <p:cNvSpPr>
                <a:spLocks noGrp="1" noRot="1" noChangeAspect="1" noMove="1" noResize="1" noEditPoints="1" noAdjustHandles="1" noChangeArrowheads="1" noChangeShapeType="1" noTextEdit="1"/>
              </p:cNvSpPr>
              <p:nvPr>
                <p:ph type="body" sz="quarter" idx="13"/>
              </p:nvPr>
            </p:nvSpPr>
            <p:spPr>
              <a:xfrm>
                <a:off x="576000" y="2160000"/>
                <a:ext cx="16185600" cy="1934889"/>
              </a:xfrm>
              <a:blipFill>
                <a:blip r:embed="rId3"/>
                <a:stretch>
                  <a:fillRect l="-2431" t="-16234"/>
                </a:stretch>
              </a:blipFill>
            </p:spPr>
            <p:txBody>
              <a:bodyPr/>
              <a:lstStyle/>
              <a:p>
                <a:r>
                  <a:rPr lang="ja-JP" altLang="en-US">
                    <a:noFill/>
                  </a:rPr>
                  <a:t> </a:t>
                </a:r>
              </a:p>
            </p:txBody>
          </p:sp>
        </mc:Fallback>
      </mc:AlternateContent>
      <p:pic>
        <p:nvPicPr>
          <p:cNvPr id="8" name="図 7">
            <a:extLst>
              <a:ext uri="{FF2B5EF4-FFF2-40B4-BE49-F238E27FC236}">
                <a16:creationId xmlns:a16="http://schemas.microsoft.com/office/drawing/2014/main" id="{45C867AB-4A1E-60A7-90D7-A699477FDDCD}"/>
              </a:ext>
            </a:extLst>
          </p:cNvPr>
          <p:cNvPicPr>
            <a:picLocks noChangeAspect="1"/>
          </p:cNvPicPr>
          <p:nvPr/>
        </p:nvPicPr>
        <p:blipFill>
          <a:blip r:embed="rId4"/>
          <a:stretch>
            <a:fillRect/>
          </a:stretch>
        </p:blipFill>
        <p:spPr>
          <a:xfrm>
            <a:off x="1517426" y="3715171"/>
            <a:ext cx="13263100" cy="4773472"/>
          </a:xfrm>
          <a:prstGeom prst="rect">
            <a:avLst/>
          </a:prstGeom>
        </p:spPr>
      </p:pic>
      <p:sp>
        <p:nvSpPr>
          <p:cNvPr id="12" name="テキスト ボックス 11">
            <a:extLst>
              <a:ext uri="{FF2B5EF4-FFF2-40B4-BE49-F238E27FC236}">
                <a16:creationId xmlns:a16="http://schemas.microsoft.com/office/drawing/2014/main" id="{C9630A6E-9A27-CE40-2FA8-3C3BA973253C}"/>
              </a:ext>
            </a:extLst>
          </p:cNvPr>
          <p:cNvSpPr txBox="1"/>
          <p:nvPr/>
        </p:nvSpPr>
        <p:spPr>
          <a:xfrm>
            <a:off x="11411712" y="3715171"/>
            <a:ext cx="1620957" cy="523220"/>
          </a:xfrm>
          <a:prstGeom prst="rect">
            <a:avLst/>
          </a:prstGeom>
          <a:noFill/>
        </p:spPr>
        <p:txBody>
          <a:bodyPr wrap="none" rtlCol="0">
            <a:spAutoFit/>
          </a:bodyPr>
          <a:lstStyle/>
          <a:p>
            <a:r>
              <a:rPr kumimoji="1" lang="ja-JP" altLang="en-US" sz="2800"/>
              <a:t>評価期間</a:t>
            </a:r>
          </a:p>
        </p:txBody>
      </p:sp>
      <p:sp>
        <p:nvSpPr>
          <p:cNvPr id="13" name="テキスト ボックス 12">
            <a:extLst>
              <a:ext uri="{FF2B5EF4-FFF2-40B4-BE49-F238E27FC236}">
                <a16:creationId xmlns:a16="http://schemas.microsoft.com/office/drawing/2014/main" id="{29DC9003-469A-A61B-2D52-1993B7987DFA}"/>
              </a:ext>
            </a:extLst>
          </p:cNvPr>
          <p:cNvSpPr txBox="1"/>
          <p:nvPr/>
        </p:nvSpPr>
        <p:spPr>
          <a:xfrm>
            <a:off x="4937760" y="3715171"/>
            <a:ext cx="1620957" cy="523220"/>
          </a:xfrm>
          <a:prstGeom prst="rect">
            <a:avLst/>
          </a:prstGeom>
          <a:noFill/>
        </p:spPr>
        <p:txBody>
          <a:bodyPr wrap="none" rtlCol="0">
            <a:spAutoFit/>
          </a:bodyPr>
          <a:lstStyle/>
          <a:p>
            <a:r>
              <a:rPr kumimoji="1" lang="ja-JP" altLang="en-US" sz="2800"/>
              <a:t>訓練期間</a:t>
            </a:r>
          </a:p>
        </p:txBody>
      </p:sp>
    </p:spTree>
    <p:extLst>
      <p:ext uri="{BB962C8B-B14F-4D97-AF65-F5344CB8AC3E}">
        <p14:creationId xmlns:p14="http://schemas.microsoft.com/office/powerpoint/2010/main" val="2758888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A449C-5E22-DB22-905E-FF27B8154C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9BFE8C-14B3-E6C6-ED03-6AA6CF3B0154}"/>
              </a:ext>
            </a:extLst>
          </p:cNvPr>
          <p:cNvSpPr>
            <a:spLocks noGrp="1"/>
          </p:cNvSpPr>
          <p:nvPr>
            <p:ph type="title"/>
          </p:nvPr>
        </p:nvSpPr>
        <p:spPr/>
        <p:txBody>
          <a:bodyPr/>
          <a:lstStyle/>
          <a:p>
            <a:r>
              <a:rPr kumimoji="1" lang="ja-JP" altLang="en-US" sz="3200"/>
              <a:t>アプローチ</a:t>
            </a:r>
            <a:br>
              <a:rPr kumimoji="1" lang="en-US" altLang="ja-JP" sz="3200" dirty="0"/>
            </a:br>
            <a:r>
              <a:rPr kumimoji="1" lang="ja-JP" altLang="en-US" sz="3600"/>
              <a:t>モデルの全体像</a:t>
            </a:r>
            <a:endParaRPr kumimoji="1" lang="ja-JP" altLang="en-US"/>
          </a:p>
        </p:txBody>
      </p:sp>
      <p:sp>
        <p:nvSpPr>
          <p:cNvPr id="3" name="スライド番号プレースホルダー 2">
            <a:extLst>
              <a:ext uri="{FF2B5EF4-FFF2-40B4-BE49-F238E27FC236}">
                <a16:creationId xmlns:a16="http://schemas.microsoft.com/office/drawing/2014/main" id="{5BD9EF4D-5EE5-876F-2750-7E9C6819FF33}"/>
              </a:ext>
            </a:extLst>
          </p:cNvPr>
          <p:cNvSpPr>
            <a:spLocks noGrp="1"/>
          </p:cNvSpPr>
          <p:nvPr>
            <p:ph type="sldNum" sz="quarter" idx="12"/>
          </p:nvPr>
        </p:nvSpPr>
        <p:spPr/>
        <p:txBody>
          <a:bodyPr/>
          <a:lstStyle/>
          <a:p>
            <a:fld id="{85D74467-FFC2-5C49-A08A-98A9FE9BCA53}" type="slidenum">
              <a:rPr kumimoji="1" lang="ja-JP" altLang="en-US" smtClean="0"/>
              <a:pPr/>
              <a:t>10</a:t>
            </a:fld>
            <a:endParaRPr kumimoji="1" lang="ja-JP" altLang="en-US"/>
          </a:p>
        </p:txBody>
      </p:sp>
      <mc:AlternateContent xmlns:mc="http://schemas.openxmlformats.org/markup-compatibility/2006" xmlns:a14="http://schemas.microsoft.com/office/drawing/2010/main">
        <mc:Choice Requires="a14">
          <p:sp>
            <p:nvSpPr>
              <p:cNvPr id="4" name="テキスト プレースホルダー 3">
                <a:extLst>
                  <a:ext uri="{FF2B5EF4-FFF2-40B4-BE49-F238E27FC236}">
                    <a16:creationId xmlns:a16="http://schemas.microsoft.com/office/drawing/2014/main" id="{BBEC1EA4-1BE7-7643-B56F-D5AC3C14ECDD}"/>
                  </a:ext>
                </a:extLst>
              </p:cNvPr>
              <p:cNvSpPr>
                <a:spLocks noGrp="1"/>
              </p:cNvSpPr>
              <p:nvPr>
                <p:ph type="body" sz="quarter" idx="13"/>
              </p:nvPr>
            </p:nvSpPr>
            <p:spPr>
              <a:xfrm>
                <a:off x="576000" y="2160000"/>
                <a:ext cx="16185600" cy="1934889"/>
              </a:xfrm>
            </p:spPr>
            <p:txBody>
              <a:bodyPr/>
              <a:lstStyle/>
              <a:p>
                <a:r>
                  <a:rPr kumimoji="1" lang="ja-JP" altLang="en-US"/>
                  <a:t>開発者</a:t>
                </a:r>
                <a14:m>
                  <m:oMath xmlns:m="http://schemas.openxmlformats.org/officeDocument/2006/math">
                    <m:r>
                      <a:rPr kumimoji="1" lang="en-US" altLang="ja-JP" sz="3200" i="1" smtClean="0">
                        <a:latin typeface="Cambria Math" panose="02040503050406030204" pitchFamily="18" charset="0"/>
                        <a:ea typeface="Cambria Math" panose="02040503050406030204" pitchFamily="18" charset="0"/>
                      </a:rPr>
                      <m:t>×</m:t>
                    </m:r>
                  </m:oMath>
                </a14:m>
                <a:r>
                  <a:rPr lang="ja-JP" altLang="en-US"/>
                  <a:t>ディレクトリのペアで</a:t>
                </a:r>
                <a:r>
                  <a:rPr kumimoji="1" lang="ja-JP" altLang="en-US"/>
                  <a:t>各期間の貢献を予測する</a:t>
                </a:r>
                <a:r>
                  <a:rPr kumimoji="1" lang="en-US" altLang="ja-JP" dirty="0"/>
                  <a:t>4</a:t>
                </a:r>
                <a:r>
                  <a:rPr kumimoji="1" lang="ja-JP" altLang="en-US"/>
                  <a:t>つのモデルを作成</a:t>
                </a:r>
                <a:endParaRPr kumimoji="1" lang="en-US" altLang="ja-JP" dirty="0"/>
              </a:p>
              <a:p>
                <a:pPr lvl="1"/>
                <a:r>
                  <a:rPr lang="ja-JP" altLang="en-US"/>
                  <a:t>予測時点</a:t>
                </a:r>
                <a:r>
                  <a:rPr lang="en-US" altLang="ja-JP" dirty="0"/>
                  <a:t>(t0)</a:t>
                </a:r>
                <a:r>
                  <a:rPr lang="ja-JP" altLang="en-US"/>
                  <a:t>以降の期間を</a:t>
                </a:r>
                <a:r>
                  <a:rPr lang="en-US" altLang="ja-JP" dirty="0"/>
                  <a:t>3</a:t>
                </a:r>
                <a:r>
                  <a:rPr lang="ja-JP" altLang="en-US"/>
                  <a:t>ヶ月ずつ</a:t>
                </a:r>
                <a:r>
                  <a:rPr lang="ja-JP" altLang="en-US" sz="2800"/>
                  <a:t>（</a:t>
                </a:r>
                <a:r>
                  <a:rPr lang="en-US" altLang="ja-JP" sz="2800" dirty="0"/>
                  <a:t>W₁:1–3m/W₂:4–6m/W₃:7–9m/W₄:10–12m</a:t>
                </a:r>
                <a:r>
                  <a:rPr lang="ja-JP" altLang="en-US" sz="2800"/>
                  <a:t>）</a:t>
                </a:r>
                <a:r>
                  <a:rPr lang="ja-JP" altLang="en-US"/>
                  <a:t>予測</a:t>
                </a:r>
                <a:endParaRPr lang="en-US" altLang="ja-JP" dirty="0"/>
              </a:p>
              <a:p>
                <a:pPr lvl="1"/>
                <a:endParaRPr kumimoji="1" lang="ja-JP" altLang="en-US"/>
              </a:p>
            </p:txBody>
          </p:sp>
        </mc:Choice>
        <mc:Fallback xmlns="">
          <p:sp>
            <p:nvSpPr>
              <p:cNvPr id="4" name="テキスト プレースホルダー 3">
                <a:extLst>
                  <a:ext uri="{FF2B5EF4-FFF2-40B4-BE49-F238E27FC236}">
                    <a16:creationId xmlns:a16="http://schemas.microsoft.com/office/drawing/2014/main" id="{BBEC1EA4-1BE7-7643-B56F-D5AC3C14ECDD}"/>
                  </a:ext>
                </a:extLst>
              </p:cNvPr>
              <p:cNvSpPr>
                <a:spLocks noGrp="1" noRot="1" noChangeAspect="1" noMove="1" noResize="1" noEditPoints="1" noAdjustHandles="1" noChangeArrowheads="1" noChangeShapeType="1" noTextEdit="1"/>
              </p:cNvSpPr>
              <p:nvPr>
                <p:ph type="body" sz="quarter" idx="13"/>
              </p:nvPr>
            </p:nvSpPr>
            <p:spPr>
              <a:xfrm>
                <a:off x="576000" y="2160000"/>
                <a:ext cx="16185600" cy="1934889"/>
              </a:xfrm>
              <a:blipFill>
                <a:blip r:embed="rId3"/>
                <a:stretch>
                  <a:fillRect l="-2431" t="-16234"/>
                </a:stretch>
              </a:blipFill>
            </p:spPr>
            <p:txBody>
              <a:bodyPr/>
              <a:lstStyle/>
              <a:p>
                <a:r>
                  <a:rPr lang="ja-JP" altLang="en-US">
                    <a:noFill/>
                  </a:rPr>
                  <a:t> </a:t>
                </a:r>
              </a:p>
            </p:txBody>
          </p:sp>
        </mc:Fallback>
      </mc:AlternateContent>
      <p:pic>
        <p:nvPicPr>
          <p:cNvPr id="8" name="図 7">
            <a:extLst>
              <a:ext uri="{FF2B5EF4-FFF2-40B4-BE49-F238E27FC236}">
                <a16:creationId xmlns:a16="http://schemas.microsoft.com/office/drawing/2014/main" id="{BD9F3FD3-6F32-388F-9AE7-F7947E5239C9}"/>
              </a:ext>
            </a:extLst>
          </p:cNvPr>
          <p:cNvPicPr>
            <a:picLocks noChangeAspect="1"/>
          </p:cNvPicPr>
          <p:nvPr/>
        </p:nvPicPr>
        <p:blipFill>
          <a:blip r:embed="rId4"/>
          <a:stretch>
            <a:fillRect/>
          </a:stretch>
        </p:blipFill>
        <p:spPr>
          <a:xfrm>
            <a:off x="1517426" y="3715171"/>
            <a:ext cx="13263100" cy="4773472"/>
          </a:xfrm>
          <a:prstGeom prst="rect">
            <a:avLst/>
          </a:prstGeom>
        </p:spPr>
      </p:pic>
      <p:sp>
        <p:nvSpPr>
          <p:cNvPr id="12" name="テキスト ボックス 11">
            <a:extLst>
              <a:ext uri="{FF2B5EF4-FFF2-40B4-BE49-F238E27FC236}">
                <a16:creationId xmlns:a16="http://schemas.microsoft.com/office/drawing/2014/main" id="{3BF3C475-68B1-1C1C-1E4D-E024E94B7D58}"/>
              </a:ext>
            </a:extLst>
          </p:cNvPr>
          <p:cNvSpPr txBox="1"/>
          <p:nvPr/>
        </p:nvSpPr>
        <p:spPr>
          <a:xfrm>
            <a:off x="11411712" y="3715171"/>
            <a:ext cx="1620957" cy="523220"/>
          </a:xfrm>
          <a:prstGeom prst="rect">
            <a:avLst/>
          </a:prstGeom>
          <a:noFill/>
        </p:spPr>
        <p:txBody>
          <a:bodyPr wrap="none" rtlCol="0">
            <a:spAutoFit/>
          </a:bodyPr>
          <a:lstStyle/>
          <a:p>
            <a:r>
              <a:rPr kumimoji="1" lang="ja-JP" altLang="en-US" sz="2800"/>
              <a:t>評価期間</a:t>
            </a:r>
          </a:p>
        </p:txBody>
      </p:sp>
      <p:sp>
        <p:nvSpPr>
          <p:cNvPr id="13" name="テキスト ボックス 12">
            <a:extLst>
              <a:ext uri="{FF2B5EF4-FFF2-40B4-BE49-F238E27FC236}">
                <a16:creationId xmlns:a16="http://schemas.microsoft.com/office/drawing/2014/main" id="{04B5C9A0-DEA4-306C-1728-6F1CFA187400}"/>
              </a:ext>
            </a:extLst>
          </p:cNvPr>
          <p:cNvSpPr txBox="1"/>
          <p:nvPr/>
        </p:nvSpPr>
        <p:spPr>
          <a:xfrm>
            <a:off x="4937760" y="3715171"/>
            <a:ext cx="1620957" cy="523220"/>
          </a:xfrm>
          <a:prstGeom prst="rect">
            <a:avLst/>
          </a:prstGeom>
          <a:noFill/>
        </p:spPr>
        <p:txBody>
          <a:bodyPr wrap="none" rtlCol="0">
            <a:spAutoFit/>
          </a:bodyPr>
          <a:lstStyle/>
          <a:p>
            <a:r>
              <a:rPr kumimoji="1" lang="ja-JP" altLang="en-US" sz="2800"/>
              <a:t>訓練期間</a:t>
            </a:r>
          </a:p>
        </p:txBody>
      </p:sp>
      <p:sp>
        <p:nvSpPr>
          <p:cNvPr id="5" name="角丸四角形 4">
            <a:extLst>
              <a:ext uri="{FF2B5EF4-FFF2-40B4-BE49-F238E27FC236}">
                <a16:creationId xmlns:a16="http://schemas.microsoft.com/office/drawing/2014/main" id="{E06209E6-4C3D-1E0A-3A83-120B07502227}"/>
              </a:ext>
            </a:extLst>
          </p:cNvPr>
          <p:cNvSpPr/>
          <p:nvPr/>
        </p:nvSpPr>
        <p:spPr>
          <a:xfrm>
            <a:off x="4097718" y="5384936"/>
            <a:ext cx="6097159" cy="1288819"/>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58414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1B10-0027-28C6-0B0E-A47C36F6AF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284AC1-FA05-D8E8-417F-AEF6E5E9E318}"/>
              </a:ext>
            </a:extLst>
          </p:cNvPr>
          <p:cNvSpPr>
            <a:spLocks noGrp="1"/>
          </p:cNvSpPr>
          <p:nvPr>
            <p:ph type="title"/>
          </p:nvPr>
        </p:nvSpPr>
        <p:spPr/>
        <p:txBody>
          <a:bodyPr/>
          <a:lstStyle/>
          <a:p>
            <a:r>
              <a:rPr kumimoji="1" lang="ja-JP" altLang="en-US" sz="3200"/>
              <a:t>アプローチ</a:t>
            </a:r>
            <a:br>
              <a:rPr kumimoji="1" lang="en-US" altLang="ja-JP" sz="3200" dirty="0"/>
            </a:br>
            <a:r>
              <a:rPr kumimoji="1" lang="ja-JP" altLang="en-US" sz="3600"/>
              <a:t>学習方法・予測について（</a:t>
            </a:r>
            <a:r>
              <a:rPr kumimoji="1" lang="en-US" altLang="ja-JP" sz="3600" dirty="0"/>
              <a:t>4-6m</a:t>
            </a:r>
            <a:r>
              <a:rPr kumimoji="1" lang="ja-JP" altLang="en-US" sz="3600"/>
              <a:t>の例）</a:t>
            </a:r>
            <a:endParaRPr kumimoji="1" lang="ja-JP" altLang="en-US"/>
          </a:p>
        </p:txBody>
      </p:sp>
      <p:sp>
        <p:nvSpPr>
          <p:cNvPr id="3" name="スライド番号プレースホルダー 2">
            <a:extLst>
              <a:ext uri="{FF2B5EF4-FFF2-40B4-BE49-F238E27FC236}">
                <a16:creationId xmlns:a16="http://schemas.microsoft.com/office/drawing/2014/main" id="{1AB132A9-43C4-E967-6C4A-A251E8945CDE}"/>
              </a:ext>
            </a:extLst>
          </p:cNvPr>
          <p:cNvSpPr>
            <a:spLocks noGrp="1"/>
          </p:cNvSpPr>
          <p:nvPr>
            <p:ph type="sldNum" sz="quarter" idx="12"/>
          </p:nvPr>
        </p:nvSpPr>
        <p:spPr/>
        <p:txBody>
          <a:bodyPr/>
          <a:lstStyle/>
          <a:p>
            <a:fld id="{85D74467-FFC2-5C49-A08A-98A9FE9BCA53}" type="slidenum">
              <a:rPr kumimoji="1" lang="ja-JP" altLang="en-US" smtClean="0"/>
              <a:pPr/>
              <a:t>11</a:t>
            </a:fld>
            <a:endParaRPr kumimoji="1" lang="ja-JP" altLang="en-US"/>
          </a:p>
        </p:txBody>
      </p:sp>
      <p:grpSp>
        <p:nvGrpSpPr>
          <p:cNvPr id="4" name="グループ化 3">
            <a:extLst>
              <a:ext uri="{FF2B5EF4-FFF2-40B4-BE49-F238E27FC236}">
                <a16:creationId xmlns:a16="http://schemas.microsoft.com/office/drawing/2014/main" id="{F79C9EAD-4E33-6C30-E7EC-1C3431B04AD5}"/>
              </a:ext>
            </a:extLst>
          </p:cNvPr>
          <p:cNvGrpSpPr/>
          <p:nvPr/>
        </p:nvGrpSpPr>
        <p:grpSpPr>
          <a:xfrm>
            <a:off x="12172355" y="1"/>
            <a:ext cx="5201355" cy="1872000"/>
            <a:chOff x="206119" y="1946628"/>
            <a:chExt cx="9920282" cy="3570371"/>
          </a:xfrm>
        </p:grpSpPr>
        <p:pic>
          <p:nvPicPr>
            <p:cNvPr id="8" name="図 7">
              <a:extLst>
                <a:ext uri="{FF2B5EF4-FFF2-40B4-BE49-F238E27FC236}">
                  <a16:creationId xmlns:a16="http://schemas.microsoft.com/office/drawing/2014/main" id="{DF1261FE-CF49-C6E4-9B0F-DD340FA79716}"/>
                </a:ext>
              </a:extLst>
            </p:cNvPr>
            <p:cNvPicPr>
              <a:picLocks noChangeAspect="1"/>
            </p:cNvPicPr>
            <p:nvPr/>
          </p:nvPicPr>
          <p:blipFill>
            <a:blip r:embed="rId3"/>
            <a:stretch>
              <a:fillRect/>
            </a:stretch>
          </p:blipFill>
          <p:spPr>
            <a:xfrm>
              <a:off x="206119" y="1946628"/>
              <a:ext cx="9920282" cy="3570371"/>
            </a:xfrm>
            <a:prstGeom prst="rect">
              <a:avLst/>
            </a:prstGeom>
          </p:spPr>
        </p:pic>
        <p:sp>
          <p:nvSpPr>
            <p:cNvPr id="13" name="角丸四角形 12">
              <a:extLst>
                <a:ext uri="{FF2B5EF4-FFF2-40B4-BE49-F238E27FC236}">
                  <a16:creationId xmlns:a16="http://schemas.microsoft.com/office/drawing/2014/main" id="{127E3F1F-8714-4CF2-232C-6F89B4097D0B}"/>
                </a:ext>
              </a:extLst>
            </p:cNvPr>
            <p:cNvSpPr/>
            <p:nvPr/>
          </p:nvSpPr>
          <p:spPr>
            <a:xfrm>
              <a:off x="2244253" y="3439236"/>
              <a:ext cx="4462818" cy="655092"/>
            </a:xfrm>
            <a:prstGeom prst="round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1" name="グループ化 190">
            <a:extLst>
              <a:ext uri="{FF2B5EF4-FFF2-40B4-BE49-F238E27FC236}">
                <a16:creationId xmlns:a16="http://schemas.microsoft.com/office/drawing/2014/main" id="{0F430332-1C8E-9637-B815-2DEDB63A0503}"/>
              </a:ext>
            </a:extLst>
          </p:cNvPr>
          <p:cNvGrpSpPr/>
          <p:nvPr/>
        </p:nvGrpSpPr>
        <p:grpSpPr>
          <a:xfrm>
            <a:off x="9511771" y="6787546"/>
            <a:ext cx="7655768" cy="2476819"/>
            <a:chOff x="434353" y="4059026"/>
            <a:chExt cx="4411967" cy="1427374"/>
          </a:xfrm>
        </p:grpSpPr>
        <p:sp>
          <p:nvSpPr>
            <p:cNvPr id="181" name="Text 4">
              <a:extLst>
                <a:ext uri="{FF2B5EF4-FFF2-40B4-BE49-F238E27FC236}">
                  <a16:creationId xmlns:a16="http://schemas.microsoft.com/office/drawing/2014/main" id="{D8FCBD03-E0F8-3155-F13E-3A400914062B}"/>
                </a:ext>
              </a:extLst>
            </p:cNvPr>
            <p:cNvSpPr/>
            <p:nvPr/>
          </p:nvSpPr>
          <p:spPr>
            <a:xfrm>
              <a:off x="434353" y="4059026"/>
              <a:ext cx="3977640" cy="292608"/>
            </a:xfrm>
            <a:prstGeom prst="rect">
              <a:avLst/>
            </a:prstGeom>
            <a:noFill/>
            <a:ln/>
          </p:spPr>
          <p:txBody>
            <a:bodyPr wrap="square" lIns="0" tIns="0" rIns="0" bIns="0" rtlCol="0" anchor="ctr"/>
            <a:lstStyle/>
            <a:p>
              <a:pPr marL="0" indent="0" algn="l">
                <a:buNone/>
              </a:pPr>
              <a:r>
                <a:rPr lang="en-US" sz="2400" b="1" dirty="0" err="1">
                  <a:solidFill>
                    <a:srgbClr val="262626"/>
                  </a:solidFill>
                  <a:latin typeface="+mj-ea"/>
                  <a:ea typeface="+mj-ea"/>
                  <a:cs typeface="Meiryo" pitchFamily="34" charset="-120"/>
                </a:rPr>
                <a:t>ラベルy</a:t>
              </a:r>
              <a:r>
                <a:rPr lang="en-US" sz="2400" b="1" dirty="0">
                  <a:solidFill>
                    <a:srgbClr val="262626"/>
                  </a:solidFill>
                  <a:latin typeface="+mj-ea"/>
                  <a:ea typeface="+mj-ea"/>
                  <a:cs typeface="Meiryo" pitchFamily="34" charset="-120"/>
                </a:rPr>
                <a:t>ₜ(d, r)：</a:t>
              </a:r>
              <a:r>
                <a:rPr lang="en-US" sz="2400" b="1" dirty="0" err="1">
                  <a:solidFill>
                    <a:srgbClr val="262626"/>
                  </a:solidFill>
                  <a:latin typeface="+mj-ea"/>
                  <a:ea typeface="+mj-ea"/>
                  <a:cs typeface="Meiryo" pitchFamily="34" charset="-120"/>
                </a:rPr>
                <a:t>各月τₜにWₕ内の貢献で付与</a:t>
              </a:r>
              <a:endParaRPr lang="en-US" sz="2400" dirty="0">
                <a:latin typeface="+mj-ea"/>
                <a:ea typeface="+mj-ea"/>
              </a:endParaRPr>
            </a:p>
          </p:txBody>
        </p:sp>
        <p:sp>
          <p:nvSpPr>
            <p:cNvPr id="182" name="Shape 5">
              <a:extLst>
                <a:ext uri="{FF2B5EF4-FFF2-40B4-BE49-F238E27FC236}">
                  <a16:creationId xmlns:a16="http://schemas.microsoft.com/office/drawing/2014/main" id="{BEE14726-5FB7-65EA-78E8-D862A731BCA4}"/>
                </a:ext>
              </a:extLst>
            </p:cNvPr>
            <p:cNvSpPr/>
            <p:nvPr/>
          </p:nvSpPr>
          <p:spPr>
            <a:xfrm>
              <a:off x="566928" y="4425696"/>
              <a:ext cx="420624" cy="292608"/>
            </a:xfrm>
            <a:prstGeom prst="rect">
              <a:avLst/>
            </a:prstGeom>
            <a:solidFill>
              <a:srgbClr val="1F5C45"/>
            </a:solidFill>
            <a:ln/>
          </p:spPr>
          <p:txBody>
            <a:bodyPr/>
            <a:lstStyle/>
            <a:p>
              <a:endParaRPr lang="ja-JP" altLang="en-US" sz="4000">
                <a:latin typeface="+mj-ea"/>
                <a:ea typeface="+mj-ea"/>
              </a:endParaRPr>
            </a:p>
          </p:txBody>
        </p:sp>
        <p:sp>
          <p:nvSpPr>
            <p:cNvPr id="183" name="Text 6">
              <a:extLst>
                <a:ext uri="{FF2B5EF4-FFF2-40B4-BE49-F238E27FC236}">
                  <a16:creationId xmlns:a16="http://schemas.microsoft.com/office/drawing/2014/main" id="{6F5BA76A-47EE-1852-AB0D-0BAEA85A58B6}"/>
                </a:ext>
              </a:extLst>
            </p:cNvPr>
            <p:cNvSpPr/>
            <p:nvPr/>
          </p:nvSpPr>
          <p:spPr>
            <a:xfrm>
              <a:off x="566928" y="4425696"/>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+1</a:t>
              </a:r>
              <a:endParaRPr lang="en-US" sz="2400" dirty="0">
                <a:latin typeface="+mj-ea"/>
                <a:ea typeface="+mj-ea"/>
              </a:endParaRPr>
            </a:p>
          </p:txBody>
        </p:sp>
        <p:sp>
          <p:nvSpPr>
            <p:cNvPr id="184" name="Text 7">
              <a:extLst>
                <a:ext uri="{FF2B5EF4-FFF2-40B4-BE49-F238E27FC236}">
                  <a16:creationId xmlns:a16="http://schemas.microsoft.com/office/drawing/2014/main" id="{9095CB61-38BE-7BD3-0730-DD7983DF16F5}"/>
                </a:ext>
              </a:extLst>
            </p:cNvPr>
            <p:cNvSpPr/>
            <p:nvPr/>
          </p:nvSpPr>
          <p:spPr>
            <a:xfrm>
              <a:off x="1097280" y="4425696"/>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依頼あり，貢献あり</a:t>
              </a:r>
              <a:r>
                <a:rPr lang="en-US" sz="2000" dirty="0">
                  <a:solidFill>
                    <a:srgbClr val="262626"/>
                  </a:solidFill>
                  <a:latin typeface="+mj-ea"/>
                  <a:ea typeface="+mj-ea"/>
                  <a:cs typeface="Meiryo" pitchFamily="34" charset="-120"/>
                </a:rPr>
                <a:t> ＝ 正例（重み 1.0）</a:t>
              </a:r>
              <a:endParaRPr lang="en-US" sz="2000" dirty="0">
                <a:latin typeface="+mj-ea"/>
                <a:ea typeface="+mj-ea"/>
              </a:endParaRPr>
            </a:p>
          </p:txBody>
        </p:sp>
        <p:sp>
          <p:nvSpPr>
            <p:cNvPr id="185" name="Shape 8">
              <a:extLst>
                <a:ext uri="{FF2B5EF4-FFF2-40B4-BE49-F238E27FC236}">
                  <a16:creationId xmlns:a16="http://schemas.microsoft.com/office/drawing/2014/main" id="{EDC7FEA6-967D-4EB2-5A10-11906C1B72D8}"/>
                </a:ext>
              </a:extLst>
            </p:cNvPr>
            <p:cNvSpPr/>
            <p:nvPr/>
          </p:nvSpPr>
          <p:spPr>
            <a:xfrm>
              <a:off x="566928" y="4809744"/>
              <a:ext cx="420624" cy="292608"/>
            </a:xfrm>
            <a:prstGeom prst="rect">
              <a:avLst/>
            </a:prstGeom>
            <a:solidFill>
              <a:srgbClr val="575860"/>
            </a:solidFill>
            <a:ln/>
          </p:spPr>
          <p:txBody>
            <a:bodyPr/>
            <a:lstStyle/>
            <a:p>
              <a:endParaRPr lang="ja-JP" altLang="en-US" sz="4000">
                <a:latin typeface="+mj-ea"/>
                <a:ea typeface="+mj-ea"/>
              </a:endParaRPr>
            </a:p>
          </p:txBody>
        </p:sp>
        <p:sp>
          <p:nvSpPr>
            <p:cNvPr id="186" name="Text 9">
              <a:extLst>
                <a:ext uri="{FF2B5EF4-FFF2-40B4-BE49-F238E27FC236}">
                  <a16:creationId xmlns:a16="http://schemas.microsoft.com/office/drawing/2014/main" id="{8215766C-3868-FEF4-8B52-D2A82A7EDD87}"/>
                </a:ext>
              </a:extLst>
            </p:cNvPr>
            <p:cNvSpPr/>
            <p:nvPr/>
          </p:nvSpPr>
          <p:spPr>
            <a:xfrm>
              <a:off x="566928" y="4809744"/>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87" name="Text 10">
              <a:extLst>
                <a:ext uri="{FF2B5EF4-FFF2-40B4-BE49-F238E27FC236}">
                  <a16:creationId xmlns:a16="http://schemas.microsoft.com/office/drawing/2014/main" id="{7EB78F40-1DFC-EC2B-E3DE-5E570BD1BCEF}"/>
                </a:ext>
              </a:extLst>
            </p:cNvPr>
            <p:cNvSpPr/>
            <p:nvPr/>
          </p:nvSpPr>
          <p:spPr>
            <a:xfrm>
              <a:off x="1097280" y="4809744"/>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a:t>
              </a:r>
              <a:r>
                <a:rPr lang="en-US" sz="2000" dirty="0">
                  <a:solidFill>
                    <a:srgbClr val="262626"/>
                  </a:solidFill>
                  <a:latin typeface="+mj-ea"/>
                  <a:ea typeface="+mj-ea"/>
                  <a:cs typeface="Meiryo" pitchFamily="34" charset="-120"/>
                </a:rPr>
                <a:t> ，</a:t>
              </a:r>
              <a:r>
                <a:rPr lang="en-US" sz="2000" dirty="0" err="1">
                  <a:solidFill>
                    <a:srgbClr val="262626"/>
                  </a:solidFill>
                  <a:latin typeface="+mj-ea"/>
                  <a:ea typeface="+mj-ea"/>
                  <a:cs typeface="Meiryo" pitchFamily="34" charset="-120"/>
                </a:rPr>
                <a:t>貢献なし</a:t>
              </a:r>
              <a:r>
                <a:rPr lang="en-US" sz="2000" dirty="0">
                  <a:solidFill>
                    <a:srgbClr val="262626"/>
                  </a:solidFill>
                  <a:latin typeface="+mj-ea"/>
                  <a:ea typeface="+mj-ea"/>
                  <a:cs typeface="Meiryo" pitchFamily="34" charset="-120"/>
                </a:rPr>
                <a:t> ＝ 強い負例（重み 1.0）</a:t>
              </a:r>
              <a:endParaRPr lang="en-US" sz="2000" dirty="0">
                <a:latin typeface="+mj-ea"/>
                <a:ea typeface="+mj-ea"/>
              </a:endParaRPr>
            </a:p>
          </p:txBody>
        </p:sp>
        <p:sp>
          <p:nvSpPr>
            <p:cNvPr id="188" name="Shape 11">
              <a:extLst>
                <a:ext uri="{FF2B5EF4-FFF2-40B4-BE49-F238E27FC236}">
                  <a16:creationId xmlns:a16="http://schemas.microsoft.com/office/drawing/2014/main" id="{F8633FD9-EAD2-9766-FFF8-97474EDF962F}"/>
                </a:ext>
              </a:extLst>
            </p:cNvPr>
            <p:cNvSpPr/>
            <p:nvPr/>
          </p:nvSpPr>
          <p:spPr>
            <a:xfrm>
              <a:off x="566928" y="5193792"/>
              <a:ext cx="420624" cy="292608"/>
            </a:xfrm>
            <a:prstGeom prst="rect">
              <a:avLst/>
            </a:prstGeom>
            <a:solidFill>
              <a:srgbClr val="C00000"/>
            </a:solidFill>
            <a:ln/>
          </p:spPr>
          <p:txBody>
            <a:bodyPr/>
            <a:lstStyle/>
            <a:p>
              <a:endParaRPr lang="ja-JP" altLang="en-US" sz="4000">
                <a:latin typeface="+mj-ea"/>
                <a:ea typeface="+mj-ea"/>
              </a:endParaRPr>
            </a:p>
          </p:txBody>
        </p:sp>
        <p:sp>
          <p:nvSpPr>
            <p:cNvPr id="189" name="Text 12">
              <a:extLst>
                <a:ext uri="{FF2B5EF4-FFF2-40B4-BE49-F238E27FC236}">
                  <a16:creationId xmlns:a16="http://schemas.microsoft.com/office/drawing/2014/main" id="{C2FFE8A5-BED0-EE47-3378-D26DD94E4E55}"/>
                </a:ext>
              </a:extLst>
            </p:cNvPr>
            <p:cNvSpPr/>
            <p:nvPr/>
          </p:nvSpPr>
          <p:spPr>
            <a:xfrm>
              <a:off x="566928" y="5193792"/>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90" name="Text 13">
              <a:extLst>
                <a:ext uri="{FF2B5EF4-FFF2-40B4-BE49-F238E27FC236}">
                  <a16:creationId xmlns:a16="http://schemas.microsoft.com/office/drawing/2014/main" id="{A7BA3C49-C2D2-3203-EF78-12F94AAD9111}"/>
                </a:ext>
              </a:extLst>
            </p:cNvPr>
            <p:cNvSpPr/>
            <p:nvPr/>
          </p:nvSpPr>
          <p:spPr>
            <a:xfrm>
              <a:off x="1097280" y="5193792"/>
              <a:ext cx="3749040" cy="292608"/>
            </a:xfrm>
            <a:prstGeom prst="rect">
              <a:avLst/>
            </a:prstGeom>
            <a:noFill/>
            <a:ln/>
          </p:spPr>
          <p:txBody>
            <a:bodyPr wrap="square" lIns="0" tIns="0" rIns="0" bIns="0" rtlCol="0" anchor="ctr"/>
            <a:lstStyle/>
            <a:p>
              <a:pPr marL="0" indent="0" algn="l">
                <a:buNone/>
              </a:pPr>
              <a:r>
                <a:rPr lang="en-US" sz="2000" dirty="0">
                  <a:solidFill>
                    <a:srgbClr val="262626"/>
                  </a:solidFill>
                  <a:latin typeface="+mj-ea"/>
                  <a:ea typeface="+mj-ea"/>
                  <a:cs typeface="Meiryo" pitchFamily="34" charset="-120"/>
                </a:rPr>
                <a:t>依頼なし ＝ 弱負例（重み 0.5）</a:t>
              </a:r>
              <a:endParaRPr lang="en-US" sz="2000" dirty="0">
                <a:latin typeface="+mj-ea"/>
                <a:ea typeface="+mj-ea"/>
              </a:endParaRPr>
            </a:p>
          </p:txBody>
        </p:sp>
      </p:grpSp>
      <p:sp>
        <p:nvSpPr>
          <p:cNvPr id="254" name="テキスト ボックス 253">
            <a:extLst>
              <a:ext uri="{FF2B5EF4-FFF2-40B4-BE49-F238E27FC236}">
                <a16:creationId xmlns:a16="http://schemas.microsoft.com/office/drawing/2014/main" id="{8EE6B5DF-9A48-9F3F-90DD-07AC08A4FAB9}"/>
              </a:ext>
            </a:extLst>
          </p:cNvPr>
          <p:cNvSpPr txBox="1"/>
          <p:nvPr/>
        </p:nvSpPr>
        <p:spPr>
          <a:xfrm>
            <a:off x="572578" y="6403012"/>
            <a:ext cx="13396514" cy="3046988"/>
          </a:xfrm>
          <a:prstGeom prst="rect">
            <a:avLst/>
          </a:prstGeom>
          <a:noFill/>
        </p:spPr>
        <p:txBody>
          <a:bodyPr wrap="square">
            <a:spAutoFit/>
          </a:bodyPr>
          <a:lstStyle/>
          <a:p>
            <a:pPr marL="342900" indent="-342900" algn="l">
              <a:buFont typeface="Wingdings" pitchFamily="2" charset="2"/>
              <a:buChar char="n"/>
            </a:pPr>
            <a:r>
              <a:rPr lang="ja-JP" altLang="en-US" sz="2800"/>
              <a:t>状態 </a:t>
            </a:r>
            <a:r>
              <a:rPr lang="en-US" altLang="ja-JP" sz="2800" dirty="0"/>
              <a:t>sₜ</a:t>
            </a:r>
            <a:r>
              <a:rPr lang="ja-JP" altLang="en-US" sz="2800"/>
              <a:t>：</a:t>
            </a:r>
            <a:endParaRPr lang="en-US" altLang="ja-JP" sz="2800" dirty="0"/>
          </a:p>
          <a:p>
            <a:pPr algn="l"/>
            <a:r>
              <a:rPr lang="en-US" altLang="ja-JP" sz="2800" dirty="0"/>
              <a:t>	</a:t>
            </a:r>
            <a:r>
              <a:rPr lang="ja-JP" altLang="en-US" sz="2400"/>
              <a:t>開発者のそれまでのレビュー履歴</a:t>
            </a:r>
            <a:endParaRPr lang="en-US" altLang="ja-JP" sz="2400" dirty="0"/>
          </a:p>
          <a:p>
            <a:pPr algn="l"/>
            <a:r>
              <a:rPr lang="en-US" altLang="ja-JP" sz="2400" dirty="0"/>
              <a:t>		(</a:t>
            </a:r>
            <a:r>
              <a:rPr lang="ja-JP" altLang="en-US" sz="2400"/>
              <a:t>開発者状態，ディレクトリ親和度，活動特徴の３カテゴリ</a:t>
            </a:r>
            <a:r>
              <a:rPr lang="en-US" altLang="ja-JP" sz="2400" dirty="0"/>
              <a:t>)</a:t>
            </a:r>
          </a:p>
          <a:p>
            <a:pPr marL="342900" indent="-342900" algn="l">
              <a:buFont typeface="Wingdings" pitchFamily="2" charset="2"/>
              <a:buChar char="n"/>
            </a:pPr>
            <a:r>
              <a:rPr lang="ja-JP" altLang="en-US" sz="2800"/>
              <a:t>軌跡 </a:t>
            </a:r>
            <a:r>
              <a:rPr lang="el-GR" altLang="ja-JP" sz="2800" dirty="0"/>
              <a:t>τ</a:t>
            </a:r>
            <a:r>
              <a:rPr lang="en-US" altLang="ja-JP" sz="2800" dirty="0"/>
              <a:t>ₜ</a:t>
            </a:r>
            <a:r>
              <a:rPr lang="ja-JP" altLang="en-US" sz="2800"/>
              <a:t>：</a:t>
            </a:r>
            <a:endParaRPr lang="en-US" altLang="ja-JP" sz="2800" dirty="0"/>
          </a:p>
          <a:p>
            <a:pPr algn="l"/>
            <a:r>
              <a:rPr lang="en-US" altLang="ja-JP" sz="2800" dirty="0"/>
              <a:t>	</a:t>
            </a:r>
            <a:r>
              <a:rPr lang="ja-JP" altLang="en-US" sz="2400"/>
              <a:t>状態</a:t>
            </a:r>
            <a:r>
              <a:rPr lang="en-US" altLang="ja-JP" sz="2400" dirty="0"/>
              <a:t>+</a:t>
            </a:r>
            <a:r>
              <a:rPr lang="ja-JP" altLang="en-US" sz="2400"/>
              <a:t>ラベルの月次記録。</a:t>
            </a:r>
            <a:r>
              <a:rPr lang="en-US" altLang="ja-JP" sz="2400" dirty="0"/>
              <a:t>T = (</a:t>
            </a:r>
            <a:r>
              <a:rPr lang="el-GR" altLang="ja-JP" sz="2400" dirty="0"/>
              <a:t>τ₁, …, τ</a:t>
            </a:r>
            <a:r>
              <a:rPr lang="en-US" altLang="ja-JP" sz="2400" dirty="0"/>
              <a:t>ₙ) </a:t>
            </a:r>
            <a:r>
              <a:rPr lang="ja-JP" altLang="en-US" sz="2400"/>
              <a:t>として学習 </a:t>
            </a:r>
            <a:endParaRPr lang="en-US" altLang="ja-JP" sz="2400" dirty="0"/>
          </a:p>
          <a:p>
            <a:pPr marL="342900" indent="-342900" algn="l">
              <a:buFont typeface="Wingdings" pitchFamily="2" charset="2"/>
              <a:buChar char="n"/>
            </a:pPr>
            <a:r>
              <a:rPr lang="ja-JP" altLang="en-US" sz="2800"/>
              <a:t>報酬 </a:t>
            </a:r>
            <a:r>
              <a:rPr lang="en-US" altLang="ja-JP" sz="2800" dirty="0"/>
              <a:t>rₜ(s, a)</a:t>
            </a:r>
            <a:r>
              <a:rPr lang="ja-JP" altLang="en-US" sz="2800"/>
              <a:t>：</a:t>
            </a:r>
            <a:endParaRPr lang="en-US" altLang="ja-JP" sz="2800" dirty="0"/>
          </a:p>
          <a:p>
            <a:pPr algn="l"/>
            <a:r>
              <a:rPr lang="en-US" altLang="ja-JP" sz="2800" dirty="0"/>
              <a:t>	</a:t>
            </a:r>
            <a:r>
              <a:rPr lang="ja-JP" altLang="en-US" sz="2400"/>
              <a:t>依頼を受けるかの判断基準．</a:t>
            </a:r>
            <a:r>
              <a:rPr lang="en-US" altLang="ja-JP" sz="2400" dirty="0"/>
              <a:t>IRL</a:t>
            </a:r>
            <a:r>
              <a:rPr lang="ja-JP" altLang="en-US" sz="2400"/>
              <a:t>の推定対象</a:t>
            </a:r>
            <a:endParaRPr lang="ja-JP" altLang="en-US" sz="2400" b="1" dirty="0" err="1">
              <a:solidFill>
                <a:srgbClr val="262626"/>
              </a:solidFill>
              <a:latin typeface="Meiryo" pitchFamily="34" charset="0"/>
              <a:ea typeface="Meiryo" pitchFamily="34" charset="-122"/>
              <a:cs typeface="Meiryo" pitchFamily="34" charset="-120"/>
            </a:endParaRPr>
          </a:p>
        </p:txBody>
      </p:sp>
      <p:grpSp>
        <p:nvGrpSpPr>
          <p:cNvPr id="31" name="グループ化 30">
            <a:extLst>
              <a:ext uri="{FF2B5EF4-FFF2-40B4-BE49-F238E27FC236}">
                <a16:creationId xmlns:a16="http://schemas.microsoft.com/office/drawing/2014/main" id="{62096684-7CAB-7E11-3430-9F443B6FCE0F}"/>
              </a:ext>
            </a:extLst>
          </p:cNvPr>
          <p:cNvGrpSpPr/>
          <p:nvPr/>
        </p:nvGrpSpPr>
        <p:grpSpPr>
          <a:xfrm>
            <a:off x="87440" y="1994724"/>
            <a:ext cx="16991180" cy="4255500"/>
            <a:chOff x="549981" y="2854635"/>
            <a:chExt cx="18264731" cy="4574466"/>
          </a:xfrm>
        </p:grpSpPr>
        <p:sp>
          <p:nvSpPr>
            <p:cNvPr id="16" name="角丸四角形 15">
              <a:extLst>
                <a:ext uri="{FF2B5EF4-FFF2-40B4-BE49-F238E27FC236}">
                  <a16:creationId xmlns:a16="http://schemas.microsoft.com/office/drawing/2014/main" id="{96050E19-307B-451E-64C6-F4127D4CEFDA}"/>
                </a:ext>
              </a:extLst>
            </p:cNvPr>
            <p:cNvSpPr/>
            <p:nvPr/>
          </p:nvSpPr>
          <p:spPr>
            <a:xfrm>
              <a:off x="549981" y="2854635"/>
              <a:ext cx="18264731" cy="4574466"/>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129" name="直線コネクタ 128">
              <a:extLst>
                <a:ext uri="{FF2B5EF4-FFF2-40B4-BE49-F238E27FC236}">
                  <a16:creationId xmlns:a16="http://schemas.microsoft.com/office/drawing/2014/main" id="{66A1345F-D000-B1C9-80EF-631C22D79C82}"/>
                </a:ext>
              </a:extLst>
            </p:cNvPr>
            <p:cNvCxnSpPr>
              <a:cxnSpLocks/>
            </p:cNvCxnSpPr>
            <p:nvPr/>
          </p:nvCxnSpPr>
          <p:spPr>
            <a:xfrm>
              <a:off x="670119" y="5583931"/>
              <a:ext cx="18088164" cy="0"/>
            </a:xfrm>
            <a:prstGeom prst="line">
              <a:avLst/>
            </a:prstGeom>
            <a:ln w="762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0" name="円/楕円 129">
              <a:extLst>
                <a:ext uri="{FF2B5EF4-FFF2-40B4-BE49-F238E27FC236}">
                  <a16:creationId xmlns:a16="http://schemas.microsoft.com/office/drawing/2014/main" id="{B3331620-C76E-F51E-B6E0-440021255242}"/>
                </a:ext>
              </a:extLst>
            </p:cNvPr>
            <p:cNvSpPr/>
            <p:nvPr/>
          </p:nvSpPr>
          <p:spPr>
            <a:xfrm>
              <a:off x="1583009"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1" name="円/楕円 130">
              <a:extLst>
                <a:ext uri="{FF2B5EF4-FFF2-40B4-BE49-F238E27FC236}">
                  <a16:creationId xmlns:a16="http://schemas.microsoft.com/office/drawing/2014/main" id="{918DDEA8-05EA-977A-FEBD-9F29C22A063B}"/>
                </a:ext>
              </a:extLst>
            </p:cNvPr>
            <p:cNvSpPr/>
            <p:nvPr/>
          </p:nvSpPr>
          <p:spPr>
            <a:xfrm>
              <a:off x="79025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2" name="テキスト ボックス 131">
              <a:extLst>
                <a:ext uri="{FF2B5EF4-FFF2-40B4-BE49-F238E27FC236}">
                  <a16:creationId xmlns:a16="http://schemas.microsoft.com/office/drawing/2014/main" id="{D1547CF5-57ED-2D87-3AA2-3C7FA20FE373}"/>
                </a:ext>
              </a:extLst>
            </p:cNvPr>
            <p:cNvSpPr txBox="1"/>
            <p:nvPr/>
          </p:nvSpPr>
          <p:spPr>
            <a:xfrm>
              <a:off x="1140495" y="4549764"/>
              <a:ext cx="319319" cy="451406"/>
            </a:xfrm>
            <a:prstGeom prst="rect">
              <a:avLst/>
            </a:prstGeom>
            <a:noFill/>
          </p:spPr>
          <p:txBody>
            <a:bodyPr wrap="square" lIns="0" tIns="0" rIns="0" bIns="0" rtlCol="0">
              <a:spAutoFit/>
            </a:bodyPr>
            <a:lstStyle/>
            <a:p>
              <a:endParaRPr kumimoji="1" lang="ja-JP" altLang="en-US" sz="4000" baseline="-25000"/>
            </a:p>
          </p:txBody>
        </p:sp>
        <p:sp>
          <p:nvSpPr>
            <p:cNvPr id="133" name="円/楕円 132">
              <a:extLst>
                <a:ext uri="{FF2B5EF4-FFF2-40B4-BE49-F238E27FC236}">
                  <a16:creationId xmlns:a16="http://schemas.microsoft.com/office/drawing/2014/main" id="{765F7822-EE85-C331-6D7D-2BFD69F18280}"/>
                </a:ext>
              </a:extLst>
            </p:cNvPr>
            <p:cNvSpPr/>
            <p:nvPr/>
          </p:nvSpPr>
          <p:spPr>
            <a:xfrm>
              <a:off x="2661148"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4" name="円/楕円 133">
              <a:extLst>
                <a:ext uri="{FF2B5EF4-FFF2-40B4-BE49-F238E27FC236}">
                  <a16:creationId xmlns:a16="http://schemas.microsoft.com/office/drawing/2014/main" id="{5B0CBC21-AB71-6AB6-A469-C89F8F9490C4}"/>
                </a:ext>
              </a:extLst>
            </p:cNvPr>
            <p:cNvSpPr/>
            <p:nvPr/>
          </p:nvSpPr>
          <p:spPr>
            <a:xfrm>
              <a:off x="2882403"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5" name="円/楕円 134">
              <a:extLst>
                <a:ext uri="{FF2B5EF4-FFF2-40B4-BE49-F238E27FC236}">
                  <a16:creationId xmlns:a16="http://schemas.microsoft.com/office/drawing/2014/main" id="{0235C119-DFB1-5C8F-34F8-C9FEA0A84991}"/>
                </a:ext>
              </a:extLst>
            </p:cNvPr>
            <p:cNvSpPr/>
            <p:nvPr/>
          </p:nvSpPr>
          <p:spPr>
            <a:xfrm>
              <a:off x="1817218"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36" name="直線コネクタ 135">
              <a:extLst>
                <a:ext uri="{FF2B5EF4-FFF2-40B4-BE49-F238E27FC236}">
                  <a16:creationId xmlns:a16="http://schemas.microsoft.com/office/drawing/2014/main" id="{6EC80BBC-B8F6-41BE-B823-AACB1FA4D498}"/>
                </a:ext>
              </a:extLst>
            </p:cNvPr>
            <p:cNvCxnSpPr>
              <a:cxnSpLocks/>
            </p:cNvCxnSpPr>
            <p:nvPr/>
          </p:nvCxnSpPr>
          <p:spPr>
            <a:xfrm>
              <a:off x="67011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37" name="円/楕円 136">
              <a:extLst>
                <a:ext uri="{FF2B5EF4-FFF2-40B4-BE49-F238E27FC236}">
                  <a16:creationId xmlns:a16="http://schemas.microsoft.com/office/drawing/2014/main" id="{4662D2E1-1EB4-3BE8-8108-6C8742857D23}"/>
                </a:ext>
              </a:extLst>
            </p:cNvPr>
            <p:cNvSpPr/>
            <p:nvPr/>
          </p:nvSpPr>
          <p:spPr>
            <a:xfrm>
              <a:off x="200750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0CD0F098-56A6-70EE-383A-B92334C28272}"/>
                    </a:ext>
                  </a:extLst>
                </p:cNvPr>
                <p:cNvSpPr txBox="1"/>
                <p:nvPr/>
              </p:nvSpPr>
              <p:spPr>
                <a:xfrm>
                  <a:off x="943060" y="4537814"/>
                  <a:ext cx="319319" cy="6615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1</m:t>
                        </m:r>
                      </m:oMath>
                    </m:oMathPara>
                  </a14:m>
                  <a:endParaRPr kumimoji="1" lang="ja-JP" altLang="en-US" sz="4000" baseline="-25000"/>
                </a:p>
              </p:txBody>
            </p:sp>
          </mc:Choice>
          <mc:Fallback xmlns="">
            <p:sp>
              <p:nvSpPr>
                <p:cNvPr id="138" name="テキスト ボックス 137">
                  <a:extLst>
                    <a:ext uri="{FF2B5EF4-FFF2-40B4-BE49-F238E27FC236}">
                      <a16:creationId xmlns:a16="http://schemas.microsoft.com/office/drawing/2014/main" id="{0CD0F098-56A6-70EE-383A-B92334C28272}"/>
                    </a:ext>
                  </a:extLst>
                </p:cNvPr>
                <p:cNvSpPr txBox="1">
                  <a:spLocks noRot="1" noChangeAspect="1" noMove="1" noResize="1" noEditPoints="1" noAdjustHandles="1" noChangeArrowheads="1" noChangeShapeType="1" noTextEdit="1"/>
                </p:cNvSpPr>
                <p:nvPr/>
              </p:nvSpPr>
              <p:spPr>
                <a:xfrm>
                  <a:off x="943060" y="4537814"/>
                  <a:ext cx="319319" cy="661528"/>
                </a:xfrm>
                <a:prstGeom prst="rect">
                  <a:avLst/>
                </a:prstGeom>
                <a:blipFill>
                  <a:blip r:embed="rId4"/>
                  <a:stretch>
                    <a:fillRect l="-40000" r="-76000" b="-16327"/>
                  </a:stretch>
                </a:blipFill>
              </p:spPr>
              <p:txBody>
                <a:bodyPr/>
                <a:lstStyle/>
                <a:p>
                  <a:r>
                    <a:rPr lang="ja-JP" altLang="en-US">
                      <a:noFill/>
                    </a:rPr>
                    <a:t> </a:t>
                  </a:r>
                </a:p>
              </p:txBody>
            </p:sp>
          </mc:Fallback>
        </mc:AlternateContent>
        <p:cxnSp>
          <p:nvCxnSpPr>
            <p:cNvPr id="139" name="直線コネクタ 138">
              <a:extLst>
                <a:ext uri="{FF2B5EF4-FFF2-40B4-BE49-F238E27FC236}">
                  <a16:creationId xmlns:a16="http://schemas.microsoft.com/office/drawing/2014/main" id="{30838E52-AC8E-93F7-4B6E-CEDEE0204092}"/>
                </a:ext>
              </a:extLst>
            </p:cNvPr>
            <p:cNvCxnSpPr>
              <a:cxnSpLocks/>
            </p:cNvCxnSpPr>
            <p:nvPr/>
          </p:nvCxnSpPr>
          <p:spPr>
            <a:xfrm>
              <a:off x="158300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1" name="直線コネクタ 140">
              <a:extLst>
                <a:ext uri="{FF2B5EF4-FFF2-40B4-BE49-F238E27FC236}">
                  <a16:creationId xmlns:a16="http://schemas.microsoft.com/office/drawing/2014/main" id="{8F1F7A37-31ED-2DFC-9C0F-7C0C8C99D5AF}"/>
                </a:ext>
              </a:extLst>
            </p:cNvPr>
            <p:cNvCxnSpPr>
              <a:cxnSpLocks/>
            </p:cNvCxnSpPr>
            <p:nvPr/>
          </p:nvCxnSpPr>
          <p:spPr>
            <a:xfrm>
              <a:off x="3397232" y="4756433"/>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2" name="テキスト ボックス 141">
                  <a:extLst>
                    <a:ext uri="{FF2B5EF4-FFF2-40B4-BE49-F238E27FC236}">
                      <a16:creationId xmlns:a16="http://schemas.microsoft.com/office/drawing/2014/main" id="{0C4C823C-55E8-D99C-E146-4B9C15AAA77F}"/>
                    </a:ext>
                  </a:extLst>
                </p:cNvPr>
                <p:cNvSpPr txBox="1"/>
                <p:nvPr/>
              </p:nvSpPr>
              <p:spPr>
                <a:xfrm>
                  <a:off x="1839276" y="4563456"/>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2</m:t>
                        </m:r>
                      </m:oMath>
                    </m:oMathPara>
                  </a14:m>
                  <a:endParaRPr kumimoji="1" lang="ja-JP" altLang="en-US" sz="4000" baseline="-25000"/>
                </a:p>
              </p:txBody>
            </p:sp>
          </mc:Choice>
          <mc:Fallback xmlns="">
            <p:sp>
              <p:nvSpPr>
                <p:cNvPr id="142" name="テキスト ボックス 141">
                  <a:extLst>
                    <a:ext uri="{FF2B5EF4-FFF2-40B4-BE49-F238E27FC236}">
                      <a16:creationId xmlns:a16="http://schemas.microsoft.com/office/drawing/2014/main" id="{0C4C823C-55E8-D99C-E146-4B9C15AAA77F}"/>
                    </a:ext>
                  </a:extLst>
                </p:cNvPr>
                <p:cNvSpPr txBox="1">
                  <a:spLocks noRot="1" noChangeAspect="1" noMove="1" noResize="1" noEditPoints="1" noAdjustHandles="1" noChangeArrowheads="1" noChangeShapeType="1" noTextEdit="1"/>
                </p:cNvSpPr>
                <p:nvPr/>
              </p:nvSpPr>
              <p:spPr>
                <a:xfrm>
                  <a:off x="1839276" y="4563456"/>
                  <a:ext cx="319319" cy="661527"/>
                </a:xfrm>
                <a:prstGeom prst="rect">
                  <a:avLst/>
                </a:prstGeom>
                <a:blipFill>
                  <a:blip r:embed="rId5"/>
                  <a:stretch>
                    <a:fillRect l="-41667" r="-79167" b="-163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3" name="テキスト ボックス 142">
                  <a:extLst>
                    <a:ext uri="{FF2B5EF4-FFF2-40B4-BE49-F238E27FC236}">
                      <a16:creationId xmlns:a16="http://schemas.microsoft.com/office/drawing/2014/main" id="{075E6313-E601-F218-736C-49E0064550F0}"/>
                    </a:ext>
                  </a:extLst>
                </p:cNvPr>
                <p:cNvSpPr txBox="1"/>
                <p:nvPr/>
              </p:nvSpPr>
              <p:spPr>
                <a:xfrm>
                  <a:off x="2821832" y="457693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3</m:t>
                        </m:r>
                      </m:oMath>
                    </m:oMathPara>
                  </a14:m>
                  <a:endParaRPr kumimoji="1" lang="ja-JP" altLang="en-US" sz="4000" baseline="-25000"/>
                </a:p>
              </p:txBody>
            </p:sp>
          </mc:Choice>
          <mc:Fallback xmlns="">
            <p:sp>
              <p:nvSpPr>
                <p:cNvPr id="143" name="テキスト ボックス 142">
                  <a:extLst>
                    <a:ext uri="{FF2B5EF4-FFF2-40B4-BE49-F238E27FC236}">
                      <a16:creationId xmlns:a16="http://schemas.microsoft.com/office/drawing/2014/main" id="{075E6313-E601-F218-736C-49E0064550F0}"/>
                    </a:ext>
                  </a:extLst>
                </p:cNvPr>
                <p:cNvSpPr txBox="1">
                  <a:spLocks noRot="1" noChangeAspect="1" noMove="1" noResize="1" noEditPoints="1" noAdjustHandles="1" noChangeArrowheads="1" noChangeShapeType="1" noTextEdit="1"/>
                </p:cNvSpPr>
                <p:nvPr/>
              </p:nvSpPr>
              <p:spPr>
                <a:xfrm>
                  <a:off x="2821832" y="4576933"/>
                  <a:ext cx="319319" cy="661527"/>
                </a:xfrm>
                <a:prstGeom prst="rect">
                  <a:avLst/>
                </a:prstGeom>
                <a:blipFill>
                  <a:blip r:embed="rId6"/>
                  <a:stretch>
                    <a:fillRect l="-41667" r="-79167" b="-16327"/>
                  </a:stretch>
                </a:blipFill>
              </p:spPr>
              <p:txBody>
                <a:bodyPr/>
                <a:lstStyle/>
                <a:p>
                  <a:r>
                    <a:rPr lang="ja-JP" altLang="en-US">
                      <a:noFill/>
                    </a:rPr>
                    <a:t> </a:t>
                  </a:r>
                </a:p>
              </p:txBody>
            </p:sp>
          </mc:Fallback>
        </mc:AlternateContent>
        <p:cxnSp>
          <p:nvCxnSpPr>
            <p:cNvPr id="145" name="直線コネクタ 144">
              <a:extLst>
                <a:ext uri="{FF2B5EF4-FFF2-40B4-BE49-F238E27FC236}">
                  <a16:creationId xmlns:a16="http://schemas.microsoft.com/office/drawing/2014/main" id="{3DA86DC7-4181-143F-3AD2-87EF04D2C1C0}"/>
                </a:ext>
              </a:extLst>
            </p:cNvPr>
            <p:cNvCxnSpPr>
              <a:cxnSpLocks/>
            </p:cNvCxnSpPr>
            <p:nvPr/>
          </p:nvCxnSpPr>
          <p:spPr>
            <a:xfrm>
              <a:off x="1577151" y="3720552"/>
              <a:ext cx="460651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6" name="直線コネクタ 145">
              <a:extLst>
                <a:ext uri="{FF2B5EF4-FFF2-40B4-BE49-F238E27FC236}">
                  <a16:creationId xmlns:a16="http://schemas.microsoft.com/office/drawing/2014/main" id="{A78038D1-EDCE-2D25-C36C-26BA87F9E985}"/>
                </a:ext>
              </a:extLst>
            </p:cNvPr>
            <p:cNvCxnSpPr>
              <a:cxnSpLocks/>
            </p:cNvCxnSpPr>
            <p:nvPr/>
          </p:nvCxnSpPr>
          <p:spPr>
            <a:xfrm flipH="1">
              <a:off x="1331416" y="3717678"/>
              <a:ext cx="263676" cy="63517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7" name="直線コネクタ 146">
              <a:extLst>
                <a:ext uri="{FF2B5EF4-FFF2-40B4-BE49-F238E27FC236}">
                  <a16:creationId xmlns:a16="http://schemas.microsoft.com/office/drawing/2014/main" id="{EC48DEB7-C099-3741-3924-05B86A5E033D}"/>
                </a:ext>
              </a:extLst>
            </p:cNvPr>
            <p:cNvCxnSpPr>
              <a:cxnSpLocks/>
            </p:cNvCxnSpPr>
            <p:nvPr/>
          </p:nvCxnSpPr>
          <p:spPr>
            <a:xfrm>
              <a:off x="6172447" y="3713085"/>
              <a:ext cx="0" cy="131229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8" name="直線コネクタ 147">
              <a:extLst>
                <a:ext uri="{FF2B5EF4-FFF2-40B4-BE49-F238E27FC236}">
                  <a16:creationId xmlns:a16="http://schemas.microsoft.com/office/drawing/2014/main" id="{1F07A324-B308-32F9-6310-39F028725EDC}"/>
                </a:ext>
              </a:extLst>
            </p:cNvPr>
            <p:cNvCxnSpPr>
              <a:cxnSpLocks/>
            </p:cNvCxnSpPr>
            <p:nvPr/>
          </p:nvCxnSpPr>
          <p:spPr>
            <a:xfrm>
              <a:off x="3358725" y="6725583"/>
              <a:ext cx="4372708"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9" name="直線コネクタ 148">
              <a:extLst>
                <a:ext uri="{FF2B5EF4-FFF2-40B4-BE49-F238E27FC236}">
                  <a16:creationId xmlns:a16="http://schemas.microsoft.com/office/drawing/2014/main" id="{A99FB89C-0B81-366E-0EB3-02DA18EF1176}"/>
                </a:ext>
              </a:extLst>
            </p:cNvPr>
            <p:cNvCxnSpPr>
              <a:cxnSpLocks/>
            </p:cNvCxnSpPr>
            <p:nvPr/>
          </p:nvCxnSpPr>
          <p:spPr>
            <a:xfrm flipH="1" flipV="1">
              <a:off x="3029990" y="6296290"/>
              <a:ext cx="338064" cy="4466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0" name="直線コネクタ 149">
              <a:extLst>
                <a:ext uri="{FF2B5EF4-FFF2-40B4-BE49-F238E27FC236}">
                  <a16:creationId xmlns:a16="http://schemas.microsoft.com/office/drawing/2014/main" id="{35156EE8-525C-687B-95D0-98133F23FB7F}"/>
                </a:ext>
              </a:extLst>
            </p:cNvPr>
            <p:cNvCxnSpPr>
              <a:cxnSpLocks/>
            </p:cNvCxnSpPr>
            <p:nvPr/>
          </p:nvCxnSpPr>
          <p:spPr>
            <a:xfrm flipV="1">
              <a:off x="7731434" y="5850796"/>
              <a:ext cx="0" cy="89504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2" name="直線コネクタ 151">
              <a:extLst>
                <a:ext uri="{FF2B5EF4-FFF2-40B4-BE49-F238E27FC236}">
                  <a16:creationId xmlns:a16="http://schemas.microsoft.com/office/drawing/2014/main" id="{8A0C04E8-2BC7-BB75-4AEA-26C1AD84A059}"/>
                </a:ext>
              </a:extLst>
            </p:cNvPr>
            <p:cNvCxnSpPr>
              <a:cxnSpLocks/>
            </p:cNvCxnSpPr>
            <p:nvPr/>
          </p:nvCxnSpPr>
          <p:spPr>
            <a:xfrm>
              <a:off x="2560088" y="4043007"/>
              <a:ext cx="4275807"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53" name="直線コネクタ 152">
              <a:extLst>
                <a:ext uri="{FF2B5EF4-FFF2-40B4-BE49-F238E27FC236}">
                  <a16:creationId xmlns:a16="http://schemas.microsoft.com/office/drawing/2014/main" id="{1236E6E5-7807-6EA4-E181-6D55751B4B2A}"/>
                </a:ext>
              </a:extLst>
            </p:cNvPr>
            <p:cNvCxnSpPr>
              <a:cxnSpLocks/>
            </p:cNvCxnSpPr>
            <p:nvPr/>
          </p:nvCxnSpPr>
          <p:spPr>
            <a:xfrm flipH="1">
              <a:off x="2018018" y="4043793"/>
              <a:ext cx="550826" cy="3644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4" name="直線コネクタ 153">
              <a:extLst>
                <a:ext uri="{FF2B5EF4-FFF2-40B4-BE49-F238E27FC236}">
                  <a16:creationId xmlns:a16="http://schemas.microsoft.com/office/drawing/2014/main" id="{0CBA0357-B5E0-1F35-CB45-557C7B495704}"/>
                </a:ext>
              </a:extLst>
            </p:cNvPr>
            <p:cNvCxnSpPr>
              <a:cxnSpLocks/>
            </p:cNvCxnSpPr>
            <p:nvPr/>
          </p:nvCxnSpPr>
          <p:spPr>
            <a:xfrm>
              <a:off x="6832664" y="4034606"/>
              <a:ext cx="0" cy="141026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6" name="テキスト ボックス 155">
              <a:extLst>
                <a:ext uri="{FF2B5EF4-FFF2-40B4-BE49-F238E27FC236}">
                  <a16:creationId xmlns:a16="http://schemas.microsoft.com/office/drawing/2014/main" id="{D0084453-DF8B-C01D-2706-CAD2CFE98827}"/>
                </a:ext>
              </a:extLst>
            </p:cNvPr>
            <p:cNvSpPr txBox="1"/>
            <p:nvPr/>
          </p:nvSpPr>
          <p:spPr>
            <a:xfrm>
              <a:off x="5291385" y="4537814"/>
              <a:ext cx="931569"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7" name="テキスト ボックス 156">
              <a:extLst>
                <a:ext uri="{FF2B5EF4-FFF2-40B4-BE49-F238E27FC236}">
                  <a16:creationId xmlns:a16="http://schemas.microsoft.com/office/drawing/2014/main" id="{F636FAE7-5CA0-3590-A00F-8499A35318A3}"/>
                </a:ext>
              </a:extLst>
            </p:cNvPr>
            <p:cNvSpPr txBox="1"/>
            <p:nvPr/>
          </p:nvSpPr>
          <p:spPr>
            <a:xfrm>
              <a:off x="6031862" y="4989963"/>
              <a:ext cx="998050"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8" name="テキスト ボックス 157">
              <a:extLst>
                <a:ext uri="{FF2B5EF4-FFF2-40B4-BE49-F238E27FC236}">
                  <a16:creationId xmlns:a16="http://schemas.microsoft.com/office/drawing/2014/main" id="{FDCE2E36-5F2A-AFAE-E1E4-98AA480EBB2B}"/>
                </a:ext>
              </a:extLst>
            </p:cNvPr>
            <p:cNvSpPr txBox="1"/>
            <p:nvPr/>
          </p:nvSpPr>
          <p:spPr>
            <a:xfrm>
              <a:off x="7172855" y="5805644"/>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59" name="直線コネクタ 158">
              <a:extLst>
                <a:ext uri="{FF2B5EF4-FFF2-40B4-BE49-F238E27FC236}">
                  <a16:creationId xmlns:a16="http://schemas.microsoft.com/office/drawing/2014/main" id="{495D2877-F9B9-30A0-4A24-F2C81C973CAE}"/>
                </a:ext>
              </a:extLst>
            </p:cNvPr>
            <p:cNvCxnSpPr>
              <a:cxnSpLocks/>
            </p:cNvCxnSpPr>
            <p:nvPr/>
          </p:nvCxnSpPr>
          <p:spPr>
            <a:xfrm>
              <a:off x="9657711"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60" name="直線コネクタ 159">
              <a:extLst>
                <a:ext uri="{FF2B5EF4-FFF2-40B4-BE49-F238E27FC236}">
                  <a16:creationId xmlns:a16="http://schemas.microsoft.com/office/drawing/2014/main" id="{7AABE9E2-F4BB-88E2-5ED5-C5E4CD0BEB5F}"/>
                </a:ext>
              </a:extLst>
            </p:cNvPr>
            <p:cNvCxnSpPr>
              <a:cxnSpLocks/>
            </p:cNvCxnSpPr>
            <p:nvPr/>
          </p:nvCxnSpPr>
          <p:spPr>
            <a:xfrm>
              <a:off x="10663514"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1" name="テキスト ボックス 160">
                  <a:extLst>
                    <a:ext uri="{FF2B5EF4-FFF2-40B4-BE49-F238E27FC236}">
                      <a16:creationId xmlns:a16="http://schemas.microsoft.com/office/drawing/2014/main" id="{C74C3AB4-3B8D-CD3E-313A-6E1CC021C277}"/>
                    </a:ext>
                  </a:extLst>
                </p:cNvPr>
                <p:cNvSpPr txBox="1"/>
                <p:nvPr/>
              </p:nvSpPr>
              <p:spPr>
                <a:xfrm>
                  <a:off x="10032162" y="454892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m:rPr>
                            <m:sty m:val="p"/>
                          </m:rPr>
                          <a:rPr kumimoji="1" lang="en-US" altLang="ja-JP" sz="4000" b="0" i="0" baseline="-25000" smtClean="0">
                            <a:latin typeface="Cambria Math" panose="02040503050406030204" pitchFamily="18" charset="0"/>
                          </a:rPr>
                          <m:t>n</m:t>
                        </m:r>
                      </m:oMath>
                    </m:oMathPara>
                  </a14:m>
                  <a:endParaRPr kumimoji="1" lang="ja-JP" altLang="en-US" sz="4000" baseline="-25000"/>
                </a:p>
              </p:txBody>
            </p:sp>
          </mc:Choice>
          <mc:Fallback xmlns="">
            <p:sp>
              <p:nvSpPr>
                <p:cNvPr id="161" name="テキスト ボックス 160">
                  <a:extLst>
                    <a:ext uri="{FF2B5EF4-FFF2-40B4-BE49-F238E27FC236}">
                      <a16:creationId xmlns:a16="http://schemas.microsoft.com/office/drawing/2014/main" id="{C74C3AB4-3B8D-CD3E-313A-6E1CC021C277}"/>
                    </a:ext>
                  </a:extLst>
                </p:cNvPr>
                <p:cNvSpPr txBox="1">
                  <a:spLocks noRot="1" noChangeAspect="1" noMove="1" noResize="1" noEditPoints="1" noAdjustHandles="1" noChangeArrowheads="1" noChangeShapeType="1" noTextEdit="1"/>
                </p:cNvSpPr>
                <p:nvPr/>
              </p:nvSpPr>
              <p:spPr>
                <a:xfrm>
                  <a:off x="10032162" y="4548923"/>
                  <a:ext cx="319319" cy="661527"/>
                </a:xfrm>
                <a:prstGeom prst="rect">
                  <a:avLst/>
                </a:prstGeom>
                <a:blipFill>
                  <a:blip r:embed="rId7"/>
                  <a:stretch>
                    <a:fillRect l="-41667" r="-70833" b="-12245"/>
                  </a:stretch>
                </a:blipFill>
              </p:spPr>
              <p:txBody>
                <a:bodyPr/>
                <a:lstStyle/>
                <a:p>
                  <a:r>
                    <a:rPr lang="ja-JP" altLang="en-US">
                      <a:noFill/>
                    </a:rPr>
                    <a:t> </a:t>
                  </a:r>
                </a:p>
              </p:txBody>
            </p:sp>
          </mc:Fallback>
        </mc:AlternateContent>
        <p:sp>
          <p:nvSpPr>
            <p:cNvPr id="168" name="テキスト ボックス 167">
              <a:extLst>
                <a:ext uri="{FF2B5EF4-FFF2-40B4-BE49-F238E27FC236}">
                  <a16:creationId xmlns:a16="http://schemas.microsoft.com/office/drawing/2014/main" id="{9CA00E09-452E-39A9-AA9D-3B0182304134}"/>
                </a:ext>
              </a:extLst>
            </p:cNvPr>
            <p:cNvSpPr txBox="1"/>
            <p:nvPr/>
          </p:nvSpPr>
          <p:spPr>
            <a:xfrm>
              <a:off x="12880000" y="597105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71" name="直線コネクタ 170">
              <a:extLst>
                <a:ext uri="{FF2B5EF4-FFF2-40B4-BE49-F238E27FC236}">
                  <a16:creationId xmlns:a16="http://schemas.microsoft.com/office/drawing/2014/main" id="{803E6922-3FE0-A89E-F638-9C99785D7C76}"/>
                </a:ext>
              </a:extLst>
            </p:cNvPr>
            <p:cNvCxnSpPr>
              <a:cxnSpLocks/>
            </p:cNvCxnSpPr>
            <p:nvPr/>
          </p:nvCxnSpPr>
          <p:spPr>
            <a:xfrm>
              <a:off x="13930809" y="3610504"/>
              <a:ext cx="0" cy="3578698"/>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75" name="テキスト ボックス 174">
              <a:extLst>
                <a:ext uri="{FF2B5EF4-FFF2-40B4-BE49-F238E27FC236}">
                  <a16:creationId xmlns:a16="http://schemas.microsoft.com/office/drawing/2014/main" id="{3626DF6B-0FB1-0610-3328-A93C98B3656C}"/>
                </a:ext>
              </a:extLst>
            </p:cNvPr>
            <p:cNvSpPr txBox="1"/>
            <p:nvPr/>
          </p:nvSpPr>
          <p:spPr>
            <a:xfrm>
              <a:off x="13105320" y="3048319"/>
              <a:ext cx="3038841" cy="463184"/>
            </a:xfrm>
            <a:prstGeom prst="rect">
              <a:avLst/>
            </a:prstGeom>
            <a:noFill/>
          </p:spPr>
          <p:txBody>
            <a:bodyPr wrap="square" lIns="0" tIns="0" rIns="0" bIns="0" rtlCol="0">
              <a:spAutoFit/>
            </a:bodyPr>
            <a:lstStyle/>
            <a:p>
              <a:r>
                <a:rPr kumimoji="1" lang="ja-JP" altLang="en-US" sz="2400"/>
                <a:t>予測地点</a:t>
              </a:r>
              <a:r>
                <a:rPr kumimoji="1" lang="en-US" altLang="ja-JP" sz="2800" dirty="0">
                  <a:solidFill>
                    <a:srgbClr val="26272A"/>
                  </a:solidFill>
                  <a:latin typeface="Calibri"/>
                  <a:ea typeface="ＭＳ Ｐゴシック" panose="020B0600070205080204" pitchFamily="34" charset="-128"/>
                </a:rPr>
                <a:t>(</a:t>
              </a:r>
              <a:r>
                <a:rPr kumimoji="1" lang="en-US" altLang="ja-JP" sz="2800" b="0" i="0" u="none" strike="noStrike" kern="1200" cap="none" spc="0" normalizeH="0" baseline="0" noProof="0" dirty="0">
                  <a:ln>
                    <a:noFill/>
                  </a:ln>
                  <a:solidFill>
                    <a:srgbClr val="26272A"/>
                  </a:solidFill>
                  <a:effectLst/>
                  <a:uLnTx/>
                  <a:uFillTx/>
                  <a:latin typeface="Calibri"/>
                  <a:ea typeface="ＭＳ Ｐゴシック" panose="020B0600070205080204" pitchFamily="34" charset="-128"/>
                  <a:cs typeface="+mn-cs"/>
                </a:rPr>
                <a:t>t</a:t>
              </a:r>
              <a:r>
                <a:rPr kumimoji="1" lang="en-US" altLang="ja-JP" sz="2800" b="0" i="0" u="none" strike="noStrike" kern="1200" cap="none" spc="0" normalizeH="0" baseline="-25000" noProof="0" dirty="0">
                  <a:ln>
                    <a:noFill/>
                  </a:ln>
                  <a:solidFill>
                    <a:srgbClr val="26272A"/>
                  </a:solidFill>
                  <a:effectLst/>
                  <a:uLnTx/>
                  <a:uFillTx/>
                  <a:latin typeface="Calibri"/>
                  <a:ea typeface="ＭＳ Ｐゴシック" panose="020B0600070205080204" pitchFamily="34" charset="-128"/>
                  <a:cs typeface="+mn-cs"/>
                </a:rPr>
                <a:t>0</a:t>
              </a:r>
              <a:r>
                <a:rPr kumimoji="1" lang="en-US" altLang="ja-JP" sz="2800" b="0" i="0" u="none" strike="noStrike" kern="1200" cap="none" spc="0" normalizeH="0" noProof="0" dirty="0">
                  <a:ln>
                    <a:noFill/>
                  </a:ln>
                  <a:solidFill>
                    <a:srgbClr val="26272A"/>
                  </a:solidFill>
                  <a:effectLst/>
                  <a:uLnTx/>
                  <a:uFillTx/>
                  <a:latin typeface="Calibri"/>
                  <a:ea typeface="ＭＳ Ｐゴシック" panose="020B0600070205080204" pitchFamily="34" charset="-128"/>
                  <a:cs typeface="+mn-cs"/>
                </a:rPr>
                <a:t>) </a:t>
              </a:r>
              <a:endParaRPr kumimoji="1" lang="ja-JP" altLang="en-US" sz="3600"/>
            </a:p>
          </p:txBody>
        </p:sp>
        <p:sp>
          <p:nvSpPr>
            <p:cNvPr id="241" name="円/楕円 240">
              <a:extLst>
                <a:ext uri="{FF2B5EF4-FFF2-40B4-BE49-F238E27FC236}">
                  <a16:creationId xmlns:a16="http://schemas.microsoft.com/office/drawing/2014/main" id="{62F8E219-D525-927E-93EB-695AD28FC58E}"/>
                </a:ext>
              </a:extLst>
            </p:cNvPr>
            <p:cNvSpPr/>
            <p:nvPr/>
          </p:nvSpPr>
          <p:spPr>
            <a:xfrm>
              <a:off x="12051054"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242" name="円/楕円 241">
              <a:extLst>
                <a:ext uri="{FF2B5EF4-FFF2-40B4-BE49-F238E27FC236}">
                  <a16:creationId xmlns:a16="http://schemas.microsoft.com/office/drawing/2014/main" id="{67DB2B42-252E-03ED-41C7-8E831C0D6EB3}"/>
                </a:ext>
              </a:extLst>
            </p:cNvPr>
            <p:cNvSpPr/>
            <p:nvPr/>
          </p:nvSpPr>
          <p:spPr>
            <a:xfrm>
              <a:off x="9972203"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243" name="直線コネクタ 242">
              <a:extLst>
                <a:ext uri="{FF2B5EF4-FFF2-40B4-BE49-F238E27FC236}">
                  <a16:creationId xmlns:a16="http://schemas.microsoft.com/office/drawing/2014/main" id="{C19DFC84-2562-DD8E-BF2B-68887BCB73CA}"/>
                </a:ext>
              </a:extLst>
            </p:cNvPr>
            <p:cNvCxnSpPr>
              <a:cxnSpLocks/>
            </p:cNvCxnSpPr>
            <p:nvPr/>
          </p:nvCxnSpPr>
          <p:spPr>
            <a:xfrm>
              <a:off x="10592531" y="6796726"/>
              <a:ext cx="2226969"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244" name="直線コネクタ 243">
              <a:extLst>
                <a:ext uri="{FF2B5EF4-FFF2-40B4-BE49-F238E27FC236}">
                  <a16:creationId xmlns:a16="http://schemas.microsoft.com/office/drawing/2014/main" id="{191093C6-CC0E-5ADF-3E08-93A086195EEC}"/>
                </a:ext>
              </a:extLst>
            </p:cNvPr>
            <p:cNvCxnSpPr>
              <a:cxnSpLocks/>
            </p:cNvCxnSpPr>
            <p:nvPr/>
          </p:nvCxnSpPr>
          <p:spPr>
            <a:xfrm flipV="1">
              <a:off x="12835106" y="6105404"/>
              <a:ext cx="0" cy="709154"/>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48" name="直線コネクタ 247">
              <a:extLst>
                <a:ext uri="{FF2B5EF4-FFF2-40B4-BE49-F238E27FC236}">
                  <a16:creationId xmlns:a16="http://schemas.microsoft.com/office/drawing/2014/main" id="{057B13A8-DFEC-E14B-3FF8-736B9FB3B91C}"/>
                </a:ext>
              </a:extLst>
            </p:cNvPr>
            <p:cNvCxnSpPr>
              <a:cxnSpLocks/>
            </p:cNvCxnSpPr>
            <p:nvPr/>
          </p:nvCxnSpPr>
          <p:spPr>
            <a:xfrm flipH="1" flipV="1">
              <a:off x="10164938" y="6166343"/>
              <a:ext cx="458310" cy="64841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743C2F28-0FA9-28FA-E4E2-5F719FB6A48B}"/>
                </a:ext>
              </a:extLst>
            </p:cNvPr>
            <p:cNvCxnSpPr>
              <a:cxnSpLocks/>
            </p:cNvCxnSpPr>
            <p:nvPr/>
          </p:nvCxnSpPr>
          <p:spPr>
            <a:xfrm>
              <a:off x="2557638"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19" name="直線コネクタ 118">
              <a:extLst>
                <a:ext uri="{FF2B5EF4-FFF2-40B4-BE49-F238E27FC236}">
                  <a16:creationId xmlns:a16="http://schemas.microsoft.com/office/drawing/2014/main" id="{C22AC3A6-5C2C-91E0-CB17-4181686AF725}"/>
                </a:ext>
              </a:extLst>
            </p:cNvPr>
            <p:cNvCxnSpPr>
              <a:cxnSpLocks/>
            </p:cNvCxnSpPr>
            <p:nvPr/>
          </p:nvCxnSpPr>
          <p:spPr>
            <a:xfrm>
              <a:off x="8350220" y="5098026"/>
              <a:ext cx="916179" cy="0"/>
            </a:xfrm>
            <a:prstGeom prst="line">
              <a:avLst/>
            </a:prstGeom>
            <a:ln w="28575">
              <a:solidFill>
                <a:srgbClr val="146082"/>
              </a:solidFill>
              <a:prstDash val="sysDot"/>
            </a:ln>
          </p:spPr>
          <p:style>
            <a:lnRef idx="2">
              <a:schemeClr val="accent1"/>
            </a:lnRef>
            <a:fillRef idx="0">
              <a:schemeClr val="accent1"/>
            </a:fillRef>
            <a:effectRef idx="1">
              <a:schemeClr val="accent1"/>
            </a:effectRef>
            <a:fontRef idx="minor">
              <a:schemeClr val="tx1"/>
            </a:fontRef>
          </p:style>
        </p:cxnSp>
        <p:cxnSp>
          <p:nvCxnSpPr>
            <p:cNvPr id="120" name="直線コネクタ 119">
              <a:extLst>
                <a:ext uri="{FF2B5EF4-FFF2-40B4-BE49-F238E27FC236}">
                  <a16:creationId xmlns:a16="http://schemas.microsoft.com/office/drawing/2014/main" id="{D169732A-BEE4-B963-F41E-A20D1C5DFA3E}"/>
                </a:ext>
              </a:extLst>
            </p:cNvPr>
            <p:cNvCxnSpPr>
              <a:cxnSpLocks/>
            </p:cNvCxnSpPr>
            <p:nvPr/>
          </p:nvCxnSpPr>
          <p:spPr>
            <a:xfrm>
              <a:off x="8733388" y="5933338"/>
              <a:ext cx="670791" cy="444385"/>
            </a:xfrm>
            <a:prstGeom prst="line">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21" name="テキスト ボックス 120">
              <a:extLst>
                <a:ext uri="{FF2B5EF4-FFF2-40B4-BE49-F238E27FC236}">
                  <a16:creationId xmlns:a16="http://schemas.microsoft.com/office/drawing/2014/main" id="{577CF093-599B-0EC5-963E-507674BD7087}"/>
                </a:ext>
              </a:extLst>
            </p:cNvPr>
            <p:cNvSpPr txBox="1"/>
            <p:nvPr/>
          </p:nvSpPr>
          <p:spPr>
            <a:xfrm>
              <a:off x="1852765" y="4259167"/>
              <a:ext cx="365654" cy="496269"/>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sp>
          <p:nvSpPr>
            <p:cNvPr id="122" name="テキスト ボックス 121">
              <a:extLst>
                <a:ext uri="{FF2B5EF4-FFF2-40B4-BE49-F238E27FC236}">
                  <a16:creationId xmlns:a16="http://schemas.microsoft.com/office/drawing/2014/main" id="{6BB4F936-8BC3-357E-0A36-F5209DF22177}"/>
                </a:ext>
              </a:extLst>
            </p:cNvPr>
            <p:cNvSpPr txBox="1"/>
            <p:nvPr/>
          </p:nvSpPr>
          <p:spPr>
            <a:xfrm>
              <a:off x="2826271" y="5775100"/>
              <a:ext cx="570961" cy="496268"/>
            </a:xfrm>
            <a:prstGeom prst="rect">
              <a:avLst/>
            </a:prstGeom>
            <a:noFill/>
          </p:spPr>
          <p:txBody>
            <a:bodyPr wrap="square" rtlCol="0">
              <a:spAutoFit/>
            </a:bodyPr>
            <a:lstStyle/>
            <a:p>
              <a:r>
                <a:rPr lang="en-US" altLang="ja-JP" sz="2400" b="1" dirty="0">
                  <a:solidFill>
                    <a:srgbClr val="FF0000"/>
                  </a:solidFill>
                </a:rPr>
                <a:t>0</a:t>
              </a:r>
              <a:endParaRPr kumimoji="1" lang="ja-JP" altLang="en-US" sz="2400" b="1">
                <a:solidFill>
                  <a:srgbClr val="FF0000"/>
                </a:solidFill>
              </a:endParaRPr>
            </a:p>
          </p:txBody>
        </p:sp>
        <p:sp>
          <p:nvSpPr>
            <p:cNvPr id="123" name="テキスト ボックス 122">
              <a:extLst>
                <a:ext uri="{FF2B5EF4-FFF2-40B4-BE49-F238E27FC236}">
                  <a16:creationId xmlns:a16="http://schemas.microsoft.com/office/drawing/2014/main" id="{5F2B833E-9ABA-3363-DA2C-A26DDBED4F32}"/>
                </a:ext>
              </a:extLst>
            </p:cNvPr>
            <p:cNvSpPr txBox="1"/>
            <p:nvPr/>
          </p:nvSpPr>
          <p:spPr>
            <a:xfrm>
              <a:off x="891783" y="4282120"/>
              <a:ext cx="365654" cy="496269"/>
            </a:xfrm>
            <a:prstGeom prst="rect">
              <a:avLst/>
            </a:prstGeom>
            <a:noFill/>
          </p:spPr>
          <p:txBody>
            <a:bodyPr wrap="none" rtlCol="0">
              <a:spAutoFit/>
            </a:bodyPr>
            <a:lstStyle/>
            <a:p>
              <a:r>
                <a:rPr kumimoji="1" lang="en-US" altLang="ja-JP" sz="2400" b="1" dirty="0">
                  <a:solidFill>
                    <a:srgbClr val="FF0000"/>
                  </a:solidFill>
                </a:rPr>
                <a:t>1</a:t>
              </a:r>
              <a:endParaRPr kumimoji="1" lang="ja-JP" altLang="en-US" sz="2400" b="1">
                <a:solidFill>
                  <a:srgbClr val="FF0000"/>
                </a:solidFill>
              </a:endParaRPr>
            </a:p>
          </p:txBody>
        </p:sp>
        <p:sp>
          <p:nvSpPr>
            <p:cNvPr id="126" name="テキスト ボックス 125">
              <a:extLst>
                <a:ext uri="{FF2B5EF4-FFF2-40B4-BE49-F238E27FC236}">
                  <a16:creationId xmlns:a16="http://schemas.microsoft.com/office/drawing/2014/main" id="{BFFD59C0-4C58-FF60-436B-00B0D171989D}"/>
                </a:ext>
              </a:extLst>
            </p:cNvPr>
            <p:cNvSpPr txBox="1"/>
            <p:nvPr/>
          </p:nvSpPr>
          <p:spPr>
            <a:xfrm>
              <a:off x="4697940" y="6444622"/>
              <a:ext cx="1232400" cy="430100"/>
            </a:xfrm>
            <a:prstGeom prst="rect">
              <a:avLst/>
            </a:prstGeom>
            <a:solidFill>
              <a:schemeClr val="bg1"/>
            </a:solidFill>
            <a:ln w="28575">
              <a:solidFill>
                <a:srgbClr val="146082"/>
              </a:solidFill>
            </a:ln>
          </p:spPr>
          <p:txBody>
            <a:bodyPr wrap="none" rtlCol="0">
              <a:spAutoFit/>
            </a:bodyPr>
            <a:lstStyle/>
            <a:p>
              <a:r>
                <a:rPr kumimoji="1" lang="ja-JP" altLang="en-US" sz="2000" b="1"/>
                <a:t>承諾なし</a:t>
              </a:r>
            </a:p>
          </p:txBody>
        </p:sp>
        <p:sp>
          <p:nvSpPr>
            <p:cNvPr id="127" name="テキスト ボックス 126">
              <a:extLst>
                <a:ext uri="{FF2B5EF4-FFF2-40B4-BE49-F238E27FC236}">
                  <a16:creationId xmlns:a16="http://schemas.microsoft.com/office/drawing/2014/main" id="{5972857C-185F-6F7B-2B73-D43ABC8EDF39}"/>
                </a:ext>
              </a:extLst>
            </p:cNvPr>
            <p:cNvSpPr txBox="1"/>
            <p:nvPr/>
          </p:nvSpPr>
          <p:spPr>
            <a:xfrm>
              <a:off x="3252038" y="6742928"/>
              <a:ext cx="1241016" cy="562437"/>
            </a:xfrm>
            <a:prstGeom prst="rect">
              <a:avLst/>
            </a:prstGeom>
            <a:noFill/>
          </p:spPr>
          <p:txBody>
            <a:bodyPr wrap="none" rtlCol="0">
              <a:spAutoFit/>
            </a:bodyPr>
            <a:lstStyle/>
            <a:p>
              <a:r>
                <a:rPr lang="en-US" altLang="ja-JP" sz="2800" b="1" dirty="0"/>
                <a:t>r</a:t>
              </a:r>
              <a:r>
                <a:rPr lang="en-US" altLang="ja-JP" sz="2800" b="1" baseline="-25000" dirty="0"/>
                <a:t>3</a:t>
              </a:r>
              <a:r>
                <a:rPr kumimoji="1" lang="en-US" altLang="ja-JP" sz="2800" b="1" dirty="0"/>
                <a:t>(s,</a:t>
              </a:r>
              <a:r>
                <a:rPr lang="en-US" altLang="ja-JP" sz="2800" b="1" dirty="0"/>
                <a:t> </a:t>
              </a:r>
              <a:r>
                <a:rPr kumimoji="1" lang="en-US" altLang="ja-JP" sz="2800" b="1" dirty="0"/>
                <a:t>a)</a:t>
              </a:r>
              <a:endParaRPr kumimoji="1" lang="ja-JP" altLang="en-US" sz="2800" b="1"/>
            </a:p>
          </p:txBody>
        </p:sp>
        <p:sp>
          <p:nvSpPr>
            <p:cNvPr id="128" name="テキスト ボックス 127">
              <a:extLst>
                <a:ext uri="{FF2B5EF4-FFF2-40B4-BE49-F238E27FC236}">
                  <a16:creationId xmlns:a16="http://schemas.microsoft.com/office/drawing/2014/main" id="{BF7946B1-6639-5077-B391-A3F45050D004}"/>
                </a:ext>
              </a:extLst>
            </p:cNvPr>
            <p:cNvSpPr txBox="1"/>
            <p:nvPr/>
          </p:nvSpPr>
          <p:spPr>
            <a:xfrm>
              <a:off x="7842156" y="6392354"/>
              <a:ext cx="1285818" cy="562437"/>
            </a:xfrm>
            <a:prstGeom prst="rect">
              <a:avLst/>
            </a:prstGeom>
            <a:noFill/>
          </p:spPr>
          <p:txBody>
            <a:bodyPr wrap="none" rtlCol="0">
              <a:spAutoFit/>
            </a:bodyPr>
            <a:lstStyle/>
            <a:p>
              <a:r>
                <a:rPr lang="en-US" altLang="ja-JP" sz="2800" b="1" dirty="0"/>
                <a:t>y</a:t>
              </a:r>
              <a:r>
                <a:rPr lang="en-US" altLang="ja-JP" sz="2800" b="1" baseline="-25000" dirty="0"/>
                <a:t>3</a:t>
              </a:r>
              <a:r>
                <a:rPr kumimoji="1" lang="en-US" altLang="ja-JP" sz="2800" b="1" dirty="0"/>
                <a:t>(d,</a:t>
              </a:r>
              <a:r>
                <a:rPr lang="en-US" altLang="ja-JP" sz="2800" b="1" dirty="0"/>
                <a:t> r</a:t>
              </a:r>
              <a:r>
                <a:rPr kumimoji="1" lang="en-US" altLang="ja-JP" sz="2800" b="1" dirty="0"/>
                <a:t>)</a:t>
              </a:r>
              <a:endParaRPr kumimoji="1" lang="ja-JP" altLang="en-US" sz="2800" b="1"/>
            </a:p>
          </p:txBody>
        </p:sp>
        <p:sp>
          <p:nvSpPr>
            <p:cNvPr id="250" name="テキスト ボックス 249">
              <a:extLst>
                <a:ext uri="{FF2B5EF4-FFF2-40B4-BE49-F238E27FC236}">
                  <a16:creationId xmlns:a16="http://schemas.microsoft.com/office/drawing/2014/main" id="{1BE23906-9687-69BA-EA2C-BDFD9E5FF616}"/>
                </a:ext>
              </a:extLst>
            </p:cNvPr>
            <p:cNvSpPr txBox="1"/>
            <p:nvPr/>
          </p:nvSpPr>
          <p:spPr>
            <a:xfrm>
              <a:off x="10007219" y="5765079"/>
              <a:ext cx="365654" cy="496268"/>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grpSp>
          <p:nvGrpSpPr>
            <p:cNvPr id="165" name="グループ化 164">
              <a:extLst>
                <a:ext uri="{FF2B5EF4-FFF2-40B4-BE49-F238E27FC236}">
                  <a16:creationId xmlns:a16="http://schemas.microsoft.com/office/drawing/2014/main" id="{578690EB-26F3-D473-6C5C-A91AC241CFDE}"/>
                </a:ext>
              </a:extLst>
            </p:cNvPr>
            <p:cNvGrpSpPr/>
            <p:nvPr/>
          </p:nvGrpSpPr>
          <p:grpSpPr>
            <a:xfrm>
              <a:off x="10436784" y="4613317"/>
              <a:ext cx="3924190" cy="723853"/>
              <a:chOff x="11033461" y="3840047"/>
              <a:chExt cx="2901969" cy="767762"/>
            </a:xfrm>
          </p:grpSpPr>
          <p:sp>
            <p:nvSpPr>
              <p:cNvPr id="164" name="角丸四角形 163">
                <a:extLst>
                  <a:ext uri="{FF2B5EF4-FFF2-40B4-BE49-F238E27FC236}">
                    <a16:creationId xmlns:a16="http://schemas.microsoft.com/office/drawing/2014/main" id="{7B4B7FF8-86F6-5447-EB0D-7978D371F19C}"/>
                  </a:ext>
                </a:extLst>
              </p:cNvPr>
              <p:cNvSpPr/>
              <p:nvPr/>
            </p:nvSpPr>
            <p:spPr>
              <a:xfrm>
                <a:off x="11589187" y="3840047"/>
                <a:ext cx="1838400" cy="767762"/>
              </a:xfrm>
              <a:prstGeom prst="roundRect">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sz="1400"/>
              </a:p>
            </p:txBody>
          </p:sp>
          <p:sp>
            <p:nvSpPr>
              <p:cNvPr id="163" name="テキスト ボックス 162">
                <a:extLst>
                  <a:ext uri="{FF2B5EF4-FFF2-40B4-BE49-F238E27FC236}">
                    <a16:creationId xmlns:a16="http://schemas.microsoft.com/office/drawing/2014/main" id="{58BBD22B-EA4D-12D0-E6E4-550DBEBB9A36}"/>
                  </a:ext>
                </a:extLst>
              </p:cNvPr>
              <p:cNvSpPr txBox="1"/>
              <p:nvPr/>
            </p:nvSpPr>
            <p:spPr>
              <a:xfrm>
                <a:off x="11033461" y="3891679"/>
                <a:ext cx="2901969" cy="666737"/>
              </a:xfrm>
              <a:prstGeom prst="rect">
                <a:avLst/>
              </a:prstGeom>
              <a:noFill/>
            </p:spPr>
            <p:txBody>
              <a:bodyPr wrap="square" rtlCol="0">
                <a:spAutoFit/>
              </a:bodyPr>
              <a:lstStyle/>
              <a:p>
                <a:pPr algn="ctr"/>
                <a:r>
                  <a:rPr kumimoji="1" lang="ja-JP" altLang="en-US" sz="1600">
                    <a:solidFill>
                      <a:schemeClr val="bg1"/>
                    </a:solidFill>
                  </a:rPr>
                  <a:t>リーク防止期間</a:t>
                </a:r>
                <a:endParaRPr kumimoji="1" lang="en-US" altLang="ja-JP" sz="1600" dirty="0">
                  <a:solidFill>
                    <a:schemeClr val="bg1"/>
                  </a:solidFill>
                </a:endParaRPr>
              </a:p>
              <a:p>
                <a:pPr algn="ctr"/>
                <a:r>
                  <a:rPr kumimoji="1" lang="ja-JP" altLang="en-US" sz="1600">
                    <a:solidFill>
                      <a:schemeClr val="bg1"/>
                    </a:solidFill>
                  </a:rPr>
                  <a:t>（ラベル判定のみ）</a:t>
                </a:r>
              </a:p>
            </p:txBody>
          </p:sp>
        </p:grpSp>
        <p:sp>
          <p:nvSpPr>
            <p:cNvPr id="9" name="円/楕円 8">
              <a:extLst>
                <a:ext uri="{FF2B5EF4-FFF2-40B4-BE49-F238E27FC236}">
                  <a16:creationId xmlns:a16="http://schemas.microsoft.com/office/drawing/2014/main" id="{17A77EEB-9EB1-DA11-3630-645086FAA1DF}"/>
                </a:ext>
              </a:extLst>
            </p:cNvPr>
            <p:cNvSpPr/>
            <p:nvPr/>
          </p:nvSpPr>
          <p:spPr>
            <a:xfrm>
              <a:off x="13819851" y="5489996"/>
              <a:ext cx="221918" cy="22191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5" name="直線矢印コネクタ 14">
              <a:extLst>
                <a:ext uri="{FF2B5EF4-FFF2-40B4-BE49-F238E27FC236}">
                  <a16:creationId xmlns:a16="http://schemas.microsoft.com/office/drawing/2014/main" id="{DF5715BE-50BD-8C4D-6968-A41AEBD90B71}"/>
                </a:ext>
              </a:extLst>
            </p:cNvPr>
            <p:cNvCxnSpPr>
              <a:cxnSpLocks/>
            </p:cNvCxnSpPr>
            <p:nvPr/>
          </p:nvCxnSpPr>
          <p:spPr>
            <a:xfrm>
              <a:off x="4796775" y="5025375"/>
              <a:ext cx="260120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1BBE5675-5E5F-2BB3-2C75-F0D0182F3B06}"/>
                </a:ext>
              </a:extLst>
            </p:cNvPr>
            <p:cNvCxnSpPr>
              <a:cxnSpLocks/>
            </p:cNvCxnSpPr>
            <p:nvPr/>
          </p:nvCxnSpPr>
          <p:spPr>
            <a:xfrm>
              <a:off x="5584814" y="5444875"/>
              <a:ext cx="25657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6D9E7781-713A-7EE8-FAFE-8218205C0CC7}"/>
                </a:ext>
              </a:extLst>
            </p:cNvPr>
            <p:cNvCxnSpPr>
              <a:cxnSpLocks/>
            </p:cNvCxnSpPr>
            <p:nvPr/>
          </p:nvCxnSpPr>
          <p:spPr>
            <a:xfrm>
              <a:off x="6172447" y="5812076"/>
              <a:ext cx="256094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36B9EEC9-F7B5-3904-9F60-74401A520599}"/>
                </a:ext>
              </a:extLst>
            </p:cNvPr>
            <p:cNvCxnSpPr>
              <a:cxnSpLocks/>
            </p:cNvCxnSpPr>
            <p:nvPr/>
          </p:nvCxnSpPr>
          <p:spPr>
            <a:xfrm>
              <a:off x="11851912" y="5933338"/>
              <a:ext cx="20618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5BEB300E-3E58-BBA5-4619-FA8097B3F080}"/>
                </a:ext>
              </a:extLst>
            </p:cNvPr>
            <p:cNvCxnSpPr>
              <a:cxnSpLocks/>
            </p:cNvCxnSpPr>
            <p:nvPr/>
          </p:nvCxnSpPr>
          <p:spPr>
            <a:xfrm>
              <a:off x="16370420" y="5098026"/>
              <a:ext cx="2061823" cy="0"/>
            </a:xfrm>
            <a:prstGeom prst="straightConnector1">
              <a:avLst/>
            </a:prstGeom>
            <a:ln w="571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D9F34311-F3A7-E3BC-4DC6-D777B87232DB}"/>
                </a:ext>
              </a:extLst>
            </p:cNvPr>
            <p:cNvCxnSpPr>
              <a:cxnSpLocks/>
            </p:cNvCxnSpPr>
            <p:nvPr/>
          </p:nvCxnSpPr>
          <p:spPr>
            <a:xfrm>
              <a:off x="16411556"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62063373-4BFE-BE34-B1D8-69D79BA91F7A}"/>
                </a:ext>
              </a:extLst>
            </p:cNvPr>
            <p:cNvCxnSpPr>
              <a:cxnSpLocks/>
            </p:cNvCxnSpPr>
            <p:nvPr/>
          </p:nvCxnSpPr>
          <p:spPr>
            <a:xfrm>
              <a:off x="18473380"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AE7C86B4-BBBD-1543-45E8-FDCF19016A73}"/>
                </a:ext>
              </a:extLst>
            </p:cNvPr>
            <p:cNvSpPr txBox="1"/>
            <p:nvPr/>
          </p:nvSpPr>
          <p:spPr>
            <a:xfrm>
              <a:off x="17133710" y="503744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55" name="テキスト ボックス 54">
              <a:extLst>
                <a:ext uri="{FF2B5EF4-FFF2-40B4-BE49-F238E27FC236}">
                  <a16:creationId xmlns:a16="http://schemas.microsoft.com/office/drawing/2014/main" id="{03EF2697-1478-124F-C5EB-49C6E41DF2A6}"/>
                </a:ext>
              </a:extLst>
            </p:cNvPr>
            <p:cNvSpPr txBox="1"/>
            <p:nvPr/>
          </p:nvSpPr>
          <p:spPr>
            <a:xfrm>
              <a:off x="3903317" y="3853073"/>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sp>
          <p:nvSpPr>
            <p:cNvPr id="125" name="テキスト ボックス 124">
              <a:extLst>
                <a:ext uri="{FF2B5EF4-FFF2-40B4-BE49-F238E27FC236}">
                  <a16:creationId xmlns:a16="http://schemas.microsoft.com/office/drawing/2014/main" id="{6AD0B091-357F-B0D7-F7D7-EDC0A044FC05}"/>
                </a:ext>
              </a:extLst>
            </p:cNvPr>
            <p:cNvSpPr txBox="1"/>
            <p:nvPr/>
          </p:nvSpPr>
          <p:spPr>
            <a:xfrm>
              <a:off x="2767679" y="3514129"/>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cxnSp>
          <p:nvCxnSpPr>
            <p:cNvPr id="57" name="直線コネクタ 56">
              <a:extLst>
                <a:ext uri="{FF2B5EF4-FFF2-40B4-BE49-F238E27FC236}">
                  <a16:creationId xmlns:a16="http://schemas.microsoft.com/office/drawing/2014/main" id="{7467612F-953C-8041-0686-3C35EF5EAA74}"/>
                </a:ext>
              </a:extLst>
            </p:cNvPr>
            <p:cNvCxnSpPr>
              <a:cxnSpLocks/>
            </p:cNvCxnSpPr>
            <p:nvPr/>
          </p:nvCxnSpPr>
          <p:spPr>
            <a:xfrm>
              <a:off x="17394858" y="4567898"/>
              <a:ext cx="0" cy="51318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65AFC440-BE42-62C9-6A85-CAE1F147E212}"/>
                </a:ext>
              </a:extLst>
            </p:cNvPr>
            <p:cNvCxnSpPr>
              <a:cxnSpLocks/>
            </p:cNvCxnSpPr>
            <p:nvPr/>
          </p:nvCxnSpPr>
          <p:spPr>
            <a:xfrm flipH="1">
              <a:off x="13954577" y="4567898"/>
              <a:ext cx="477555" cy="982725"/>
            </a:xfrm>
            <a:prstGeom prst="line">
              <a:avLst/>
            </a:prstGeom>
            <a:ln w="38100">
              <a:solidFill>
                <a:srgbClr val="14608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82" name="テキスト ボックス 81">
              <a:extLst>
                <a:ext uri="{FF2B5EF4-FFF2-40B4-BE49-F238E27FC236}">
                  <a16:creationId xmlns:a16="http://schemas.microsoft.com/office/drawing/2014/main" id="{8838155D-0AD8-6209-45CC-03344312E36D}"/>
                </a:ext>
              </a:extLst>
            </p:cNvPr>
            <p:cNvSpPr txBox="1"/>
            <p:nvPr/>
          </p:nvSpPr>
          <p:spPr>
            <a:xfrm>
              <a:off x="10922106" y="6590030"/>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grpSp>
      <p:sp>
        <p:nvSpPr>
          <p:cNvPr id="51" name="円/楕円 50">
            <a:extLst>
              <a:ext uri="{FF2B5EF4-FFF2-40B4-BE49-F238E27FC236}">
                <a16:creationId xmlns:a16="http://schemas.microsoft.com/office/drawing/2014/main" id="{94F4DF62-6926-66F5-CBB6-F150E9BC39BF}"/>
              </a:ext>
            </a:extLst>
          </p:cNvPr>
          <p:cNvSpPr/>
          <p:nvPr/>
        </p:nvSpPr>
        <p:spPr>
          <a:xfrm>
            <a:off x="15556682" y="4369142"/>
            <a:ext cx="402175" cy="40217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accent6">
                    <a:lumMod val="75000"/>
                  </a:schemeClr>
                </a:solidFill>
              </a:rPr>
              <a:t>？</a:t>
            </a:r>
          </a:p>
        </p:txBody>
      </p:sp>
      <p:sp>
        <p:nvSpPr>
          <p:cNvPr id="54" name="テキスト ボックス 53">
            <a:extLst>
              <a:ext uri="{FF2B5EF4-FFF2-40B4-BE49-F238E27FC236}">
                <a16:creationId xmlns:a16="http://schemas.microsoft.com/office/drawing/2014/main" id="{54F52CB3-C08A-799A-E76B-ADA6F85C2BA5}"/>
              </a:ext>
            </a:extLst>
          </p:cNvPr>
          <p:cNvSpPr txBox="1"/>
          <p:nvPr/>
        </p:nvSpPr>
        <p:spPr>
          <a:xfrm>
            <a:off x="909420" y="2067578"/>
            <a:ext cx="5430634" cy="461665"/>
          </a:xfrm>
          <a:prstGeom prst="rect">
            <a:avLst/>
          </a:prstGeom>
          <a:noFill/>
        </p:spPr>
        <p:txBody>
          <a:bodyPr wrap="square">
            <a:spAutoFit/>
          </a:bodyPr>
          <a:lstStyle/>
          <a:p>
            <a:pPr algn="l"/>
            <a:r>
              <a:rPr lang="en-US" altLang="ja-JP" sz="2400" dirty="0">
                <a:solidFill>
                  <a:schemeClr val="tx1">
                    <a:lumMod val="75000"/>
                    <a:lumOff val="25000"/>
                  </a:schemeClr>
                </a:solidFill>
              </a:rPr>
              <a:t>4-6m</a:t>
            </a:r>
            <a:r>
              <a:rPr lang="ja-JP" altLang="en-US" sz="2400">
                <a:solidFill>
                  <a:schemeClr val="tx1">
                    <a:lumMod val="75000"/>
                    <a:lumOff val="25000"/>
                  </a:schemeClr>
                </a:solidFill>
              </a:rPr>
              <a:t>後にレビュー承諾があるか否か？</a:t>
            </a:r>
            <a:endParaRPr lang="en-US" altLang="ja-JP" sz="2400" dirty="0">
              <a:solidFill>
                <a:schemeClr val="tx1">
                  <a:lumMod val="75000"/>
                  <a:lumOff val="25000"/>
                </a:schemeClr>
              </a:solidFill>
            </a:endParaRPr>
          </a:p>
        </p:txBody>
      </p:sp>
      <p:cxnSp>
        <p:nvCxnSpPr>
          <p:cNvPr id="80" name="直線コネクタ 79">
            <a:extLst>
              <a:ext uri="{FF2B5EF4-FFF2-40B4-BE49-F238E27FC236}">
                <a16:creationId xmlns:a16="http://schemas.microsoft.com/office/drawing/2014/main" id="{E787286C-53A5-0EA3-1343-0C10B4FF8EA2}"/>
              </a:ext>
            </a:extLst>
          </p:cNvPr>
          <p:cNvCxnSpPr>
            <a:cxnSpLocks/>
          </p:cNvCxnSpPr>
          <p:nvPr/>
        </p:nvCxnSpPr>
        <p:spPr>
          <a:xfrm>
            <a:off x="12996863" y="3581220"/>
            <a:ext cx="279082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sp>
        <p:nvSpPr>
          <p:cNvPr id="46" name="テキスト ボックス 45">
            <a:extLst>
              <a:ext uri="{FF2B5EF4-FFF2-40B4-BE49-F238E27FC236}">
                <a16:creationId xmlns:a16="http://schemas.microsoft.com/office/drawing/2014/main" id="{85F62A61-5DA4-3CCF-0B2D-4DE27898B88F}"/>
              </a:ext>
            </a:extLst>
          </p:cNvPr>
          <p:cNvSpPr txBox="1"/>
          <p:nvPr/>
        </p:nvSpPr>
        <p:spPr>
          <a:xfrm>
            <a:off x="14212469" y="3384198"/>
            <a:ext cx="763622" cy="400110"/>
          </a:xfrm>
          <a:prstGeom prst="rect">
            <a:avLst/>
          </a:prstGeom>
          <a:solidFill>
            <a:schemeClr val="bg1"/>
          </a:solidFill>
          <a:ln w="28575">
            <a:solidFill>
              <a:srgbClr val="146082"/>
            </a:solidFill>
          </a:ln>
        </p:spPr>
        <p:txBody>
          <a:bodyPr wrap="square" rtlCol="0">
            <a:spAutoFit/>
          </a:bodyPr>
          <a:lstStyle/>
          <a:p>
            <a:r>
              <a:rPr kumimoji="1" lang="ja-JP" altLang="en-US" sz="2000" b="1"/>
              <a:t>予測</a:t>
            </a:r>
          </a:p>
        </p:txBody>
      </p:sp>
      <p:sp>
        <p:nvSpPr>
          <p:cNvPr id="93" name="テキスト ボックス 92">
            <a:extLst>
              <a:ext uri="{FF2B5EF4-FFF2-40B4-BE49-F238E27FC236}">
                <a16:creationId xmlns:a16="http://schemas.microsoft.com/office/drawing/2014/main" id="{634A87ED-CF7D-73AE-7717-102BF65FEFCA}"/>
              </a:ext>
            </a:extLst>
          </p:cNvPr>
          <p:cNvSpPr txBox="1"/>
          <p:nvPr/>
        </p:nvSpPr>
        <p:spPr>
          <a:xfrm>
            <a:off x="12611304" y="2875518"/>
            <a:ext cx="5430634" cy="400110"/>
          </a:xfrm>
          <a:prstGeom prst="rect">
            <a:avLst/>
          </a:prstGeom>
          <a:noFill/>
        </p:spPr>
        <p:txBody>
          <a:bodyPr wrap="square">
            <a:spAutoFit/>
          </a:bodyPr>
          <a:lstStyle/>
          <a:p>
            <a:pPr algn="l"/>
            <a:r>
              <a:rPr lang="en-US" altLang="ja-JP" sz="2000" dirty="0">
                <a:solidFill>
                  <a:schemeClr val="tx1">
                    <a:lumMod val="75000"/>
                    <a:lumOff val="25000"/>
                  </a:schemeClr>
                </a:solidFill>
              </a:rPr>
              <a:t>4-6m</a:t>
            </a:r>
            <a:r>
              <a:rPr lang="ja-JP" altLang="en-US" sz="2000">
                <a:solidFill>
                  <a:schemeClr val="tx1">
                    <a:lumMod val="75000"/>
                    <a:lumOff val="25000"/>
                  </a:schemeClr>
                </a:solidFill>
              </a:rPr>
              <a:t>後にレビュー承諾があるか否か？</a:t>
            </a:r>
            <a:endParaRPr lang="en-US" altLang="ja-JP" sz="2000" dirty="0">
              <a:solidFill>
                <a:schemeClr val="tx1">
                  <a:lumMod val="75000"/>
                  <a:lumOff val="25000"/>
                </a:schemeClr>
              </a:solidFill>
            </a:endParaRPr>
          </a:p>
        </p:txBody>
      </p:sp>
      <p:sp>
        <p:nvSpPr>
          <p:cNvPr id="95" name="正方形/長方形 94">
            <a:extLst>
              <a:ext uri="{FF2B5EF4-FFF2-40B4-BE49-F238E27FC236}">
                <a16:creationId xmlns:a16="http://schemas.microsoft.com/office/drawing/2014/main" id="{5E3EE91A-FB7D-27AD-73BE-43A8F58F6376}"/>
              </a:ext>
            </a:extLst>
          </p:cNvPr>
          <p:cNvSpPr/>
          <p:nvPr/>
        </p:nvSpPr>
        <p:spPr>
          <a:xfrm>
            <a:off x="142875" y="6403012"/>
            <a:ext cx="16316325" cy="2926726"/>
          </a:xfrm>
          <a:prstGeom prst="rect">
            <a:avLst/>
          </a:prstGeom>
          <a:solidFill>
            <a:srgbClr val="FFFFFF">
              <a:alpha val="8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正方形/長方形 95">
            <a:extLst>
              <a:ext uri="{FF2B5EF4-FFF2-40B4-BE49-F238E27FC236}">
                <a16:creationId xmlns:a16="http://schemas.microsoft.com/office/drawing/2014/main" id="{E93AECD5-070B-0919-FDBD-E6C599DF4E72}"/>
              </a:ext>
            </a:extLst>
          </p:cNvPr>
          <p:cNvSpPr/>
          <p:nvPr/>
        </p:nvSpPr>
        <p:spPr>
          <a:xfrm>
            <a:off x="6340054" y="0"/>
            <a:ext cx="3489649" cy="765111"/>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rgbClr val="FF0000"/>
                </a:solidFill>
              </a:rPr>
              <a:t>開発者の軌跡っていう感じにしたいな</a:t>
            </a:r>
          </a:p>
        </p:txBody>
      </p:sp>
    </p:spTree>
    <p:extLst>
      <p:ext uri="{BB962C8B-B14F-4D97-AF65-F5344CB8AC3E}">
        <p14:creationId xmlns:p14="http://schemas.microsoft.com/office/powerpoint/2010/main" val="970993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0D22E-3D58-9446-8C8B-810162893F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67BD4F-AFDB-7D9E-A794-1D28A6E87B7F}"/>
              </a:ext>
            </a:extLst>
          </p:cNvPr>
          <p:cNvSpPr>
            <a:spLocks noGrp="1"/>
          </p:cNvSpPr>
          <p:nvPr>
            <p:ph type="title"/>
          </p:nvPr>
        </p:nvSpPr>
        <p:spPr/>
        <p:txBody>
          <a:bodyPr/>
          <a:lstStyle/>
          <a:p>
            <a:r>
              <a:rPr kumimoji="1" lang="ja-JP" altLang="en-US" sz="3200"/>
              <a:t>アプローチ</a:t>
            </a:r>
            <a:br>
              <a:rPr kumimoji="1" lang="en-US" altLang="ja-JP" sz="3200" dirty="0"/>
            </a:br>
            <a:r>
              <a:rPr kumimoji="1" lang="ja-JP" altLang="en-US" sz="3600"/>
              <a:t>学習方法・予測について（</a:t>
            </a:r>
            <a:r>
              <a:rPr kumimoji="1" lang="en-US" altLang="ja-JP" sz="3600" dirty="0"/>
              <a:t>4-6m</a:t>
            </a:r>
            <a:r>
              <a:rPr kumimoji="1" lang="ja-JP" altLang="en-US" sz="3600"/>
              <a:t>の例）</a:t>
            </a:r>
            <a:endParaRPr kumimoji="1" lang="ja-JP" altLang="en-US"/>
          </a:p>
        </p:txBody>
      </p:sp>
      <p:sp>
        <p:nvSpPr>
          <p:cNvPr id="3" name="スライド番号プレースホルダー 2">
            <a:extLst>
              <a:ext uri="{FF2B5EF4-FFF2-40B4-BE49-F238E27FC236}">
                <a16:creationId xmlns:a16="http://schemas.microsoft.com/office/drawing/2014/main" id="{EF9D6BBB-C1E1-008F-1994-CA4E0B71B6D6}"/>
              </a:ext>
            </a:extLst>
          </p:cNvPr>
          <p:cNvSpPr>
            <a:spLocks noGrp="1"/>
          </p:cNvSpPr>
          <p:nvPr>
            <p:ph type="sldNum" sz="quarter" idx="12"/>
          </p:nvPr>
        </p:nvSpPr>
        <p:spPr/>
        <p:txBody>
          <a:bodyPr/>
          <a:lstStyle/>
          <a:p>
            <a:fld id="{85D74467-FFC2-5C49-A08A-98A9FE9BCA53}" type="slidenum">
              <a:rPr kumimoji="1" lang="ja-JP" altLang="en-US" smtClean="0"/>
              <a:pPr/>
              <a:t>12</a:t>
            </a:fld>
            <a:endParaRPr kumimoji="1" lang="ja-JP" altLang="en-US"/>
          </a:p>
        </p:txBody>
      </p:sp>
      <p:grpSp>
        <p:nvGrpSpPr>
          <p:cNvPr id="4" name="グループ化 3">
            <a:extLst>
              <a:ext uri="{FF2B5EF4-FFF2-40B4-BE49-F238E27FC236}">
                <a16:creationId xmlns:a16="http://schemas.microsoft.com/office/drawing/2014/main" id="{638AE166-9687-0178-9245-3ED2F918F0C3}"/>
              </a:ext>
            </a:extLst>
          </p:cNvPr>
          <p:cNvGrpSpPr/>
          <p:nvPr/>
        </p:nvGrpSpPr>
        <p:grpSpPr>
          <a:xfrm>
            <a:off x="12172355" y="1"/>
            <a:ext cx="5201355" cy="1872000"/>
            <a:chOff x="206119" y="1946628"/>
            <a:chExt cx="9920282" cy="3570371"/>
          </a:xfrm>
        </p:grpSpPr>
        <p:pic>
          <p:nvPicPr>
            <p:cNvPr id="8" name="図 7">
              <a:extLst>
                <a:ext uri="{FF2B5EF4-FFF2-40B4-BE49-F238E27FC236}">
                  <a16:creationId xmlns:a16="http://schemas.microsoft.com/office/drawing/2014/main" id="{460A09E3-A986-CE00-7D24-51D925AC7035}"/>
                </a:ext>
              </a:extLst>
            </p:cNvPr>
            <p:cNvPicPr>
              <a:picLocks noChangeAspect="1"/>
            </p:cNvPicPr>
            <p:nvPr/>
          </p:nvPicPr>
          <p:blipFill>
            <a:blip r:embed="rId3"/>
            <a:stretch>
              <a:fillRect/>
            </a:stretch>
          </p:blipFill>
          <p:spPr>
            <a:xfrm>
              <a:off x="206119" y="1946628"/>
              <a:ext cx="9920282" cy="3570371"/>
            </a:xfrm>
            <a:prstGeom prst="rect">
              <a:avLst/>
            </a:prstGeom>
          </p:spPr>
        </p:pic>
        <p:sp>
          <p:nvSpPr>
            <p:cNvPr id="13" name="角丸四角形 12">
              <a:extLst>
                <a:ext uri="{FF2B5EF4-FFF2-40B4-BE49-F238E27FC236}">
                  <a16:creationId xmlns:a16="http://schemas.microsoft.com/office/drawing/2014/main" id="{84D3F42E-ED9F-A870-555F-944064280845}"/>
                </a:ext>
              </a:extLst>
            </p:cNvPr>
            <p:cNvSpPr/>
            <p:nvPr/>
          </p:nvSpPr>
          <p:spPr>
            <a:xfrm>
              <a:off x="2244253" y="3439236"/>
              <a:ext cx="4462818" cy="655092"/>
            </a:xfrm>
            <a:prstGeom prst="round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1" name="グループ化 190">
            <a:extLst>
              <a:ext uri="{FF2B5EF4-FFF2-40B4-BE49-F238E27FC236}">
                <a16:creationId xmlns:a16="http://schemas.microsoft.com/office/drawing/2014/main" id="{9D485DB3-D32B-1160-6359-A913DE382350}"/>
              </a:ext>
            </a:extLst>
          </p:cNvPr>
          <p:cNvGrpSpPr/>
          <p:nvPr/>
        </p:nvGrpSpPr>
        <p:grpSpPr>
          <a:xfrm>
            <a:off x="9511771" y="6787546"/>
            <a:ext cx="7655768" cy="2476819"/>
            <a:chOff x="434353" y="4059026"/>
            <a:chExt cx="4411967" cy="1427374"/>
          </a:xfrm>
        </p:grpSpPr>
        <p:sp>
          <p:nvSpPr>
            <p:cNvPr id="181" name="Text 4">
              <a:extLst>
                <a:ext uri="{FF2B5EF4-FFF2-40B4-BE49-F238E27FC236}">
                  <a16:creationId xmlns:a16="http://schemas.microsoft.com/office/drawing/2014/main" id="{4FCE243C-D79C-5753-66C6-A20B8ACA0839}"/>
                </a:ext>
              </a:extLst>
            </p:cNvPr>
            <p:cNvSpPr/>
            <p:nvPr/>
          </p:nvSpPr>
          <p:spPr>
            <a:xfrm>
              <a:off x="434353" y="4059026"/>
              <a:ext cx="3977640" cy="292608"/>
            </a:xfrm>
            <a:prstGeom prst="rect">
              <a:avLst/>
            </a:prstGeom>
            <a:noFill/>
            <a:ln/>
          </p:spPr>
          <p:txBody>
            <a:bodyPr wrap="square" lIns="0" tIns="0" rIns="0" bIns="0" rtlCol="0" anchor="ctr"/>
            <a:lstStyle/>
            <a:p>
              <a:pPr marL="0" indent="0" algn="l">
                <a:buNone/>
              </a:pPr>
              <a:r>
                <a:rPr lang="en-US" sz="2400" b="1" dirty="0" err="1">
                  <a:solidFill>
                    <a:srgbClr val="262626"/>
                  </a:solidFill>
                  <a:latin typeface="+mj-ea"/>
                  <a:ea typeface="+mj-ea"/>
                  <a:cs typeface="Meiryo" pitchFamily="34" charset="-120"/>
                </a:rPr>
                <a:t>ラベルy</a:t>
              </a:r>
              <a:r>
                <a:rPr lang="en-US" sz="2400" b="1" dirty="0">
                  <a:solidFill>
                    <a:srgbClr val="262626"/>
                  </a:solidFill>
                  <a:latin typeface="+mj-ea"/>
                  <a:ea typeface="+mj-ea"/>
                  <a:cs typeface="Meiryo" pitchFamily="34" charset="-120"/>
                </a:rPr>
                <a:t>ₜ(d, r)：</a:t>
              </a:r>
              <a:r>
                <a:rPr lang="en-US" sz="2400" b="1" dirty="0" err="1">
                  <a:solidFill>
                    <a:srgbClr val="262626"/>
                  </a:solidFill>
                  <a:latin typeface="+mj-ea"/>
                  <a:ea typeface="+mj-ea"/>
                  <a:cs typeface="Meiryo" pitchFamily="34" charset="-120"/>
                </a:rPr>
                <a:t>各月τₜにWₕ内の貢献で付与</a:t>
              </a:r>
              <a:endParaRPr lang="en-US" sz="2400" dirty="0">
                <a:latin typeface="+mj-ea"/>
                <a:ea typeface="+mj-ea"/>
              </a:endParaRPr>
            </a:p>
          </p:txBody>
        </p:sp>
        <p:sp>
          <p:nvSpPr>
            <p:cNvPr id="182" name="Shape 5">
              <a:extLst>
                <a:ext uri="{FF2B5EF4-FFF2-40B4-BE49-F238E27FC236}">
                  <a16:creationId xmlns:a16="http://schemas.microsoft.com/office/drawing/2014/main" id="{1EF2C749-9596-9393-54B3-328DC06435A2}"/>
                </a:ext>
              </a:extLst>
            </p:cNvPr>
            <p:cNvSpPr/>
            <p:nvPr/>
          </p:nvSpPr>
          <p:spPr>
            <a:xfrm>
              <a:off x="566928" y="4425696"/>
              <a:ext cx="420624" cy="292608"/>
            </a:xfrm>
            <a:prstGeom prst="rect">
              <a:avLst/>
            </a:prstGeom>
            <a:solidFill>
              <a:srgbClr val="1F5C45"/>
            </a:solidFill>
            <a:ln/>
          </p:spPr>
          <p:txBody>
            <a:bodyPr/>
            <a:lstStyle/>
            <a:p>
              <a:endParaRPr lang="ja-JP" altLang="en-US" sz="4000">
                <a:latin typeface="+mj-ea"/>
                <a:ea typeface="+mj-ea"/>
              </a:endParaRPr>
            </a:p>
          </p:txBody>
        </p:sp>
        <p:sp>
          <p:nvSpPr>
            <p:cNvPr id="183" name="Text 6">
              <a:extLst>
                <a:ext uri="{FF2B5EF4-FFF2-40B4-BE49-F238E27FC236}">
                  <a16:creationId xmlns:a16="http://schemas.microsoft.com/office/drawing/2014/main" id="{5121EC04-8A14-2D24-B988-AA059708A728}"/>
                </a:ext>
              </a:extLst>
            </p:cNvPr>
            <p:cNvSpPr/>
            <p:nvPr/>
          </p:nvSpPr>
          <p:spPr>
            <a:xfrm>
              <a:off x="566928" y="4425696"/>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+1</a:t>
              </a:r>
              <a:endParaRPr lang="en-US" sz="2400" dirty="0">
                <a:latin typeface="+mj-ea"/>
                <a:ea typeface="+mj-ea"/>
              </a:endParaRPr>
            </a:p>
          </p:txBody>
        </p:sp>
        <p:sp>
          <p:nvSpPr>
            <p:cNvPr id="184" name="Text 7">
              <a:extLst>
                <a:ext uri="{FF2B5EF4-FFF2-40B4-BE49-F238E27FC236}">
                  <a16:creationId xmlns:a16="http://schemas.microsoft.com/office/drawing/2014/main" id="{5AD32336-84FD-964D-65EF-A790BC636AA6}"/>
                </a:ext>
              </a:extLst>
            </p:cNvPr>
            <p:cNvSpPr/>
            <p:nvPr/>
          </p:nvSpPr>
          <p:spPr>
            <a:xfrm>
              <a:off x="1097280" y="4425696"/>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依頼あり，貢献あり</a:t>
              </a:r>
              <a:r>
                <a:rPr lang="en-US" sz="2000" dirty="0">
                  <a:solidFill>
                    <a:srgbClr val="262626"/>
                  </a:solidFill>
                  <a:latin typeface="+mj-ea"/>
                  <a:ea typeface="+mj-ea"/>
                  <a:cs typeface="Meiryo" pitchFamily="34" charset="-120"/>
                </a:rPr>
                <a:t> ＝ 正例（重み 1.0）</a:t>
              </a:r>
              <a:endParaRPr lang="en-US" sz="2000" dirty="0">
                <a:latin typeface="+mj-ea"/>
                <a:ea typeface="+mj-ea"/>
              </a:endParaRPr>
            </a:p>
          </p:txBody>
        </p:sp>
        <p:sp>
          <p:nvSpPr>
            <p:cNvPr id="185" name="Shape 8">
              <a:extLst>
                <a:ext uri="{FF2B5EF4-FFF2-40B4-BE49-F238E27FC236}">
                  <a16:creationId xmlns:a16="http://schemas.microsoft.com/office/drawing/2014/main" id="{1EEB8953-8784-4FBB-028A-9BDCC8DDEFF1}"/>
                </a:ext>
              </a:extLst>
            </p:cNvPr>
            <p:cNvSpPr/>
            <p:nvPr/>
          </p:nvSpPr>
          <p:spPr>
            <a:xfrm>
              <a:off x="566928" y="4809744"/>
              <a:ext cx="420624" cy="292608"/>
            </a:xfrm>
            <a:prstGeom prst="rect">
              <a:avLst/>
            </a:prstGeom>
            <a:solidFill>
              <a:srgbClr val="575860"/>
            </a:solidFill>
            <a:ln/>
          </p:spPr>
          <p:txBody>
            <a:bodyPr/>
            <a:lstStyle/>
            <a:p>
              <a:endParaRPr lang="ja-JP" altLang="en-US" sz="4000">
                <a:latin typeface="+mj-ea"/>
                <a:ea typeface="+mj-ea"/>
              </a:endParaRPr>
            </a:p>
          </p:txBody>
        </p:sp>
        <p:sp>
          <p:nvSpPr>
            <p:cNvPr id="186" name="Text 9">
              <a:extLst>
                <a:ext uri="{FF2B5EF4-FFF2-40B4-BE49-F238E27FC236}">
                  <a16:creationId xmlns:a16="http://schemas.microsoft.com/office/drawing/2014/main" id="{739EC789-EE8B-36F8-CB03-E55CAF3064AF}"/>
                </a:ext>
              </a:extLst>
            </p:cNvPr>
            <p:cNvSpPr/>
            <p:nvPr/>
          </p:nvSpPr>
          <p:spPr>
            <a:xfrm>
              <a:off x="566928" y="4809744"/>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87" name="Text 10">
              <a:extLst>
                <a:ext uri="{FF2B5EF4-FFF2-40B4-BE49-F238E27FC236}">
                  <a16:creationId xmlns:a16="http://schemas.microsoft.com/office/drawing/2014/main" id="{DB50D46D-C37D-3438-CFA0-AD762077EDA5}"/>
                </a:ext>
              </a:extLst>
            </p:cNvPr>
            <p:cNvSpPr/>
            <p:nvPr/>
          </p:nvSpPr>
          <p:spPr>
            <a:xfrm>
              <a:off x="1097280" y="4809744"/>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a:t>
              </a:r>
              <a:r>
                <a:rPr lang="en-US" sz="2000" dirty="0">
                  <a:solidFill>
                    <a:srgbClr val="262626"/>
                  </a:solidFill>
                  <a:latin typeface="+mj-ea"/>
                  <a:ea typeface="+mj-ea"/>
                  <a:cs typeface="Meiryo" pitchFamily="34" charset="-120"/>
                </a:rPr>
                <a:t> ，</a:t>
              </a:r>
              <a:r>
                <a:rPr lang="en-US" sz="2000" dirty="0" err="1">
                  <a:solidFill>
                    <a:srgbClr val="262626"/>
                  </a:solidFill>
                  <a:latin typeface="+mj-ea"/>
                  <a:ea typeface="+mj-ea"/>
                  <a:cs typeface="Meiryo" pitchFamily="34" charset="-120"/>
                </a:rPr>
                <a:t>貢献なし</a:t>
              </a:r>
              <a:r>
                <a:rPr lang="en-US" sz="2000" dirty="0">
                  <a:solidFill>
                    <a:srgbClr val="262626"/>
                  </a:solidFill>
                  <a:latin typeface="+mj-ea"/>
                  <a:ea typeface="+mj-ea"/>
                  <a:cs typeface="Meiryo" pitchFamily="34" charset="-120"/>
                </a:rPr>
                <a:t> ＝ 強い負例（重み 1.0）</a:t>
              </a:r>
              <a:endParaRPr lang="en-US" sz="2000" dirty="0">
                <a:latin typeface="+mj-ea"/>
                <a:ea typeface="+mj-ea"/>
              </a:endParaRPr>
            </a:p>
          </p:txBody>
        </p:sp>
        <p:sp>
          <p:nvSpPr>
            <p:cNvPr id="188" name="Shape 11">
              <a:extLst>
                <a:ext uri="{FF2B5EF4-FFF2-40B4-BE49-F238E27FC236}">
                  <a16:creationId xmlns:a16="http://schemas.microsoft.com/office/drawing/2014/main" id="{F4395FDD-97BD-5A70-3AF5-A2B8DC9742A9}"/>
                </a:ext>
              </a:extLst>
            </p:cNvPr>
            <p:cNvSpPr/>
            <p:nvPr/>
          </p:nvSpPr>
          <p:spPr>
            <a:xfrm>
              <a:off x="566928" y="5193792"/>
              <a:ext cx="420624" cy="292608"/>
            </a:xfrm>
            <a:prstGeom prst="rect">
              <a:avLst/>
            </a:prstGeom>
            <a:solidFill>
              <a:srgbClr val="C00000"/>
            </a:solidFill>
            <a:ln/>
          </p:spPr>
          <p:txBody>
            <a:bodyPr/>
            <a:lstStyle/>
            <a:p>
              <a:endParaRPr lang="ja-JP" altLang="en-US" sz="4000">
                <a:latin typeface="+mj-ea"/>
                <a:ea typeface="+mj-ea"/>
              </a:endParaRPr>
            </a:p>
          </p:txBody>
        </p:sp>
        <p:sp>
          <p:nvSpPr>
            <p:cNvPr id="189" name="Text 12">
              <a:extLst>
                <a:ext uri="{FF2B5EF4-FFF2-40B4-BE49-F238E27FC236}">
                  <a16:creationId xmlns:a16="http://schemas.microsoft.com/office/drawing/2014/main" id="{2A87387E-0367-67D8-66AC-BB15D7A1C694}"/>
                </a:ext>
              </a:extLst>
            </p:cNvPr>
            <p:cNvSpPr/>
            <p:nvPr/>
          </p:nvSpPr>
          <p:spPr>
            <a:xfrm>
              <a:off x="566928" y="5193792"/>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90" name="Text 13">
              <a:extLst>
                <a:ext uri="{FF2B5EF4-FFF2-40B4-BE49-F238E27FC236}">
                  <a16:creationId xmlns:a16="http://schemas.microsoft.com/office/drawing/2014/main" id="{66A43461-7EDF-9872-0C50-58606E6CDFB8}"/>
                </a:ext>
              </a:extLst>
            </p:cNvPr>
            <p:cNvSpPr/>
            <p:nvPr/>
          </p:nvSpPr>
          <p:spPr>
            <a:xfrm>
              <a:off x="1097280" y="5193792"/>
              <a:ext cx="3749040" cy="292608"/>
            </a:xfrm>
            <a:prstGeom prst="rect">
              <a:avLst/>
            </a:prstGeom>
            <a:noFill/>
            <a:ln/>
          </p:spPr>
          <p:txBody>
            <a:bodyPr wrap="square" lIns="0" tIns="0" rIns="0" bIns="0" rtlCol="0" anchor="ctr"/>
            <a:lstStyle/>
            <a:p>
              <a:pPr marL="0" indent="0" algn="l">
                <a:buNone/>
              </a:pPr>
              <a:r>
                <a:rPr lang="en-US" sz="2000" dirty="0">
                  <a:solidFill>
                    <a:srgbClr val="262626"/>
                  </a:solidFill>
                  <a:latin typeface="+mj-ea"/>
                  <a:ea typeface="+mj-ea"/>
                  <a:cs typeface="Meiryo" pitchFamily="34" charset="-120"/>
                </a:rPr>
                <a:t>依頼なし ＝ 弱負例（重み 0.5）</a:t>
              </a:r>
              <a:endParaRPr lang="en-US" sz="2000" dirty="0">
                <a:latin typeface="+mj-ea"/>
                <a:ea typeface="+mj-ea"/>
              </a:endParaRPr>
            </a:p>
          </p:txBody>
        </p:sp>
      </p:grpSp>
      <p:sp>
        <p:nvSpPr>
          <p:cNvPr id="254" name="テキスト ボックス 253">
            <a:extLst>
              <a:ext uri="{FF2B5EF4-FFF2-40B4-BE49-F238E27FC236}">
                <a16:creationId xmlns:a16="http://schemas.microsoft.com/office/drawing/2014/main" id="{DCEE6C29-E8E9-D0B1-15A4-859C46CCE944}"/>
              </a:ext>
            </a:extLst>
          </p:cNvPr>
          <p:cNvSpPr txBox="1"/>
          <p:nvPr/>
        </p:nvSpPr>
        <p:spPr>
          <a:xfrm>
            <a:off x="572578" y="6403012"/>
            <a:ext cx="13396514" cy="3046988"/>
          </a:xfrm>
          <a:prstGeom prst="rect">
            <a:avLst/>
          </a:prstGeom>
          <a:noFill/>
        </p:spPr>
        <p:txBody>
          <a:bodyPr wrap="square">
            <a:spAutoFit/>
          </a:bodyPr>
          <a:lstStyle/>
          <a:p>
            <a:pPr marL="342900" indent="-342900" algn="l">
              <a:buFont typeface="Wingdings" pitchFamily="2" charset="2"/>
              <a:buChar char="n"/>
            </a:pPr>
            <a:r>
              <a:rPr lang="ja-JP" altLang="en-US" sz="2800"/>
              <a:t>状態 </a:t>
            </a:r>
            <a:r>
              <a:rPr lang="en-US" altLang="ja-JP" sz="2800" dirty="0"/>
              <a:t>sₜ</a:t>
            </a:r>
            <a:r>
              <a:rPr lang="ja-JP" altLang="en-US" sz="2800"/>
              <a:t>：</a:t>
            </a:r>
            <a:endParaRPr lang="en-US" altLang="ja-JP" sz="2800" dirty="0"/>
          </a:p>
          <a:p>
            <a:pPr algn="l"/>
            <a:r>
              <a:rPr lang="en-US" altLang="ja-JP" sz="2800" dirty="0"/>
              <a:t>	</a:t>
            </a:r>
            <a:r>
              <a:rPr lang="ja-JP" altLang="en-US" sz="2400"/>
              <a:t>開発者のそれまでのレビュー履歴</a:t>
            </a:r>
            <a:endParaRPr lang="en-US" altLang="ja-JP" sz="2400" dirty="0"/>
          </a:p>
          <a:p>
            <a:pPr algn="l"/>
            <a:r>
              <a:rPr lang="en-US" altLang="ja-JP" sz="2400" dirty="0"/>
              <a:t>		(</a:t>
            </a:r>
            <a:r>
              <a:rPr lang="ja-JP" altLang="en-US" sz="2400"/>
              <a:t>開発者状態，ディレクトリ親和度，活動特徴の３カテゴリ</a:t>
            </a:r>
            <a:r>
              <a:rPr lang="en-US" altLang="ja-JP" sz="2400" dirty="0"/>
              <a:t>)</a:t>
            </a:r>
          </a:p>
          <a:p>
            <a:pPr marL="342900" indent="-342900" algn="l">
              <a:buFont typeface="Wingdings" pitchFamily="2" charset="2"/>
              <a:buChar char="n"/>
            </a:pPr>
            <a:r>
              <a:rPr lang="ja-JP" altLang="en-US" sz="2800"/>
              <a:t>軌跡 </a:t>
            </a:r>
            <a:r>
              <a:rPr lang="el-GR" altLang="ja-JP" sz="2800" dirty="0"/>
              <a:t>τ</a:t>
            </a:r>
            <a:r>
              <a:rPr lang="en-US" altLang="ja-JP" sz="2800" dirty="0"/>
              <a:t>ₜ</a:t>
            </a:r>
            <a:r>
              <a:rPr lang="ja-JP" altLang="en-US" sz="2800"/>
              <a:t>：</a:t>
            </a:r>
            <a:endParaRPr lang="en-US" altLang="ja-JP" sz="2800" dirty="0"/>
          </a:p>
          <a:p>
            <a:pPr algn="l"/>
            <a:r>
              <a:rPr lang="en-US" altLang="ja-JP" sz="2800" dirty="0"/>
              <a:t>	</a:t>
            </a:r>
            <a:r>
              <a:rPr lang="ja-JP" altLang="en-US" sz="2400"/>
              <a:t>状態</a:t>
            </a:r>
            <a:r>
              <a:rPr lang="en-US" altLang="ja-JP" sz="2400" dirty="0"/>
              <a:t>+</a:t>
            </a:r>
            <a:r>
              <a:rPr lang="ja-JP" altLang="en-US" sz="2400"/>
              <a:t>ラベルの月次記録。</a:t>
            </a:r>
            <a:r>
              <a:rPr lang="en-US" altLang="ja-JP" sz="2400" dirty="0"/>
              <a:t>T = (</a:t>
            </a:r>
            <a:r>
              <a:rPr lang="el-GR" altLang="ja-JP" sz="2400" dirty="0"/>
              <a:t>τ₁, …, τ</a:t>
            </a:r>
            <a:r>
              <a:rPr lang="en-US" altLang="ja-JP" sz="2400" dirty="0"/>
              <a:t>ₙ) </a:t>
            </a:r>
            <a:r>
              <a:rPr lang="ja-JP" altLang="en-US" sz="2400"/>
              <a:t>として学習 </a:t>
            </a:r>
            <a:endParaRPr lang="en-US" altLang="ja-JP" sz="2400" dirty="0"/>
          </a:p>
          <a:p>
            <a:pPr marL="342900" indent="-342900" algn="l">
              <a:buFont typeface="Wingdings" pitchFamily="2" charset="2"/>
              <a:buChar char="n"/>
            </a:pPr>
            <a:r>
              <a:rPr lang="ja-JP" altLang="en-US" sz="2800"/>
              <a:t>報酬 </a:t>
            </a:r>
            <a:r>
              <a:rPr lang="en-US" altLang="ja-JP" sz="2800" dirty="0"/>
              <a:t>rₜ(s, a)</a:t>
            </a:r>
            <a:r>
              <a:rPr lang="ja-JP" altLang="en-US" sz="2800"/>
              <a:t>：</a:t>
            </a:r>
            <a:endParaRPr lang="en-US" altLang="ja-JP" sz="2800" dirty="0"/>
          </a:p>
          <a:p>
            <a:pPr algn="l"/>
            <a:r>
              <a:rPr lang="en-US" altLang="ja-JP" sz="2800" dirty="0"/>
              <a:t>	</a:t>
            </a:r>
            <a:r>
              <a:rPr lang="ja-JP" altLang="en-US" sz="2400"/>
              <a:t>依頼を受けるかの判断基準．</a:t>
            </a:r>
            <a:r>
              <a:rPr lang="en-US" altLang="ja-JP" sz="2400" dirty="0"/>
              <a:t>IRL</a:t>
            </a:r>
            <a:r>
              <a:rPr lang="ja-JP" altLang="en-US" sz="2400"/>
              <a:t>の推定対象</a:t>
            </a:r>
            <a:endParaRPr lang="ja-JP" altLang="en-US" sz="2400" b="1" dirty="0" err="1">
              <a:solidFill>
                <a:srgbClr val="262626"/>
              </a:solidFill>
              <a:latin typeface="Meiryo" pitchFamily="34" charset="0"/>
              <a:ea typeface="Meiryo" pitchFamily="34" charset="-122"/>
              <a:cs typeface="Meiryo" pitchFamily="34" charset="-120"/>
            </a:endParaRPr>
          </a:p>
        </p:txBody>
      </p:sp>
      <p:grpSp>
        <p:nvGrpSpPr>
          <p:cNvPr id="31" name="グループ化 30">
            <a:extLst>
              <a:ext uri="{FF2B5EF4-FFF2-40B4-BE49-F238E27FC236}">
                <a16:creationId xmlns:a16="http://schemas.microsoft.com/office/drawing/2014/main" id="{AF106752-3A33-B3A3-24D8-49E09118410B}"/>
              </a:ext>
            </a:extLst>
          </p:cNvPr>
          <p:cNvGrpSpPr/>
          <p:nvPr/>
        </p:nvGrpSpPr>
        <p:grpSpPr>
          <a:xfrm>
            <a:off x="87440" y="1994724"/>
            <a:ext cx="16991180" cy="4255500"/>
            <a:chOff x="549981" y="2854635"/>
            <a:chExt cx="18264731" cy="4574466"/>
          </a:xfrm>
        </p:grpSpPr>
        <p:sp>
          <p:nvSpPr>
            <p:cNvPr id="16" name="角丸四角形 15">
              <a:extLst>
                <a:ext uri="{FF2B5EF4-FFF2-40B4-BE49-F238E27FC236}">
                  <a16:creationId xmlns:a16="http://schemas.microsoft.com/office/drawing/2014/main" id="{2F3925A8-A951-1C1C-EF22-52F6D7C3DCC4}"/>
                </a:ext>
              </a:extLst>
            </p:cNvPr>
            <p:cNvSpPr/>
            <p:nvPr/>
          </p:nvSpPr>
          <p:spPr>
            <a:xfrm>
              <a:off x="549981" y="2854635"/>
              <a:ext cx="18264731" cy="4574466"/>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129" name="直線コネクタ 128">
              <a:extLst>
                <a:ext uri="{FF2B5EF4-FFF2-40B4-BE49-F238E27FC236}">
                  <a16:creationId xmlns:a16="http://schemas.microsoft.com/office/drawing/2014/main" id="{C83C0413-D523-29B5-D8ED-1175E1E6107A}"/>
                </a:ext>
              </a:extLst>
            </p:cNvPr>
            <p:cNvCxnSpPr>
              <a:cxnSpLocks/>
            </p:cNvCxnSpPr>
            <p:nvPr/>
          </p:nvCxnSpPr>
          <p:spPr>
            <a:xfrm>
              <a:off x="670119" y="5583931"/>
              <a:ext cx="18088164" cy="0"/>
            </a:xfrm>
            <a:prstGeom prst="line">
              <a:avLst/>
            </a:prstGeom>
            <a:ln w="762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0" name="円/楕円 129">
              <a:extLst>
                <a:ext uri="{FF2B5EF4-FFF2-40B4-BE49-F238E27FC236}">
                  <a16:creationId xmlns:a16="http://schemas.microsoft.com/office/drawing/2014/main" id="{AC7276E2-F919-6035-92AC-84363DF66904}"/>
                </a:ext>
              </a:extLst>
            </p:cNvPr>
            <p:cNvSpPr/>
            <p:nvPr/>
          </p:nvSpPr>
          <p:spPr>
            <a:xfrm>
              <a:off x="1583009"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1" name="円/楕円 130">
              <a:extLst>
                <a:ext uri="{FF2B5EF4-FFF2-40B4-BE49-F238E27FC236}">
                  <a16:creationId xmlns:a16="http://schemas.microsoft.com/office/drawing/2014/main" id="{5C9DAF9D-CDE0-74E3-B088-B95FA4B2D59E}"/>
                </a:ext>
              </a:extLst>
            </p:cNvPr>
            <p:cNvSpPr/>
            <p:nvPr/>
          </p:nvSpPr>
          <p:spPr>
            <a:xfrm>
              <a:off x="79025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2" name="テキスト ボックス 131">
              <a:extLst>
                <a:ext uri="{FF2B5EF4-FFF2-40B4-BE49-F238E27FC236}">
                  <a16:creationId xmlns:a16="http://schemas.microsoft.com/office/drawing/2014/main" id="{387B7CFC-E50B-5899-7339-9F1551287F9D}"/>
                </a:ext>
              </a:extLst>
            </p:cNvPr>
            <p:cNvSpPr txBox="1"/>
            <p:nvPr/>
          </p:nvSpPr>
          <p:spPr>
            <a:xfrm>
              <a:off x="1140495" y="4549764"/>
              <a:ext cx="319319" cy="451406"/>
            </a:xfrm>
            <a:prstGeom prst="rect">
              <a:avLst/>
            </a:prstGeom>
            <a:noFill/>
          </p:spPr>
          <p:txBody>
            <a:bodyPr wrap="square" lIns="0" tIns="0" rIns="0" bIns="0" rtlCol="0">
              <a:spAutoFit/>
            </a:bodyPr>
            <a:lstStyle/>
            <a:p>
              <a:endParaRPr kumimoji="1" lang="ja-JP" altLang="en-US" sz="4000" baseline="-25000"/>
            </a:p>
          </p:txBody>
        </p:sp>
        <p:sp>
          <p:nvSpPr>
            <p:cNvPr id="133" name="円/楕円 132">
              <a:extLst>
                <a:ext uri="{FF2B5EF4-FFF2-40B4-BE49-F238E27FC236}">
                  <a16:creationId xmlns:a16="http://schemas.microsoft.com/office/drawing/2014/main" id="{D04759BC-3B19-9C3F-B76D-BF525D69E216}"/>
                </a:ext>
              </a:extLst>
            </p:cNvPr>
            <p:cNvSpPr/>
            <p:nvPr/>
          </p:nvSpPr>
          <p:spPr>
            <a:xfrm>
              <a:off x="2661148"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4" name="円/楕円 133">
              <a:extLst>
                <a:ext uri="{FF2B5EF4-FFF2-40B4-BE49-F238E27FC236}">
                  <a16:creationId xmlns:a16="http://schemas.microsoft.com/office/drawing/2014/main" id="{64241D2E-FEEE-2C45-1DF0-24A6B28A2FD1}"/>
                </a:ext>
              </a:extLst>
            </p:cNvPr>
            <p:cNvSpPr/>
            <p:nvPr/>
          </p:nvSpPr>
          <p:spPr>
            <a:xfrm>
              <a:off x="2882403"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5" name="円/楕円 134">
              <a:extLst>
                <a:ext uri="{FF2B5EF4-FFF2-40B4-BE49-F238E27FC236}">
                  <a16:creationId xmlns:a16="http://schemas.microsoft.com/office/drawing/2014/main" id="{7C155FE1-DEF2-6AE6-FC8C-BD77666923E9}"/>
                </a:ext>
              </a:extLst>
            </p:cNvPr>
            <p:cNvSpPr/>
            <p:nvPr/>
          </p:nvSpPr>
          <p:spPr>
            <a:xfrm>
              <a:off x="1817218"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36" name="直線コネクタ 135">
              <a:extLst>
                <a:ext uri="{FF2B5EF4-FFF2-40B4-BE49-F238E27FC236}">
                  <a16:creationId xmlns:a16="http://schemas.microsoft.com/office/drawing/2014/main" id="{111DBF19-825B-A475-8814-B3E451D71EDB}"/>
                </a:ext>
              </a:extLst>
            </p:cNvPr>
            <p:cNvCxnSpPr>
              <a:cxnSpLocks/>
            </p:cNvCxnSpPr>
            <p:nvPr/>
          </p:nvCxnSpPr>
          <p:spPr>
            <a:xfrm>
              <a:off x="67011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37" name="円/楕円 136">
              <a:extLst>
                <a:ext uri="{FF2B5EF4-FFF2-40B4-BE49-F238E27FC236}">
                  <a16:creationId xmlns:a16="http://schemas.microsoft.com/office/drawing/2014/main" id="{67889FFC-6445-6A0F-53AC-D757F36FFD7F}"/>
                </a:ext>
              </a:extLst>
            </p:cNvPr>
            <p:cNvSpPr/>
            <p:nvPr/>
          </p:nvSpPr>
          <p:spPr>
            <a:xfrm>
              <a:off x="200750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3BE4F871-FA82-C3FC-FE5C-7BDE44B2E683}"/>
                    </a:ext>
                  </a:extLst>
                </p:cNvPr>
                <p:cNvSpPr txBox="1"/>
                <p:nvPr/>
              </p:nvSpPr>
              <p:spPr>
                <a:xfrm>
                  <a:off x="943060" y="4537814"/>
                  <a:ext cx="319319" cy="6615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1</m:t>
                        </m:r>
                      </m:oMath>
                    </m:oMathPara>
                  </a14:m>
                  <a:endParaRPr kumimoji="1" lang="ja-JP" altLang="en-US" sz="4000" baseline="-25000"/>
                </a:p>
              </p:txBody>
            </p:sp>
          </mc:Choice>
          <mc:Fallback xmlns="">
            <p:sp>
              <p:nvSpPr>
                <p:cNvPr id="138" name="テキスト ボックス 137">
                  <a:extLst>
                    <a:ext uri="{FF2B5EF4-FFF2-40B4-BE49-F238E27FC236}">
                      <a16:creationId xmlns:a16="http://schemas.microsoft.com/office/drawing/2014/main" id="{3BE4F871-FA82-C3FC-FE5C-7BDE44B2E683}"/>
                    </a:ext>
                  </a:extLst>
                </p:cNvPr>
                <p:cNvSpPr txBox="1">
                  <a:spLocks noRot="1" noChangeAspect="1" noMove="1" noResize="1" noEditPoints="1" noAdjustHandles="1" noChangeArrowheads="1" noChangeShapeType="1" noTextEdit="1"/>
                </p:cNvSpPr>
                <p:nvPr/>
              </p:nvSpPr>
              <p:spPr>
                <a:xfrm>
                  <a:off x="943060" y="4537814"/>
                  <a:ext cx="319319" cy="661528"/>
                </a:xfrm>
                <a:prstGeom prst="rect">
                  <a:avLst/>
                </a:prstGeom>
                <a:blipFill>
                  <a:blip r:embed="rId4"/>
                  <a:stretch>
                    <a:fillRect l="-40000" r="-76000" b="-16327"/>
                  </a:stretch>
                </a:blipFill>
              </p:spPr>
              <p:txBody>
                <a:bodyPr/>
                <a:lstStyle/>
                <a:p>
                  <a:r>
                    <a:rPr lang="ja-JP" altLang="en-US">
                      <a:noFill/>
                    </a:rPr>
                    <a:t> </a:t>
                  </a:r>
                </a:p>
              </p:txBody>
            </p:sp>
          </mc:Fallback>
        </mc:AlternateContent>
        <p:cxnSp>
          <p:nvCxnSpPr>
            <p:cNvPr id="139" name="直線コネクタ 138">
              <a:extLst>
                <a:ext uri="{FF2B5EF4-FFF2-40B4-BE49-F238E27FC236}">
                  <a16:creationId xmlns:a16="http://schemas.microsoft.com/office/drawing/2014/main" id="{F4FDBBF8-6885-0E63-CC5F-A7CA27004154}"/>
                </a:ext>
              </a:extLst>
            </p:cNvPr>
            <p:cNvCxnSpPr>
              <a:cxnSpLocks/>
            </p:cNvCxnSpPr>
            <p:nvPr/>
          </p:nvCxnSpPr>
          <p:spPr>
            <a:xfrm>
              <a:off x="158300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1" name="直線コネクタ 140">
              <a:extLst>
                <a:ext uri="{FF2B5EF4-FFF2-40B4-BE49-F238E27FC236}">
                  <a16:creationId xmlns:a16="http://schemas.microsoft.com/office/drawing/2014/main" id="{D45E3BFA-462A-A4F8-0F79-62CA66F1A6A1}"/>
                </a:ext>
              </a:extLst>
            </p:cNvPr>
            <p:cNvCxnSpPr>
              <a:cxnSpLocks/>
            </p:cNvCxnSpPr>
            <p:nvPr/>
          </p:nvCxnSpPr>
          <p:spPr>
            <a:xfrm>
              <a:off x="3397232" y="4756433"/>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2" name="テキスト ボックス 141">
                  <a:extLst>
                    <a:ext uri="{FF2B5EF4-FFF2-40B4-BE49-F238E27FC236}">
                      <a16:creationId xmlns:a16="http://schemas.microsoft.com/office/drawing/2014/main" id="{4D635B9C-F39D-FDB4-1A8C-577395317248}"/>
                    </a:ext>
                  </a:extLst>
                </p:cNvPr>
                <p:cNvSpPr txBox="1"/>
                <p:nvPr/>
              </p:nvSpPr>
              <p:spPr>
                <a:xfrm>
                  <a:off x="1839276" y="4563456"/>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2</m:t>
                        </m:r>
                      </m:oMath>
                    </m:oMathPara>
                  </a14:m>
                  <a:endParaRPr kumimoji="1" lang="ja-JP" altLang="en-US" sz="4000" baseline="-25000"/>
                </a:p>
              </p:txBody>
            </p:sp>
          </mc:Choice>
          <mc:Fallback xmlns="">
            <p:sp>
              <p:nvSpPr>
                <p:cNvPr id="142" name="テキスト ボックス 141">
                  <a:extLst>
                    <a:ext uri="{FF2B5EF4-FFF2-40B4-BE49-F238E27FC236}">
                      <a16:creationId xmlns:a16="http://schemas.microsoft.com/office/drawing/2014/main" id="{4D635B9C-F39D-FDB4-1A8C-577395317248}"/>
                    </a:ext>
                  </a:extLst>
                </p:cNvPr>
                <p:cNvSpPr txBox="1">
                  <a:spLocks noRot="1" noChangeAspect="1" noMove="1" noResize="1" noEditPoints="1" noAdjustHandles="1" noChangeArrowheads="1" noChangeShapeType="1" noTextEdit="1"/>
                </p:cNvSpPr>
                <p:nvPr/>
              </p:nvSpPr>
              <p:spPr>
                <a:xfrm>
                  <a:off x="1839276" y="4563456"/>
                  <a:ext cx="319319" cy="661527"/>
                </a:xfrm>
                <a:prstGeom prst="rect">
                  <a:avLst/>
                </a:prstGeom>
                <a:blipFill>
                  <a:blip r:embed="rId5"/>
                  <a:stretch>
                    <a:fillRect l="-41667" r="-79167" b="-163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3" name="テキスト ボックス 142">
                  <a:extLst>
                    <a:ext uri="{FF2B5EF4-FFF2-40B4-BE49-F238E27FC236}">
                      <a16:creationId xmlns:a16="http://schemas.microsoft.com/office/drawing/2014/main" id="{1EF2E51A-84BF-023B-F976-625FEE3AB33E}"/>
                    </a:ext>
                  </a:extLst>
                </p:cNvPr>
                <p:cNvSpPr txBox="1"/>
                <p:nvPr/>
              </p:nvSpPr>
              <p:spPr>
                <a:xfrm>
                  <a:off x="2821832" y="457693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3</m:t>
                        </m:r>
                      </m:oMath>
                    </m:oMathPara>
                  </a14:m>
                  <a:endParaRPr kumimoji="1" lang="ja-JP" altLang="en-US" sz="4000" baseline="-25000"/>
                </a:p>
              </p:txBody>
            </p:sp>
          </mc:Choice>
          <mc:Fallback xmlns="">
            <p:sp>
              <p:nvSpPr>
                <p:cNvPr id="143" name="テキスト ボックス 142">
                  <a:extLst>
                    <a:ext uri="{FF2B5EF4-FFF2-40B4-BE49-F238E27FC236}">
                      <a16:creationId xmlns:a16="http://schemas.microsoft.com/office/drawing/2014/main" id="{1EF2E51A-84BF-023B-F976-625FEE3AB33E}"/>
                    </a:ext>
                  </a:extLst>
                </p:cNvPr>
                <p:cNvSpPr txBox="1">
                  <a:spLocks noRot="1" noChangeAspect="1" noMove="1" noResize="1" noEditPoints="1" noAdjustHandles="1" noChangeArrowheads="1" noChangeShapeType="1" noTextEdit="1"/>
                </p:cNvSpPr>
                <p:nvPr/>
              </p:nvSpPr>
              <p:spPr>
                <a:xfrm>
                  <a:off x="2821832" y="4576933"/>
                  <a:ext cx="319319" cy="661527"/>
                </a:xfrm>
                <a:prstGeom prst="rect">
                  <a:avLst/>
                </a:prstGeom>
                <a:blipFill>
                  <a:blip r:embed="rId6"/>
                  <a:stretch>
                    <a:fillRect l="-41667" r="-79167" b="-16327"/>
                  </a:stretch>
                </a:blipFill>
              </p:spPr>
              <p:txBody>
                <a:bodyPr/>
                <a:lstStyle/>
                <a:p>
                  <a:r>
                    <a:rPr lang="ja-JP" altLang="en-US">
                      <a:noFill/>
                    </a:rPr>
                    <a:t> </a:t>
                  </a:r>
                </a:p>
              </p:txBody>
            </p:sp>
          </mc:Fallback>
        </mc:AlternateContent>
        <p:cxnSp>
          <p:nvCxnSpPr>
            <p:cNvPr id="145" name="直線コネクタ 144">
              <a:extLst>
                <a:ext uri="{FF2B5EF4-FFF2-40B4-BE49-F238E27FC236}">
                  <a16:creationId xmlns:a16="http://schemas.microsoft.com/office/drawing/2014/main" id="{81460300-B812-2242-7C8F-63BC94775C43}"/>
                </a:ext>
              </a:extLst>
            </p:cNvPr>
            <p:cNvCxnSpPr>
              <a:cxnSpLocks/>
            </p:cNvCxnSpPr>
            <p:nvPr/>
          </p:nvCxnSpPr>
          <p:spPr>
            <a:xfrm>
              <a:off x="1577151" y="3720552"/>
              <a:ext cx="460651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6" name="直線コネクタ 145">
              <a:extLst>
                <a:ext uri="{FF2B5EF4-FFF2-40B4-BE49-F238E27FC236}">
                  <a16:creationId xmlns:a16="http://schemas.microsoft.com/office/drawing/2014/main" id="{ADC88D4E-91DF-AB3D-863B-EB72A1D324D4}"/>
                </a:ext>
              </a:extLst>
            </p:cNvPr>
            <p:cNvCxnSpPr>
              <a:cxnSpLocks/>
            </p:cNvCxnSpPr>
            <p:nvPr/>
          </p:nvCxnSpPr>
          <p:spPr>
            <a:xfrm flipH="1">
              <a:off x="1331416" y="3717678"/>
              <a:ext cx="263676" cy="63517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7" name="直線コネクタ 146">
              <a:extLst>
                <a:ext uri="{FF2B5EF4-FFF2-40B4-BE49-F238E27FC236}">
                  <a16:creationId xmlns:a16="http://schemas.microsoft.com/office/drawing/2014/main" id="{54A3F8B6-7DC1-8304-4462-C38B71E0E1E3}"/>
                </a:ext>
              </a:extLst>
            </p:cNvPr>
            <p:cNvCxnSpPr>
              <a:cxnSpLocks/>
            </p:cNvCxnSpPr>
            <p:nvPr/>
          </p:nvCxnSpPr>
          <p:spPr>
            <a:xfrm>
              <a:off x="6172447" y="3713085"/>
              <a:ext cx="0" cy="131229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8" name="直線コネクタ 147">
              <a:extLst>
                <a:ext uri="{FF2B5EF4-FFF2-40B4-BE49-F238E27FC236}">
                  <a16:creationId xmlns:a16="http://schemas.microsoft.com/office/drawing/2014/main" id="{39DE11BA-B99D-9272-8DB1-8F013ACC15AE}"/>
                </a:ext>
              </a:extLst>
            </p:cNvPr>
            <p:cNvCxnSpPr>
              <a:cxnSpLocks/>
            </p:cNvCxnSpPr>
            <p:nvPr/>
          </p:nvCxnSpPr>
          <p:spPr>
            <a:xfrm>
              <a:off x="3358725" y="6725583"/>
              <a:ext cx="4372708"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9" name="直線コネクタ 148">
              <a:extLst>
                <a:ext uri="{FF2B5EF4-FFF2-40B4-BE49-F238E27FC236}">
                  <a16:creationId xmlns:a16="http://schemas.microsoft.com/office/drawing/2014/main" id="{F9DC6CC8-EE5A-A48D-A958-C4283F634E60}"/>
                </a:ext>
              </a:extLst>
            </p:cNvPr>
            <p:cNvCxnSpPr>
              <a:cxnSpLocks/>
            </p:cNvCxnSpPr>
            <p:nvPr/>
          </p:nvCxnSpPr>
          <p:spPr>
            <a:xfrm flipH="1" flipV="1">
              <a:off x="3029990" y="6296290"/>
              <a:ext cx="338064" cy="4466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0" name="直線コネクタ 149">
              <a:extLst>
                <a:ext uri="{FF2B5EF4-FFF2-40B4-BE49-F238E27FC236}">
                  <a16:creationId xmlns:a16="http://schemas.microsoft.com/office/drawing/2014/main" id="{F10AE5A6-402A-729E-CBEE-559A07110014}"/>
                </a:ext>
              </a:extLst>
            </p:cNvPr>
            <p:cNvCxnSpPr>
              <a:cxnSpLocks/>
            </p:cNvCxnSpPr>
            <p:nvPr/>
          </p:nvCxnSpPr>
          <p:spPr>
            <a:xfrm flipV="1">
              <a:off x="7731434" y="5850796"/>
              <a:ext cx="0" cy="89504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2" name="直線コネクタ 151">
              <a:extLst>
                <a:ext uri="{FF2B5EF4-FFF2-40B4-BE49-F238E27FC236}">
                  <a16:creationId xmlns:a16="http://schemas.microsoft.com/office/drawing/2014/main" id="{28408C7B-16C7-27B9-A57C-8D4996DE67FD}"/>
                </a:ext>
              </a:extLst>
            </p:cNvPr>
            <p:cNvCxnSpPr>
              <a:cxnSpLocks/>
            </p:cNvCxnSpPr>
            <p:nvPr/>
          </p:nvCxnSpPr>
          <p:spPr>
            <a:xfrm>
              <a:off x="2560088" y="4043007"/>
              <a:ext cx="4275807"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53" name="直線コネクタ 152">
              <a:extLst>
                <a:ext uri="{FF2B5EF4-FFF2-40B4-BE49-F238E27FC236}">
                  <a16:creationId xmlns:a16="http://schemas.microsoft.com/office/drawing/2014/main" id="{0932728B-1B88-BFBC-E6F9-61628C495ECC}"/>
                </a:ext>
              </a:extLst>
            </p:cNvPr>
            <p:cNvCxnSpPr>
              <a:cxnSpLocks/>
            </p:cNvCxnSpPr>
            <p:nvPr/>
          </p:nvCxnSpPr>
          <p:spPr>
            <a:xfrm flipH="1">
              <a:off x="2018018" y="4043793"/>
              <a:ext cx="550826" cy="3644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4" name="直線コネクタ 153">
              <a:extLst>
                <a:ext uri="{FF2B5EF4-FFF2-40B4-BE49-F238E27FC236}">
                  <a16:creationId xmlns:a16="http://schemas.microsoft.com/office/drawing/2014/main" id="{E1AB44F3-E082-90A6-48F2-420423DA3F99}"/>
                </a:ext>
              </a:extLst>
            </p:cNvPr>
            <p:cNvCxnSpPr>
              <a:cxnSpLocks/>
            </p:cNvCxnSpPr>
            <p:nvPr/>
          </p:nvCxnSpPr>
          <p:spPr>
            <a:xfrm>
              <a:off x="6832664" y="4034606"/>
              <a:ext cx="0" cy="141026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6" name="テキスト ボックス 155">
              <a:extLst>
                <a:ext uri="{FF2B5EF4-FFF2-40B4-BE49-F238E27FC236}">
                  <a16:creationId xmlns:a16="http://schemas.microsoft.com/office/drawing/2014/main" id="{9D053646-09DC-91D2-721C-5A96E15B325E}"/>
                </a:ext>
              </a:extLst>
            </p:cNvPr>
            <p:cNvSpPr txBox="1"/>
            <p:nvPr/>
          </p:nvSpPr>
          <p:spPr>
            <a:xfrm>
              <a:off x="5291385" y="4537814"/>
              <a:ext cx="931569"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7" name="テキスト ボックス 156">
              <a:extLst>
                <a:ext uri="{FF2B5EF4-FFF2-40B4-BE49-F238E27FC236}">
                  <a16:creationId xmlns:a16="http://schemas.microsoft.com/office/drawing/2014/main" id="{F248E5F9-9933-88ED-FC27-0C95256DD9CA}"/>
                </a:ext>
              </a:extLst>
            </p:cNvPr>
            <p:cNvSpPr txBox="1"/>
            <p:nvPr/>
          </p:nvSpPr>
          <p:spPr>
            <a:xfrm>
              <a:off x="6031862" y="4989963"/>
              <a:ext cx="998050"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8" name="テキスト ボックス 157">
              <a:extLst>
                <a:ext uri="{FF2B5EF4-FFF2-40B4-BE49-F238E27FC236}">
                  <a16:creationId xmlns:a16="http://schemas.microsoft.com/office/drawing/2014/main" id="{E2D075EF-CC62-9BAF-583B-0DA22ADE7540}"/>
                </a:ext>
              </a:extLst>
            </p:cNvPr>
            <p:cNvSpPr txBox="1"/>
            <p:nvPr/>
          </p:nvSpPr>
          <p:spPr>
            <a:xfrm>
              <a:off x="7172855" y="5805644"/>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59" name="直線コネクタ 158">
              <a:extLst>
                <a:ext uri="{FF2B5EF4-FFF2-40B4-BE49-F238E27FC236}">
                  <a16:creationId xmlns:a16="http://schemas.microsoft.com/office/drawing/2014/main" id="{83D4414D-5A00-1C07-9410-97E044CE3912}"/>
                </a:ext>
              </a:extLst>
            </p:cNvPr>
            <p:cNvCxnSpPr>
              <a:cxnSpLocks/>
            </p:cNvCxnSpPr>
            <p:nvPr/>
          </p:nvCxnSpPr>
          <p:spPr>
            <a:xfrm>
              <a:off x="9657711"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60" name="直線コネクタ 159">
              <a:extLst>
                <a:ext uri="{FF2B5EF4-FFF2-40B4-BE49-F238E27FC236}">
                  <a16:creationId xmlns:a16="http://schemas.microsoft.com/office/drawing/2014/main" id="{1F558FEF-A9ED-7B8F-4420-6D13220213AA}"/>
                </a:ext>
              </a:extLst>
            </p:cNvPr>
            <p:cNvCxnSpPr>
              <a:cxnSpLocks/>
            </p:cNvCxnSpPr>
            <p:nvPr/>
          </p:nvCxnSpPr>
          <p:spPr>
            <a:xfrm>
              <a:off x="10663514"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1" name="テキスト ボックス 160">
                  <a:extLst>
                    <a:ext uri="{FF2B5EF4-FFF2-40B4-BE49-F238E27FC236}">
                      <a16:creationId xmlns:a16="http://schemas.microsoft.com/office/drawing/2014/main" id="{A078E8EC-6C72-4F15-6B2A-691D71E0F3D0}"/>
                    </a:ext>
                  </a:extLst>
                </p:cNvPr>
                <p:cNvSpPr txBox="1"/>
                <p:nvPr/>
              </p:nvSpPr>
              <p:spPr>
                <a:xfrm>
                  <a:off x="10032162" y="454892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m:rPr>
                            <m:sty m:val="p"/>
                          </m:rPr>
                          <a:rPr kumimoji="1" lang="en-US" altLang="ja-JP" sz="4000" b="0" i="0" baseline="-25000" smtClean="0">
                            <a:latin typeface="Cambria Math" panose="02040503050406030204" pitchFamily="18" charset="0"/>
                          </a:rPr>
                          <m:t>n</m:t>
                        </m:r>
                      </m:oMath>
                    </m:oMathPara>
                  </a14:m>
                  <a:endParaRPr kumimoji="1" lang="ja-JP" altLang="en-US" sz="4000" baseline="-25000"/>
                </a:p>
              </p:txBody>
            </p:sp>
          </mc:Choice>
          <mc:Fallback xmlns="">
            <p:sp>
              <p:nvSpPr>
                <p:cNvPr id="161" name="テキスト ボックス 160">
                  <a:extLst>
                    <a:ext uri="{FF2B5EF4-FFF2-40B4-BE49-F238E27FC236}">
                      <a16:creationId xmlns:a16="http://schemas.microsoft.com/office/drawing/2014/main" id="{A078E8EC-6C72-4F15-6B2A-691D71E0F3D0}"/>
                    </a:ext>
                  </a:extLst>
                </p:cNvPr>
                <p:cNvSpPr txBox="1">
                  <a:spLocks noRot="1" noChangeAspect="1" noMove="1" noResize="1" noEditPoints="1" noAdjustHandles="1" noChangeArrowheads="1" noChangeShapeType="1" noTextEdit="1"/>
                </p:cNvSpPr>
                <p:nvPr/>
              </p:nvSpPr>
              <p:spPr>
                <a:xfrm>
                  <a:off x="10032162" y="4548923"/>
                  <a:ext cx="319319" cy="661527"/>
                </a:xfrm>
                <a:prstGeom prst="rect">
                  <a:avLst/>
                </a:prstGeom>
                <a:blipFill>
                  <a:blip r:embed="rId7"/>
                  <a:stretch>
                    <a:fillRect l="-41667" r="-70833" b="-12245"/>
                  </a:stretch>
                </a:blipFill>
              </p:spPr>
              <p:txBody>
                <a:bodyPr/>
                <a:lstStyle/>
                <a:p>
                  <a:r>
                    <a:rPr lang="ja-JP" altLang="en-US">
                      <a:noFill/>
                    </a:rPr>
                    <a:t> </a:t>
                  </a:r>
                </a:p>
              </p:txBody>
            </p:sp>
          </mc:Fallback>
        </mc:AlternateContent>
        <p:sp>
          <p:nvSpPr>
            <p:cNvPr id="168" name="テキスト ボックス 167">
              <a:extLst>
                <a:ext uri="{FF2B5EF4-FFF2-40B4-BE49-F238E27FC236}">
                  <a16:creationId xmlns:a16="http://schemas.microsoft.com/office/drawing/2014/main" id="{38DBC6AE-8CD0-EF4C-48ED-BEB09EC439BD}"/>
                </a:ext>
              </a:extLst>
            </p:cNvPr>
            <p:cNvSpPr txBox="1"/>
            <p:nvPr/>
          </p:nvSpPr>
          <p:spPr>
            <a:xfrm>
              <a:off x="12880000" y="597105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71" name="直線コネクタ 170">
              <a:extLst>
                <a:ext uri="{FF2B5EF4-FFF2-40B4-BE49-F238E27FC236}">
                  <a16:creationId xmlns:a16="http://schemas.microsoft.com/office/drawing/2014/main" id="{9CC29BB9-B8AB-50ED-A1A1-360BB06A32E7}"/>
                </a:ext>
              </a:extLst>
            </p:cNvPr>
            <p:cNvCxnSpPr>
              <a:cxnSpLocks/>
            </p:cNvCxnSpPr>
            <p:nvPr/>
          </p:nvCxnSpPr>
          <p:spPr>
            <a:xfrm>
              <a:off x="13930809" y="3610504"/>
              <a:ext cx="0" cy="3578698"/>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75" name="テキスト ボックス 174">
              <a:extLst>
                <a:ext uri="{FF2B5EF4-FFF2-40B4-BE49-F238E27FC236}">
                  <a16:creationId xmlns:a16="http://schemas.microsoft.com/office/drawing/2014/main" id="{D97DDCE4-38E1-F5C2-D152-36CCF72FB476}"/>
                </a:ext>
              </a:extLst>
            </p:cNvPr>
            <p:cNvSpPr txBox="1"/>
            <p:nvPr/>
          </p:nvSpPr>
          <p:spPr>
            <a:xfrm>
              <a:off x="13105320" y="3048319"/>
              <a:ext cx="3038841" cy="463184"/>
            </a:xfrm>
            <a:prstGeom prst="rect">
              <a:avLst/>
            </a:prstGeom>
            <a:noFill/>
          </p:spPr>
          <p:txBody>
            <a:bodyPr wrap="square" lIns="0" tIns="0" rIns="0" bIns="0" rtlCol="0">
              <a:spAutoFit/>
            </a:bodyPr>
            <a:lstStyle/>
            <a:p>
              <a:r>
                <a:rPr kumimoji="1" lang="ja-JP" altLang="en-US" sz="2400"/>
                <a:t>予測地点</a:t>
              </a:r>
              <a:r>
                <a:rPr kumimoji="1" lang="en-US" altLang="ja-JP" sz="2800" dirty="0">
                  <a:solidFill>
                    <a:srgbClr val="26272A"/>
                  </a:solidFill>
                  <a:latin typeface="Calibri"/>
                  <a:ea typeface="ＭＳ Ｐゴシック" panose="020B0600070205080204" pitchFamily="34" charset="-128"/>
                </a:rPr>
                <a:t>(</a:t>
              </a:r>
              <a:r>
                <a:rPr kumimoji="1" lang="en-US" altLang="ja-JP" sz="2800" b="0" i="0" u="none" strike="noStrike" kern="1200" cap="none" spc="0" normalizeH="0" baseline="0" noProof="0" dirty="0">
                  <a:ln>
                    <a:noFill/>
                  </a:ln>
                  <a:solidFill>
                    <a:srgbClr val="26272A"/>
                  </a:solidFill>
                  <a:effectLst/>
                  <a:uLnTx/>
                  <a:uFillTx/>
                  <a:latin typeface="Calibri"/>
                  <a:ea typeface="ＭＳ Ｐゴシック" panose="020B0600070205080204" pitchFamily="34" charset="-128"/>
                  <a:cs typeface="+mn-cs"/>
                </a:rPr>
                <a:t>t</a:t>
              </a:r>
              <a:r>
                <a:rPr kumimoji="1" lang="en-US" altLang="ja-JP" sz="2800" b="0" i="0" u="none" strike="noStrike" kern="1200" cap="none" spc="0" normalizeH="0" baseline="-25000" noProof="0" dirty="0">
                  <a:ln>
                    <a:noFill/>
                  </a:ln>
                  <a:solidFill>
                    <a:srgbClr val="26272A"/>
                  </a:solidFill>
                  <a:effectLst/>
                  <a:uLnTx/>
                  <a:uFillTx/>
                  <a:latin typeface="Calibri"/>
                  <a:ea typeface="ＭＳ Ｐゴシック" panose="020B0600070205080204" pitchFamily="34" charset="-128"/>
                  <a:cs typeface="+mn-cs"/>
                </a:rPr>
                <a:t>0</a:t>
              </a:r>
              <a:r>
                <a:rPr kumimoji="1" lang="en-US" altLang="ja-JP" sz="2800" b="0" i="0" u="none" strike="noStrike" kern="1200" cap="none" spc="0" normalizeH="0" noProof="0" dirty="0">
                  <a:ln>
                    <a:noFill/>
                  </a:ln>
                  <a:solidFill>
                    <a:srgbClr val="26272A"/>
                  </a:solidFill>
                  <a:effectLst/>
                  <a:uLnTx/>
                  <a:uFillTx/>
                  <a:latin typeface="Calibri"/>
                  <a:ea typeface="ＭＳ Ｐゴシック" panose="020B0600070205080204" pitchFamily="34" charset="-128"/>
                  <a:cs typeface="+mn-cs"/>
                </a:rPr>
                <a:t>) </a:t>
              </a:r>
              <a:endParaRPr kumimoji="1" lang="ja-JP" altLang="en-US" sz="3600"/>
            </a:p>
          </p:txBody>
        </p:sp>
        <p:sp>
          <p:nvSpPr>
            <p:cNvPr id="241" name="円/楕円 240">
              <a:extLst>
                <a:ext uri="{FF2B5EF4-FFF2-40B4-BE49-F238E27FC236}">
                  <a16:creationId xmlns:a16="http://schemas.microsoft.com/office/drawing/2014/main" id="{91575054-ECCC-4118-B411-77ABE8339D05}"/>
                </a:ext>
              </a:extLst>
            </p:cNvPr>
            <p:cNvSpPr/>
            <p:nvPr/>
          </p:nvSpPr>
          <p:spPr>
            <a:xfrm>
              <a:off x="12051054"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242" name="円/楕円 241">
              <a:extLst>
                <a:ext uri="{FF2B5EF4-FFF2-40B4-BE49-F238E27FC236}">
                  <a16:creationId xmlns:a16="http://schemas.microsoft.com/office/drawing/2014/main" id="{4E422703-A3F7-744C-04E2-C8729E94BD1D}"/>
                </a:ext>
              </a:extLst>
            </p:cNvPr>
            <p:cNvSpPr/>
            <p:nvPr/>
          </p:nvSpPr>
          <p:spPr>
            <a:xfrm>
              <a:off x="9972203"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243" name="直線コネクタ 242">
              <a:extLst>
                <a:ext uri="{FF2B5EF4-FFF2-40B4-BE49-F238E27FC236}">
                  <a16:creationId xmlns:a16="http://schemas.microsoft.com/office/drawing/2014/main" id="{721E81A9-47D9-4CDD-E6D0-64CD22EDEBB8}"/>
                </a:ext>
              </a:extLst>
            </p:cNvPr>
            <p:cNvCxnSpPr>
              <a:cxnSpLocks/>
            </p:cNvCxnSpPr>
            <p:nvPr/>
          </p:nvCxnSpPr>
          <p:spPr>
            <a:xfrm>
              <a:off x="10592531" y="6796726"/>
              <a:ext cx="2226969"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244" name="直線コネクタ 243">
              <a:extLst>
                <a:ext uri="{FF2B5EF4-FFF2-40B4-BE49-F238E27FC236}">
                  <a16:creationId xmlns:a16="http://schemas.microsoft.com/office/drawing/2014/main" id="{CBE91852-8606-CE5C-2C9A-C5F6D20807D8}"/>
                </a:ext>
              </a:extLst>
            </p:cNvPr>
            <p:cNvCxnSpPr>
              <a:cxnSpLocks/>
            </p:cNvCxnSpPr>
            <p:nvPr/>
          </p:nvCxnSpPr>
          <p:spPr>
            <a:xfrm flipV="1">
              <a:off x="12835106" y="6105404"/>
              <a:ext cx="0" cy="709154"/>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48" name="直線コネクタ 247">
              <a:extLst>
                <a:ext uri="{FF2B5EF4-FFF2-40B4-BE49-F238E27FC236}">
                  <a16:creationId xmlns:a16="http://schemas.microsoft.com/office/drawing/2014/main" id="{120EE964-A08C-80E5-7B77-DF3BE299BE4E}"/>
                </a:ext>
              </a:extLst>
            </p:cNvPr>
            <p:cNvCxnSpPr>
              <a:cxnSpLocks/>
            </p:cNvCxnSpPr>
            <p:nvPr/>
          </p:nvCxnSpPr>
          <p:spPr>
            <a:xfrm flipH="1" flipV="1">
              <a:off x="10164938" y="6166343"/>
              <a:ext cx="458310" cy="64841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3F09F0BB-AE78-793B-B181-B833434AD38B}"/>
                </a:ext>
              </a:extLst>
            </p:cNvPr>
            <p:cNvCxnSpPr>
              <a:cxnSpLocks/>
            </p:cNvCxnSpPr>
            <p:nvPr/>
          </p:nvCxnSpPr>
          <p:spPr>
            <a:xfrm>
              <a:off x="2557638"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19" name="直線コネクタ 118">
              <a:extLst>
                <a:ext uri="{FF2B5EF4-FFF2-40B4-BE49-F238E27FC236}">
                  <a16:creationId xmlns:a16="http://schemas.microsoft.com/office/drawing/2014/main" id="{D0D22DF0-3BD9-B5EF-FA83-3AD26B11F222}"/>
                </a:ext>
              </a:extLst>
            </p:cNvPr>
            <p:cNvCxnSpPr>
              <a:cxnSpLocks/>
            </p:cNvCxnSpPr>
            <p:nvPr/>
          </p:nvCxnSpPr>
          <p:spPr>
            <a:xfrm>
              <a:off x="8350220" y="5098026"/>
              <a:ext cx="916179" cy="0"/>
            </a:xfrm>
            <a:prstGeom prst="line">
              <a:avLst/>
            </a:prstGeom>
            <a:ln w="28575">
              <a:solidFill>
                <a:srgbClr val="146082"/>
              </a:solidFill>
              <a:prstDash val="sysDot"/>
            </a:ln>
          </p:spPr>
          <p:style>
            <a:lnRef idx="2">
              <a:schemeClr val="accent1"/>
            </a:lnRef>
            <a:fillRef idx="0">
              <a:schemeClr val="accent1"/>
            </a:fillRef>
            <a:effectRef idx="1">
              <a:schemeClr val="accent1"/>
            </a:effectRef>
            <a:fontRef idx="minor">
              <a:schemeClr val="tx1"/>
            </a:fontRef>
          </p:style>
        </p:cxnSp>
        <p:cxnSp>
          <p:nvCxnSpPr>
            <p:cNvPr id="120" name="直線コネクタ 119">
              <a:extLst>
                <a:ext uri="{FF2B5EF4-FFF2-40B4-BE49-F238E27FC236}">
                  <a16:creationId xmlns:a16="http://schemas.microsoft.com/office/drawing/2014/main" id="{90903FD3-FEC4-8F2D-E3A2-32E0293759A3}"/>
                </a:ext>
              </a:extLst>
            </p:cNvPr>
            <p:cNvCxnSpPr>
              <a:cxnSpLocks/>
            </p:cNvCxnSpPr>
            <p:nvPr/>
          </p:nvCxnSpPr>
          <p:spPr>
            <a:xfrm>
              <a:off x="8733388" y="5933338"/>
              <a:ext cx="670791" cy="444385"/>
            </a:xfrm>
            <a:prstGeom prst="line">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21" name="テキスト ボックス 120">
              <a:extLst>
                <a:ext uri="{FF2B5EF4-FFF2-40B4-BE49-F238E27FC236}">
                  <a16:creationId xmlns:a16="http://schemas.microsoft.com/office/drawing/2014/main" id="{7B3973C9-D8BB-5AA0-B078-BB22A8123D6D}"/>
                </a:ext>
              </a:extLst>
            </p:cNvPr>
            <p:cNvSpPr txBox="1"/>
            <p:nvPr/>
          </p:nvSpPr>
          <p:spPr>
            <a:xfrm>
              <a:off x="1852765" y="4259167"/>
              <a:ext cx="365654" cy="496269"/>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sp>
          <p:nvSpPr>
            <p:cNvPr id="122" name="テキスト ボックス 121">
              <a:extLst>
                <a:ext uri="{FF2B5EF4-FFF2-40B4-BE49-F238E27FC236}">
                  <a16:creationId xmlns:a16="http://schemas.microsoft.com/office/drawing/2014/main" id="{186A481B-0783-F05E-5078-8AAA37197250}"/>
                </a:ext>
              </a:extLst>
            </p:cNvPr>
            <p:cNvSpPr txBox="1"/>
            <p:nvPr/>
          </p:nvSpPr>
          <p:spPr>
            <a:xfrm>
              <a:off x="2826271" y="5775100"/>
              <a:ext cx="570961" cy="496268"/>
            </a:xfrm>
            <a:prstGeom prst="rect">
              <a:avLst/>
            </a:prstGeom>
            <a:noFill/>
          </p:spPr>
          <p:txBody>
            <a:bodyPr wrap="square" rtlCol="0">
              <a:spAutoFit/>
            </a:bodyPr>
            <a:lstStyle/>
            <a:p>
              <a:r>
                <a:rPr lang="en-US" altLang="ja-JP" sz="2400" b="1" dirty="0">
                  <a:solidFill>
                    <a:srgbClr val="FF0000"/>
                  </a:solidFill>
                </a:rPr>
                <a:t>0</a:t>
              </a:r>
              <a:endParaRPr kumimoji="1" lang="ja-JP" altLang="en-US" sz="2400" b="1">
                <a:solidFill>
                  <a:srgbClr val="FF0000"/>
                </a:solidFill>
              </a:endParaRPr>
            </a:p>
          </p:txBody>
        </p:sp>
        <p:sp>
          <p:nvSpPr>
            <p:cNvPr id="123" name="テキスト ボックス 122">
              <a:extLst>
                <a:ext uri="{FF2B5EF4-FFF2-40B4-BE49-F238E27FC236}">
                  <a16:creationId xmlns:a16="http://schemas.microsoft.com/office/drawing/2014/main" id="{72FC01E1-36D8-38A6-2F45-DB453A37C542}"/>
                </a:ext>
              </a:extLst>
            </p:cNvPr>
            <p:cNvSpPr txBox="1"/>
            <p:nvPr/>
          </p:nvSpPr>
          <p:spPr>
            <a:xfrm>
              <a:off x="891783" y="4282120"/>
              <a:ext cx="365654" cy="496269"/>
            </a:xfrm>
            <a:prstGeom prst="rect">
              <a:avLst/>
            </a:prstGeom>
            <a:noFill/>
          </p:spPr>
          <p:txBody>
            <a:bodyPr wrap="none" rtlCol="0">
              <a:spAutoFit/>
            </a:bodyPr>
            <a:lstStyle/>
            <a:p>
              <a:r>
                <a:rPr kumimoji="1" lang="en-US" altLang="ja-JP" sz="2400" b="1" dirty="0">
                  <a:solidFill>
                    <a:srgbClr val="FF0000"/>
                  </a:solidFill>
                </a:rPr>
                <a:t>1</a:t>
              </a:r>
              <a:endParaRPr kumimoji="1" lang="ja-JP" altLang="en-US" sz="2400" b="1">
                <a:solidFill>
                  <a:srgbClr val="FF0000"/>
                </a:solidFill>
              </a:endParaRPr>
            </a:p>
          </p:txBody>
        </p:sp>
        <p:sp>
          <p:nvSpPr>
            <p:cNvPr id="126" name="テキスト ボックス 125">
              <a:extLst>
                <a:ext uri="{FF2B5EF4-FFF2-40B4-BE49-F238E27FC236}">
                  <a16:creationId xmlns:a16="http://schemas.microsoft.com/office/drawing/2014/main" id="{B9F89D76-3A1D-D7D4-7FBA-FC3A3A5E9EF4}"/>
                </a:ext>
              </a:extLst>
            </p:cNvPr>
            <p:cNvSpPr txBox="1"/>
            <p:nvPr/>
          </p:nvSpPr>
          <p:spPr>
            <a:xfrm>
              <a:off x="4697940" y="6444622"/>
              <a:ext cx="1232400" cy="430100"/>
            </a:xfrm>
            <a:prstGeom prst="rect">
              <a:avLst/>
            </a:prstGeom>
            <a:solidFill>
              <a:schemeClr val="bg1"/>
            </a:solidFill>
            <a:ln w="28575">
              <a:solidFill>
                <a:srgbClr val="146082"/>
              </a:solidFill>
            </a:ln>
          </p:spPr>
          <p:txBody>
            <a:bodyPr wrap="none" rtlCol="0">
              <a:spAutoFit/>
            </a:bodyPr>
            <a:lstStyle/>
            <a:p>
              <a:r>
                <a:rPr kumimoji="1" lang="ja-JP" altLang="en-US" sz="2000" b="1"/>
                <a:t>承諾なし</a:t>
              </a:r>
            </a:p>
          </p:txBody>
        </p:sp>
        <p:sp>
          <p:nvSpPr>
            <p:cNvPr id="127" name="テキスト ボックス 126">
              <a:extLst>
                <a:ext uri="{FF2B5EF4-FFF2-40B4-BE49-F238E27FC236}">
                  <a16:creationId xmlns:a16="http://schemas.microsoft.com/office/drawing/2014/main" id="{A9D9AEAC-7F29-EB4E-4ED9-269FAC322CAB}"/>
                </a:ext>
              </a:extLst>
            </p:cNvPr>
            <p:cNvSpPr txBox="1"/>
            <p:nvPr/>
          </p:nvSpPr>
          <p:spPr>
            <a:xfrm>
              <a:off x="3252038" y="6742928"/>
              <a:ext cx="1241016" cy="562437"/>
            </a:xfrm>
            <a:prstGeom prst="rect">
              <a:avLst/>
            </a:prstGeom>
            <a:noFill/>
          </p:spPr>
          <p:txBody>
            <a:bodyPr wrap="none" rtlCol="0">
              <a:spAutoFit/>
            </a:bodyPr>
            <a:lstStyle/>
            <a:p>
              <a:r>
                <a:rPr lang="en-US" altLang="ja-JP" sz="2800" b="1" dirty="0"/>
                <a:t>r</a:t>
              </a:r>
              <a:r>
                <a:rPr lang="en-US" altLang="ja-JP" sz="2800" b="1" baseline="-25000" dirty="0"/>
                <a:t>3</a:t>
              </a:r>
              <a:r>
                <a:rPr kumimoji="1" lang="en-US" altLang="ja-JP" sz="2800" b="1" dirty="0"/>
                <a:t>(s,</a:t>
              </a:r>
              <a:r>
                <a:rPr lang="en-US" altLang="ja-JP" sz="2800" b="1" dirty="0"/>
                <a:t> </a:t>
              </a:r>
              <a:r>
                <a:rPr kumimoji="1" lang="en-US" altLang="ja-JP" sz="2800" b="1" dirty="0"/>
                <a:t>a)</a:t>
              </a:r>
              <a:endParaRPr kumimoji="1" lang="ja-JP" altLang="en-US" sz="2800" b="1"/>
            </a:p>
          </p:txBody>
        </p:sp>
        <p:sp>
          <p:nvSpPr>
            <p:cNvPr id="128" name="テキスト ボックス 127">
              <a:extLst>
                <a:ext uri="{FF2B5EF4-FFF2-40B4-BE49-F238E27FC236}">
                  <a16:creationId xmlns:a16="http://schemas.microsoft.com/office/drawing/2014/main" id="{2CC8225E-AA95-CCA2-1902-BDE85E895FC0}"/>
                </a:ext>
              </a:extLst>
            </p:cNvPr>
            <p:cNvSpPr txBox="1"/>
            <p:nvPr/>
          </p:nvSpPr>
          <p:spPr>
            <a:xfrm>
              <a:off x="7842156" y="6392354"/>
              <a:ext cx="1285818" cy="562437"/>
            </a:xfrm>
            <a:prstGeom prst="rect">
              <a:avLst/>
            </a:prstGeom>
            <a:noFill/>
          </p:spPr>
          <p:txBody>
            <a:bodyPr wrap="none" rtlCol="0">
              <a:spAutoFit/>
            </a:bodyPr>
            <a:lstStyle/>
            <a:p>
              <a:r>
                <a:rPr lang="en-US" altLang="ja-JP" sz="2800" b="1" dirty="0"/>
                <a:t>y</a:t>
              </a:r>
              <a:r>
                <a:rPr lang="en-US" altLang="ja-JP" sz="2800" b="1" baseline="-25000" dirty="0"/>
                <a:t>3</a:t>
              </a:r>
              <a:r>
                <a:rPr kumimoji="1" lang="en-US" altLang="ja-JP" sz="2800" b="1" dirty="0"/>
                <a:t>(d,</a:t>
              </a:r>
              <a:r>
                <a:rPr lang="en-US" altLang="ja-JP" sz="2800" b="1" dirty="0"/>
                <a:t> r</a:t>
              </a:r>
              <a:r>
                <a:rPr kumimoji="1" lang="en-US" altLang="ja-JP" sz="2800" b="1" dirty="0"/>
                <a:t>)</a:t>
              </a:r>
              <a:endParaRPr kumimoji="1" lang="ja-JP" altLang="en-US" sz="2800" b="1"/>
            </a:p>
          </p:txBody>
        </p:sp>
        <p:sp>
          <p:nvSpPr>
            <p:cNvPr id="250" name="テキスト ボックス 249">
              <a:extLst>
                <a:ext uri="{FF2B5EF4-FFF2-40B4-BE49-F238E27FC236}">
                  <a16:creationId xmlns:a16="http://schemas.microsoft.com/office/drawing/2014/main" id="{391F5950-EF1D-1916-878D-4BC62AE6FE88}"/>
                </a:ext>
              </a:extLst>
            </p:cNvPr>
            <p:cNvSpPr txBox="1"/>
            <p:nvPr/>
          </p:nvSpPr>
          <p:spPr>
            <a:xfrm>
              <a:off x="10007219" y="5765079"/>
              <a:ext cx="365654" cy="496268"/>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grpSp>
          <p:nvGrpSpPr>
            <p:cNvPr id="165" name="グループ化 164">
              <a:extLst>
                <a:ext uri="{FF2B5EF4-FFF2-40B4-BE49-F238E27FC236}">
                  <a16:creationId xmlns:a16="http://schemas.microsoft.com/office/drawing/2014/main" id="{5BCBB403-1C59-6288-00C0-45D2F0E4987E}"/>
                </a:ext>
              </a:extLst>
            </p:cNvPr>
            <p:cNvGrpSpPr/>
            <p:nvPr/>
          </p:nvGrpSpPr>
          <p:grpSpPr>
            <a:xfrm>
              <a:off x="10436784" y="4613317"/>
              <a:ext cx="3924190" cy="723853"/>
              <a:chOff x="11033461" y="3840047"/>
              <a:chExt cx="2901969" cy="767762"/>
            </a:xfrm>
          </p:grpSpPr>
          <p:sp>
            <p:nvSpPr>
              <p:cNvPr id="164" name="角丸四角形 163">
                <a:extLst>
                  <a:ext uri="{FF2B5EF4-FFF2-40B4-BE49-F238E27FC236}">
                    <a16:creationId xmlns:a16="http://schemas.microsoft.com/office/drawing/2014/main" id="{E685A82F-9A16-2F2F-A0E2-E462749D6FB8}"/>
                  </a:ext>
                </a:extLst>
              </p:cNvPr>
              <p:cNvSpPr/>
              <p:nvPr/>
            </p:nvSpPr>
            <p:spPr>
              <a:xfrm>
                <a:off x="11589187" y="3840047"/>
                <a:ext cx="1838400" cy="767762"/>
              </a:xfrm>
              <a:prstGeom prst="roundRect">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sz="1400"/>
              </a:p>
            </p:txBody>
          </p:sp>
          <p:sp>
            <p:nvSpPr>
              <p:cNvPr id="163" name="テキスト ボックス 162">
                <a:extLst>
                  <a:ext uri="{FF2B5EF4-FFF2-40B4-BE49-F238E27FC236}">
                    <a16:creationId xmlns:a16="http://schemas.microsoft.com/office/drawing/2014/main" id="{34999452-2D3C-4641-2F18-FCC80E00331B}"/>
                  </a:ext>
                </a:extLst>
              </p:cNvPr>
              <p:cNvSpPr txBox="1"/>
              <p:nvPr/>
            </p:nvSpPr>
            <p:spPr>
              <a:xfrm>
                <a:off x="11033461" y="3891679"/>
                <a:ext cx="2901969" cy="666737"/>
              </a:xfrm>
              <a:prstGeom prst="rect">
                <a:avLst/>
              </a:prstGeom>
              <a:noFill/>
            </p:spPr>
            <p:txBody>
              <a:bodyPr wrap="square" rtlCol="0">
                <a:spAutoFit/>
              </a:bodyPr>
              <a:lstStyle/>
              <a:p>
                <a:pPr algn="ctr"/>
                <a:r>
                  <a:rPr kumimoji="1" lang="ja-JP" altLang="en-US" sz="1600">
                    <a:solidFill>
                      <a:schemeClr val="bg1"/>
                    </a:solidFill>
                  </a:rPr>
                  <a:t>リーク防止期間</a:t>
                </a:r>
                <a:endParaRPr kumimoji="1" lang="en-US" altLang="ja-JP" sz="1600" dirty="0">
                  <a:solidFill>
                    <a:schemeClr val="bg1"/>
                  </a:solidFill>
                </a:endParaRPr>
              </a:p>
              <a:p>
                <a:pPr algn="ctr"/>
                <a:r>
                  <a:rPr kumimoji="1" lang="ja-JP" altLang="en-US" sz="1600">
                    <a:solidFill>
                      <a:schemeClr val="bg1"/>
                    </a:solidFill>
                  </a:rPr>
                  <a:t>（ラベル判定のみ）</a:t>
                </a:r>
              </a:p>
            </p:txBody>
          </p:sp>
        </p:grpSp>
        <p:sp>
          <p:nvSpPr>
            <p:cNvPr id="9" name="円/楕円 8">
              <a:extLst>
                <a:ext uri="{FF2B5EF4-FFF2-40B4-BE49-F238E27FC236}">
                  <a16:creationId xmlns:a16="http://schemas.microsoft.com/office/drawing/2014/main" id="{EAB40BE5-386A-95D8-FFDC-FF25E33B039D}"/>
                </a:ext>
              </a:extLst>
            </p:cNvPr>
            <p:cNvSpPr/>
            <p:nvPr/>
          </p:nvSpPr>
          <p:spPr>
            <a:xfrm>
              <a:off x="13819851" y="5489996"/>
              <a:ext cx="221918" cy="22191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5" name="直線矢印コネクタ 14">
              <a:extLst>
                <a:ext uri="{FF2B5EF4-FFF2-40B4-BE49-F238E27FC236}">
                  <a16:creationId xmlns:a16="http://schemas.microsoft.com/office/drawing/2014/main" id="{62DC2FC5-1697-31C0-092B-A44F35681202}"/>
                </a:ext>
              </a:extLst>
            </p:cNvPr>
            <p:cNvCxnSpPr>
              <a:cxnSpLocks/>
            </p:cNvCxnSpPr>
            <p:nvPr/>
          </p:nvCxnSpPr>
          <p:spPr>
            <a:xfrm>
              <a:off x="4796775" y="5025375"/>
              <a:ext cx="260120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C98A8047-C88C-2354-6947-EBDFA503834B}"/>
                </a:ext>
              </a:extLst>
            </p:cNvPr>
            <p:cNvCxnSpPr>
              <a:cxnSpLocks/>
            </p:cNvCxnSpPr>
            <p:nvPr/>
          </p:nvCxnSpPr>
          <p:spPr>
            <a:xfrm>
              <a:off x="5584814" y="5444875"/>
              <a:ext cx="25657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87FB9561-04C0-E0F1-1F39-1BC27D34DD0B}"/>
                </a:ext>
              </a:extLst>
            </p:cNvPr>
            <p:cNvCxnSpPr>
              <a:cxnSpLocks/>
            </p:cNvCxnSpPr>
            <p:nvPr/>
          </p:nvCxnSpPr>
          <p:spPr>
            <a:xfrm>
              <a:off x="6172447" y="5812076"/>
              <a:ext cx="256094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03DD2B42-CD18-67A1-EE12-4F86C88B7649}"/>
                </a:ext>
              </a:extLst>
            </p:cNvPr>
            <p:cNvCxnSpPr>
              <a:cxnSpLocks/>
            </p:cNvCxnSpPr>
            <p:nvPr/>
          </p:nvCxnSpPr>
          <p:spPr>
            <a:xfrm>
              <a:off x="11851912" y="5933338"/>
              <a:ext cx="20618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72E050BA-FF9B-6B80-EF17-DC6EFC370679}"/>
                </a:ext>
              </a:extLst>
            </p:cNvPr>
            <p:cNvCxnSpPr>
              <a:cxnSpLocks/>
            </p:cNvCxnSpPr>
            <p:nvPr/>
          </p:nvCxnSpPr>
          <p:spPr>
            <a:xfrm>
              <a:off x="16370420" y="5098026"/>
              <a:ext cx="2061823" cy="0"/>
            </a:xfrm>
            <a:prstGeom prst="straightConnector1">
              <a:avLst/>
            </a:prstGeom>
            <a:ln w="571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B165C45F-3554-F9CA-F0D2-C918F4317C5E}"/>
                </a:ext>
              </a:extLst>
            </p:cNvPr>
            <p:cNvCxnSpPr>
              <a:cxnSpLocks/>
            </p:cNvCxnSpPr>
            <p:nvPr/>
          </p:nvCxnSpPr>
          <p:spPr>
            <a:xfrm>
              <a:off x="16411556"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17670F67-9F76-DF29-D717-54BFD8CB1BB4}"/>
                </a:ext>
              </a:extLst>
            </p:cNvPr>
            <p:cNvCxnSpPr>
              <a:cxnSpLocks/>
            </p:cNvCxnSpPr>
            <p:nvPr/>
          </p:nvCxnSpPr>
          <p:spPr>
            <a:xfrm>
              <a:off x="18473380"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0A56BD48-ED99-B020-57A0-1132A9486F78}"/>
                </a:ext>
              </a:extLst>
            </p:cNvPr>
            <p:cNvSpPr txBox="1"/>
            <p:nvPr/>
          </p:nvSpPr>
          <p:spPr>
            <a:xfrm>
              <a:off x="17133710" y="503744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55" name="テキスト ボックス 54">
              <a:extLst>
                <a:ext uri="{FF2B5EF4-FFF2-40B4-BE49-F238E27FC236}">
                  <a16:creationId xmlns:a16="http://schemas.microsoft.com/office/drawing/2014/main" id="{848C5169-979F-F3F1-FFAE-1D54A1DBF31E}"/>
                </a:ext>
              </a:extLst>
            </p:cNvPr>
            <p:cNvSpPr txBox="1"/>
            <p:nvPr/>
          </p:nvSpPr>
          <p:spPr>
            <a:xfrm>
              <a:off x="3903317" y="3853073"/>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sp>
          <p:nvSpPr>
            <p:cNvPr id="125" name="テキスト ボックス 124">
              <a:extLst>
                <a:ext uri="{FF2B5EF4-FFF2-40B4-BE49-F238E27FC236}">
                  <a16:creationId xmlns:a16="http://schemas.microsoft.com/office/drawing/2014/main" id="{D3A1A859-CF34-C302-CD5C-2389A5CB522D}"/>
                </a:ext>
              </a:extLst>
            </p:cNvPr>
            <p:cNvSpPr txBox="1"/>
            <p:nvPr/>
          </p:nvSpPr>
          <p:spPr>
            <a:xfrm>
              <a:off x="2767679" y="3514129"/>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cxnSp>
          <p:nvCxnSpPr>
            <p:cNvPr id="57" name="直線コネクタ 56">
              <a:extLst>
                <a:ext uri="{FF2B5EF4-FFF2-40B4-BE49-F238E27FC236}">
                  <a16:creationId xmlns:a16="http://schemas.microsoft.com/office/drawing/2014/main" id="{1E2DFD7D-79D0-18FE-BEB1-60AFB8169B66}"/>
                </a:ext>
              </a:extLst>
            </p:cNvPr>
            <p:cNvCxnSpPr>
              <a:cxnSpLocks/>
            </p:cNvCxnSpPr>
            <p:nvPr/>
          </p:nvCxnSpPr>
          <p:spPr>
            <a:xfrm>
              <a:off x="17394858" y="4567898"/>
              <a:ext cx="0" cy="51318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8612748E-BBC4-F7D6-F4E7-6F7A9DB55C2D}"/>
                </a:ext>
              </a:extLst>
            </p:cNvPr>
            <p:cNvCxnSpPr>
              <a:cxnSpLocks/>
            </p:cNvCxnSpPr>
            <p:nvPr/>
          </p:nvCxnSpPr>
          <p:spPr>
            <a:xfrm flipH="1">
              <a:off x="13954577" y="4567898"/>
              <a:ext cx="477555" cy="982725"/>
            </a:xfrm>
            <a:prstGeom prst="line">
              <a:avLst/>
            </a:prstGeom>
            <a:ln w="38100">
              <a:solidFill>
                <a:srgbClr val="14608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82" name="テキスト ボックス 81">
              <a:extLst>
                <a:ext uri="{FF2B5EF4-FFF2-40B4-BE49-F238E27FC236}">
                  <a16:creationId xmlns:a16="http://schemas.microsoft.com/office/drawing/2014/main" id="{82EC2714-DC70-42E4-0AF0-B00EB36FEEAE}"/>
                </a:ext>
              </a:extLst>
            </p:cNvPr>
            <p:cNvSpPr txBox="1"/>
            <p:nvPr/>
          </p:nvSpPr>
          <p:spPr>
            <a:xfrm>
              <a:off x="10922106" y="6590030"/>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grpSp>
      <p:sp>
        <p:nvSpPr>
          <p:cNvPr id="51" name="円/楕円 50">
            <a:extLst>
              <a:ext uri="{FF2B5EF4-FFF2-40B4-BE49-F238E27FC236}">
                <a16:creationId xmlns:a16="http://schemas.microsoft.com/office/drawing/2014/main" id="{DA3BAD27-79A5-78AA-D288-D53C05346554}"/>
              </a:ext>
            </a:extLst>
          </p:cNvPr>
          <p:cNvSpPr/>
          <p:nvPr/>
        </p:nvSpPr>
        <p:spPr>
          <a:xfrm>
            <a:off x="15556682" y="4369142"/>
            <a:ext cx="402175" cy="40217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accent6">
                    <a:lumMod val="75000"/>
                  </a:schemeClr>
                </a:solidFill>
              </a:rPr>
              <a:t>？</a:t>
            </a:r>
          </a:p>
        </p:txBody>
      </p:sp>
      <p:sp>
        <p:nvSpPr>
          <p:cNvPr id="54" name="テキスト ボックス 53">
            <a:extLst>
              <a:ext uri="{FF2B5EF4-FFF2-40B4-BE49-F238E27FC236}">
                <a16:creationId xmlns:a16="http://schemas.microsoft.com/office/drawing/2014/main" id="{F5E2605D-F60A-7A02-62C3-99EA63783886}"/>
              </a:ext>
            </a:extLst>
          </p:cNvPr>
          <p:cNvSpPr txBox="1"/>
          <p:nvPr/>
        </p:nvSpPr>
        <p:spPr>
          <a:xfrm>
            <a:off x="909420" y="2067578"/>
            <a:ext cx="5430634" cy="461665"/>
          </a:xfrm>
          <a:prstGeom prst="rect">
            <a:avLst/>
          </a:prstGeom>
          <a:noFill/>
        </p:spPr>
        <p:txBody>
          <a:bodyPr wrap="square">
            <a:spAutoFit/>
          </a:bodyPr>
          <a:lstStyle/>
          <a:p>
            <a:pPr algn="l"/>
            <a:r>
              <a:rPr lang="en-US" altLang="ja-JP" sz="2400" dirty="0">
                <a:solidFill>
                  <a:schemeClr val="tx1">
                    <a:lumMod val="75000"/>
                    <a:lumOff val="25000"/>
                  </a:schemeClr>
                </a:solidFill>
              </a:rPr>
              <a:t>4-6m</a:t>
            </a:r>
            <a:r>
              <a:rPr lang="ja-JP" altLang="en-US" sz="2400">
                <a:solidFill>
                  <a:schemeClr val="tx1">
                    <a:lumMod val="75000"/>
                    <a:lumOff val="25000"/>
                  </a:schemeClr>
                </a:solidFill>
              </a:rPr>
              <a:t>後にレビュー承諾があるか否か？</a:t>
            </a:r>
            <a:endParaRPr lang="en-US" altLang="ja-JP" sz="2400" dirty="0">
              <a:solidFill>
                <a:schemeClr val="tx1">
                  <a:lumMod val="75000"/>
                  <a:lumOff val="25000"/>
                </a:schemeClr>
              </a:solidFill>
            </a:endParaRPr>
          </a:p>
        </p:txBody>
      </p:sp>
      <p:cxnSp>
        <p:nvCxnSpPr>
          <p:cNvPr id="80" name="直線コネクタ 79">
            <a:extLst>
              <a:ext uri="{FF2B5EF4-FFF2-40B4-BE49-F238E27FC236}">
                <a16:creationId xmlns:a16="http://schemas.microsoft.com/office/drawing/2014/main" id="{DE5561BE-DAAA-45BE-474C-4A9B2871ADDD}"/>
              </a:ext>
            </a:extLst>
          </p:cNvPr>
          <p:cNvCxnSpPr>
            <a:cxnSpLocks/>
          </p:cNvCxnSpPr>
          <p:nvPr/>
        </p:nvCxnSpPr>
        <p:spPr>
          <a:xfrm>
            <a:off x="12996863" y="3581220"/>
            <a:ext cx="279082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sp>
        <p:nvSpPr>
          <p:cNvPr id="46" name="テキスト ボックス 45">
            <a:extLst>
              <a:ext uri="{FF2B5EF4-FFF2-40B4-BE49-F238E27FC236}">
                <a16:creationId xmlns:a16="http://schemas.microsoft.com/office/drawing/2014/main" id="{B978A581-685D-802E-F638-2B65C407E338}"/>
              </a:ext>
            </a:extLst>
          </p:cNvPr>
          <p:cNvSpPr txBox="1"/>
          <p:nvPr/>
        </p:nvSpPr>
        <p:spPr>
          <a:xfrm>
            <a:off x="14212469" y="3384198"/>
            <a:ext cx="763622" cy="400110"/>
          </a:xfrm>
          <a:prstGeom prst="rect">
            <a:avLst/>
          </a:prstGeom>
          <a:solidFill>
            <a:schemeClr val="bg1"/>
          </a:solidFill>
          <a:ln w="28575">
            <a:solidFill>
              <a:srgbClr val="146082"/>
            </a:solidFill>
          </a:ln>
        </p:spPr>
        <p:txBody>
          <a:bodyPr wrap="square" rtlCol="0">
            <a:spAutoFit/>
          </a:bodyPr>
          <a:lstStyle/>
          <a:p>
            <a:r>
              <a:rPr kumimoji="1" lang="ja-JP" altLang="en-US" sz="2000" b="1"/>
              <a:t>予測</a:t>
            </a:r>
          </a:p>
        </p:txBody>
      </p:sp>
      <p:sp>
        <p:nvSpPr>
          <p:cNvPr id="93" name="テキスト ボックス 92">
            <a:extLst>
              <a:ext uri="{FF2B5EF4-FFF2-40B4-BE49-F238E27FC236}">
                <a16:creationId xmlns:a16="http://schemas.microsoft.com/office/drawing/2014/main" id="{253F2F56-A7E9-5A48-0904-C923D819259E}"/>
              </a:ext>
            </a:extLst>
          </p:cNvPr>
          <p:cNvSpPr txBox="1"/>
          <p:nvPr/>
        </p:nvSpPr>
        <p:spPr>
          <a:xfrm>
            <a:off x="12611304" y="2875518"/>
            <a:ext cx="5430634" cy="400110"/>
          </a:xfrm>
          <a:prstGeom prst="rect">
            <a:avLst/>
          </a:prstGeom>
          <a:noFill/>
        </p:spPr>
        <p:txBody>
          <a:bodyPr wrap="square">
            <a:spAutoFit/>
          </a:bodyPr>
          <a:lstStyle/>
          <a:p>
            <a:pPr algn="l"/>
            <a:r>
              <a:rPr lang="en-US" altLang="ja-JP" sz="2000" dirty="0">
                <a:solidFill>
                  <a:schemeClr val="tx1">
                    <a:lumMod val="75000"/>
                    <a:lumOff val="25000"/>
                  </a:schemeClr>
                </a:solidFill>
              </a:rPr>
              <a:t>4-6m</a:t>
            </a:r>
            <a:r>
              <a:rPr lang="ja-JP" altLang="en-US" sz="2000">
                <a:solidFill>
                  <a:schemeClr val="tx1">
                    <a:lumMod val="75000"/>
                    <a:lumOff val="25000"/>
                  </a:schemeClr>
                </a:solidFill>
              </a:rPr>
              <a:t>後にレビュー承諾があるか否か？</a:t>
            </a:r>
            <a:endParaRPr lang="en-US" altLang="ja-JP" sz="2000" dirty="0">
              <a:solidFill>
                <a:schemeClr val="tx1">
                  <a:lumMod val="75000"/>
                  <a:lumOff val="25000"/>
                </a:schemeClr>
              </a:solidFill>
            </a:endParaRPr>
          </a:p>
        </p:txBody>
      </p:sp>
      <p:sp>
        <p:nvSpPr>
          <p:cNvPr id="95" name="正方形/長方形 94">
            <a:extLst>
              <a:ext uri="{FF2B5EF4-FFF2-40B4-BE49-F238E27FC236}">
                <a16:creationId xmlns:a16="http://schemas.microsoft.com/office/drawing/2014/main" id="{B690BCAC-7CDC-2154-3088-9375625359FB}"/>
              </a:ext>
            </a:extLst>
          </p:cNvPr>
          <p:cNvSpPr/>
          <p:nvPr/>
        </p:nvSpPr>
        <p:spPr>
          <a:xfrm>
            <a:off x="9001125" y="6403012"/>
            <a:ext cx="7458075" cy="2926726"/>
          </a:xfrm>
          <a:prstGeom prst="rect">
            <a:avLst/>
          </a:prstGeom>
          <a:solidFill>
            <a:srgbClr val="FFFFFF">
              <a:alpha val="8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036FC0F3-7306-8317-4497-120FDCF84716}"/>
              </a:ext>
            </a:extLst>
          </p:cNvPr>
          <p:cNvSpPr/>
          <p:nvPr/>
        </p:nvSpPr>
        <p:spPr>
          <a:xfrm>
            <a:off x="572578" y="7684435"/>
            <a:ext cx="8257096" cy="1645303"/>
          </a:xfrm>
          <a:prstGeom prst="rect">
            <a:avLst/>
          </a:prstGeom>
          <a:solidFill>
            <a:srgbClr val="FFFFFF">
              <a:alpha val="8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50350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80E95-4232-7406-6F54-8D5B420AA0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BF7C1E-D482-BA53-A2E3-8323DD795A66}"/>
              </a:ext>
            </a:extLst>
          </p:cNvPr>
          <p:cNvSpPr>
            <a:spLocks noGrp="1"/>
          </p:cNvSpPr>
          <p:nvPr>
            <p:ph type="title"/>
          </p:nvPr>
        </p:nvSpPr>
        <p:spPr/>
        <p:txBody>
          <a:bodyPr/>
          <a:lstStyle/>
          <a:p>
            <a:r>
              <a:rPr kumimoji="1" lang="ja-JP" altLang="en-US" sz="3200"/>
              <a:t>アプローチ</a:t>
            </a:r>
            <a:br>
              <a:rPr kumimoji="1" lang="en-US" altLang="ja-JP" sz="3200" dirty="0"/>
            </a:br>
            <a:r>
              <a:rPr kumimoji="1" lang="ja-JP" altLang="en-US" sz="3600"/>
              <a:t>学習方法・予測について（</a:t>
            </a:r>
            <a:r>
              <a:rPr kumimoji="1" lang="en-US" altLang="ja-JP" sz="3600" dirty="0"/>
              <a:t>4-6m</a:t>
            </a:r>
            <a:r>
              <a:rPr kumimoji="1" lang="ja-JP" altLang="en-US" sz="3600"/>
              <a:t>の例）</a:t>
            </a:r>
            <a:endParaRPr kumimoji="1" lang="ja-JP" altLang="en-US"/>
          </a:p>
        </p:txBody>
      </p:sp>
      <p:sp>
        <p:nvSpPr>
          <p:cNvPr id="3" name="スライド番号プレースホルダー 2">
            <a:extLst>
              <a:ext uri="{FF2B5EF4-FFF2-40B4-BE49-F238E27FC236}">
                <a16:creationId xmlns:a16="http://schemas.microsoft.com/office/drawing/2014/main" id="{E3634DC9-2E59-E4B0-50AC-26A3CEB7FC2E}"/>
              </a:ext>
            </a:extLst>
          </p:cNvPr>
          <p:cNvSpPr>
            <a:spLocks noGrp="1"/>
          </p:cNvSpPr>
          <p:nvPr>
            <p:ph type="sldNum" sz="quarter" idx="12"/>
          </p:nvPr>
        </p:nvSpPr>
        <p:spPr/>
        <p:txBody>
          <a:bodyPr/>
          <a:lstStyle/>
          <a:p>
            <a:fld id="{85D74467-FFC2-5C49-A08A-98A9FE9BCA53}" type="slidenum">
              <a:rPr kumimoji="1" lang="ja-JP" altLang="en-US" smtClean="0"/>
              <a:pPr/>
              <a:t>13</a:t>
            </a:fld>
            <a:endParaRPr kumimoji="1" lang="ja-JP" altLang="en-US"/>
          </a:p>
        </p:txBody>
      </p:sp>
      <p:grpSp>
        <p:nvGrpSpPr>
          <p:cNvPr id="4" name="グループ化 3">
            <a:extLst>
              <a:ext uri="{FF2B5EF4-FFF2-40B4-BE49-F238E27FC236}">
                <a16:creationId xmlns:a16="http://schemas.microsoft.com/office/drawing/2014/main" id="{4C7D61D3-D0D1-EF7B-6C08-D0DC15D71A3A}"/>
              </a:ext>
            </a:extLst>
          </p:cNvPr>
          <p:cNvGrpSpPr/>
          <p:nvPr/>
        </p:nvGrpSpPr>
        <p:grpSpPr>
          <a:xfrm>
            <a:off x="12172355" y="1"/>
            <a:ext cx="5201355" cy="1872000"/>
            <a:chOff x="206119" y="1946628"/>
            <a:chExt cx="9920282" cy="3570371"/>
          </a:xfrm>
        </p:grpSpPr>
        <p:pic>
          <p:nvPicPr>
            <p:cNvPr id="8" name="図 7">
              <a:extLst>
                <a:ext uri="{FF2B5EF4-FFF2-40B4-BE49-F238E27FC236}">
                  <a16:creationId xmlns:a16="http://schemas.microsoft.com/office/drawing/2014/main" id="{048AE580-4DFF-B4A4-3652-8F01F027C3D9}"/>
                </a:ext>
              </a:extLst>
            </p:cNvPr>
            <p:cNvPicPr>
              <a:picLocks noChangeAspect="1"/>
            </p:cNvPicPr>
            <p:nvPr/>
          </p:nvPicPr>
          <p:blipFill>
            <a:blip r:embed="rId3"/>
            <a:stretch>
              <a:fillRect/>
            </a:stretch>
          </p:blipFill>
          <p:spPr>
            <a:xfrm>
              <a:off x="206119" y="1946628"/>
              <a:ext cx="9920282" cy="3570371"/>
            </a:xfrm>
            <a:prstGeom prst="rect">
              <a:avLst/>
            </a:prstGeom>
          </p:spPr>
        </p:pic>
        <p:sp>
          <p:nvSpPr>
            <p:cNvPr id="13" name="角丸四角形 12">
              <a:extLst>
                <a:ext uri="{FF2B5EF4-FFF2-40B4-BE49-F238E27FC236}">
                  <a16:creationId xmlns:a16="http://schemas.microsoft.com/office/drawing/2014/main" id="{57A90EB0-E122-E808-4309-712D41F0BBF2}"/>
                </a:ext>
              </a:extLst>
            </p:cNvPr>
            <p:cNvSpPr/>
            <p:nvPr/>
          </p:nvSpPr>
          <p:spPr>
            <a:xfrm>
              <a:off x="2244253" y="3439236"/>
              <a:ext cx="4462818" cy="655092"/>
            </a:xfrm>
            <a:prstGeom prst="round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1" name="グループ化 190">
            <a:extLst>
              <a:ext uri="{FF2B5EF4-FFF2-40B4-BE49-F238E27FC236}">
                <a16:creationId xmlns:a16="http://schemas.microsoft.com/office/drawing/2014/main" id="{047DB062-3C04-7070-615F-67899E06D5FA}"/>
              </a:ext>
            </a:extLst>
          </p:cNvPr>
          <p:cNvGrpSpPr/>
          <p:nvPr/>
        </p:nvGrpSpPr>
        <p:grpSpPr>
          <a:xfrm>
            <a:off x="9511771" y="6787546"/>
            <a:ext cx="7655768" cy="2476819"/>
            <a:chOff x="434353" y="4059026"/>
            <a:chExt cx="4411967" cy="1427374"/>
          </a:xfrm>
        </p:grpSpPr>
        <p:sp>
          <p:nvSpPr>
            <p:cNvPr id="181" name="Text 4">
              <a:extLst>
                <a:ext uri="{FF2B5EF4-FFF2-40B4-BE49-F238E27FC236}">
                  <a16:creationId xmlns:a16="http://schemas.microsoft.com/office/drawing/2014/main" id="{4CB5CF2D-6F42-5890-E8DC-C12778E691C0}"/>
                </a:ext>
              </a:extLst>
            </p:cNvPr>
            <p:cNvSpPr/>
            <p:nvPr/>
          </p:nvSpPr>
          <p:spPr>
            <a:xfrm>
              <a:off x="434353" y="4059026"/>
              <a:ext cx="3977640" cy="292608"/>
            </a:xfrm>
            <a:prstGeom prst="rect">
              <a:avLst/>
            </a:prstGeom>
            <a:noFill/>
            <a:ln/>
          </p:spPr>
          <p:txBody>
            <a:bodyPr wrap="square" lIns="0" tIns="0" rIns="0" bIns="0" rtlCol="0" anchor="ctr"/>
            <a:lstStyle/>
            <a:p>
              <a:pPr marL="0" indent="0" algn="l">
                <a:buNone/>
              </a:pPr>
              <a:r>
                <a:rPr lang="en-US" sz="2400" b="1" dirty="0" err="1">
                  <a:solidFill>
                    <a:srgbClr val="262626"/>
                  </a:solidFill>
                  <a:latin typeface="+mj-ea"/>
                  <a:ea typeface="+mj-ea"/>
                  <a:cs typeface="Meiryo" pitchFamily="34" charset="-120"/>
                </a:rPr>
                <a:t>ラベルy</a:t>
              </a:r>
              <a:r>
                <a:rPr lang="en-US" sz="2400" b="1" dirty="0">
                  <a:solidFill>
                    <a:srgbClr val="262626"/>
                  </a:solidFill>
                  <a:latin typeface="+mj-ea"/>
                  <a:ea typeface="+mj-ea"/>
                  <a:cs typeface="Meiryo" pitchFamily="34" charset="-120"/>
                </a:rPr>
                <a:t>ₜ(d, r)：</a:t>
              </a:r>
              <a:r>
                <a:rPr lang="en-US" sz="2400" b="1" dirty="0" err="1">
                  <a:solidFill>
                    <a:srgbClr val="262626"/>
                  </a:solidFill>
                  <a:latin typeface="+mj-ea"/>
                  <a:ea typeface="+mj-ea"/>
                  <a:cs typeface="Meiryo" pitchFamily="34" charset="-120"/>
                </a:rPr>
                <a:t>各月τₜにWₕ内の貢献で付与</a:t>
              </a:r>
              <a:endParaRPr lang="en-US" sz="2400" dirty="0">
                <a:latin typeface="+mj-ea"/>
                <a:ea typeface="+mj-ea"/>
              </a:endParaRPr>
            </a:p>
          </p:txBody>
        </p:sp>
        <p:sp>
          <p:nvSpPr>
            <p:cNvPr id="182" name="Shape 5">
              <a:extLst>
                <a:ext uri="{FF2B5EF4-FFF2-40B4-BE49-F238E27FC236}">
                  <a16:creationId xmlns:a16="http://schemas.microsoft.com/office/drawing/2014/main" id="{2D61996F-0BB2-8E98-3094-79A50AB341FE}"/>
                </a:ext>
              </a:extLst>
            </p:cNvPr>
            <p:cNvSpPr/>
            <p:nvPr/>
          </p:nvSpPr>
          <p:spPr>
            <a:xfrm>
              <a:off x="566928" y="4425696"/>
              <a:ext cx="420624" cy="292608"/>
            </a:xfrm>
            <a:prstGeom prst="rect">
              <a:avLst/>
            </a:prstGeom>
            <a:solidFill>
              <a:srgbClr val="1F5C45"/>
            </a:solidFill>
            <a:ln/>
          </p:spPr>
          <p:txBody>
            <a:bodyPr/>
            <a:lstStyle/>
            <a:p>
              <a:endParaRPr lang="ja-JP" altLang="en-US" sz="4000">
                <a:latin typeface="+mj-ea"/>
                <a:ea typeface="+mj-ea"/>
              </a:endParaRPr>
            </a:p>
          </p:txBody>
        </p:sp>
        <p:sp>
          <p:nvSpPr>
            <p:cNvPr id="183" name="Text 6">
              <a:extLst>
                <a:ext uri="{FF2B5EF4-FFF2-40B4-BE49-F238E27FC236}">
                  <a16:creationId xmlns:a16="http://schemas.microsoft.com/office/drawing/2014/main" id="{D05B5F95-CDA1-451F-3875-A38596113BD8}"/>
                </a:ext>
              </a:extLst>
            </p:cNvPr>
            <p:cNvSpPr/>
            <p:nvPr/>
          </p:nvSpPr>
          <p:spPr>
            <a:xfrm>
              <a:off x="566928" y="4425696"/>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+1</a:t>
              </a:r>
              <a:endParaRPr lang="en-US" sz="2400" dirty="0">
                <a:latin typeface="+mj-ea"/>
                <a:ea typeface="+mj-ea"/>
              </a:endParaRPr>
            </a:p>
          </p:txBody>
        </p:sp>
        <p:sp>
          <p:nvSpPr>
            <p:cNvPr id="184" name="Text 7">
              <a:extLst>
                <a:ext uri="{FF2B5EF4-FFF2-40B4-BE49-F238E27FC236}">
                  <a16:creationId xmlns:a16="http://schemas.microsoft.com/office/drawing/2014/main" id="{6EA30C09-0C14-B9E0-87E5-12B5C387920F}"/>
                </a:ext>
              </a:extLst>
            </p:cNvPr>
            <p:cNvSpPr/>
            <p:nvPr/>
          </p:nvSpPr>
          <p:spPr>
            <a:xfrm>
              <a:off x="1097280" y="4425696"/>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依頼あり，貢献あり</a:t>
              </a:r>
              <a:r>
                <a:rPr lang="en-US" sz="2000" dirty="0">
                  <a:solidFill>
                    <a:srgbClr val="262626"/>
                  </a:solidFill>
                  <a:latin typeface="+mj-ea"/>
                  <a:ea typeface="+mj-ea"/>
                  <a:cs typeface="Meiryo" pitchFamily="34" charset="-120"/>
                </a:rPr>
                <a:t> ＝ 正例（重み 1.0）</a:t>
              </a:r>
              <a:endParaRPr lang="en-US" sz="2000" dirty="0">
                <a:latin typeface="+mj-ea"/>
                <a:ea typeface="+mj-ea"/>
              </a:endParaRPr>
            </a:p>
          </p:txBody>
        </p:sp>
        <p:sp>
          <p:nvSpPr>
            <p:cNvPr id="185" name="Shape 8">
              <a:extLst>
                <a:ext uri="{FF2B5EF4-FFF2-40B4-BE49-F238E27FC236}">
                  <a16:creationId xmlns:a16="http://schemas.microsoft.com/office/drawing/2014/main" id="{716C45CF-D19F-FB82-772F-7D57BB5930E5}"/>
                </a:ext>
              </a:extLst>
            </p:cNvPr>
            <p:cNvSpPr/>
            <p:nvPr/>
          </p:nvSpPr>
          <p:spPr>
            <a:xfrm>
              <a:off x="566928" y="4809744"/>
              <a:ext cx="420624" cy="292608"/>
            </a:xfrm>
            <a:prstGeom prst="rect">
              <a:avLst/>
            </a:prstGeom>
            <a:solidFill>
              <a:srgbClr val="575860"/>
            </a:solidFill>
            <a:ln/>
          </p:spPr>
          <p:txBody>
            <a:bodyPr/>
            <a:lstStyle/>
            <a:p>
              <a:endParaRPr lang="ja-JP" altLang="en-US" sz="4000">
                <a:latin typeface="+mj-ea"/>
                <a:ea typeface="+mj-ea"/>
              </a:endParaRPr>
            </a:p>
          </p:txBody>
        </p:sp>
        <p:sp>
          <p:nvSpPr>
            <p:cNvPr id="186" name="Text 9">
              <a:extLst>
                <a:ext uri="{FF2B5EF4-FFF2-40B4-BE49-F238E27FC236}">
                  <a16:creationId xmlns:a16="http://schemas.microsoft.com/office/drawing/2014/main" id="{30A46B81-5C93-2125-AD89-CD0F2D7573E9}"/>
                </a:ext>
              </a:extLst>
            </p:cNvPr>
            <p:cNvSpPr/>
            <p:nvPr/>
          </p:nvSpPr>
          <p:spPr>
            <a:xfrm>
              <a:off x="566928" y="4809744"/>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87" name="Text 10">
              <a:extLst>
                <a:ext uri="{FF2B5EF4-FFF2-40B4-BE49-F238E27FC236}">
                  <a16:creationId xmlns:a16="http://schemas.microsoft.com/office/drawing/2014/main" id="{4E5B5999-1E82-B46B-B464-47A81C269E8C}"/>
                </a:ext>
              </a:extLst>
            </p:cNvPr>
            <p:cNvSpPr/>
            <p:nvPr/>
          </p:nvSpPr>
          <p:spPr>
            <a:xfrm>
              <a:off x="1097280" y="4809744"/>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a:t>
              </a:r>
              <a:r>
                <a:rPr lang="en-US" sz="2000" dirty="0">
                  <a:solidFill>
                    <a:srgbClr val="262626"/>
                  </a:solidFill>
                  <a:latin typeface="+mj-ea"/>
                  <a:ea typeface="+mj-ea"/>
                  <a:cs typeface="Meiryo" pitchFamily="34" charset="-120"/>
                </a:rPr>
                <a:t> ，</a:t>
              </a:r>
              <a:r>
                <a:rPr lang="en-US" sz="2000" dirty="0" err="1">
                  <a:solidFill>
                    <a:srgbClr val="262626"/>
                  </a:solidFill>
                  <a:latin typeface="+mj-ea"/>
                  <a:ea typeface="+mj-ea"/>
                  <a:cs typeface="Meiryo" pitchFamily="34" charset="-120"/>
                </a:rPr>
                <a:t>貢献なし</a:t>
              </a:r>
              <a:r>
                <a:rPr lang="en-US" sz="2000" dirty="0">
                  <a:solidFill>
                    <a:srgbClr val="262626"/>
                  </a:solidFill>
                  <a:latin typeface="+mj-ea"/>
                  <a:ea typeface="+mj-ea"/>
                  <a:cs typeface="Meiryo" pitchFamily="34" charset="-120"/>
                </a:rPr>
                <a:t> ＝ 強い負例（重み 1.0）</a:t>
              </a:r>
              <a:endParaRPr lang="en-US" sz="2000" dirty="0">
                <a:latin typeface="+mj-ea"/>
                <a:ea typeface="+mj-ea"/>
              </a:endParaRPr>
            </a:p>
          </p:txBody>
        </p:sp>
        <p:sp>
          <p:nvSpPr>
            <p:cNvPr id="188" name="Shape 11">
              <a:extLst>
                <a:ext uri="{FF2B5EF4-FFF2-40B4-BE49-F238E27FC236}">
                  <a16:creationId xmlns:a16="http://schemas.microsoft.com/office/drawing/2014/main" id="{387DABE3-F938-7EA0-4BC8-72827A87B81C}"/>
                </a:ext>
              </a:extLst>
            </p:cNvPr>
            <p:cNvSpPr/>
            <p:nvPr/>
          </p:nvSpPr>
          <p:spPr>
            <a:xfrm>
              <a:off x="566928" y="5193792"/>
              <a:ext cx="420624" cy="292608"/>
            </a:xfrm>
            <a:prstGeom prst="rect">
              <a:avLst/>
            </a:prstGeom>
            <a:solidFill>
              <a:srgbClr val="C00000"/>
            </a:solidFill>
            <a:ln/>
          </p:spPr>
          <p:txBody>
            <a:bodyPr/>
            <a:lstStyle/>
            <a:p>
              <a:endParaRPr lang="ja-JP" altLang="en-US" sz="4000">
                <a:latin typeface="+mj-ea"/>
                <a:ea typeface="+mj-ea"/>
              </a:endParaRPr>
            </a:p>
          </p:txBody>
        </p:sp>
        <p:sp>
          <p:nvSpPr>
            <p:cNvPr id="189" name="Text 12">
              <a:extLst>
                <a:ext uri="{FF2B5EF4-FFF2-40B4-BE49-F238E27FC236}">
                  <a16:creationId xmlns:a16="http://schemas.microsoft.com/office/drawing/2014/main" id="{AB0B8BD5-248C-5754-50AC-629CCEF4351C}"/>
                </a:ext>
              </a:extLst>
            </p:cNvPr>
            <p:cNvSpPr/>
            <p:nvPr/>
          </p:nvSpPr>
          <p:spPr>
            <a:xfrm>
              <a:off x="566928" y="5193792"/>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90" name="Text 13">
              <a:extLst>
                <a:ext uri="{FF2B5EF4-FFF2-40B4-BE49-F238E27FC236}">
                  <a16:creationId xmlns:a16="http://schemas.microsoft.com/office/drawing/2014/main" id="{20228D8D-3FE0-F738-21BE-A7489416D443}"/>
                </a:ext>
              </a:extLst>
            </p:cNvPr>
            <p:cNvSpPr/>
            <p:nvPr/>
          </p:nvSpPr>
          <p:spPr>
            <a:xfrm>
              <a:off x="1097280" y="5193792"/>
              <a:ext cx="3749040" cy="292608"/>
            </a:xfrm>
            <a:prstGeom prst="rect">
              <a:avLst/>
            </a:prstGeom>
            <a:noFill/>
            <a:ln/>
          </p:spPr>
          <p:txBody>
            <a:bodyPr wrap="square" lIns="0" tIns="0" rIns="0" bIns="0" rtlCol="0" anchor="ctr"/>
            <a:lstStyle/>
            <a:p>
              <a:pPr marL="0" indent="0" algn="l">
                <a:buNone/>
              </a:pPr>
              <a:r>
                <a:rPr lang="en-US" sz="2000" dirty="0">
                  <a:solidFill>
                    <a:srgbClr val="262626"/>
                  </a:solidFill>
                  <a:latin typeface="+mj-ea"/>
                  <a:ea typeface="+mj-ea"/>
                  <a:cs typeface="Meiryo" pitchFamily="34" charset="-120"/>
                </a:rPr>
                <a:t>依頼なし ＝ 弱負例（重み 0.5）</a:t>
              </a:r>
              <a:endParaRPr lang="en-US" sz="2000" dirty="0">
                <a:latin typeface="+mj-ea"/>
                <a:ea typeface="+mj-ea"/>
              </a:endParaRPr>
            </a:p>
          </p:txBody>
        </p:sp>
      </p:grpSp>
      <p:sp>
        <p:nvSpPr>
          <p:cNvPr id="254" name="テキスト ボックス 253">
            <a:extLst>
              <a:ext uri="{FF2B5EF4-FFF2-40B4-BE49-F238E27FC236}">
                <a16:creationId xmlns:a16="http://schemas.microsoft.com/office/drawing/2014/main" id="{EF0CC0FC-7F87-E3C5-02AB-3D6865A039E6}"/>
              </a:ext>
            </a:extLst>
          </p:cNvPr>
          <p:cNvSpPr txBox="1"/>
          <p:nvPr/>
        </p:nvSpPr>
        <p:spPr>
          <a:xfrm>
            <a:off x="572578" y="6403012"/>
            <a:ext cx="13396514" cy="3046988"/>
          </a:xfrm>
          <a:prstGeom prst="rect">
            <a:avLst/>
          </a:prstGeom>
          <a:noFill/>
        </p:spPr>
        <p:txBody>
          <a:bodyPr wrap="square">
            <a:spAutoFit/>
          </a:bodyPr>
          <a:lstStyle/>
          <a:p>
            <a:pPr marL="342900" indent="-342900" algn="l">
              <a:buFont typeface="Wingdings" pitchFamily="2" charset="2"/>
              <a:buChar char="n"/>
            </a:pPr>
            <a:r>
              <a:rPr lang="ja-JP" altLang="en-US" sz="2800"/>
              <a:t>状態 </a:t>
            </a:r>
            <a:r>
              <a:rPr lang="en-US" altLang="ja-JP" sz="2800" dirty="0"/>
              <a:t>sₜ</a:t>
            </a:r>
            <a:r>
              <a:rPr lang="ja-JP" altLang="en-US" sz="2800"/>
              <a:t>：</a:t>
            </a:r>
            <a:endParaRPr lang="en-US" altLang="ja-JP" sz="2800" dirty="0"/>
          </a:p>
          <a:p>
            <a:pPr algn="l"/>
            <a:r>
              <a:rPr lang="en-US" altLang="ja-JP" sz="2800" dirty="0"/>
              <a:t>	</a:t>
            </a:r>
            <a:r>
              <a:rPr lang="ja-JP" altLang="en-US" sz="2400"/>
              <a:t>開発者のそれまでのレビュー履歴</a:t>
            </a:r>
            <a:endParaRPr lang="en-US" altLang="ja-JP" sz="2400" dirty="0"/>
          </a:p>
          <a:p>
            <a:pPr algn="l"/>
            <a:r>
              <a:rPr lang="en-US" altLang="ja-JP" sz="2400" dirty="0"/>
              <a:t>		(</a:t>
            </a:r>
            <a:r>
              <a:rPr lang="ja-JP" altLang="en-US" sz="2400"/>
              <a:t>開発者状態，ディレクトリ親和度，活動特徴の３カテゴリ</a:t>
            </a:r>
            <a:r>
              <a:rPr lang="en-US" altLang="ja-JP" sz="2400" dirty="0"/>
              <a:t>)</a:t>
            </a:r>
          </a:p>
          <a:p>
            <a:pPr marL="342900" indent="-342900" algn="l">
              <a:buFont typeface="Wingdings" pitchFamily="2" charset="2"/>
              <a:buChar char="n"/>
            </a:pPr>
            <a:r>
              <a:rPr lang="ja-JP" altLang="en-US" sz="2800"/>
              <a:t>軌跡 </a:t>
            </a:r>
            <a:r>
              <a:rPr lang="el-GR" altLang="ja-JP" sz="2800" dirty="0"/>
              <a:t>τ</a:t>
            </a:r>
            <a:r>
              <a:rPr lang="en-US" altLang="ja-JP" sz="2800" dirty="0"/>
              <a:t>ₜ</a:t>
            </a:r>
            <a:r>
              <a:rPr lang="ja-JP" altLang="en-US" sz="2800"/>
              <a:t>：</a:t>
            </a:r>
            <a:endParaRPr lang="en-US" altLang="ja-JP" sz="2800" dirty="0"/>
          </a:p>
          <a:p>
            <a:pPr algn="l"/>
            <a:r>
              <a:rPr lang="en-US" altLang="ja-JP" sz="2800" dirty="0"/>
              <a:t>	</a:t>
            </a:r>
            <a:r>
              <a:rPr lang="ja-JP" altLang="en-US" sz="2400"/>
              <a:t>状態</a:t>
            </a:r>
            <a:r>
              <a:rPr lang="en-US" altLang="ja-JP" sz="2400" dirty="0"/>
              <a:t>+</a:t>
            </a:r>
            <a:r>
              <a:rPr lang="ja-JP" altLang="en-US" sz="2400"/>
              <a:t>ラベルの月次記録。</a:t>
            </a:r>
            <a:r>
              <a:rPr lang="en-US" altLang="ja-JP" sz="2400" dirty="0"/>
              <a:t>T = (</a:t>
            </a:r>
            <a:r>
              <a:rPr lang="el-GR" altLang="ja-JP" sz="2400" dirty="0"/>
              <a:t>τ₁, …, τ</a:t>
            </a:r>
            <a:r>
              <a:rPr lang="en-US" altLang="ja-JP" sz="2400" dirty="0"/>
              <a:t>ₙ) </a:t>
            </a:r>
            <a:r>
              <a:rPr lang="ja-JP" altLang="en-US" sz="2400"/>
              <a:t>として学習 </a:t>
            </a:r>
            <a:endParaRPr lang="en-US" altLang="ja-JP" sz="2400" dirty="0"/>
          </a:p>
          <a:p>
            <a:pPr marL="342900" indent="-342900" algn="l">
              <a:buFont typeface="Wingdings" pitchFamily="2" charset="2"/>
              <a:buChar char="n"/>
            </a:pPr>
            <a:r>
              <a:rPr lang="ja-JP" altLang="en-US" sz="2800"/>
              <a:t>報酬 </a:t>
            </a:r>
            <a:r>
              <a:rPr lang="en-US" altLang="ja-JP" sz="2800" dirty="0"/>
              <a:t>rₜ(s, a)</a:t>
            </a:r>
            <a:r>
              <a:rPr lang="ja-JP" altLang="en-US" sz="2800"/>
              <a:t>：</a:t>
            </a:r>
            <a:endParaRPr lang="en-US" altLang="ja-JP" sz="2800" dirty="0"/>
          </a:p>
          <a:p>
            <a:pPr algn="l"/>
            <a:r>
              <a:rPr lang="en-US" altLang="ja-JP" sz="2800" dirty="0"/>
              <a:t>	</a:t>
            </a:r>
            <a:r>
              <a:rPr lang="ja-JP" altLang="en-US" sz="2400"/>
              <a:t>依頼を受けるかの判断基準．</a:t>
            </a:r>
            <a:r>
              <a:rPr lang="en-US" altLang="ja-JP" sz="2400" dirty="0"/>
              <a:t>IRL</a:t>
            </a:r>
            <a:r>
              <a:rPr lang="ja-JP" altLang="en-US" sz="2400"/>
              <a:t>の推定対象</a:t>
            </a:r>
            <a:endParaRPr lang="ja-JP" altLang="en-US" sz="2400" b="1" dirty="0" err="1">
              <a:solidFill>
                <a:srgbClr val="262626"/>
              </a:solidFill>
              <a:latin typeface="Meiryo" pitchFamily="34" charset="0"/>
              <a:ea typeface="Meiryo" pitchFamily="34" charset="-122"/>
              <a:cs typeface="Meiryo" pitchFamily="34" charset="-120"/>
            </a:endParaRPr>
          </a:p>
        </p:txBody>
      </p:sp>
      <p:grpSp>
        <p:nvGrpSpPr>
          <p:cNvPr id="31" name="グループ化 30">
            <a:extLst>
              <a:ext uri="{FF2B5EF4-FFF2-40B4-BE49-F238E27FC236}">
                <a16:creationId xmlns:a16="http://schemas.microsoft.com/office/drawing/2014/main" id="{950A4056-16D0-19CA-FA6F-1C7063AD0BB8}"/>
              </a:ext>
            </a:extLst>
          </p:cNvPr>
          <p:cNvGrpSpPr/>
          <p:nvPr/>
        </p:nvGrpSpPr>
        <p:grpSpPr>
          <a:xfrm>
            <a:off x="87440" y="1994724"/>
            <a:ext cx="16991180" cy="4255500"/>
            <a:chOff x="549981" y="2854635"/>
            <a:chExt cx="18264731" cy="4574466"/>
          </a:xfrm>
        </p:grpSpPr>
        <p:sp>
          <p:nvSpPr>
            <p:cNvPr id="16" name="角丸四角形 15">
              <a:extLst>
                <a:ext uri="{FF2B5EF4-FFF2-40B4-BE49-F238E27FC236}">
                  <a16:creationId xmlns:a16="http://schemas.microsoft.com/office/drawing/2014/main" id="{B65D9378-5E18-0977-4768-1AF5903AE08C}"/>
                </a:ext>
              </a:extLst>
            </p:cNvPr>
            <p:cNvSpPr/>
            <p:nvPr/>
          </p:nvSpPr>
          <p:spPr>
            <a:xfrm>
              <a:off x="549981" y="2854635"/>
              <a:ext cx="18264731" cy="4574466"/>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129" name="直線コネクタ 128">
              <a:extLst>
                <a:ext uri="{FF2B5EF4-FFF2-40B4-BE49-F238E27FC236}">
                  <a16:creationId xmlns:a16="http://schemas.microsoft.com/office/drawing/2014/main" id="{E204264C-56B9-C1F8-9FA2-FAF2720BF3AF}"/>
                </a:ext>
              </a:extLst>
            </p:cNvPr>
            <p:cNvCxnSpPr>
              <a:cxnSpLocks/>
            </p:cNvCxnSpPr>
            <p:nvPr/>
          </p:nvCxnSpPr>
          <p:spPr>
            <a:xfrm>
              <a:off x="670119" y="5583931"/>
              <a:ext cx="18088164" cy="0"/>
            </a:xfrm>
            <a:prstGeom prst="line">
              <a:avLst/>
            </a:prstGeom>
            <a:ln w="762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0" name="円/楕円 129">
              <a:extLst>
                <a:ext uri="{FF2B5EF4-FFF2-40B4-BE49-F238E27FC236}">
                  <a16:creationId xmlns:a16="http://schemas.microsoft.com/office/drawing/2014/main" id="{1FE0E00B-EB74-A9F3-B761-565DFFD774D7}"/>
                </a:ext>
              </a:extLst>
            </p:cNvPr>
            <p:cNvSpPr/>
            <p:nvPr/>
          </p:nvSpPr>
          <p:spPr>
            <a:xfrm>
              <a:off x="1583009"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1" name="円/楕円 130">
              <a:extLst>
                <a:ext uri="{FF2B5EF4-FFF2-40B4-BE49-F238E27FC236}">
                  <a16:creationId xmlns:a16="http://schemas.microsoft.com/office/drawing/2014/main" id="{B91AABB8-7456-31A5-BF72-741AC955B263}"/>
                </a:ext>
              </a:extLst>
            </p:cNvPr>
            <p:cNvSpPr/>
            <p:nvPr/>
          </p:nvSpPr>
          <p:spPr>
            <a:xfrm>
              <a:off x="79025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2" name="テキスト ボックス 131">
              <a:extLst>
                <a:ext uri="{FF2B5EF4-FFF2-40B4-BE49-F238E27FC236}">
                  <a16:creationId xmlns:a16="http://schemas.microsoft.com/office/drawing/2014/main" id="{F276F66D-FC9F-F977-58C8-4479F686095E}"/>
                </a:ext>
              </a:extLst>
            </p:cNvPr>
            <p:cNvSpPr txBox="1"/>
            <p:nvPr/>
          </p:nvSpPr>
          <p:spPr>
            <a:xfrm>
              <a:off x="1140495" y="4549764"/>
              <a:ext cx="319319" cy="451406"/>
            </a:xfrm>
            <a:prstGeom prst="rect">
              <a:avLst/>
            </a:prstGeom>
            <a:noFill/>
          </p:spPr>
          <p:txBody>
            <a:bodyPr wrap="square" lIns="0" tIns="0" rIns="0" bIns="0" rtlCol="0">
              <a:spAutoFit/>
            </a:bodyPr>
            <a:lstStyle/>
            <a:p>
              <a:endParaRPr kumimoji="1" lang="ja-JP" altLang="en-US" sz="4000" baseline="-25000"/>
            </a:p>
          </p:txBody>
        </p:sp>
        <p:sp>
          <p:nvSpPr>
            <p:cNvPr id="133" name="円/楕円 132">
              <a:extLst>
                <a:ext uri="{FF2B5EF4-FFF2-40B4-BE49-F238E27FC236}">
                  <a16:creationId xmlns:a16="http://schemas.microsoft.com/office/drawing/2014/main" id="{323E1CA7-226A-ECAE-E001-C3FC607978AC}"/>
                </a:ext>
              </a:extLst>
            </p:cNvPr>
            <p:cNvSpPr/>
            <p:nvPr/>
          </p:nvSpPr>
          <p:spPr>
            <a:xfrm>
              <a:off x="2661148"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4" name="円/楕円 133">
              <a:extLst>
                <a:ext uri="{FF2B5EF4-FFF2-40B4-BE49-F238E27FC236}">
                  <a16:creationId xmlns:a16="http://schemas.microsoft.com/office/drawing/2014/main" id="{2B4299F6-66E4-66E4-D088-49EFB8870A19}"/>
                </a:ext>
              </a:extLst>
            </p:cNvPr>
            <p:cNvSpPr/>
            <p:nvPr/>
          </p:nvSpPr>
          <p:spPr>
            <a:xfrm>
              <a:off x="2882403"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5" name="円/楕円 134">
              <a:extLst>
                <a:ext uri="{FF2B5EF4-FFF2-40B4-BE49-F238E27FC236}">
                  <a16:creationId xmlns:a16="http://schemas.microsoft.com/office/drawing/2014/main" id="{44967D12-8B60-E3E6-5ADE-37C4A392D278}"/>
                </a:ext>
              </a:extLst>
            </p:cNvPr>
            <p:cNvSpPr/>
            <p:nvPr/>
          </p:nvSpPr>
          <p:spPr>
            <a:xfrm>
              <a:off x="1817218"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36" name="直線コネクタ 135">
              <a:extLst>
                <a:ext uri="{FF2B5EF4-FFF2-40B4-BE49-F238E27FC236}">
                  <a16:creationId xmlns:a16="http://schemas.microsoft.com/office/drawing/2014/main" id="{76E26DAC-A54B-59F8-AAFF-9A4437056E5F}"/>
                </a:ext>
              </a:extLst>
            </p:cNvPr>
            <p:cNvCxnSpPr>
              <a:cxnSpLocks/>
            </p:cNvCxnSpPr>
            <p:nvPr/>
          </p:nvCxnSpPr>
          <p:spPr>
            <a:xfrm>
              <a:off x="67011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37" name="円/楕円 136">
              <a:extLst>
                <a:ext uri="{FF2B5EF4-FFF2-40B4-BE49-F238E27FC236}">
                  <a16:creationId xmlns:a16="http://schemas.microsoft.com/office/drawing/2014/main" id="{45E11A55-E0EE-AAA5-1F9D-6F0D9F68517A}"/>
                </a:ext>
              </a:extLst>
            </p:cNvPr>
            <p:cNvSpPr/>
            <p:nvPr/>
          </p:nvSpPr>
          <p:spPr>
            <a:xfrm>
              <a:off x="200750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A3332AE0-2BD0-FFD8-CC5D-93AA66C71467}"/>
                    </a:ext>
                  </a:extLst>
                </p:cNvPr>
                <p:cNvSpPr txBox="1"/>
                <p:nvPr/>
              </p:nvSpPr>
              <p:spPr>
                <a:xfrm>
                  <a:off x="943060" y="4537814"/>
                  <a:ext cx="319319" cy="6615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1</m:t>
                        </m:r>
                      </m:oMath>
                    </m:oMathPara>
                  </a14:m>
                  <a:endParaRPr kumimoji="1" lang="ja-JP" altLang="en-US" sz="4000" baseline="-25000"/>
                </a:p>
              </p:txBody>
            </p:sp>
          </mc:Choice>
          <mc:Fallback xmlns="">
            <p:sp>
              <p:nvSpPr>
                <p:cNvPr id="138" name="テキスト ボックス 137">
                  <a:extLst>
                    <a:ext uri="{FF2B5EF4-FFF2-40B4-BE49-F238E27FC236}">
                      <a16:creationId xmlns:a16="http://schemas.microsoft.com/office/drawing/2014/main" id="{A3332AE0-2BD0-FFD8-CC5D-93AA66C71467}"/>
                    </a:ext>
                  </a:extLst>
                </p:cNvPr>
                <p:cNvSpPr txBox="1">
                  <a:spLocks noRot="1" noChangeAspect="1" noMove="1" noResize="1" noEditPoints="1" noAdjustHandles="1" noChangeArrowheads="1" noChangeShapeType="1" noTextEdit="1"/>
                </p:cNvSpPr>
                <p:nvPr/>
              </p:nvSpPr>
              <p:spPr>
                <a:xfrm>
                  <a:off x="943060" y="4537814"/>
                  <a:ext cx="319319" cy="661528"/>
                </a:xfrm>
                <a:prstGeom prst="rect">
                  <a:avLst/>
                </a:prstGeom>
                <a:blipFill>
                  <a:blip r:embed="rId4"/>
                  <a:stretch>
                    <a:fillRect l="-40000" r="-76000" b="-16327"/>
                  </a:stretch>
                </a:blipFill>
              </p:spPr>
              <p:txBody>
                <a:bodyPr/>
                <a:lstStyle/>
                <a:p>
                  <a:r>
                    <a:rPr lang="ja-JP" altLang="en-US">
                      <a:noFill/>
                    </a:rPr>
                    <a:t> </a:t>
                  </a:r>
                </a:p>
              </p:txBody>
            </p:sp>
          </mc:Fallback>
        </mc:AlternateContent>
        <p:cxnSp>
          <p:nvCxnSpPr>
            <p:cNvPr id="139" name="直線コネクタ 138">
              <a:extLst>
                <a:ext uri="{FF2B5EF4-FFF2-40B4-BE49-F238E27FC236}">
                  <a16:creationId xmlns:a16="http://schemas.microsoft.com/office/drawing/2014/main" id="{4ACC6DB8-14E4-3252-6E36-41E7639FD0B3}"/>
                </a:ext>
              </a:extLst>
            </p:cNvPr>
            <p:cNvCxnSpPr>
              <a:cxnSpLocks/>
            </p:cNvCxnSpPr>
            <p:nvPr/>
          </p:nvCxnSpPr>
          <p:spPr>
            <a:xfrm>
              <a:off x="158300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1" name="直線コネクタ 140">
              <a:extLst>
                <a:ext uri="{FF2B5EF4-FFF2-40B4-BE49-F238E27FC236}">
                  <a16:creationId xmlns:a16="http://schemas.microsoft.com/office/drawing/2014/main" id="{4F7FB0E3-CB99-92CD-A113-77BB6DBB8C76}"/>
                </a:ext>
              </a:extLst>
            </p:cNvPr>
            <p:cNvCxnSpPr>
              <a:cxnSpLocks/>
            </p:cNvCxnSpPr>
            <p:nvPr/>
          </p:nvCxnSpPr>
          <p:spPr>
            <a:xfrm>
              <a:off x="3397232" y="4756433"/>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2" name="テキスト ボックス 141">
                  <a:extLst>
                    <a:ext uri="{FF2B5EF4-FFF2-40B4-BE49-F238E27FC236}">
                      <a16:creationId xmlns:a16="http://schemas.microsoft.com/office/drawing/2014/main" id="{080A7F1C-A9A7-14EC-59D4-4D1F4407663A}"/>
                    </a:ext>
                  </a:extLst>
                </p:cNvPr>
                <p:cNvSpPr txBox="1"/>
                <p:nvPr/>
              </p:nvSpPr>
              <p:spPr>
                <a:xfrm>
                  <a:off x="1839276" y="4563456"/>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2</m:t>
                        </m:r>
                      </m:oMath>
                    </m:oMathPara>
                  </a14:m>
                  <a:endParaRPr kumimoji="1" lang="ja-JP" altLang="en-US" sz="4000" baseline="-25000"/>
                </a:p>
              </p:txBody>
            </p:sp>
          </mc:Choice>
          <mc:Fallback xmlns="">
            <p:sp>
              <p:nvSpPr>
                <p:cNvPr id="142" name="テキスト ボックス 141">
                  <a:extLst>
                    <a:ext uri="{FF2B5EF4-FFF2-40B4-BE49-F238E27FC236}">
                      <a16:creationId xmlns:a16="http://schemas.microsoft.com/office/drawing/2014/main" id="{080A7F1C-A9A7-14EC-59D4-4D1F4407663A}"/>
                    </a:ext>
                  </a:extLst>
                </p:cNvPr>
                <p:cNvSpPr txBox="1">
                  <a:spLocks noRot="1" noChangeAspect="1" noMove="1" noResize="1" noEditPoints="1" noAdjustHandles="1" noChangeArrowheads="1" noChangeShapeType="1" noTextEdit="1"/>
                </p:cNvSpPr>
                <p:nvPr/>
              </p:nvSpPr>
              <p:spPr>
                <a:xfrm>
                  <a:off x="1839276" y="4563456"/>
                  <a:ext cx="319319" cy="661527"/>
                </a:xfrm>
                <a:prstGeom prst="rect">
                  <a:avLst/>
                </a:prstGeom>
                <a:blipFill>
                  <a:blip r:embed="rId5"/>
                  <a:stretch>
                    <a:fillRect l="-41667" r="-79167" b="-163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3" name="テキスト ボックス 142">
                  <a:extLst>
                    <a:ext uri="{FF2B5EF4-FFF2-40B4-BE49-F238E27FC236}">
                      <a16:creationId xmlns:a16="http://schemas.microsoft.com/office/drawing/2014/main" id="{78E7BD2C-D7F6-C166-3EDF-03A37AFA0A97}"/>
                    </a:ext>
                  </a:extLst>
                </p:cNvPr>
                <p:cNvSpPr txBox="1"/>
                <p:nvPr/>
              </p:nvSpPr>
              <p:spPr>
                <a:xfrm>
                  <a:off x="2821832" y="457693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3</m:t>
                        </m:r>
                      </m:oMath>
                    </m:oMathPara>
                  </a14:m>
                  <a:endParaRPr kumimoji="1" lang="ja-JP" altLang="en-US" sz="4000" baseline="-25000"/>
                </a:p>
              </p:txBody>
            </p:sp>
          </mc:Choice>
          <mc:Fallback xmlns="">
            <p:sp>
              <p:nvSpPr>
                <p:cNvPr id="143" name="テキスト ボックス 142">
                  <a:extLst>
                    <a:ext uri="{FF2B5EF4-FFF2-40B4-BE49-F238E27FC236}">
                      <a16:creationId xmlns:a16="http://schemas.microsoft.com/office/drawing/2014/main" id="{78E7BD2C-D7F6-C166-3EDF-03A37AFA0A97}"/>
                    </a:ext>
                  </a:extLst>
                </p:cNvPr>
                <p:cNvSpPr txBox="1">
                  <a:spLocks noRot="1" noChangeAspect="1" noMove="1" noResize="1" noEditPoints="1" noAdjustHandles="1" noChangeArrowheads="1" noChangeShapeType="1" noTextEdit="1"/>
                </p:cNvSpPr>
                <p:nvPr/>
              </p:nvSpPr>
              <p:spPr>
                <a:xfrm>
                  <a:off x="2821832" y="4576933"/>
                  <a:ext cx="319319" cy="661527"/>
                </a:xfrm>
                <a:prstGeom prst="rect">
                  <a:avLst/>
                </a:prstGeom>
                <a:blipFill>
                  <a:blip r:embed="rId6"/>
                  <a:stretch>
                    <a:fillRect l="-41667" r="-79167" b="-16327"/>
                  </a:stretch>
                </a:blipFill>
              </p:spPr>
              <p:txBody>
                <a:bodyPr/>
                <a:lstStyle/>
                <a:p>
                  <a:r>
                    <a:rPr lang="ja-JP" altLang="en-US">
                      <a:noFill/>
                    </a:rPr>
                    <a:t> </a:t>
                  </a:r>
                </a:p>
              </p:txBody>
            </p:sp>
          </mc:Fallback>
        </mc:AlternateContent>
        <p:cxnSp>
          <p:nvCxnSpPr>
            <p:cNvPr id="145" name="直線コネクタ 144">
              <a:extLst>
                <a:ext uri="{FF2B5EF4-FFF2-40B4-BE49-F238E27FC236}">
                  <a16:creationId xmlns:a16="http://schemas.microsoft.com/office/drawing/2014/main" id="{D9993DD1-78C6-C679-8B5C-B5645ACC5A76}"/>
                </a:ext>
              </a:extLst>
            </p:cNvPr>
            <p:cNvCxnSpPr>
              <a:cxnSpLocks/>
            </p:cNvCxnSpPr>
            <p:nvPr/>
          </p:nvCxnSpPr>
          <p:spPr>
            <a:xfrm>
              <a:off x="1577151" y="3720552"/>
              <a:ext cx="460651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6" name="直線コネクタ 145">
              <a:extLst>
                <a:ext uri="{FF2B5EF4-FFF2-40B4-BE49-F238E27FC236}">
                  <a16:creationId xmlns:a16="http://schemas.microsoft.com/office/drawing/2014/main" id="{D3EE1AA9-A065-3103-95E7-F6BDBBD99844}"/>
                </a:ext>
              </a:extLst>
            </p:cNvPr>
            <p:cNvCxnSpPr>
              <a:cxnSpLocks/>
            </p:cNvCxnSpPr>
            <p:nvPr/>
          </p:nvCxnSpPr>
          <p:spPr>
            <a:xfrm flipH="1">
              <a:off x="1331416" y="3717678"/>
              <a:ext cx="263676" cy="63517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7" name="直線コネクタ 146">
              <a:extLst>
                <a:ext uri="{FF2B5EF4-FFF2-40B4-BE49-F238E27FC236}">
                  <a16:creationId xmlns:a16="http://schemas.microsoft.com/office/drawing/2014/main" id="{2E6E69C5-6638-4840-9489-6C8AA420882E}"/>
                </a:ext>
              </a:extLst>
            </p:cNvPr>
            <p:cNvCxnSpPr>
              <a:cxnSpLocks/>
            </p:cNvCxnSpPr>
            <p:nvPr/>
          </p:nvCxnSpPr>
          <p:spPr>
            <a:xfrm>
              <a:off x="6172447" y="3713085"/>
              <a:ext cx="0" cy="131229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8" name="直線コネクタ 147">
              <a:extLst>
                <a:ext uri="{FF2B5EF4-FFF2-40B4-BE49-F238E27FC236}">
                  <a16:creationId xmlns:a16="http://schemas.microsoft.com/office/drawing/2014/main" id="{EC895E86-606C-B73B-BF7D-9D97185581CF}"/>
                </a:ext>
              </a:extLst>
            </p:cNvPr>
            <p:cNvCxnSpPr>
              <a:cxnSpLocks/>
            </p:cNvCxnSpPr>
            <p:nvPr/>
          </p:nvCxnSpPr>
          <p:spPr>
            <a:xfrm>
              <a:off x="3358725" y="6725583"/>
              <a:ext cx="4372708"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9" name="直線コネクタ 148">
              <a:extLst>
                <a:ext uri="{FF2B5EF4-FFF2-40B4-BE49-F238E27FC236}">
                  <a16:creationId xmlns:a16="http://schemas.microsoft.com/office/drawing/2014/main" id="{523E1382-3676-C361-3CB1-66499F627939}"/>
                </a:ext>
              </a:extLst>
            </p:cNvPr>
            <p:cNvCxnSpPr>
              <a:cxnSpLocks/>
            </p:cNvCxnSpPr>
            <p:nvPr/>
          </p:nvCxnSpPr>
          <p:spPr>
            <a:xfrm flipH="1" flipV="1">
              <a:off x="3029990" y="6296290"/>
              <a:ext cx="338064" cy="4466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0" name="直線コネクタ 149">
              <a:extLst>
                <a:ext uri="{FF2B5EF4-FFF2-40B4-BE49-F238E27FC236}">
                  <a16:creationId xmlns:a16="http://schemas.microsoft.com/office/drawing/2014/main" id="{23A74AB2-DF21-DB2D-45AF-8226806752E3}"/>
                </a:ext>
              </a:extLst>
            </p:cNvPr>
            <p:cNvCxnSpPr>
              <a:cxnSpLocks/>
            </p:cNvCxnSpPr>
            <p:nvPr/>
          </p:nvCxnSpPr>
          <p:spPr>
            <a:xfrm flipV="1">
              <a:off x="7731434" y="5850796"/>
              <a:ext cx="0" cy="89504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2" name="直線コネクタ 151">
              <a:extLst>
                <a:ext uri="{FF2B5EF4-FFF2-40B4-BE49-F238E27FC236}">
                  <a16:creationId xmlns:a16="http://schemas.microsoft.com/office/drawing/2014/main" id="{ADE90E89-BE9F-5194-C941-34E6608BC349}"/>
                </a:ext>
              </a:extLst>
            </p:cNvPr>
            <p:cNvCxnSpPr>
              <a:cxnSpLocks/>
            </p:cNvCxnSpPr>
            <p:nvPr/>
          </p:nvCxnSpPr>
          <p:spPr>
            <a:xfrm>
              <a:off x="2560088" y="4043007"/>
              <a:ext cx="4275807"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53" name="直線コネクタ 152">
              <a:extLst>
                <a:ext uri="{FF2B5EF4-FFF2-40B4-BE49-F238E27FC236}">
                  <a16:creationId xmlns:a16="http://schemas.microsoft.com/office/drawing/2014/main" id="{8DAA1200-F021-A265-42C6-7346AD6A52C3}"/>
                </a:ext>
              </a:extLst>
            </p:cNvPr>
            <p:cNvCxnSpPr>
              <a:cxnSpLocks/>
            </p:cNvCxnSpPr>
            <p:nvPr/>
          </p:nvCxnSpPr>
          <p:spPr>
            <a:xfrm flipH="1">
              <a:off x="2018018" y="4043793"/>
              <a:ext cx="550826" cy="3644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4" name="直線コネクタ 153">
              <a:extLst>
                <a:ext uri="{FF2B5EF4-FFF2-40B4-BE49-F238E27FC236}">
                  <a16:creationId xmlns:a16="http://schemas.microsoft.com/office/drawing/2014/main" id="{B3A62FA9-05B2-6E5D-0408-D841C099B2CE}"/>
                </a:ext>
              </a:extLst>
            </p:cNvPr>
            <p:cNvCxnSpPr>
              <a:cxnSpLocks/>
            </p:cNvCxnSpPr>
            <p:nvPr/>
          </p:nvCxnSpPr>
          <p:spPr>
            <a:xfrm>
              <a:off x="6832664" y="4034606"/>
              <a:ext cx="0" cy="141026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6" name="テキスト ボックス 155">
              <a:extLst>
                <a:ext uri="{FF2B5EF4-FFF2-40B4-BE49-F238E27FC236}">
                  <a16:creationId xmlns:a16="http://schemas.microsoft.com/office/drawing/2014/main" id="{202AC9D3-D8C5-FA2E-0635-27A644084497}"/>
                </a:ext>
              </a:extLst>
            </p:cNvPr>
            <p:cNvSpPr txBox="1"/>
            <p:nvPr/>
          </p:nvSpPr>
          <p:spPr>
            <a:xfrm>
              <a:off x="5291385" y="4537814"/>
              <a:ext cx="931569"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7" name="テキスト ボックス 156">
              <a:extLst>
                <a:ext uri="{FF2B5EF4-FFF2-40B4-BE49-F238E27FC236}">
                  <a16:creationId xmlns:a16="http://schemas.microsoft.com/office/drawing/2014/main" id="{AFD8DC09-840D-311E-3B4B-B9290A45C685}"/>
                </a:ext>
              </a:extLst>
            </p:cNvPr>
            <p:cNvSpPr txBox="1"/>
            <p:nvPr/>
          </p:nvSpPr>
          <p:spPr>
            <a:xfrm>
              <a:off x="6031862" y="4989963"/>
              <a:ext cx="998050"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8" name="テキスト ボックス 157">
              <a:extLst>
                <a:ext uri="{FF2B5EF4-FFF2-40B4-BE49-F238E27FC236}">
                  <a16:creationId xmlns:a16="http://schemas.microsoft.com/office/drawing/2014/main" id="{D990CA38-2409-4EEB-E8A0-E20B8FFAF9FC}"/>
                </a:ext>
              </a:extLst>
            </p:cNvPr>
            <p:cNvSpPr txBox="1"/>
            <p:nvPr/>
          </p:nvSpPr>
          <p:spPr>
            <a:xfrm>
              <a:off x="7172855" y="5805644"/>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59" name="直線コネクタ 158">
              <a:extLst>
                <a:ext uri="{FF2B5EF4-FFF2-40B4-BE49-F238E27FC236}">
                  <a16:creationId xmlns:a16="http://schemas.microsoft.com/office/drawing/2014/main" id="{A6DB3534-01D0-E72B-9D2F-AFA66767A170}"/>
                </a:ext>
              </a:extLst>
            </p:cNvPr>
            <p:cNvCxnSpPr>
              <a:cxnSpLocks/>
            </p:cNvCxnSpPr>
            <p:nvPr/>
          </p:nvCxnSpPr>
          <p:spPr>
            <a:xfrm>
              <a:off x="9657711"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60" name="直線コネクタ 159">
              <a:extLst>
                <a:ext uri="{FF2B5EF4-FFF2-40B4-BE49-F238E27FC236}">
                  <a16:creationId xmlns:a16="http://schemas.microsoft.com/office/drawing/2014/main" id="{69B82A2B-FB48-02F6-3C52-DDE3A30F4A61}"/>
                </a:ext>
              </a:extLst>
            </p:cNvPr>
            <p:cNvCxnSpPr>
              <a:cxnSpLocks/>
            </p:cNvCxnSpPr>
            <p:nvPr/>
          </p:nvCxnSpPr>
          <p:spPr>
            <a:xfrm>
              <a:off x="10663514"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1" name="テキスト ボックス 160">
                  <a:extLst>
                    <a:ext uri="{FF2B5EF4-FFF2-40B4-BE49-F238E27FC236}">
                      <a16:creationId xmlns:a16="http://schemas.microsoft.com/office/drawing/2014/main" id="{E5217E55-EA74-FEFA-D652-9A5D57239BB7}"/>
                    </a:ext>
                  </a:extLst>
                </p:cNvPr>
                <p:cNvSpPr txBox="1"/>
                <p:nvPr/>
              </p:nvSpPr>
              <p:spPr>
                <a:xfrm>
                  <a:off x="10032162" y="454892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m:rPr>
                            <m:sty m:val="p"/>
                          </m:rPr>
                          <a:rPr kumimoji="1" lang="en-US" altLang="ja-JP" sz="4000" b="0" i="0" baseline="-25000" smtClean="0">
                            <a:latin typeface="Cambria Math" panose="02040503050406030204" pitchFamily="18" charset="0"/>
                          </a:rPr>
                          <m:t>n</m:t>
                        </m:r>
                      </m:oMath>
                    </m:oMathPara>
                  </a14:m>
                  <a:endParaRPr kumimoji="1" lang="ja-JP" altLang="en-US" sz="4000" baseline="-25000"/>
                </a:p>
              </p:txBody>
            </p:sp>
          </mc:Choice>
          <mc:Fallback xmlns="">
            <p:sp>
              <p:nvSpPr>
                <p:cNvPr id="161" name="テキスト ボックス 160">
                  <a:extLst>
                    <a:ext uri="{FF2B5EF4-FFF2-40B4-BE49-F238E27FC236}">
                      <a16:creationId xmlns:a16="http://schemas.microsoft.com/office/drawing/2014/main" id="{E5217E55-EA74-FEFA-D652-9A5D57239BB7}"/>
                    </a:ext>
                  </a:extLst>
                </p:cNvPr>
                <p:cNvSpPr txBox="1">
                  <a:spLocks noRot="1" noChangeAspect="1" noMove="1" noResize="1" noEditPoints="1" noAdjustHandles="1" noChangeArrowheads="1" noChangeShapeType="1" noTextEdit="1"/>
                </p:cNvSpPr>
                <p:nvPr/>
              </p:nvSpPr>
              <p:spPr>
                <a:xfrm>
                  <a:off x="10032162" y="4548923"/>
                  <a:ext cx="319319" cy="661527"/>
                </a:xfrm>
                <a:prstGeom prst="rect">
                  <a:avLst/>
                </a:prstGeom>
                <a:blipFill>
                  <a:blip r:embed="rId7"/>
                  <a:stretch>
                    <a:fillRect l="-41667" r="-70833" b="-12245"/>
                  </a:stretch>
                </a:blipFill>
              </p:spPr>
              <p:txBody>
                <a:bodyPr/>
                <a:lstStyle/>
                <a:p>
                  <a:r>
                    <a:rPr lang="ja-JP" altLang="en-US">
                      <a:noFill/>
                    </a:rPr>
                    <a:t> </a:t>
                  </a:r>
                </a:p>
              </p:txBody>
            </p:sp>
          </mc:Fallback>
        </mc:AlternateContent>
        <p:sp>
          <p:nvSpPr>
            <p:cNvPr id="168" name="テキスト ボックス 167">
              <a:extLst>
                <a:ext uri="{FF2B5EF4-FFF2-40B4-BE49-F238E27FC236}">
                  <a16:creationId xmlns:a16="http://schemas.microsoft.com/office/drawing/2014/main" id="{EF49E757-5BA3-26DF-146F-95C5B09D99DC}"/>
                </a:ext>
              </a:extLst>
            </p:cNvPr>
            <p:cNvSpPr txBox="1"/>
            <p:nvPr/>
          </p:nvSpPr>
          <p:spPr>
            <a:xfrm>
              <a:off x="12880000" y="597105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71" name="直線コネクタ 170">
              <a:extLst>
                <a:ext uri="{FF2B5EF4-FFF2-40B4-BE49-F238E27FC236}">
                  <a16:creationId xmlns:a16="http://schemas.microsoft.com/office/drawing/2014/main" id="{3217D992-1165-5440-EE73-39A149147220}"/>
                </a:ext>
              </a:extLst>
            </p:cNvPr>
            <p:cNvCxnSpPr>
              <a:cxnSpLocks/>
            </p:cNvCxnSpPr>
            <p:nvPr/>
          </p:nvCxnSpPr>
          <p:spPr>
            <a:xfrm>
              <a:off x="13930809" y="3610504"/>
              <a:ext cx="0" cy="3578698"/>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75" name="テキスト ボックス 174">
              <a:extLst>
                <a:ext uri="{FF2B5EF4-FFF2-40B4-BE49-F238E27FC236}">
                  <a16:creationId xmlns:a16="http://schemas.microsoft.com/office/drawing/2014/main" id="{E0207DD4-E2EF-ED44-C27A-C84EE801A778}"/>
                </a:ext>
              </a:extLst>
            </p:cNvPr>
            <p:cNvSpPr txBox="1"/>
            <p:nvPr/>
          </p:nvSpPr>
          <p:spPr>
            <a:xfrm>
              <a:off x="13105320" y="3048319"/>
              <a:ext cx="3038841" cy="463184"/>
            </a:xfrm>
            <a:prstGeom prst="rect">
              <a:avLst/>
            </a:prstGeom>
            <a:noFill/>
          </p:spPr>
          <p:txBody>
            <a:bodyPr wrap="square" lIns="0" tIns="0" rIns="0" bIns="0" rtlCol="0">
              <a:spAutoFit/>
            </a:bodyPr>
            <a:lstStyle/>
            <a:p>
              <a:r>
                <a:rPr kumimoji="1" lang="ja-JP" altLang="en-US" sz="2400"/>
                <a:t>予測地点</a:t>
              </a:r>
              <a:r>
                <a:rPr kumimoji="1" lang="en-US" altLang="ja-JP" sz="2800" dirty="0">
                  <a:solidFill>
                    <a:srgbClr val="26272A"/>
                  </a:solidFill>
                  <a:latin typeface="Calibri"/>
                  <a:ea typeface="ＭＳ Ｐゴシック" panose="020B0600070205080204" pitchFamily="34" charset="-128"/>
                </a:rPr>
                <a:t>(</a:t>
              </a:r>
              <a:r>
                <a:rPr kumimoji="1" lang="en-US" altLang="ja-JP" sz="2800" b="0" i="0" u="none" strike="noStrike" kern="1200" cap="none" spc="0" normalizeH="0" baseline="0" noProof="0" dirty="0">
                  <a:ln>
                    <a:noFill/>
                  </a:ln>
                  <a:solidFill>
                    <a:srgbClr val="26272A"/>
                  </a:solidFill>
                  <a:effectLst/>
                  <a:uLnTx/>
                  <a:uFillTx/>
                  <a:latin typeface="Calibri"/>
                  <a:ea typeface="ＭＳ Ｐゴシック" panose="020B0600070205080204" pitchFamily="34" charset="-128"/>
                  <a:cs typeface="+mn-cs"/>
                </a:rPr>
                <a:t>t</a:t>
              </a:r>
              <a:r>
                <a:rPr kumimoji="1" lang="en-US" altLang="ja-JP" sz="2800" b="0" i="0" u="none" strike="noStrike" kern="1200" cap="none" spc="0" normalizeH="0" baseline="-25000" noProof="0" dirty="0">
                  <a:ln>
                    <a:noFill/>
                  </a:ln>
                  <a:solidFill>
                    <a:srgbClr val="26272A"/>
                  </a:solidFill>
                  <a:effectLst/>
                  <a:uLnTx/>
                  <a:uFillTx/>
                  <a:latin typeface="Calibri"/>
                  <a:ea typeface="ＭＳ Ｐゴシック" panose="020B0600070205080204" pitchFamily="34" charset="-128"/>
                  <a:cs typeface="+mn-cs"/>
                </a:rPr>
                <a:t>0</a:t>
              </a:r>
              <a:r>
                <a:rPr kumimoji="1" lang="en-US" altLang="ja-JP" sz="2800" b="0" i="0" u="none" strike="noStrike" kern="1200" cap="none" spc="0" normalizeH="0" noProof="0" dirty="0">
                  <a:ln>
                    <a:noFill/>
                  </a:ln>
                  <a:solidFill>
                    <a:srgbClr val="26272A"/>
                  </a:solidFill>
                  <a:effectLst/>
                  <a:uLnTx/>
                  <a:uFillTx/>
                  <a:latin typeface="Calibri"/>
                  <a:ea typeface="ＭＳ Ｐゴシック" panose="020B0600070205080204" pitchFamily="34" charset="-128"/>
                  <a:cs typeface="+mn-cs"/>
                </a:rPr>
                <a:t>) </a:t>
              </a:r>
              <a:endParaRPr kumimoji="1" lang="ja-JP" altLang="en-US" sz="3600"/>
            </a:p>
          </p:txBody>
        </p:sp>
        <p:sp>
          <p:nvSpPr>
            <p:cNvPr id="241" name="円/楕円 240">
              <a:extLst>
                <a:ext uri="{FF2B5EF4-FFF2-40B4-BE49-F238E27FC236}">
                  <a16:creationId xmlns:a16="http://schemas.microsoft.com/office/drawing/2014/main" id="{7510F7F8-262D-268A-20DA-1F8E67C125CC}"/>
                </a:ext>
              </a:extLst>
            </p:cNvPr>
            <p:cNvSpPr/>
            <p:nvPr/>
          </p:nvSpPr>
          <p:spPr>
            <a:xfrm>
              <a:off x="12051054"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242" name="円/楕円 241">
              <a:extLst>
                <a:ext uri="{FF2B5EF4-FFF2-40B4-BE49-F238E27FC236}">
                  <a16:creationId xmlns:a16="http://schemas.microsoft.com/office/drawing/2014/main" id="{F05137B0-81B1-ABDB-B932-86E988C43A0F}"/>
                </a:ext>
              </a:extLst>
            </p:cNvPr>
            <p:cNvSpPr/>
            <p:nvPr/>
          </p:nvSpPr>
          <p:spPr>
            <a:xfrm>
              <a:off x="9972203"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243" name="直線コネクタ 242">
              <a:extLst>
                <a:ext uri="{FF2B5EF4-FFF2-40B4-BE49-F238E27FC236}">
                  <a16:creationId xmlns:a16="http://schemas.microsoft.com/office/drawing/2014/main" id="{4E600A1D-11A1-FE4D-B277-E39FAAC9CE75}"/>
                </a:ext>
              </a:extLst>
            </p:cNvPr>
            <p:cNvCxnSpPr>
              <a:cxnSpLocks/>
            </p:cNvCxnSpPr>
            <p:nvPr/>
          </p:nvCxnSpPr>
          <p:spPr>
            <a:xfrm>
              <a:off x="10592531" y="6796726"/>
              <a:ext cx="2226969"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244" name="直線コネクタ 243">
              <a:extLst>
                <a:ext uri="{FF2B5EF4-FFF2-40B4-BE49-F238E27FC236}">
                  <a16:creationId xmlns:a16="http://schemas.microsoft.com/office/drawing/2014/main" id="{491AC2DC-2862-0EB6-0EE9-4BDF45019FDA}"/>
                </a:ext>
              </a:extLst>
            </p:cNvPr>
            <p:cNvCxnSpPr>
              <a:cxnSpLocks/>
            </p:cNvCxnSpPr>
            <p:nvPr/>
          </p:nvCxnSpPr>
          <p:spPr>
            <a:xfrm flipV="1">
              <a:off x="12835106" y="6105404"/>
              <a:ext cx="0" cy="709154"/>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48" name="直線コネクタ 247">
              <a:extLst>
                <a:ext uri="{FF2B5EF4-FFF2-40B4-BE49-F238E27FC236}">
                  <a16:creationId xmlns:a16="http://schemas.microsoft.com/office/drawing/2014/main" id="{8BF25A3A-AF13-C3B5-C438-296C7D44C5E6}"/>
                </a:ext>
              </a:extLst>
            </p:cNvPr>
            <p:cNvCxnSpPr>
              <a:cxnSpLocks/>
            </p:cNvCxnSpPr>
            <p:nvPr/>
          </p:nvCxnSpPr>
          <p:spPr>
            <a:xfrm flipH="1" flipV="1">
              <a:off x="10164938" y="6166343"/>
              <a:ext cx="458310" cy="64841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BEA337E0-027C-E35F-96ED-8B22156E20A8}"/>
                </a:ext>
              </a:extLst>
            </p:cNvPr>
            <p:cNvCxnSpPr>
              <a:cxnSpLocks/>
            </p:cNvCxnSpPr>
            <p:nvPr/>
          </p:nvCxnSpPr>
          <p:spPr>
            <a:xfrm>
              <a:off x="2557638"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19" name="直線コネクタ 118">
              <a:extLst>
                <a:ext uri="{FF2B5EF4-FFF2-40B4-BE49-F238E27FC236}">
                  <a16:creationId xmlns:a16="http://schemas.microsoft.com/office/drawing/2014/main" id="{12141489-BB04-E16E-B8AF-39E3BFFD823B}"/>
                </a:ext>
              </a:extLst>
            </p:cNvPr>
            <p:cNvCxnSpPr>
              <a:cxnSpLocks/>
            </p:cNvCxnSpPr>
            <p:nvPr/>
          </p:nvCxnSpPr>
          <p:spPr>
            <a:xfrm>
              <a:off x="8350220" y="5098026"/>
              <a:ext cx="916179" cy="0"/>
            </a:xfrm>
            <a:prstGeom prst="line">
              <a:avLst/>
            </a:prstGeom>
            <a:ln w="28575">
              <a:solidFill>
                <a:srgbClr val="146082"/>
              </a:solidFill>
              <a:prstDash val="sysDot"/>
            </a:ln>
          </p:spPr>
          <p:style>
            <a:lnRef idx="2">
              <a:schemeClr val="accent1"/>
            </a:lnRef>
            <a:fillRef idx="0">
              <a:schemeClr val="accent1"/>
            </a:fillRef>
            <a:effectRef idx="1">
              <a:schemeClr val="accent1"/>
            </a:effectRef>
            <a:fontRef idx="minor">
              <a:schemeClr val="tx1"/>
            </a:fontRef>
          </p:style>
        </p:cxnSp>
        <p:cxnSp>
          <p:nvCxnSpPr>
            <p:cNvPr id="120" name="直線コネクタ 119">
              <a:extLst>
                <a:ext uri="{FF2B5EF4-FFF2-40B4-BE49-F238E27FC236}">
                  <a16:creationId xmlns:a16="http://schemas.microsoft.com/office/drawing/2014/main" id="{7522E07C-C3F6-F5A2-0986-46F864D03678}"/>
                </a:ext>
              </a:extLst>
            </p:cNvPr>
            <p:cNvCxnSpPr>
              <a:cxnSpLocks/>
            </p:cNvCxnSpPr>
            <p:nvPr/>
          </p:nvCxnSpPr>
          <p:spPr>
            <a:xfrm>
              <a:off x="8733388" y="5933338"/>
              <a:ext cx="670791" cy="444385"/>
            </a:xfrm>
            <a:prstGeom prst="line">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21" name="テキスト ボックス 120">
              <a:extLst>
                <a:ext uri="{FF2B5EF4-FFF2-40B4-BE49-F238E27FC236}">
                  <a16:creationId xmlns:a16="http://schemas.microsoft.com/office/drawing/2014/main" id="{2D5927B2-E8CD-4A3E-6C59-3304B8BF9025}"/>
                </a:ext>
              </a:extLst>
            </p:cNvPr>
            <p:cNvSpPr txBox="1"/>
            <p:nvPr/>
          </p:nvSpPr>
          <p:spPr>
            <a:xfrm>
              <a:off x="1852765" y="4259167"/>
              <a:ext cx="365654" cy="496269"/>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sp>
          <p:nvSpPr>
            <p:cNvPr id="122" name="テキスト ボックス 121">
              <a:extLst>
                <a:ext uri="{FF2B5EF4-FFF2-40B4-BE49-F238E27FC236}">
                  <a16:creationId xmlns:a16="http://schemas.microsoft.com/office/drawing/2014/main" id="{B6939504-BD6F-AF85-2DF4-510A80A8B828}"/>
                </a:ext>
              </a:extLst>
            </p:cNvPr>
            <p:cNvSpPr txBox="1"/>
            <p:nvPr/>
          </p:nvSpPr>
          <p:spPr>
            <a:xfrm>
              <a:off x="2826271" y="5775100"/>
              <a:ext cx="570961" cy="496268"/>
            </a:xfrm>
            <a:prstGeom prst="rect">
              <a:avLst/>
            </a:prstGeom>
            <a:noFill/>
          </p:spPr>
          <p:txBody>
            <a:bodyPr wrap="square" rtlCol="0">
              <a:spAutoFit/>
            </a:bodyPr>
            <a:lstStyle/>
            <a:p>
              <a:r>
                <a:rPr lang="en-US" altLang="ja-JP" sz="2400" b="1" dirty="0">
                  <a:solidFill>
                    <a:srgbClr val="FF0000"/>
                  </a:solidFill>
                </a:rPr>
                <a:t>0</a:t>
              </a:r>
              <a:endParaRPr kumimoji="1" lang="ja-JP" altLang="en-US" sz="2400" b="1">
                <a:solidFill>
                  <a:srgbClr val="FF0000"/>
                </a:solidFill>
              </a:endParaRPr>
            </a:p>
          </p:txBody>
        </p:sp>
        <p:sp>
          <p:nvSpPr>
            <p:cNvPr id="123" name="テキスト ボックス 122">
              <a:extLst>
                <a:ext uri="{FF2B5EF4-FFF2-40B4-BE49-F238E27FC236}">
                  <a16:creationId xmlns:a16="http://schemas.microsoft.com/office/drawing/2014/main" id="{649EC009-A357-C1A9-067A-358B6979F966}"/>
                </a:ext>
              </a:extLst>
            </p:cNvPr>
            <p:cNvSpPr txBox="1"/>
            <p:nvPr/>
          </p:nvSpPr>
          <p:spPr>
            <a:xfrm>
              <a:off x="891783" y="4282120"/>
              <a:ext cx="365654" cy="496269"/>
            </a:xfrm>
            <a:prstGeom prst="rect">
              <a:avLst/>
            </a:prstGeom>
            <a:noFill/>
          </p:spPr>
          <p:txBody>
            <a:bodyPr wrap="none" rtlCol="0">
              <a:spAutoFit/>
            </a:bodyPr>
            <a:lstStyle/>
            <a:p>
              <a:r>
                <a:rPr kumimoji="1" lang="en-US" altLang="ja-JP" sz="2400" b="1" dirty="0">
                  <a:solidFill>
                    <a:srgbClr val="FF0000"/>
                  </a:solidFill>
                </a:rPr>
                <a:t>1</a:t>
              </a:r>
              <a:endParaRPr kumimoji="1" lang="ja-JP" altLang="en-US" sz="2400" b="1">
                <a:solidFill>
                  <a:srgbClr val="FF0000"/>
                </a:solidFill>
              </a:endParaRPr>
            </a:p>
          </p:txBody>
        </p:sp>
        <p:sp>
          <p:nvSpPr>
            <p:cNvPr id="126" name="テキスト ボックス 125">
              <a:extLst>
                <a:ext uri="{FF2B5EF4-FFF2-40B4-BE49-F238E27FC236}">
                  <a16:creationId xmlns:a16="http://schemas.microsoft.com/office/drawing/2014/main" id="{82EC223A-46A0-61E0-DBC4-A517A8CC8552}"/>
                </a:ext>
              </a:extLst>
            </p:cNvPr>
            <p:cNvSpPr txBox="1"/>
            <p:nvPr/>
          </p:nvSpPr>
          <p:spPr>
            <a:xfrm>
              <a:off x="4697940" y="6444622"/>
              <a:ext cx="1232400" cy="430100"/>
            </a:xfrm>
            <a:prstGeom prst="rect">
              <a:avLst/>
            </a:prstGeom>
            <a:solidFill>
              <a:schemeClr val="bg1"/>
            </a:solidFill>
            <a:ln w="28575">
              <a:solidFill>
                <a:srgbClr val="146082"/>
              </a:solidFill>
            </a:ln>
          </p:spPr>
          <p:txBody>
            <a:bodyPr wrap="none" rtlCol="0">
              <a:spAutoFit/>
            </a:bodyPr>
            <a:lstStyle/>
            <a:p>
              <a:r>
                <a:rPr kumimoji="1" lang="ja-JP" altLang="en-US" sz="2000" b="1"/>
                <a:t>承諾なし</a:t>
              </a:r>
            </a:p>
          </p:txBody>
        </p:sp>
        <p:sp>
          <p:nvSpPr>
            <p:cNvPr id="127" name="テキスト ボックス 126">
              <a:extLst>
                <a:ext uri="{FF2B5EF4-FFF2-40B4-BE49-F238E27FC236}">
                  <a16:creationId xmlns:a16="http://schemas.microsoft.com/office/drawing/2014/main" id="{7C472CA9-9403-8507-42C0-6487A7E985DF}"/>
                </a:ext>
              </a:extLst>
            </p:cNvPr>
            <p:cNvSpPr txBox="1"/>
            <p:nvPr/>
          </p:nvSpPr>
          <p:spPr>
            <a:xfrm>
              <a:off x="3252038" y="6742928"/>
              <a:ext cx="1241016" cy="562437"/>
            </a:xfrm>
            <a:prstGeom prst="rect">
              <a:avLst/>
            </a:prstGeom>
            <a:noFill/>
          </p:spPr>
          <p:txBody>
            <a:bodyPr wrap="none" rtlCol="0">
              <a:spAutoFit/>
            </a:bodyPr>
            <a:lstStyle/>
            <a:p>
              <a:r>
                <a:rPr lang="en-US" altLang="ja-JP" sz="2800" b="1" dirty="0"/>
                <a:t>r</a:t>
              </a:r>
              <a:r>
                <a:rPr lang="en-US" altLang="ja-JP" sz="2800" b="1" baseline="-25000" dirty="0"/>
                <a:t>3</a:t>
              </a:r>
              <a:r>
                <a:rPr kumimoji="1" lang="en-US" altLang="ja-JP" sz="2800" b="1" dirty="0"/>
                <a:t>(s,</a:t>
              </a:r>
              <a:r>
                <a:rPr lang="en-US" altLang="ja-JP" sz="2800" b="1" dirty="0"/>
                <a:t> </a:t>
              </a:r>
              <a:r>
                <a:rPr kumimoji="1" lang="en-US" altLang="ja-JP" sz="2800" b="1" dirty="0"/>
                <a:t>a)</a:t>
              </a:r>
              <a:endParaRPr kumimoji="1" lang="ja-JP" altLang="en-US" sz="2800" b="1"/>
            </a:p>
          </p:txBody>
        </p:sp>
        <p:sp>
          <p:nvSpPr>
            <p:cNvPr id="128" name="テキスト ボックス 127">
              <a:extLst>
                <a:ext uri="{FF2B5EF4-FFF2-40B4-BE49-F238E27FC236}">
                  <a16:creationId xmlns:a16="http://schemas.microsoft.com/office/drawing/2014/main" id="{BE73E204-EE18-9234-D47E-89B25691722A}"/>
                </a:ext>
              </a:extLst>
            </p:cNvPr>
            <p:cNvSpPr txBox="1"/>
            <p:nvPr/>
          </p:nvSpPr>
          <p:spPr>
            <a:xfrm>
              <a:off x="7842156" y="6392354"/>
              <a:ext cx="1285818" cy="562437"/>
            </a:xfrm>
            <a:prstGeom prst="rect">
              <a:avLst/>
            </a:prstGeom>
            <a:noFill/>
          </p:spPr>
          <p:txBody>
            <a:bodyPr wrap="none" rtlCol="0">
              <a:spAutoFit/>
            </a:bodyPr>
            <a:lstStyle/>
            <a:p>
              <a:r>
                <a:rPr lang="en-US" altLang="ja-JP" sz="2800" b="1" dirty="0"/>
                <a:t>y</a:t>
              </a:r>
              <a:r>
                <a:rPr lang="en-US" altLang="ja-JP" sz="2800" b="1" baseline="-25000" dirty="0"/>
                <a:t>3</a:t>
              </a:r>
              <a:r>
                <a:rPr kumimoji="1" lang="en-US" altLang="ja-JP" sz="2800" b="1" dirty="0"/>
                <a:t>(d,</a:t>
              </a:r>
              <a:r>
                <a:rPr lang="en-US" altLang="ja-JP" sz="2800" b="1" dirty="0"/>
                <a:t> r</a:t>
              </a:r>
              <a:r>
                <a:rPr kumimoji="1" lang="en-US" altLang="ja-JP" sz="2800" b="1" dirty="0"/>
                <a:t>)</a:t>
              </a:r>
              <a:endParaRPr kumimoji="1" lang="ja-JP" altLang="en-US" sz="2800" b="1"/>
            </a:p>
          </p:txBody>
        </p:sp>
        <p:sp>
          <p:nvSpPr>
            <p:cNvPr id="250" name="テキスト ボックス 249">
              <a:extLst>
                <a:ext uri="{FF2B5EF4-FFF2-40B4-BE49-F238E27FC236}">
                  <a16:creationId xmlns:a16="http://schemas.microsoft.com/office/drawing/2014/main" id="{380D0030-7C36-25BB-8508-1652FEAC6F63}"/>
                </a:ext>
              </a:extLst>
            </p:cNvPr>
            <p:cNvSpPr txBox="1"/>
            <p:nvPr/>
          </p:nvSpPr>
          <p:spPr>
            <a:xfrm>
              <a:off x="10007219" y="5765079"/>
              <a:ext cx="365654" cy="496268"/>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grpSp>
          <p:nvGrpSpPr>
            <p:cNvPr id="165" name="グループ化 164">
              <a:extLst>
                <a:ext uri="{FF2B5EF4-FFF2-40B4-BE49-F238E27FC236}">
                  <a16:creationId xmlns:a16="http://schemas.microsoft.com/office/drawing/2014/main" id="{D74FC1D2-A46B-488D-A1F0-23F7F3239377}"/>
                </a:ext>
              </a:extLst>
            </p:cNvPr>
            <p:cNvGrpSpPr/>
            <p:nvPr/>
          </p:nvGrpSpPr>
          <p:grpSpPr>
            <a:xfrm>
              <a:off x="10436784" y="4613317"/>
              <a:ext cx="3924190" cy="723853"/>
              <a:chOff x="11033461" y="3840047"/>
              <a:chExt cx="2901969" cy="767762"/>
            </a:xfrm>
          </p:grpSpPr>
          <p:sp>
            <p:nvSpPr>
              <p:cNvPr id="164" name="角丸四角形 163">
                <a:extLst>
                  <a:ext uri="{FF2B5EF4-FFF2-40B4-BE49-F238E27FC236}">
                    <a16:creationId xmlns:a16="http://schemas.microsoft.com/office/drawing/2014/main" id="{57536A4F-9D35-B05E-45CD-31EC98567D26}"/>
                  </a:ext>
                </a:extLst>
              </p:cNvPr>
              <p:cNvSpPr/>
              <p:nvPr/>
            </p:nvSpPr>
            <p:spPr>
              <a:xfrm>
                <a:off x="11589187" y="3840047"/>
                <a:ext cx="1838400" cy="767762"/>
              </a:xfrm>
              <a:prstGeom prst="roundRect">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sz="1400"/>
              </a:p>
            </p:txBody>
          </p:sp>
          <p:sp>
            <p:nvSpPr>
              <p:cNvPr id="163" name="テキスト ボックス 162">
                <a:extLst>
                  <a:ext uri="{FF2B5EF4-FFF2-40B4-BE49-F238E27FC236}">
                    <a16:creationId xmlns:a16="http://schemas.microsoft.com/office/drawing/2014/main" id="{FF607E78-0AA8-4321-F53B-800CBDFF01BC}"/>
                  </a:ext>
                </a:extLst>
              </p:cNvPr>
              <p:cNvSpPr txBox="1"/>
              <p:nvPr/>
            </p:nvSpPr>
            <p:spPr>
              <a:xfrm>
                <a:off x="11033461" y="3891679"/>
                <a:ext cx="2901969" cy="666737"/>
              </a:xfrm>
              <a:prstGeom prst="rect">
                <a:avLst/>
              </a:prstGeom>
              <a:noFill/>
            </p:spPr>
            <p:txBody>
              <a:bodyPr wrap="square" rtlCol="0">
                <a:spAutoFit/>
              </a:bodyPr>
              <a:lstStyle/>
              <a:p>
                <a:pPr algn="ctr"/>
                <a:r>
                  <a:rPr kumimoji="1" lang="ja-JP" altLang="en-US" sz="1600">
                    <a:solidFill>
                      <a:schemeClr val="bg1"/>
                    </a:solidFill>
                  </a:rPr>
                  <a:t>リーク防止期間</a:t>
                </a:r>
                <a:endParaRPr kumimoji="1" lang="en-US" altLang="ja-JP" sz="1600" dirty="0">
                  <a:solidFill>
                    <a:schemeClr val="bg1"/>
                  </a:solidFill>
                </a:endParaRPr>
              </a:p>
              <a:p>
                <a:pPr algn="ctr"/>
                <a:r>
                  <a:rPr kumimoji="1" lang="ja-JP" altLang="en-US" sz="1600">
                    <a:solidFill>
                      <a:schemeClr val="bg1"/>
                    </a:solidFill>
                  </a:rPr>
                  <a:t>（ラベル判定のみ）</a:t>
                </a:r>
              </a:p>
            </p:txBody>
          </p:sp>
        </p:grpSp>
        <p:sp>
          <p:nvSpPr>
            <p:cNvPr id="9" name="円/楕円 8">
              <a:extLst>
                <a:ext uri="{FF2B5EF4-FFF2-40B4-BE49-F238E27FC236}">
                  <a16:creationId xmlns:a16="http://schemas.microsoft.com/office/drawing/2014/main" id="{A3DBA12E-93BB-5CD1-55CF-F5C3F0AB76E8}"/>
                </a:ext>
              </a:extLst>
            </p:cNvPr>
            <p:cNvSpPr/>
            <p:nvPr/>
          </p:nvSpPr>
          <p:spPr>
            <a:xfrm>
              <a:off x="13819851" y="5489996"/>
              <a:ext cx="221918" cy="22191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5" name="直線矢印コネクタ 14">
              <a:extLst>
                <a:ext uri="{FF2B5EF4-FFF2-40B4-BE49-F238E27FC236}">
                  <a16:creationId xmlns:a16="http://schemas.microsoft.com/office/drawing/2014/main" id="{81844AAC-3BB2-A2B5-F79E-32766042BDEC}"/>
                </a:ext>
              </a:extLst>
            </p:cNvPr>
            <p:cNvCxnSpPr>
              <a:cxnSpLocks/>
            </p:cNvCxnSpPr>
            <p:nvPr/>
          </p:nvCxnSpPr>
          <p:spPr>
            <a:xfrm>
              <a:off x="4796775" y="5025375"/>
              <a:ext cx="260120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40323988-DDA1-85A6-F91F-84D4612D2336}"/>
                </a:ext>
              </a:extLst>
            </p:cNvPr>
            <p:cNvCxnSpPr>
              <a:cxnSpLocks/>
            </p:cNvCxnSpPr>
            <p:nvPr/>
          </p:nvCxnSpPr>
          <p:spPr>
            <a:xfrm>
              <a:off x="5584814" y="5444875"/>
              <a:ext cx="25657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6EA83D68-DB45-C0EA-4FC3-F938E5787735}"/>
                </a:ext>
              </a:extLst>
            </p:cNvPr>
            <p:cNvCxnSpPr>
              <a:cxnSpLocks/>
            </p:cNvCxnSpPr>
            <p:nvPr/>
          </p:nvCxnSpPr>
          <p:spPr>
            <a:xfrm>
              <a:off x="6172447" y="5812076"/>
              <a:ext cx="256094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BFE2FE7B-5FFD-19E5-25E2-18A5A9312A5C}"/>
                </a:ext>
              </a:extLst>
            </p:cNvPr>
            <p:cNvCxnSpPr>
              <a:cxnSpLocks/>
            </p:cNvCxnSpPr>
            <p:nvPr/>
          </p:nvCxnSpPr>
          <p:spPr>
            <a:xfrm>
              <a:off x="11851912" y="5933338"/>
              <a:ext cx="20618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F3D6681D-F5AC-06E0-AD44-468465C28555}"/>
                </a:ext>
              </a:extLst>
            </p:cNvPr>
            <p:cNvCxnSpPr>
              <a:cxnSpLocks/>
            </p:cNvCxnSpPr>
            <p:nvPr/>
          </p:nvCxnSpPr>
          <p:spPr>
            <a:xfrm>
              <a:off x="16370420" y="5098026"/>
              <a:ext cx="2061823" cy="0"/>
            </a:xfrm>
            <a:prstGeom prst="straightConnector1">
              <a:avLst/>
            </a:prstGeom>
            <a:ln w="571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1783E87B-19A3-3770-76D8-1D84DF0EE70E}"/>
                </a:ext>
              </a:extLst>
            </p:cNvPr>
            <p:cNvCxnSpPr>
              <a:cxnSpLocks/>
            </p:cNvCxnSpPr>
            <p:nvPr/>
          </p:nvCxnSpPr>
          <p:spPr>
            <a:xfrm>
              <a:off x="16411556"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8F060D4D-F027-871C-FB7A-7D9A0AB1B68F}"/>
                </a:ext>
              </a:extLst>
            </p:cNvPr>
            <p:cNvCxnSpPr>
              <a:cxnSpLocks/>
            </p:cNvCxnSpPr>
            <p:nvPr/>
          </p:nvCxnSpPr>
          <p:spPr>
            <a:xfrm>
              <a:off x="18473380"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3BCD0866-05BC-0D93-B12A-39C37D019F20}"/>
                </a:ext>
              </a:extLst>
            </p:cNvPr>
            <p:cNvSpPr txBox="1"/>
            <p:nvPr/>
          </p:nvSpPr>
          <p:spPr>
            <a:xfrm>
              <a:off x="17133710" y="503744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55" name="テキスト ボックス 54">
              <a:extLst>
                <a:ext uri="{FF2B5EF4-FFF2-40B4-BE49-F238E27FC236}">
                  <a16:creationId xmlns:a16="http://schemas.microsoft.com/office/drawing/2014/main" id="{C411EDCF-D737-213C-1913-79347B9A3FEB}"/>
                </a:ext>
              </a:extLst>
            </p:cNvPr>
            <p:cNvSpPr txBox="1"/>
            <p:nvPr/>
          </p:nvSpPr>
          <p:spPr>
            <a:xfrm>
              <a:off x="3903317" y="3853073"/>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sp>
          <p:nvSpPr>
            <p:cNvPr id="125" name="テキスト ボックス 124">
              <a:extLst>
                <a:ext uri="{FF2B5EF4-FFF2-40B4-BE49-F238E27FC236}">
                  <a16:creationId xmlns:a16="http://schemas.microsoft.com/office/drawing/2014/main" id="{95C1F877-7209-4A8A-84E1-6A7D6D012707}"/>
                </a:ext>
              </a:extLst>
            </p:cNvPr>
            <p:cNvSpPr txBox="1"/>
            <p:nvPr/>
          </p:nvSpPr>
          <p:spPr>
            <a:xfrm>
              <a:off x="2767679" y="3514129"/>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cxnSp>
          <p:nvCxnSpPr>
            <p:cNvPr id="57" name="直線コネクタ 56">
              <a:extLst>
                <a:ext uri="{FF2B5EF4-FFF2-40B4-BE49-F238E27FC236}">
                  <a16:creationId xmlns:a16="http://schemas.microsoft.com/office/drawing/2014/main" id="{2F04F0F1-FFF3-7395-8C6E-C696FAB3D0BD}"/>
                </a:ext>
              </a:extLst>
            </p:cNvPr>
            <p:cNvCxnSpPr>
              <a:cxnSpLocks/>
            </p:cNvCxnSpPr>
            <p:nvPr/>
          </p:nvCxnSpPr>
          <p:spPr>
            <a:xfrm>
              <a:off x="17394858" y="4567898"/>
              <a:ext cx="0" cy="51318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7F92B3F0-D3CB-F205-766F-33B1E7E5F208}"/>
                </a:ext>
              </a:extLst>
            </p:cNvPr>
            <p:cNvCxnSpPr>
              <a:cxnSpLocks/>
            </p:cNvCxnSpPr>
            <p:nvPr/>
          </p:nvCxnSpPr>
          <p:spPr>
            <a:xfrm flipH="1">
              <a:off x="13954577" y="4567898"/>
              <a:ext cx="477555" cy="982725"/>
            </a:xfrm>
            <a:prstGeom prst="line">
              <a:avLst/>
            </a:prstGeom>
            <a:ln w="38100">
              <a:solidFill>
                <a:srgbClr val="14608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82" name="テキスト ボックス 81">
              <a:extLst>
                <a:ext uri="{FF2B5EF4-FFF2-40B4-BE49-F238E27FC236}">
                  <a16:creationId xmlns:a16="http://schemas.microsoft.com/office/drawing/2014/main" id="{7FCDF2DD-E2EE-4F36-0396-95500F6C29E5}"/>
                </a:ext>
              </a:extLst>
            </p:cNvPr>
            <p:cNvSpPr txBox="1"/>
            <p:nvPr/>
          </p:nvSpPr>
          <p:spPr>
            <a:xfrm>
              <a:off x="10922106" y="6590030"/>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grpSp>
      <p:sp>
        <p:nvSpPr>
          <p:cNvPr id="51" name="円/楕円 50">
            <a:extLst>
              <a:ext uri="{FF2B5EF4-FFF2-40B4-BE49-F238E27FC236}">
                <a16:creationId xmlns:a16="http://schemas.microsoft.com/office/drawing/2014/main" id="{DE391C4A-791A-5062-DD4F-98AD931271AC}"/>
              </a:ext>
            </a:extLst>
          </p:cNvPr>
          <p:cNvSpPr/>
          <p:nvPr/>
        </p:nvSpPr>
        <p:spPr>
          <a:xfrm>
            <a:off x="15556682" y="4369142"/>
            <a:ext cx="402175" cy="40217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accent6">
                    <a:lumMod val="75000"/>
                  </a:schemeClr>
                </a:solidFill>
              </a:rPr>
              <a:t>？</a:t>
            </a:r>
          </a:p>
        </p:txBody>
      </p:sp>
      <p:sp>
        <p:nvSpPr>
          <p:cNvPr id="54" name="テキスト ボックス 53">
            <a:extLst>
              <a:ext uri="{FF2B5EF4-FFF2-40B4-BE49-F238E27FC236}">
                <a16:creationId xmlns:a16="http://schemas.microsoft.com/office/drawing/2014/main" id="{11F8D391-4542-A5FF-5338-777605430BDF}"/>
              </a:ext>
            </a:extLst>
          </p:cNvPr>
          <p:cNvSpPr txBox="1"/>
          <p:nvPr/>
        </p:nvSpPr>
        <p:spPr>
          <a:xfrm>
            <a:off x="909420" y="2067578"/>
            <a:ext cx="5430634" cy="461665"/>
          </a:xfrm>
          <a:prstGeom prst="rect">
            <a:avLst/>
          </a:prstGeom>
          <a:noFill/>
        </p:spPr>
        <p:txBody>
          <a:bodyPr wrap="square">
            <a:spAutoFit/>
          </a:bodyPr>
          <a:lstStyle/>
          <a:p>
            <a:pPr algn="l"/>
            <a:r>
              <a:rPr lang="en-US" altLang="ja-JP" sz="2400" dirty="0">
                <a:solidFill>
                  <a:schemeClr val="tx1">
                    <a:lumMod val="75000"/>
                    <a:lumOff val="25000"/>
                  </a:schemeClr>
                </a:solidFill>
              </a:rPr>
              <a:t>4-6m</a:t>
            </a:r>
            <a:r>
              <a:rPr lang="ja-JP" altLang="en-US" sz="2400">
                <a:solidFill>
                  <a:schemeClr val="tx1">
                    <a:lumMod val="75000"/>
                    <a:lumOff val="25000"/>
                  </a:schemeClr>
                </a:solidFill>
              </a:rPr>
              <a:t>後にレビュー承諾があるか否か？</a:t>
            </a:r>
            <a:endParaRPr lang="en-US" altLang="ja-JP" sz="2400" dirty="0">
              <a:solidFill>
                <a:schemeClr val="tx1">
                  <a:lumMod val="75000"/>
                  <a:lumOff val="25000"/>
                </a:schemeClr>
              </a:solidFill>
            </a:endParaRPr>
          </a:p>
        </p:txBody>
      </p:sp>
      <p:cxnSp>
        <p:nvCxnSpPr>
          <p:cNvPr id="80" name="直線コネクタ 79">
            <a:extLst>
              <a:ext uri="{FF2B5EF4-FFF2-40B4-BE49-F238E27FC236}">
                <a16:creationId xmlns:a16="http://schemas.microsoft.com/office/drawing/2014/main" id="{53C484D9-2CB5-29C3-2818-80F6EEE3B249}"/>
              </a:ext>
            </a:extLst>
          </p:cNvPr>
          <p:cNvCxnSpPr>
            <a:cxnSpLocks/>
          </p:cNvCxnSpPr>
          <p:nvPr/>
        </p:nvCxnSpPr>
        <p:spPr>
          <a:xfrm>
            <a:off x="12996863" y="3581220"/>
            <a:ext cx="279082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sp>
        <p:nvSpPr>
          <p:cNvPr id="46" name="テキスト ボックス 45">
            <a:extLst>
              <a:ext uri="{FF2B5EF4-FFF2-40B4-BE49-F238E27FC236}">
                <a16:creationId xmlns:a16="http://schemas.microsoft.com/office/drawing/2014/main" id="{C017B15A-8BD7-45BA-D87A-0AA189848EB2}"/>
              </a:ext>
            </a:extLst>
          </p:cNvPr>
          <p:cNvSpPr txBox="1"/>
          <p:nvPr/>
        </p:nvSpPr>
        <p:spPr>
          <a:xfrm>
            <a:off x="14212469" y="3384198"/>
            <a:ext cx="763622" cy="400110"/>
          </a:xfrm>
          <a:prstGeom prst="rect">
            <a:avLst/>
          </a:prstGeom>
          <a:solidFill>
            <a:schemeClr val="bg1"/>
          </a:solidFill>
          <a:ln w="28575">
            <a:solidFill>
              <a:srgbClr val="146082"/>
            </a:solidFill>
          </a:ln>
        </p:spPr>
        <p:txBody>
          <a:bodyPr wrap="square" rtlCol="0">
            <a:spAutoFit/>
          </a:bodyPr>
          <a:lstStyle/>
          <a:p>
            <a:r>
              <a:rPr kumimoji="1" lang="ja-JP" altLang="en-US" sz="2000" b="1"/>
              <a:t>予測</a:t>
            </a:r>
          </a:p>
        </p:txBody>
      </p:sp>
      <p:sp>
        <p:nvSpPr>
          <p:cNvPr id="93" name="テキスト ボックス 92">
            <a:extLst>
              <a:ext uri="{FF2B5EF4-FFF2-40B4-BE49-F238E27FC236}">
                <a16:creationId xmlns:a16="http://schemas.microsoft.com/office/drawing/2014/main" id="{D12F9EAA-FC3D-25BD-02A8-6FDF987B72A3}"/>
              </a:ext>
            </a:extLst>
          </p:cNvPr>
          <p:cNvSpPr txBox="1"/>
          <p:nvPr/>
        </p:nvSpPr>
        <p:spPr>
          <a:xfrm>
            <a:off x="12611304" y="2875518"/>
            <a:ext cx="5430634" cy="400110"/>
          </a:xfrm>
          <a:prstGeom prst="rect">
            <a:avLst/>
          </a:prstGeom>
          <a:noFill/>
        </p:spPr>
        <p:txBody>
          <a:bodyPr wrap="square">
            <a:spAutoFit/>
          </a:bodyPr>
          <a:lstStyle/>
          <a:p>
            <a:pPr algn="l"/>
            <a:r>
              <a:rPr lang="en-US" altLang="ja-JP" sz="2000" dirty="0">
                <a:solidFill>
                  <a:schemeClr val="tx1">
                    <a:lumMod val="75000"/>
                    <a:lumOff val="25000"/>
                  </a:schemeClr>
                </a:solidFill>
              </a:rPr>
              <a:t>4-6m</a:t>
            </a:r>
            <a:r>
              <a:rPr lang="ja-JP" altLang="en-US" sz="2000">
                <a:solidFill>
                  <a:schemeClr val="tx1">
                    <a:lumMod val="75000"/>
                    <a:lumOff val="25000"/>
                  </a:schemeClr>
                </a:solidFill>
              </a:rPr>
              <a:t>後にレビュー承諾があるか否か？</a:t>
            </a:r>
            <a:endParaRPr lang="en-US" altLang="ja-JP" sz="2000" dirty="0">
              <a:solidFill>
                <a:schemeClr val="tx1">
                  <a:lumMod val="75000"/>
                  <a:lumOff val="25000"/>
                </a:schemeClr>
              </a:solidFill>
            </a:endParaRPr>
          </a:p>
        </p:txBody>
      </p:sp>
      <p:sp>
        <p:nvSpPr>
          <p:cNvPr id="95" name="正方形/長方形 94">
            <a:extLst>
              <a:ext uri="{FF2B5EF4-FFF2-40B4-BE49-F238E27FC236}">
                <a16:creationId xmlns:a16="http://schemas.microsoft.com/office/drawing/2014/main" id="{6E8386F4-FEAA-28DA-1CD8-B56271FE03DB}"/>
              </a:ext>
            </a:extLst>
          </p:cNvPr>
          <p:cNvSpPr/>
          <p:nvPr/>
        </p:nvSpPr>
        <p:spPr>
          <a:xfrm>
            <a:off x="572579" y="6403012"/>
            <a:ext cx="8257096" cy="1281423"/>
          </a:xfrm>
          <a:prstGeom prst="rect">
            <a:avLst/>
          </a:prstGeom>
          <a:solidFill>
            <a:srgbClr val="FFFFFF">
              <a:alpha val="8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5430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89D75-05AA-FE25-B0BC-0B7A5FCFAC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53BCA9-20DD-7C1D-139E-E5C6CD5B13CF}"/>
              </a:ext>
            </a:extLst>
          </p:cNvPr>
          <p:cNvSpPr>
            <a:spLocks noGrp="1"/>
          </p:cNvSpPr>
          <p:nvPr>
            <p:ph type="title"/>
          </p:nvPr>
        </p:nvSpPr>
        <p:spPr/>
        <p:txBody>
          <a:bodyPr/>
          <a:lstStyle/>
          <a:p>
            <a:r>
              <a:rPr kumimoji="1" lang="ja-JP" altLang="en-US" sz="3200"/>
              <a:t>アプローチ</a:t>
            </a:r>
            <a:br>
              <a:rPr kumimoji="1" lang="en-US" altLang="ja-JP" sz="3200" dirty="0"/>
            </a:br>
            <a:r>
              <a:rPr kumimoji="1" lang="ja-JP" altLang="en-US" sz="3600"/>
              <a:t>学習方法・予測について（</a:t>
            </a:r>
            <a:r>
              <a:rPr kumimoji="1" lang="en-US" altLang="ja-JP" sz="3600" dirty="0"/>
              <a:t>4-6m</a:t>
            </a:r>
            <a:r>
              <a:rPr kumimoji="1" lang="ja-JP" altLang="en-US" sz="3600"/>
              <a:t>の例）</a:t>
            </a:r>
            <a:endParaRPr kumimoji="1" lang="ja-JP" altLang="en-US"/>
          </a:p>
        </p:txBody>
      </p:sp>
      <p:sp>
        <p:nvSpPr>
          <p:cNvPr id="3" name="スライド番号プレースホルダー 2">
            <a:extLst>
              <a:ext uri="{FF2B5EF4-FFF2-40B4-BE49-F238E27FC236}">
                <a16:creationId xmlns:a16="http://schemas.microsoft.com/office/drawing/2014/main" id="{11B3BC1B-EAAE-28D1-137F-AF533134D29F}"/>
              </a:ext>
            </a:extLst>
          </p:cNvPr>
          <p:cNvSpPr>
            <a:spLocks noGrp="1"/>
          </p:cNvSpPr>
          <p:nvPr>
            <p:ph type="sldNum" sz="quarter" idx="12"/>
          </p:nvPr>
        </p:nvSpPr>
        <p:spPr/>
        <p:txBody>
          <a:bodyPr/>
          <a:lstStyle/>
          <a:p>
            <a:fld id="{85D74467-FFC2-5C49-A08A-98A9FE9BCA53}" type="slidenum">
              <a:rPr kumimoji="1" lang="ja-JP" altLang="en-US" smtClean="0"/>
              <a:pPr/>
              <a:t>14</a:t>
            </a:fld>
            <a:endParaRPr kumimoji="1" lang="ja-JP" altLang="en-US"/>
          </a:p>
        </p:txBody>
      </p:sp>
      <p:grpSp>
        <p:nvGrpSpPr>
          <p:cNvPr id="4" name="グループ化 3">
            <a:extLst>
              <a:ext uri="{FF2B5EF4-FFF2-40B4-BE49-F238E27FC236}">
                <a16:creationId xmlns:a16="http://schemas.microsoft.com/office/drawing/2014/main" id="{40114272-241B-5D6A-DB09-E126A42657E7}"/>
              </a:ext>
            </a:extLst>
          </p:cNvPr>
          <p:cNvGrpSpPr/>
          <p:nvPr/>
        </p:nvGrpSpPr>
        <p:grpSpPr>
          <a:xfrm>
            <a:off x="12172355" y="1"/>
            <a:ext cx="5201355" cy="1872000"/>
            <a:chOff x="206119" y="1946628"/>
            <a:chExt cx="9920282" cy="3570371"/>
          </a:xfrm>
        </p:grpSpPr>
        <p:pic>
          <p:nvPicPr>
            <p:cNvPr id="8" name="図 7">
              <a:extLst>
                <a:ext uri="{FF2B5EF4-FFF2-40B4-BE49-F238E27FC236}">
                  <a16:creationId xmlns:a16="http://schemas.microsoft.com/office/drawing/2014/main" id="{30F471AE-4769-AAE2-D6DF-2053F41E76B1}"/>
                </a:ext>
              </a:extLst>
            </p:cNvPr>
            <p:cNvPicPr>
              <a:picLocks noChangeAspect="1"/>
            </p:cNvPicPr>
            <p:nvPr/>
          </p:nvPicPr>
          <p:blipFill>
            <a:blip r:embed="rId3"/>
            <a:stretch>
              <a:fillRect/>
            </a:stretch>
          </p:blipFill>
          <p:spPr>
            <a:xfrm>
              <a:off x="206119" y="1946628"/>
              <a:ext cx="9920282" cy="3570371"/>
            </a:xfrm>
            <a:prstGeom prst="rect">
              <a:avLst/>
            </a:prstGeom>
          </p:spPr>
        </p:pic>
        <p:sp>
          <p:nvSpPr>
            <p:cNvPr id="13" name="角丸四角形 12">
              <a:extLst>
                <a:ext uri="{FF2B5EF4-FFF2-40B4-BE49-F238E27FC236}">
                  <a16:creationId xmlns:a16="http://schemas.microsoft.com/office/drawing/2014/main" id="{F0D1F2E8-CD0A-BC51-0817-42467E8EDAF8}"/>
                </a:ext>
              </a:extLst>
            </p:cNvPr>
            <p:cNvSpPr/>
            <p:nvPr/>
          </p:nvSpPr>
          <p:spPr>
            <a:xfrm>
              <a:off x="2244253" y="3439236"/>
              <a:ext cx="4462818" cy="655092"/>
            </a:xfrm>
            <a:prstGeom prst="round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1" name="グループ化 190">
            <a:extLst>
              <a:ext uri="{FF2B5EF4-FFF2-40B4-BE49-F238E27FC236}">
                <a16:creationId xmlns:a16="http://schemas.microsoft.com/office/drawing/2014/main" id="{04D6B83D-EFC9-B020-8186-0CB76AEB179B}"/>
              </a:ext>
            </a:extLst>
          </p:cNvPr>
          <p:cNvGrpSpPr/>
          <p:nvPr/>
        </p:nvGrpSpPr>
        <p:grpSpPr>
          <a:xfrm>
            <a:off x="9511771" y="6787546"/>
            <a:ext cx="7655768" cy="2476819"/>
            <a:chOff x="434353" y="4059026"/>
            <a:chExt cx="4411967" cy="1427374"/>
          </a:xfrm>
        </p:grpSpPr>
        <p:sp>
          <p:nvSpPr>
            <p:cNvPr id="181" name="Text 4">
              <a:extLst>
                <a:ext uri="{FF2B5EF4-FFF2-40B4-BE49-F238E27FC236}">
                  <a16:creationId xmlns:a16="http://schemas.microsoft.com/office/drawing/2014/main" id="{41EF809D-2EC7-9324-1136-BD21E3635B5B}"/>
                </a:ext>
              </a:extLst>
            </p:cNvPr>
            <p:cNvSpPr/>
            <p:nvPr/>
          </p:nvSpPr>
          <p:spPr>
            <a:xfrm>
              <a:off x="434353" y="4059026"/>
              <a:ext cx="3977640" cy="292608"/>
            </a:xfrm>
            <a:prstGeom prst="rect">
              <a:avLst/>
            </a:prstGeom>
            <a:noFill/>
            <a:ln/>
          </p:spPr>
          <p:txBody>
            <a:bodyPr wrap="square" lIns="0" tIns="0" rIns="0" bIns="0" rtlCol="0" anchor="ctr"/>
            <a:lstStyle/>
            <a:p>
              <a:pPr marL="0" indent="0" algn="l">
                <a:buNone/>
              </a:pPr>
              <a:r>
                <a:rPr lang="en-US" sz="2400" b="1" dirty="0" err="1">
                  <a:solidFill>
                    <a:srgbClr val="262626"/>
                  </a:solidFill>
                  <a:latin typeface="+mj-ea"/>
                  <a:ea typeface="+mj-ea"/>
                  <a:cs typeface="Meiryo" pitchFamily="34" charset="-120"/>
                </a:rPr>
                <a:t>ラベルy</a:t>
              </a:r>
              <a:r>
                <a:rPr lang="en-US" sz="2400" b="1" dirty="0">
                  <a:solidFill>
                    <a:srgbClr val="262626"/>
                  </a:solidFill>
                  <a:latin typeface="+mj-ea"/>
                  <a:ea typeface="+mj-ea"/>
                  <a:cs typeface="Meiryo" pitchFamily="34" charset="-120"/>
                </a:rPr>
                <a:t>ₜ(d, r)：</a:t>
              </a:r>
              <a:r>
                <a:rPr lang="en-US" sz="2400" b="1" dirty="0" err="1">
                  <a:solidFill>
                    <a:srgbClr val="262626"/>
                  </a:solidFill>
                  <a:latin typeface="+mj-ea"/>
                  <a:ea typeface="+mj-ea"/>
                  <a:cs typeface="Meiryo" pitchFamily="34" charset="-120"/>
                </a:rPr>
                <a:t>各月τₜにWₕ内の貢献で付与</a:t>
              </a:r>
              <a:endParaRPr lang="en-US" sz="2400" dirty="0">
                <a:latin typeface="+mj-ea"/>
                <a:ea typeface="+mj-ea"/>
              </a:endParaRPr>
            </a:p>
          </p:txBody>
        </p:sp>
        <p:sp>
          <p:nvSpPr>
            <p:cNvPr id="182" name="Shape 5">
              <a:extLst>
                <a:ext uri="{FF2B5EF4-FFF2-40B4-BE49-F238E27FC236}">
                  <a16:creationId xmlns:a16="http://schemas.microsoft.com/office/drawing/2014/main" id="{3DE66C98-CFC2-06D9-98D0-29655BE2F3A3}"/>
                </a:ext>
              </a:extLst>
            </p:cNvPr>
            <p:cNvSpPr/>
            <p:nvPr/>
          </p:nvSpPr>
          <p:spPr>
            <a:xfrm>
              <a:off x="566928" y="4425696"/>
              <a:ext cx="420624" cy="292608"/>
            </a:xfrm>
            <a:prstGeom prst="rect">
              <a:avLst/>
            </a:prstGeom>
            <a:solidFill>
              <a:srgbClr val="1F5C45"/>
            </a:solidFill>
            <a:ln/>
          </p:spPr>
          <p:txBody>
            <a:bodyPr/>
            <a:lstStyle/>
            <a:p>
              <a:endParaRPr lang="ja-JP" altLang="en-US" sz="4000">
                <a:latin typeface="+mj-ea"/>
                <a:ea typeface="+mj-ea"/>
              </a:endParaRPr>
            </a:p>
          </p:txBody>
        </p:sp>
        <p:sp>
          <p:nvSpPr>
            <p:cNvPr id="183" name="Text 6">
              <a:extLst>
                <a:ext uri="{FF2B5EF4-FFF2-40B4-BE49-F238E27FC236}">
                  <a16:creationId xmlns:a16="http://schemas.microsoft.com/office/drawing/2014/main" id="{D8435213-3221-71F2-8E00-696E1D6B14F6}"/>
                </a:ext>
              </a:extLst>
            </p:cNvPr>
            <p:cNvSpPr/>
            <p:nvPr/>
          </p:nvSpPr>
          <p:spPr>
            <a:xfrm>
              <a:off x="566928" y="4425696"/>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+1</a:t>
              </a:r>
              <a:endParaRPr lang="en-US" sz="2400" dirty="0">
                <a:latin typeface="+mj-ea"/>
                <a:ea typeface="+mj-ea"/>
              </a:endParaRPr>
            </a:p>
          </p:txBody>
        </p:sp>
        <p:sp>
          <p:nvSpPr>
            <p:cNvPr id="184" name="Text 7">
              <a:extLst>
                <a:ext uri="{FF2B5EF4-FFF2-40B4-BE49-F238E27FC236}">
                  <a16:creationId xmlns:a16="http://schemas.microsoft.com/office/drawing/2014/main" id="{D5C3884A-0120-949A-15A2-4BC13DC781E7}"/>
                </a:ext>
              </a:extLst>
            </p:cNvPr>
            <p:cNvSpPr/>
            <p:nvPr/>
          </p:nvSpPr>
          <p:spPr>
            <a:xfrm>
              <a:off x="1097280" y="4425696"/>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依頼あり，貢献あり</a:t>
              </a:r>
              <a:r>
                <a:rPr lang="en-US" sz="2000" dirty="0">
                  <a:solidFill>
                    <a:srgbClr val="262626"/>
                  </a:solidFill>
                  <a:latin typeface="+mj-ea"/>
                  <a:ea typeface="+mj-ea"/>
                  <a:cs typeface="Meiryo" pitchFamily="34" charset="-120"/>
                </a:rPr>
                <a:t> ＝ 正例（重み 1.0）</a:t>
              </a:r>
              <a:endParaRPr lang="en-US" sz="2000" dirty="0">
                <a:latin typeface="+mj-ea"/>
                <a:ea typeface="+mj-ea"/>
              </a:endParaRPr>
            </a:p>
          </p:txBody>
        </p:sp>
        <p:sp>
          <p:nvSpPr>
            <p:cNvPr id="185" name="Shape 8">
              <a:extLst>
                <a:ext uri="{FF2B5EF4-FFF2-40B4-BE49-F238E27FC236}">
                  <a16:creationId xmlns:a16="http://schemas.microsoft.com/office/drawing/2014/main" id="{17507912-734F-D7AB-1919-8AC849D4E29E}"/>
                </a:ext>
              </a:extLst>
            </p:cNvPr>
            <p:cNvSpPr/>
            <p:nvPr/>
          </p:nvSpPr>
          <p:spPr>
            <a:xfrm>
              <a:off x="566928" y="4809744"/>
              <a:ext cx="420624" cy="292608"/>
            </a:xfrm>
            <a:prstGeom prst="rect">
              <a:avLst/>
            </a:prstGeom>
            <a:solidFill>
              <a:srgbClr val="575860"/>
            </a:solidFill>
            <a:ln/>
          </p:spPr>
          <p:txBody>
            <a:bodyPr/>
            <a:lstStyle/>
            <a:p>
              <a:endParaRPr lang="ja-JP" altLang="en-US" sz="4000">
                <a:latin typeface="+mj-ea"/>
                <a:ea typeface="+mj-ea"/>
              </a:endParaRPr>
            </a:p>
          </p:txBody>
        </p:sp>
        <p:sp>
          <p:nvSpPr>
            <p:cNvPr id="186" name="Text 9">
              <a:extLst>
                <a:ext uri="{FF2B5EF4-FFF2-40B4-BE49-F238E27FC236}">
                  <a16:creationId xmlns:a16="http://schemas.microsoft.com/office/drawing/2014/main" id="{C4B849C9-8E74-185F-8163-AC6BBAF7C324}"/>
                </a:ext>
              </a:extLst>
            </p:cNvPr>
            <p:cNvSpPr/>
            <p:nvPr/>
          </p:nvSpPr>
          <p:spPr>
            <a:xfrm>
              <a:off x="566928" y="4809744"/>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87" name="Text 10">
              <a:extLst>
                <a:ext uri="{FF2B5EF4-FFF2-40B4-BE49-F238E27FC236}">
                  <a16:creationId xmlns:a16="http://schemas.microsoft.com/office/drawing/2014/main" id="{3BA3950D-E6D7-FD78-297D-2EFE9478F661}"/>
                </a:ext>
              </a:extLst>
            </p:cNvPr>
            <p:cNvSpPr/>
            <p:nvPr/>
          </p:nvSpPr>
          <p:spPr>
            <a:xfrm>
              <a:off x="1097280" y="4809744"/>
              <a:ext cx="3749040" cy="292608"/>
            </a:xfrm>
            <a:prstGeom prst="rect">
              <a:avLst/>
            </a:prstGeom>
            <a:noFill/>
            <a:ln/>
          </p:spPr>
          <p:txBody>
            <a:bodyPr wrap="square" lIns="0" tIns="0" rIns="0" bIns="0" rtlCol="0" anchor="ctr"/>
            <a:lstStyle/>
            <a:p>
              <a:pPr marL="0" indent="0" algn="l">
                <a:buNone/>
              </a:pPr>
              <a:r>
                <a:rPr lang="en-US" sz="2000" dirty="0" err="1">
                  <a:solidFill>
                    <a:srgbClr val="262626"/>
                  </a:solidFill>
                  <a:latin typeface="+mj-ea"/>
                  <a:ea typeface="+mj-ea"/>
                  <a:cs typeface="Meiryo" pitchFamily="34" charset="-120"/>
                </a:rPr>
                <a:t>依頼あり</a:t>
              </a:r>
              <a:r>
                <a:rPr lang="en-US" sz="2000" dirty="0">
                  <a:solidFill>
                    <a:srgbClr val="262626"/>
                  </a:solidFill>
                  <a:latin typeface="+mj-ea"/>
                  <a:ea typeface="+mj-ea"/>
                  <a:cs typeface="Meiryo" pitchFamily="34" charset="-120"/>
                </a:rPr>
                <a:t> ，</a:t>
              </a:r>
              <a:r>
                <a:rPr lang="en-US" sz="2000" dirty="0" err="1">
                  <a:solidFill>
                    <a:srgbClr val="262626"/>
                  </a:solidFill>
                  <a:latin typeface="+mj-ea"/>
                  <a:ea typeface="+mj-ea"/>
                  <a:cs typeface="Meiryo" pitchFamily="34" charset="-120"/>
                </a:rPr>
                <a:t>貢献なし</a:t>
              </a:r>
              <a:r>
                <a:rPr lang="en-US" sz="2000" dirty="0">
                  <a:solidFill>
                    <a:srgbClr val="262626"/>
                  </a:solidFill>
                  <a:latin typeface="+mj-ea"/>
                  <a:ea typeface="+mj-ea"/>
                  <a:cs typeface="Meiryo" pitchFamily="34" charset="-120"/>
                </a:rPr>
                <a:t> ＝ 強い負例（重み 1.0）</a:t>
              </a:r>
              <a:endParaRPr lang="en-US" sz="2000" dirty="0">
                <a:latin typeface="+mj-ea"/>
                <a:ea typeface="+mj-ea"/>
              </a:endParaRPr>
            </a:p>
          </p:txBody>
        </p:sp>
        <p:sp>
          <p:nvSpPr>
            <p:cNvPr id="188" name="Shape 11">
              <a:extLst>
                <a:ext uri="{FF2B5EF4-FFF2-40B4-BE49-F238E27FC236}">
                  <a16:creationId xmlns:a16="http://schemas.microsoft.com/office/drawing/2014/main" id="{1CE38370-0987-D669-26D9-8B23567DDE4D}"/>
                </a:ext>
              </a:extLst>
            </p:cNvPr>
            <p:cNvSpPr/>
            <p:nvPr/>
          </p:nvSpPr>
          <p:spPr>
            <a:xfrm>
              <a:off x="566928" y="5193792"/>
              <a:ext cx="420624" cy="292608"/>
            </a:xfrm>
            <a:prstGeom prst="rect">
              <a:avLst/>
            </a:prstGeom>
            <a:solidFill>
              <a:srgbClr val="C00000"/>
            </a:solidFill>
            <a:ln/>
          </p:spPr>
          <p:txBody>
            <a:bodyPr/>
            <a:lstStyle/>
            <a:p>
              <a:endParaRPr lang="ja-JP" altLang="en-US" sz="4000">
                <a:latin typeface="+mj-ea"/>
                <a:ea typeface="+mj-ea"/>
              </a:endParaRPr>
            </a:p>
          </p:txBody>
        </p:sp>
        <p:sp>
          <p:nvSpPr>
            <p:cNvPr id="189" name="Text 12">
              <a:extLst>
                <a:ext uri="{FF2B5EF4-FFF2-40B4-BE49-F238E27FC236}">
                  <a16:creationId xmlns:a16="http://schemas.microsoft.com/office/drawing/2014/main" id="{2A05DC1E-3A6D-EB24-B329-A56EDAD1E0A8}"/>
                </a:ext>
              </a:extLst>
            </p:cNvPr>
            <p:cNvSpPr/>
            <p:nvPr/>
          </p:nvSpPr>
          <p:spPr>
            <a:xfrm>
              <a:off x="566928" y="5193792"/>
              <a:ext cx="420624"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mj-ea"/>
                  <a:ea typeface="+mj-ea"/>
                  <a:cs typeface="Meiryo" pitchFamily="34" charset="-120"/>
                </a:rPr>
                <a:t>0*</a:t>
              </a:r>
              <a:endParaRPr lang="en-US" sz="2400" dirty="0">
                <a:latin typeface="+mj-ea"/>
                <a:ea typeface="+mj-ea"/>
              </a:endParaRPr>
            </a:p>
          </p:txBody>
        </p:sp>
        <p:sp>
          <p:nvSpPr>
            <p:cNvPr id="190" name="Text 13">
              <a:extLst>
                <a:ext uri="{FF2B5EF4-FFF2-40B4-BE49-F238E27FC236}">
                  <a16:creationId xmlns:a16="http://schemas.microsoft.com/office/drawing/2014/main" id="{1515ED2F-61CC-1700-B764-05C3189F2109}"/>
                </a:ext>
              </a:extLst>
            </p:cNvPr>
            <p:cNvSpPr/>
            <p:nvPr/>
          </p:nvSpPr>
          <p:spPr>
            <a:xfrm>
              <a:off x="1097280" y="5193792"/>
              <a:ext cx="3749040" cy="292608"/>
            </a:xfrm>
            <a:prstGeom prst="rect">
              <a:avLst/>
            </a:prstGeom>
            <a:noFill/>
            <a:ln/>
          </p:spPr>
          <p:txBody>
            <a:bodyPr wrap="square" lIns="0" tIns="0" rIns="0" bIns="0" rtlCol="0" anchor="ctr"/>
            <a:lstStyle/>
            <a:p>
              <a:pPr marL="0" indent="0" algn="l">
                <a:buNone/>
              </a:pPr>
              <a:r>
                <a:rPr lang="en-US" sz="2000" dirty="0">
                  <a:solidFill>
                    <a:srgbClr val="262626"/>
                  </a:solidFill>
                  <a:latin typeface="+mj-ea"/>
                  <a:ea typeface="+mj-ea"/>
                  <a:cs typeface="Meiryo" pitchFamily="34" charset="-120"/>
                </a:rPr>
                <a:t>依頼なし ＝ 弱負例（重み 0.5）</a:t>
              </a:r>
              <a:endParaRPr lang="en-US" sz="2000" dirty="0">
                <a:latin typeface="+mj-ea"/>
                <a:ea typeface="+mj-ea"/>
              </a:endParaRPr>
            </a:p>
          </p:txBody>
        </p:sp>
      </p:grpSp>
      <p:sp>
        <p:nvSpPr>
          <p:cNvPr id="254" name="テキスト ボックス 253">
            <a:extLst>
              <a:ext uri="{FF2B5EF4-FFF2-40B4-BE49-F238E27FC236}">
                <a16:creationId xmlns:a16="http://schemas.microsoft.com/office/drawing/2014/main" id="{FBEF21AD-F8E9-F254-82B8-BFE03BCB2781}"/>
              </a:ext>
            </a:extLst>
          </p:cNvPr>
          <p:cNvSpPr txBox="1"/>
          <p:nvPr/>
        </p:nvSpPr>
        <p:spPr>
          <a:xfrm>
            <a:off x="572578" y="6403012"/>
            <a:ext cx="13396514" cy="3046988"/>
          </a:xfrm>
          <a:prstGeom prst="rect">
            <a:avLst/>
          </a:prstGeom>
          <a:noFill/>
        </p:spPr>
        <p:txBody>
          <a:bodyPr wrap="square">
            <a:spAutoFit/>
          </a:bodyPr>
          <a:lstStyle/>
          <a:p>
            <a:pPr marL="342900" indent="-342900" algn="l">
              <a:buFont typeface="Wingdings" pitchFamily="2" charset="2"/>
              <a:buChar char="n"/>
            </a:pPr>
            <a:r>
              <a:rPr lang="ja-JP" altLang="en-US" sz="2800"/>
              <a:t>状態 </a:t>
            </a:r>
            <a:r>
              <a:rPr lang="en-US" altLang="ja-JP" sz="2800" dirty="0"/>
              <a:t>sₜ</a:t>
            </a:r>
            <a:r>
              <a:rPr lang="ja-JP" altLang="en-US" sz="2800"/>
              <a:t>：</a:t>
            </a:r>
            <a:endParaRPr lang="en-US" altLang="ja-JP" sz="2800" dirty="0"/>
          </a:p>
          <a:p>
            <a:pPr algn="l"/>
            <a:r>
              <a:rPr lang="en-US" altLang="ja-JP" sz="2800" dirty="0"/>
              <a:t>	</a:t>
            </a:r>
            <a:r>
              <a:rPr lang="ja-JP" altLang="en-US" sz="2400"/>
              <a:t>開発者のそれまでのレビュー履歴</a:t>
            </a:r>
            <a:endParaRPr lang="en-US" altLang="ja-JP" sz="2400" dirty="0"/>
          </a:p>
          <a:p>
            <a:pPr algn="l"/>
            <a:r>
              <a:rPr lang="en-US" altLang="ja-JP" sz="2400" dirty="0"/>
              <a:t>		(</a:t>
            </a:r>
            <a:r>
              <a:rPr lang="ja-JP" altLang="en-US" sz="2400"/>
              <a:t>開発者状態，ディレクトリ親和度，活動特徴の３カテゴリ</a:t>
            </a:r>
            <a:r>
              <a:rPr lang="en-US" altLang="ja-JP" sz="2400" dirty="0"/>
              <a:t>)</a:t>
            </a:r>
          </a:p>
          <a:p>
            <a:pPr marL="342900" indent="-342900" algn="l">
              <a:buFont typeface="Wingdings" pitchFamily="2" charset="2"/>
              <a:buChar char="n"/>
            </a:pPr>
            <a:r>
              <a:rPr lang="ja-JP" altLang="en-US" sz="2800"/>
              <a:t>軌跡 </a:t>
            </a:r>
            <a:r>
              <a:rPr lang="el-GR" altLang="ja-JP" sz="2800" dirty="0"/>
              <a:t>τ</a:t>
            </a:r>
            <a:r>
              <a:rPr lang="en-US" altLang="ja-JP" sz="2800" dirty="0"/>
              <a:t>ₜ</a:t>
            </a:r>
            <a:r>
              <a:rPr lang="ja-JP" altLang="en-US" sz="2800"/>
              <a:t>：</a:t>
            </a:r>
            <a:endParaRPr lang="en-US" altLang="ja-JP" sz="2800" dirty="0"/>
          </a:p>
          <a:p>
            <a:pPr algn="l"/>
            <a:r>
              <a:rPr lang="en-US" altLang="ja-JP" sz="2800" dirty="0"/>
              <a:t>	</a:t>
            </a:r>
            <a:r>
              <a:rPr lang="ja-JP" altLang="en-US" sz="2400"/>
              <a:t>状態</a:t>
            </a:r>
            <a:r>
              <a:rPr lang="en-US" altLang="ja-JP" sz="2400" dirty="0"/>
              <a:t>+</a:t>
            </a:r>
            <a:r>
              <a:rPr lang="ja-JP" altLang="en-US" sz="2400"/>
              <a:t>ラベルの月次記録。</a:t>
            </a:r>
            <a:r>
              <a:rPr lang="en-US" altLang="ja-JP" sz="2400" dirty="0"/>
              <a:t>T = (</a:t>
            </a:r>
            <a:r>
              <a:rPr lang="el-GR" altLang="ja-JP" sz="2400" dirty="0"/>
              <a:t>τ₁, …, τ</a:t>
            </a:r>
            <a:r>
              <a:rPr lang="en-US" altLang="ja-JP" sz="2400" dirty="0"/>
              <a:t>ₙ) </a:t>
            </a:r>
            <a:r>
              <a:rPr lang="ja-JP" altLang="en-US" sz="2400"/>
              <a:t>として学習 </a:t>
            </a:r>
            <a:endParaRPr lang="en-US" altLang="ja-JP" sz="2400" dirty="0"/>
          </a:p>
          <a:p>
            <a:pPr marL="342900" indent="-342900" algn="l">
              <a:buFont typeface="Wingdings" pitchFamily="2" charset="2"/>
              <a:buChar char="n"/>
            </a:pPr>
            <a:r>
              <a:rPr lang="ja-JP" altLang="en-US" sz="2800"/>
              <a:t>報酬 </a:t>
            </a:r>
            <a:r>
              <a:rPr lang="en-US" altLang="ja-JP" sz="2800" dirty="0"/>
              <a:t>rₜ(s, a)</a:t>
            </a:r>
            <a:r>
              <a:rPr lang="ja-JP" altLang="en-US" sz="2800"/>
              <a:t>：</a:t>
            </a:r>
            <a:endParaRPr lang="en-US" altLang="ja-JP" sz="2800" dirty="0"/>
          </a:p>
          <a:p>
            <a:pPr algn="l"/>
            <a:r>
              <a:rPr lang="en-US" altLang="ja-JP" sz="2800" dirty="0"/>
              <a:t>	</a:t>
            </a:r>
            <a:r>
              <a:rPr lang="ja-JP" altLang="en-US" sz="2400"/>
              <a:t>依頼を受けるかの判断基準．</a:t>
            </a:r>
            <a:r>
              <a:rPr lang="en-US" altLang="ja-JP" sz="2400" dirty="0"/>
              <a:t>IRL</a:t>
            </a:r>
            <a:r>
              <a:rPr lang="ja-JP" altLang="en-US" sz="2400"/>
              <a:t>の推定対象</a:t>
            </a:r>
            <a:endParaRPr lang="ja-JP" altLang="en-US" sz="2400" b="1" dirty="0" err="1">
              <a:solidFill>
                <a:srgbClr val="262626"/>
              </a:solidFill>
              <a:latin typeface="Meiryo" pitchFamily="34" charset="0"/>
              <a:ea typeface="Meiryo" pitchFamily="34" charset="-122"/>
              <a:cs typeface="Meiryo" pitchFamily="34" charset="-120"/>
            </a:endParaRPr>
          </a:p>
        </p:txBody>
      </p:sp>
      <p:grpSp>
        <p:nvGrpSpPr>
          <p:cNvPr id="31" name="グループ化 30">
            <a:extLst>
              <a:ext uri="{FF2B5EF4-FFF2-40B4-BE49-F238E27FC236}">
                <a16:creationId xmlns:a16="http://schemas.microsoft.com/office/drawing/2014/main" id="{B79FE8A6-9D12-9963-EAD7-AF07C6C14696}"/>
              </a:ext>
            </a:extLst>
          </p:cNvPr>
          <p:cNvGrpSpPr/>
          <p:nvPr/>
        </p:nvGrpSpPr>
        <p:grpSpPr>
          <a:xfrm>
            <a:off x="87440" y="1994724"/>
            <a:ext cx="16991180" cy="4255500"/>
            <a:chOff x="549981" y="2854635"/>
            <a:chExt cx="18264731" cy="4574466"/>
          </a:xfrm>
        </p:grpSpPr>
        <p:sp>
          <p:nvSpPr>
            <p:cNvPr id="16" name="角丸四角形 15">
              <a:extLst>
                <a:ext uri="{FF2B5EF4-FFF2-40B4-BE49-F238E27FC236}">
                  <a16:creationId xmlns:a16="http://schemas.microsoft.com/office/drawing/2014/main" id="{3A23DAB4-D009-62A8-7FFB-858114F3EB12}"/>
                </a:ext>
              </a:extLst>
            </p:cNvPr>
            <p:cNvSpPr/>
            <p:nvPr/>
          </p:nvSpPr>
          <p:spPr>
            <a:xfrm>
              <a:off x="549981" y="2854635"/>
              <a:ext cx="18264731" cy="4574466"/>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129" name="直線コネクタ 128">
              <a:extLst>
                <a:ext uri="{FF2B5EF4-FFF2-40B4-BE49-F238E27FC236}">
                  <a16:creationId xmlns:a16="http://schemas.microsoft.com/office/drawing/2014/main" id="{63C9D02E-7E25-5AE1-5B43-8AD966295B27}"/>
                </a:ext>
              </a:extLst>
            </p:cNvPr>
            <p:cNvCxnSpPr>
              <a:cxnSpLocks/>
            </p:cNvCxnSpPr>
            <p:nvPr/>
          </p:nvCxnSpPr>
          <p:spPr>
            <a:xfrm>
              <a:off x="670119" y="5583931"/>
              <a:ext cx="18088164" cy="0"/>
            </a:xfrm>
            <a:prstGeom prst="line">
              <a:avLst/>
            </a:prstGeom>
            <a:ln w="762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0" name="円/楕円 129">
              <a:extLst>
                <a:ext uri="{FF2B5EF4-FFF2-40B4-BE49-F238E27FC236}">
                  <a16:creationId xmlns:a16="http://schemas.microsoft.com/office/drawing/2014/main" id="{1D346253-BD90-8B34-BAB7-DF574C4940EB}"/>
                </a:ext>
              </a:extLst>
            </p:cNvPr>
            <p:cNvSpPr/>
            <p:nvPr/>
          </p:nvSpPr>
          <p:spPr>
            <a:xfrm>
              <a:off x="1583009"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1" name="円/楕円 130">
              <a:extLst>
                <a:ext uri="{FF2B5EF4-FFF2-40B4-BE49-F238E27FC236}">
                  <a16:creationId xmlns:a16="http://schemas.microsoft.com/office/drawing/2014/main" id="{9DA1B231-91FA-E2F4-DC66-FD7ACDAB4070}"/>
                </a:ext>
              </a:extLst>
            </p:cNvPr>
            <p:cNvSpPr/>
            <p:nvPr/>
          </p:nvSpPr>
          <p:spPr>
            <a:xfrm>
              <a:off x="79025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2" name="テキスト ボックス 131">
              <a:extLst>
                <a:ext uri="{FF2B5EF4-FFF2-40B4-BE49-F238E27FC236}">
                  <a16:creationId xmlns:a16="http://schemas.microsoft.com/office/drawing/2014/main" id="{FA2C53E0-7AB6-4E2E-A8D3-45F9B964C504}"/>
                </a:ext>
              </a:extLst>
            </p:cNvPr>
            <p:cNvSpPr txBox="1"/>
            <p:nvPr/>
          </p:nvSpPr>
          <p:spPr>
            <a:xfrm>
              <a:off x="1140495" y="4549764"/>
              <a:ext cx="319319" cy="451406"/>
            </a:xfrm>
            <a:prstGeom prst="rect">
              <a:avLst/>
            </a:prstGeom>
            <a:noFill/>
          </p:spPr>
          <p:txBody>
            <a:bodyPr wrap="square" lIns="0" tIns="0" rIns="0" bIns="0" rtlCol="0">
              <a:spAutoFit/>
            </a:bodyPr>
            <a:lstStyle/>
            <a:p>
              <a:endParaRPr kumimoji="1" lang="ja-JP" altLang="en-US" sz="4000" baseline="-25000"/>
            </a:p>
          </p:txBody>
        </p:sp>
        <p:sp>
          <p:nvSpPr>
            <p:cNvPr id="133" name="円/楕円 132">
              <a:extLst>
                <a:ext uri="{FF2B5EF4-FFF2-40B4-BE49-F238E27FC236}">
                  <a16:creationId xmlns:a16="http://schemas.microsoft.com/office/drawing/2014/main" id="{45B8A745-7028-1B8A-43A1-D7070925AC04}"/>
                </a:ext>
              </a:extLst>
            </p:cNvPr>
            <p:cNvSpPr/>
            <p:nvPr/>
          </p:nvSpPr>
          <p:spPr>
            <a:xfrm>
              <a:off x="2661148"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4" name="円/楕円 133">
              <a:extLst>
                <a:ext uri="{FF2B5EF4-FFF2-40B4-BE49-F238E27FC236}">
                  <a16:creationId xmlns:a16="http://schemas.microsoft.com/office/drawing/2014/main" id="{EBDC518D-AD1D-6DA5-AD06-C93DB9E30E8F}"/>
                </a:ext>
              </a:extLst>
            </p:cNvPr>
            <p:cNvSpPr/>
            <p:nvPr/>
          </p:nvSpPr>
          <p:spPr>
            <a:xfrm>
              <a:off x="2882403" y="5320861"/>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35" name="円/楕円 134">
              <a:extLst>
                <a:ext uri="{FF2B5EF4-FFF2-40B4-BE49-F238E27FC236}">
                  <a16:creationId xmlns:a16="http://schemas.microsoft.com/office/drawing/2014/main" id="{73458799-774A-17E1-D51B-F89F05EFA08F}"/>
                </a:ext>
              </a:extLst>
            </p:cNvPr>
            <p:cNvSpPr/>
            <p:nvPr/>
          </p:nvSpPr>
          <p:spPr>
            <a:xfrm>
              <a:off x="1817218"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36" name="直線コネクタ 135">
              <a:extLst>
                <a:ext uri="{FF2B5EF4-FFF2-40B4-BE49-F238E27FC236}">
                  <a16:creationId xmlns:a16="http://schemas.microsoft.com/office/drawing/2014/main" id="{F6E9D612-67C0-D4D8-011A-816C1B82D8D3}"/>
                </a:ext>
              </a:extLst>
            </p:cNvPr>
            <p:cNvCxnSpPr>
              <a:cxnSpLocks/>
            </p:cNvCxnSpPr>
            <p:nvPr/>
          </p:nvCxnSpPr>
          <p:spPr>
            <a:xfrm>
              <a:off x="67011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37" name="円/楕円 136">
              <a:extLst>
                <a:ext uri="{FF2B5EF4-FFF2-40B4-BE49-F238E27FC236}">
                  <a16:creationId xmlns:a16="http://schemas.microsoft.com/office/drawing/2014/main" id="{7B4AC223-957C-F95D-2AFE-B3120C6137CD}"/>
                </a:ext>
              </a:extLst>
            </p:cNvPr>
            <p:cNvSpPr/>
            <p:nvPr/>
          </p:nvSpPr>
          <p:spPr>
            <a:xfrm>
              <a:off x="2007507"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mc:AlternateContent xmlns:mc="http://schemas.openxmlformats.org/markup-compatibility/2006" xmlns:a14="http://schemas.microsoft.com/office/drawing/2010/main">
          <mc:Choice Requires="a14">
            <p:sp>
              <p:nvSpPr>
                <p:cNvPr id="138" name="テキスト ボックス 137">
                  <a:extLst>
                    <a:ext uri="{FF2B5EF4-FFF2-40B4-BE49-F238E27FC236}">
                      <a16:creationId xmlns:a16="http://schemas.microsoft.com/office/drawing/2014/main" id="{A6CA3FED-E09B-9425-06BB-D1987036CE7D}"/>
                    </a:ext>
                  </a:extLst>
                </p:cNvPr>
                <p:cNvSpPr txBox="1"/>
                <p:nvPr/>
              </p:nvSpPr>
              <p:spPr>
                <a:xfrm>
                  <a:off x="943060" y="4537814"/>
                  <a:ext cx="319319" cy="6615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1</m:t>
                        </m:r>
                      </m:oMath>
                    </m:oMathPara>
                  </a14:m>
                  <a:endParaRPr kumimoji="1" lang="ja-JP" altLang="en-US" sz="4000" baseline="-25000"/>
                </a:p>
              </p:txBody>
            </p:sp>
          </mc:Choice>
          <mc:Fallback xmlns="">
            <p:sp>
              <p:nvSpPr>
                <p:cNvPr id="138" name="テキスト ボックス 137">
                  <a:extLst>
                    <a:ext uri="{FF2B5EF4-FFF2-40B4-BE49-F238E27FC236}">
                      <a16:creationId xmlns:a16="http://schemas.microsoft.com/office/drawing/2014/main" id="{A6CA3FED-E09B-9425-06BB-D1987036CE7D}"/>
                    </a:ext>
                  </a:extLst>
                </p:cNvPr>
                <p:cNvSpPr txBox="1">
                  <a:spLocks noRot="1" noChangeAspect="1" noMove="1" noResize="1" noEditPoints="1" noAdjustHandles="1" noChangeArrowheads="1" noChangeShapeType="1" noTextEdit="1"/>
                </p:cNvSpPr>
                <p:nvPr/>
              </p:nvSpPr>
              <p:spPr>
                <a:xfrm>
                  <a:off x="943060" y="4537814"/>
                  <a:ext cx="319319" cy="661528"/>
                </a:xfrm>
                <a:prstGeom prst="rect">
                  <a:avLst/>
                </a:prstGeom>
                <a:blipFill>
                  <a:blip r:embed="rId4"/>
                  <a:stretch>
                    <a:fillRect l="-40000" r="-76000" b="-16327"/>
                  </a:stretch>
                </a:blipFill>
              </p:spPr>
              <p:txBody>
                <a:bodyPr/>
                <a:lstStyle/>
                <a:p>
                  <a:r>
                    <a:rPr lang="ja-JP" altLang="en-US">
                      <a:noFill/>
                    </a:rPr>
                    <a:t> </a:t>
                  </a:r>
                </a:p>
              </p:txBody>
            </p:sp>
          </mc:Fallback>
        </mc:AlternateContent>
        <p:cxnSp>
          <p:nvCxnSpPr>
            <p:cNvPr id="139" name="直線コネクタ 138">
              <a:extLst>
                <a:ext uri="{FF2B5EF4-FFF2-40B4-BE49-F238E27FC236}">
                  <a16:creationId xmlns:a16="http://schemas.microsoft.com/office/drawing/2014/main" id="{7A7EED56-18F3-A715-C566-10FCA53BCFA9}"/>
                </a:ext>
              </a:extLst>
            </p:cNvPr>
            <p:cNvCxnSpPr>
              <a:cxnSpLocks/>
            </p:cNvCxnSpPr>
            <p:nvPr/>
          </p:nvCxnSpPr>
          <p:spPr>
            <a:xfrm>
              <a:off x="1583009"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1" name="直線コネクタ 140">
              <a:extLst>
                <a:ext uri="{FF2B5EF4-FFF2-40B4-BE49-F238E27FC236}">
                  <a16:creationId xmlns:a16="http://schemas.microsoft.com/office/drawing/2014/main" id="{B79312E9-D8C7-1450-C373-A427565A5711}"/>
                </a:ext>
              </a:extLst>
            </p:cNvPr>
            <p:cNvCxnSpPr>
              <a:cxnSpLocks/>
            </p:cNvCxnSpPr>
            <p:nvPr/>
          </p:nvCxnSpPr>
          <p:spPr>
            <a:xfrm>
              <a:off x="3397232" y="4756433"/>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2" name="テキスト ボックス 141">
                  <a:extLst>
                    <a:ext uri="{FF2B5EF4-FFF2-40B4-BE49-F238E27FC236}">
                      <a16:creationId xmlns:a16="http://schemas.microsoft.com/office/drawing/2014/main" id="{497374BA-7192-BDFF-22E0-FDEE1D76374A}"/>
                    </a:ext>
                  </a:extLst>
                </p:cNvPr>
                <p:cNvSpPr txBox="1"/>
                <p:nvPr/>
              </p:nvSpPr>
              <p:spPr>
                <a:xfrm>
                  <a:off x="1839276" y="4563456"/>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2</m:t>
                        </m:r>
                      </m:oMath>
                    </m:oMathPara>
                  </a14:m>
                  <a:endParaRPr kumimoji="1" lang="ja-JP" altLang="en-US" sz="4000" baseline="-25000"/>
                </a:p>
              </p:txBody>
            </p:sp>
          </mc:Choice>
          <mc:Fallback xmlns="">
            <p:sp>
              <p:nvSpPr>
                <p:cNvPr id="142" name="テキスト ボックス 141">
                  <a:extLst>
                    <a:ext uri="{FF2B5EF4-FFF2-40B4-BE49-F238E27FC236}">
                      <a16:creationId xmlns:a16="http://schemas.microsoft.com/office/drawing/2014/main" id="{497374BA-7192-BDFF-22E0-FDEE1D76374A}"/>
                    </a:ext>
                  </a:extLst>
                </p:cNvPr>
                <p:cNvSpPr txBox="1">
                  <a:spLocks noRot="1" noChangeAspect="1" noMove="1" noResize="1" noEditPoints="1" noAdjustHandles="1" noChangeArrowheads="1" noChangeShapeType="1" noTextEdit="1"/>
                </p:cNvSpPr>
                <p:nvPr/>
              </p:nvSpPr>
              <p:spPr>
                <a:xfrm>
                  <a:off x="1839276" y="4563456"/>
                  <a:ext cx="319319" cy="661527"/>
                </a:xfrm>
                <a:prstGeom prst="rect">
                  <a:avLst/>
                </a:prstGeom>
                <a:blipFill>
                  <a:blip r:embed="rId5"/>
                  <a:stretch>
                    <a:fillRect l="-41667" r="-79167" b="-163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3" name="テキスト ボックス 142">
                  <a:extLst>
                    <a:ext uri="{FF2B5EF4-FFF2-40B4-BE49-F238E27FC236}">
                      <a16:creationId xmlns:a16="http://schemas.microsoft.com/office/drawing/2014/main" id="{AB630865-D235-E9A5-4BDA-C48E40C3A914}"/>
                    </a:ext>
                  </a:extLst>
                </p:cNvPr>
                <p:cNvSpPr txBox="1"/>
                <p:nvPr/>
              </p:nvSpPr>
              <p:spPr>
                <a:xfrm>
                  <a:off x="2821832" y="457693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a:rPr kumimoji="1" lang="en-US" altLang="ja-JP" sz="4000" b="0" i="0" baseline="-25000" smtClean="0">
                            <a:latin typeface="Cambria Math" panose="02040503050406030204" pitchFamily="18" charset="0"/>
                          </a:rPr>
                          <m:t>3</m:t>
                        </m:r>
                      </m:oMath>
                    </m:oMathPara>
                  </a14:m>
                  <a:endParaRPr kumimoji="1" lang="ja-JP" altLang="en-US" sz="4000" baseline="-25000"/>
                </a:p>
              </p:txBody>
            </p:sp>
          </mc:Choice>
          <mc:Fallback xmlns="">
            <p:sp>
              <p:nvSpPr>
                <p:cNvPr id="143" name="テキスト ボックス 142">
                  <a:extLst>
                    <a:ext uri="{FF2B5EF4-FFF2-40B4-BE49-F238E27FC236}">
                      <a16:creationId xmlns:a16="http://schemas.microsoft.com/office/drawing/2014/main" id="{AB630865-D235-E9A5-4BDA-C48E40C3A914}"/>
                    </a:ext>
                  </a:extLst>
                </p:cNvPr>
                <p:cNvSpPr txBox="1">
                  <a:spLocks noRot="1" noChangeAspect="1" noMove="1" noResize="1" noEditPoints="1" noAdjustHandles="1" noChangeArrowheads="1" noChangeShapeType="1" noTextEdit="1"/>
                </p:cNvSpPr>
                <p:nvPr/>
              </p:nvSpPr>
              <p:spPr>
                <a:xfrm>
                  <a:off x="2821832" y="4576933"/>
                  <a:ext cx="319319" cy="661527"/>
                </a:xfrm>
                <a:prstGeom prst="rect">
                  <a:avLst/>
                </a:prstGeom>
                <a:blipFill>
                  <a:blip r:embed="rId6"/>
                  <a:stretch>
                    <a:fillRect l="-41667" r="-79167" b="-16327"/>
                  </a:stretch>
                </a:blipFill>
              </p:spPr>
              <p:txBody>
                <a:bodyPr/>
                <a:lstStyle/>
                <a:p>
                  <a:r>
                    <a:rPr lang="ja-JP" altLang="en-US">
                      <a:noFill/>
                    </a:rPr>
                    <a:t> </a:t>
                  </a:r>
                </a:p>
              </p:txBody>
            </p:sp>
          </mc:Fallback>
        </mc:AlternateContent>
        <p:cxnSp>
          <p:nvCxnSpPr>
            <p:cNvPr id="145" name="直線コネクタ 144">
              <a:extLst>
                <a:ext uri="{FF2B5EF4-FFF2-40B4-BE49-F238E27FC236}">
                  <a16:creationId xmlns:a16="http://schemas.microsoft.com/office/drawing/2014/main" id="{4446F241-BB2E-7CD6-9BEC-60B4363D3BD1}"/>
                </a:ext>
              </a:extLst>
            </p:cNvPr>
            <p:cNvCxnSpPr>
              <a:cxnSpLocks/>
            </p:cNvCxnSpPr>
            <p:nvPr/>
          </p:nvCxnSpPr>
          <p:spPr>
            <a:xfrm>
              <a:off x="1577151" y="3720552"/>
              <a:ext cx="460651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6" name="直線コネクタ 145">
              <a:extLst>
                <a:ext uri="{FF2B5EF4-FFF2-40B4-BE49-F238E27FC236}">
                  <a16:creationId xmlns:a16="http://schemas.microsoft.com/office/drawing/2014/main" id="{5CAAC02E-9725-C66B-114E-8365A07129FA}"/>
                </a:ext>
              </a:extLst>
            </p:cNvPr>
            <p:cNvCxnSpPr>
              <a:cxnSpLocks/>
            </p:cNvCxnSpPr>
            <p:nvPr/>
          </p:nvCxnSpPr>
          <p:spPr>
            <a:xfrm flipH="1">
              <a:off x="1331416" y="3717678"/>
              <a:ext cx="263676" cy="63517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7" name="直線コネクタ 146">
              <a:extLst>
                <a:ext uri="{FF2B5EF4-FFF2-40B4-BE49-F238E27FC236}">
                  <a16:creationId xmlns:a16="http://schemas.microsoft.com/office/drawing/2014/main" id="{D8AED33F-3F69-DC87-B9D0-9BE001034E29}"/>
                </a:ext>
              </a:extLst>
            </p:cNvPr>
            <p:cNvCxnSpPr>
              <a:cxnSpLocks/>
            </p:cNvCxnSpPr>
            <p:nvPr/>
          </p:nvCxnSpPr>
          <p:spPr>
            <a:xfrm>
              <a:off x="6172447" y="3713085"/>
              <a:ext cx="0" cy="1312291"/>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8" name="直線コネクタ 147">
              <a:extLst>
                <a:ext uri="{FF2B5EF4-FFF2-40B4-BE49-F238E27FC236}">
                  <a16:creationId xmlns:a16="http://schemas.microsoft.com/office/drawing/2014/main" id="{DB8F7131-BA1A-0278-E810-D32E13B532D2}"/>
                </a:ext>
              </a:extLst>
            </p:cNvPr>
            <p:cNvCxnSpPr>
              <a:cxnSpLocks/>
            </p:cNvCxnSpPr>
            <p:nvPr/>
          </p:nvCxnSpPr>
          <p:spPr>
            <a:xfrm>
              <a:off x="3358725" y="6725583"/>
              <a:ext cx="4372708"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49" name="直線コネクタ 148">
              <a:extLst>
                <a:ext uri="{FF2B5EF4-FFF2-40B4-BE49-F238E27FC236}">
                  <a16:creationId xmlns:a16="http://schemas.microsoft.com/office/drawing/2014/main" id="{09B294F5-0267-5D31-07E8-72085BFEF21B}"/>
                </a:ext>
              </a:extLst>
            </p:cNvPr>
            <p:cNvCxnSpPr>
              <a:cxnSpLocks/>
            </p:cNvCxnSpPr>
            <p:nvPr/>
          </p:nvCxnSpPr>
          <p:spPr>
            <a:xfrm flipH="1" flipV="1">
              <a:off x="3029990" y="6296290"/>
              <a:ext cx="338064" cy="4466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0" name="直線コネクタ 149">
              <a:extLst>
                <a:ext uri="{FF2B5EF4-FFF2-40B4-BE49-F238E27FC236}">
                  <a16:creationId xmlns:a16="http://schemas.microsoft.com/office/drawing/2014/main" id="{B3AA7CB2-45CF-8C14-3D8A-F747934F8A69}"/>
                </a:ext>
              </a:extLst>
            </p:cNvPr>
            <p:cNvCxnSpPr>
              <a:cxnSpLocks/>
            </p:cNvCxnSpPr>
            <p:nvPr/>
          </p:nvCxnSpPr>
          <p:spPr>
            <a:xfrm flipV="1">
              <a:off x="7731434" y="5850796"/>
              <a:ext cx="0" cy="89504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2" name="直線コネクタ 151">
              <a:extLst>
                <a:ext uri="{FF2B5EF4-FFF2-40B4-BE49-F238E27FC236}">
                  <a16:creationId xmlns:a16="http://schemas.microsoft.com/office/drawing/2014/main" id="{F6FBCFF2-D9AB-935A-2E56-8BAA22083C12}"/>
                </a:ext>
              </a:extLst>
            </p:cNvPr>
            <p:cNvCxnSpPr>
              <a:cxnSpLocks/>
            </p:cNvCxnSpPr>
            <p:nvPr/>
          </p:nvCxnSpPr>
          <p:spPr>
            <a:xfrm>
              <a:off x="2560088" y="4043007"/>
              <a:ext cx="4275807"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53" name="直線コネクタ 152">
              <a:extLst>
                <a:ext uri="{FF2B5EF4-FFF2-40B4-BE49-F238E27FC236}">
                  <a16:creationId xmlns:a16="http://schemas.microsoft.com/office/drawing/2014/main" id="{F25CCAA1-62D5-C831-F203-2C8DB7656308}"/>
                </a:ext>
              </a:extLst>
            </p:cNvPr>
            <p:cNvCxnSpPr>
              <a:cxnSpLocks/>
            </p:cNvCxnSpPr>
            <p:nvPr/>
          </p:nvCxnSpPr>
          <p:spPr>
            <a:xfrm flipH="1">
              <a:off x="2018018" y="4043793"/>
              <a:ext cx="550826" cy="36443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4" name="直線コネクタ 153">
              <a:extLst>
                <a:ext uri="{FF2B5EF4-FFF2-40B4-BE49-F238E27FC236}">
                  <a16:creationId xmlns:a16="http://schemas.microsoft.com/office/drawing/2014/main" id="{1D61D629-D181-6F3D-621F-CED77EAB98B1}"/>
                </a:ext>
              </a:extLst>
            </p:cNvPr>
            <p:cNvCxnSpPr>
              <a:cxnSpLocks/>
            </p:cNvCxnSpPr>
            <p:nvPr/>
          </p:nvCxnSpPr>
          <p:spPr>
            <a:xfrm>
              <a:off x="6832664" y="4034606"/>
              <a:ext cx="0" cy="1410268"/>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6" name="テキスト ボックス 155">
              <a:extLst>
                <a:ext uri="{FF2B5EF4-FFF2-40B4-BE49-F238E27FC236}">
                  <a16:creationId xmlns:a16="http://schemas.microsoft.com/office/drawing/2014/main" id="{BE3F9EF3-B153-D56D-BADD-9EA9777A87AD}"/>
                </a:ext>
              </a:extLst>
            </p:cNvPr>
            <p:cNvSpPr txBox="1"/>
            <p:nvPr/>
          </p:nvSpPr>
          <p:spPr>
            <a:xfrm>
              <a:off x="5291385" y="4537814"/>
              <a:ext cx="931569"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7" name="テキスト ボックス 156">
              <a:extLst>
                <a:ext uri="{FF2B5EF4-FFF2-40B4-BE49-F238E27FC236}">
                  <a16:creationId xmlns:a16="http://schemas.microsoft.com/office/drawing/2014/main" id="{0A23CA67-B134-8F1B-B158-9E7C51CBAF1F}"/>
                </a:ext>
              </a:extLst>
            </p:cNvPr>
            <p:cNvSpPr txBox="1"/>
            <p:nvPr/>
          </p:nvSpPr>
          <p:spPr>
            <a:xfrm>
              <a:off x="6031862" y="4989963"/>
              <a:ext cx="998050"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158" name="テキスト ボックス 157">
              <a:extLst>
                <a:ext uri="{FF2B5EF4-FFF2-40B4-BE49-F238E27FC236}">
                  <a16:creationId xmlns:a16="http://schemas.microsoft.com/office/drawing/2014/main" id="{730F1B75-8ECE-7EF5-E246-0C35AAECFE05}"/>
                </a:ext>
              </a:extLst>
            </p:cNvPr>
            <p:cNvSpPr txBox="1"/>
            <p:nvPr/>
          </p:nvSpPr>
          <p:spPr>
            <a:xfrm>
              <a:off x="7172855" y="5805644"/>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59" name="直線コネクタ 158">
              <a:extLst>
                <a:ext uri="{FF2B5EF4-FFF2-40B4-BE49-F238E27FC236}">
                  <a16:creationId xmlns:a16="http://schemas.microsoft.com/office/drawing/2014/main" id="{5D0BB234-2F9D-8D81-6C2C-0028D03492EE}"/>
                </a:ext>
              </a:extLst>
            </p:cNvPr>
            <p:cNvCxnSpPr>
              <a:cxnSpLocks/>
            </p:cNvCxnSpPr>
            <p:nvPr/>
          </p:nvCxnSpPr>
          <p:spPr>
            <a:xfrm>
              <a:off x="9657711"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60" name="直線コネクタ 159">
              <a:extLst>
                <a:ext uri="{FF2B5EF4-FFF2-40B4-BE49-F238E27FC236}">
                  <a16:creationId xmlns:a16="http://schemas.microsoft.com/office/drawing/2014/main" id="{D0F47B10-0CA8-DE86-4E72-2CDCE9220EF9}"/>
                </a:ext>
              </a:extLst>
            </p:cNvPr>
            <p:cNvCxnSpPr>
              <a:cxnSpLocks/>
            </p:cNvCxnSpPr>
            <p:nvPr/>
          </p:nvCxnSpPr>
          <p:spPr>
            <a:xfrm>
              <a:off x="10663514"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1" name="テキスト ボックス 160">
                  <a:extLst>
                    <a:ext uri="{FF2B5EF4-FFF2-40B4-BE49-F238E27FC236}">
                      <a16:creationId xmlns:a16="http://schemas.microsoft.com/office/drawing/2014/main" id="{9D363F70-1776-4D81-9D1C-E6192B981550}"/>
                    </a:ext>
                  </a:extLst>
                </p:cNvPr>
                <p:cNvSpPr txBox="1"/>
                <p:nvPr/>
              </p:nvSpPr>
              <p:spPr>
                <a:xfrm>
                  <a:off x="10032162" y="4548923"/>
                  <a:ext cx="319319" cy="6615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4000" i="1" smtClean="0">
                            <a:latin typeface="Cambria Math" panose="02040503050406030204" pitchFamily="18" charset="0"/>
                          </a:rPr>
                          <m:t>𝜏</m:t>
                        </m:r>
                        <m:r>
                          <m:rPr>
                            <m:sty m:val="p"/>
                          </m:rPr>
                          <a:rPr kumimoji="1" lang="en-US" altLang="ja-JP" sz="4000" b="0" i="0" baseline="-25000" smtClean="0">
                            <a:latin typeface="Cambria Math" panose="02040503050406030204" pitchFamily="18" charset="0"/>
                          </a:rPr>
                          <m:t>n</m:t>
                        </m:r>
                      </m:oMath>
                    </m:oMathPara>
                  </a14:m>
                  <a:endParaRPr kumimoji="1" lang="ja-JP" altLang="en-US" sz="4000" baseline="-25000"/>
                </a:p>
              </p:txBody>
            </p:sp>
          </mc:Choice>
          <mc:Fallback xmlns="">
            <p:sp>
              <p:nvSpPr>
                <p:cNvPr id="161" name="テキスト ボックス 160">
                  <a:extLst>
                    <a:ext uri="{FF2B5EF4-FFF2-40B4-BE49-F238E27FC236}">
                      <a16:creationId xmlns:a16="http://schemas.microsoft.com/office/drawing/2014/main" id="{9D363F70-1776-4D81-9D1C-E6192B981550}"/>
                    </a:ext>
                  </a:extLst>
                </p:cNvPr>
                <p:cNvSpPr txBox="1">
                  <a:spLocks noRot="1" noChangeAspect="1" noMove="1" noResize="1" noEditPoints="1" noAdjustHandles="1" noChangeArrowheads="1" noChangeShapeType="1" noTextEdit="1"/>
                </p:cNvSpPr>
                <p:nvPr/>
              </p:nvSpPr>
              <p:spPr>
                <a:xfrm>
                  <a:off x="10032162" y="4548923"/>
                  <a:ext cx="319319" cy="661527"/>
                </a:xfrm>
                <a:prstGeom prst="rect">
                  <a:avLst/>
                </a:prstGeom>
                <a:blipFill>
                  <a:blip r:embed="rId7"/>
                  <a:stretch>
                    <a:fillRect l="-41667" r="-70833" b="-12245"/>
                  </a:stretch>
                </a:blipFill>
              </p:spPr>
              <p:txBody>
                <a:bodyPr/>
                <a:lstStyle/>
                <a:p>
                  <a:r>
                    <a:rPr lang="ja-JP" altLang="en-US">
                      <a:noFill/>
                    </a:rPr>
                    <a:t> </a:t>
                  </a:r>
                </a:p>
              </p:txBody>
            </p:sp>
          </mc:Fallback>
        </mc:AlternateContent>
        <p:sp>
          <p:nvSpPr>
            <p:cNvPr id="168" name="テキスト ボックス 167">
              <a:extLst>
                <a:ext uri="{FF2B5EF4-FFF2-40B4-BE49-F238E27FC236}">
                  <a16:creationId xmlns:a16="http://schemas.microsoft.com/office/drawing/2014/main" id="{3098172A-705F-FB59-FE47-EFECFAA1F963}"/>
                </a:ext>
              </a:extLst>
            </p:cNvPr>
            <p:cNvSpPr txBox="1"/>
            <p:nvPr/>
          </p:nvSpPr>
          <p:spPr>
            <a:xfrm>
              <a:off x="12880000" y="597105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cxnSp>
          <p:nvCxnSpPr>
            <p:cNvPr id="171" name="直線コネクタ 170">
              <a:extLst>
                <a:ext uri="{FF2B5EF4-FFF2-40B4-BE49-F238E27FC236}">
                  <a16:creationId xmlns:a16="http://schemas.microsoft.com/office/drawing/2014/main" id="{E83B5E57-F900-2647-0E0B-4429C94158DD}"/>
                </a:ext>
              </a:extLst>
            </p:cNvPr>
            <p:cNvCxnSpPr>
              <a:cxnSpLocks/>
            </p:cNvCxnSpPr>
            <p:nvPr/>
          </p:nvCxnSpPr>
          <p:spPr>
            <a:xfrm>
              <a:off x="13930809" y="3610504"/>
              <a:ext cx="0" cy="3578698"/>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175" name="テキスト ボックス 174">
              <a:extLst>
                <a:ext uri="{FF2B5EF4-FFF2-40B4-BE49-F238E27FC236}">
                  <a16:creationId xmlns:a16="http://schemas.microsoft.com/office/drawing/2014/main" id="{FE18D4B9-7AF1-B01D-03B8-542AA7006535}"/>
                </a:ext>
              </a:extLst>
            </p:cNvPr>
            <p:cNvSpPr txBox="1"/>
            <p:nvPr/>
          </p:nvSpPr>
          <p:spPr>
            <a:xfrm>
              <a:off x="13105320" y="3048319"/>
              <a:ext cx="3038841" cy="463184"/>
            </a:xfrm>
            <a:prstGeom prst="rect">
              <a:avLst/>
            </a:prstGeom>
            <a:noFill/>
          </p:spPr>
          <p:txBody>
            <a:bodyPr wrap="square" lIns="0" tIns="0" rIns="0" bIns="0" rtlCol="0">
              <a:spAutoFit/>
            </a:bodyPr>
            <a:lstStyle/>
            <a:p>
              <a:r>
                <a:rPr kumimoji="1" lang="ja-JP" altLang="en-US" sz="2400"/>
                <a:t>予測地点</a:t>
              </a:r>
              <a:r>
                <a:rPr kumimoji="1" lang="en-US" altLang="ja-JP" sz="2800" dirty="0">
                  <a:solidFill>
                    <a:srgbClr val="26272A"/>
                  </a:solidFill>
                  <a:latin typeface="Calibri"/>
                  <a:ea typeface="ＭＳ Ｐゴシック" panose="020B0600070205080204" pitchFamily="34" charset="-128"/>
                </a:rPr>
                <a:t>(</a:t>
              </a:r>
              <a:r>
                <a:rPr kumimoji="1" lang="en-US" altLang="ja-JP" sz="2800" b="0" i="0" u="none" strike="noStrike" kern="1200" cap="none" spc="0" normalizeH="0" baseline="0" noProof="0" dirty="0">
                  <a:ln>
                    <a:noFill/>
                  </a:ln>
                  <a:solidFill>
                    <a:srgbClr val="26272A"/>
                  </a:solidFill>
                  <a:effectLst/>
                  <a:uLnTx/>
                  <a:uFillTx/>
                  <a:latin typeface="Calibri"/>
                  <a:ea typeface="ＭＳ Ｐゴシック" panose="020B0600070205080204" pitchFamily="34" charset="-128"/>
                  <a:cs typeface="+mn-cs"/>
                </a:rPr>
                <a:t>t</a:t>
              </a:r>
              <a:r>
                <a:rPr kumimoji="1" lang="en-US" altLang="ja-JP" sz="2800" b="0" i="0" u="none" strike="noStrike" kern="1200" cap="none" spc="0" normalizeH="0" baseline="-25000" noProof="0" dirty="0">
                  <a:ln>
                    <a:noFill/>
                  </a:ln>
                  <a:solidFill>
                    <a:srgbClr val="26272A"/>
                  </a:solidFill>
                  <a:effectLst/>
                  <a:uLnTx/>
                  <a:uFillTx/>
                  <a:latin typeface="Calibri"/>
                  <a:ea typeface="ＭＳ Ｐゴシック" panose="020B0600070205080204" pitchFamily="34" charset="-128"/>
                  <a:cs typeface="+mn-cs"/>
                </a:rPr>
                <a:t>0</a:t>
              </a:r>
              <a:r>
                <a:rPr kumimoji="1" lang="en-US" altLang="ja-JP" sz="2800" b="0" i="0" u="none" strike="noStrike" kern="1200" cap="none" spc="0" normalizeH="0" noProof="0" dirty="0">
                  <a:ln>
                    <a:noFill/>
                  </a:ln>
                  <a:solidFill>
                    <a:srgbClr val="26272A"/>
                  </a:solidFill>
                  <a:effectLst/>
                  <a:uLnTx/>
                  <a:uFillTx/>
                  <a:latin typeface="Calibri"/>
                  <a:ea typeface="ＭＳ Ｐゴシック" panose="020B0600070205080204" pitchFamily="34" charset="-128"/>
                  <a:cs typeface="+mn-cs"/>
                </a:rPr>
                <a:t>) </a:t>
              </a:r>
              <a:endParaRPr kumimoji="1" lang="ja-JP" altLang="en-US" sz="3600"/>
            </a:p>
          </p:txBody>
        </p:sp>
        <p:sp>
          <p:nvSpPr>
            <p:cNvPr id="241" name="円/楕円 240">
              <a:extLst>
                <a:ext uri="{FF2B5EF4-FFF2-40B4-BE49-F238E27FC236}">
                  <a16:creationId xmlns:a16="http://schemas.microsoft.com/office/drawing/2014/main" id="{E765E437-DA67-8B26-5069-DC57C364C30C}"/>
                </a:ext>
              </a:extLst>
            </p:cNvPr>
            <p:cNvSpPr/>
            <p:nvPr/>
          </p:nvSpPr>
          <p:spPr>
            <a:xfrm>
              <a:off x="12051054"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242" name="円/楕円 241">
              <a:extLst>
                <a:ext uri="{FF2B5EF4-FFF2-40B4-BE49-F238E27FC236}">
                  <a16:creationId xmlns:a16="http://schemas.microsoft.com/office/drawing/2014/main" id="{F20D0671-7677-97F4-F156-66348C916452}"/>
                </a:ext>
              </a:extLst>
            </p:cNvPr>
            <p:cNvSpPr/>
            <p:nvPr/>
          </p:nvSpPr>
          <p:spPr>
            <a:xfrm>
              <a:off x="9972203" y="5371212"/>
              <a:ext cx="432319" cy="4323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243" name="直線コネクタ 242">
              <a:extLst>
                <a:ext uri="{FF2B5EF4-FFF2-40B4-BE49-F238E27FC236}">
                  <a16:creationId xmlns:a16="http://schemas.microsoft.com/office/drawing/2014/main" id="{EA256E86-F2C5-F65B-B51E-879D0BA55DE1}"/>
                </a:ext>
              </a:extLst>
            </p:cNvPr>
            <p:cNvCxnSpPr>
              <a:cxnSpLocks/>
            </p:cNvCxnSpPr>
            <p:nvPr/>
          </p:nvCxnSpPr>
          <p:spPr>
            <a:xfrm>
              <a:off x="10592531" y="6796726"/>
              <a:ext cx="2226969"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244" name="直線コネクタ 243">
              <a:extLst>
                <a:ext uri="{FF2B5EF4-FFF2-40B4-BE49-F238E27FC236}">
                  <a16:creationId xmlns:a16="http://schemas.microsoft.com/office/drawing/2014/main" id="{1DCF606A-7BCF-9EA5-1593-B8E7168E7F97}"/>
                </a:ext>
              </a:extLst>
            </p:cNvPr>
            <p:cNvCxnSpPr>
              <a:cxnSpLocks/>
            </p:cNvCxnSpPr>
            <p:nvPr/>
          </p:nvCxnSpPr>
          <p:spPr>
            <a:xfrm flipV="1">
              <a:off x="12835106" y="6105404"/>
              <a:ext cx="0" cy="709154"/>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48" name="直線コネクタ 247">
              <a:extLst>
                <a:ext uri="{FF2B5EF4-FFF2-40B4-BE49-F238E27FC236}">
                  <a16:creationId xmlns:a16="http://schemas.microsoft.com/office/drawing/2014/main" id="{100A845C-2935-172B-4063-8D32954F036A}"/>
                </a:ext>
              </a:extLst>
            </p:cNvPr>
            <p:cNvCxnSpPr>
              <a:cxnSpLocks/>
            </p:cNvCxnSpPr>
            <p:nvPr/>
          </p:nvCxnSpPr>
          <p:spPr>
            <a:xfrm flipH="1" flipV="1">
              <a:off x="10164938" y="6166343"/>
              <a:ext cx="458310" cy="64841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9CC6C819-30B0-D087-07AB-A5A831B450EA}"/>
                </a:ext>
              </a:extLst>
            </p:cNvPr>
            <p:cNvCxnSpPr>
              <a:cxnSpLocks/>
            </p:cNvCxnSpPr>
            <p:nvPr/>
          </p:nvCxnSpPr>
          <p:spPr>
            <a:xfrm>
              <a:off x="2557638" y="4759872"/>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119" name="直線コネクタ 118">
              <a:extLst>
                <a:ext uri="{FF2B5EF4-FFF2-40B4-BE49-F238E27FC236}">
                  <a16:creationId xmlns:a16="http://schemas.microsoft.com/office/drawing/2014/main" id="{9EFC06F4-0509-8AC1-3156-F036E4478EB2}"/>
                </a:ext>
              </a:extLst>
            </p:cNvPr>
            <p:cNvCxnSpPr>
              <a:cxnSpLocks/>
            </p:cNvCxnSpPr>
            <p:nvPr/>
          </p:nvCxnSpPr>
          <p:spPr>
            <a:xfrm>
              <a:off x="8350220" y="5098026"/>
              <a:ext cx="916179" cy="0"/>
            </a:xfrm>
            <a:prstGeom prst="line">
              <a:avLst/>
            </a:prstGeom>
            <a:ln w="28575">
              <a:solidFill>
                <a:srgbClr val="146082"/>
              </a:solidFill>
              <a:prstDash val="sysDot"/>
            </a:ln>
          </p:spPr>
          <p:style>
            <a:lnRef idx="2">
              <a:schemeClr val="accent1"/>
            </a:lnRef>
            <a:fillRef idx="0">
              <a:schemeClr val="accent1"/>
            </a:fillRef>
            <a:effectRef idx="1">
              <a:schemeClr val="accent1"/>
            </a:effectRef>
            <a:fontRef idx="minor">
              <a:schemeClr val="tx1"/>
            </a:fontRef>
          </p:style>
        </p:cxnSp>
        <p:cxnSp>
          <p:nvCxnSpPr>
            <p:cNvPr id="120" name="直線コネクタ 119">
              <a:extLst>
                <a:ext uri="{FF2B5EF4-FFF2-40B4-BE49-F238E27FC236}">
                  <a16:creationId xmlns:a16="http://schemas.microsoft.com/office/drawing/2014/main" id="{E88B15A8-EC44-0930-913C-13578A7E167C}"/>
                </a:ext>
              </a:extLst>
            </p:cNvPr>
            <p:cNvCxnSpPr>
              <a:cxnSpLocks/>
            </p:cNvCxnSpPr>
            <p:nvPr/>
          </p:nvCxnSpPr>
          <p:spPr>
            <a:xfrm>
              <a:off x="8733388" y="5933338"/>
              <a:ext cx="670791" cy="444385"/>
            </a:xfrm>
            <a:prstGeom prst="line">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21" name="テキスト ボックス 120">
              <a:extLst>
                <a:ext uri="{FF2B5EF4-FFF2-40B4-BE49-F238E27FC236}">
                  <a16:creationId xmlns:a16="http://schemas.microsoft.com/office/drawing/2014/main" id="{F6E60354-51D4-0A72-A8B3-00199BE88F6B}"/>
                </a:ext>
              </a:extLst>
            </p:cNvPr>
            <p:cNvSpPr txBox="1"/>
            <p:nvPr/>
          </p:nvSpPr>
          <p:spPr>
            <a:xfrm>
              <a:off x="1852765" y="4259167"/>
              <a:ext cx="365654" cy="496269"/>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sp>
          <p:nvSpPr>
            <p:cNvPr id="122" name="テキスト ボックス 121">
              <a:extLst>
                <a:ext uri="{FF2B5EF4-FFF2-40B4-BE49-F238E27FC236}">
                  <a16:creationId xmlns:a16="http://schemas.microsoft.com/office/drawing/2014/main" id="{345905FE-68E8-458F-F70E-7E420476F11F}"/>
                </a:ext>
              </a:extLst>
            </p:cNvPr>
            <p:cNvSpPr txBox="1"/>
            <p:nvPr/>
          </p:nvSpPr>
          <p:spPr>
            <a:xfrm>
              <a:off x="2826271" y="5775100"/>
              <a:ext cx="570961" cy="496268"/>
            </a:xfrm>
            <a:prstGeom prst="rect">
              <a:avLst/>
            </a:prstGeom>
            <a:noFill/>
          </p:spPr>
          <p:txBody>
            <a:bodyPr wrap="square" rtlCol="0">
              <a:spAutoFit/>
            </a:bodyPr>
            <a:lstStyle/>
            <a:p>
              <a:r>
                <a:rPr lang="en-US" altLang="ja-JP" sz="2400" b="1" dirty="0">
                  <a:solidFill>
                    <a:srgbClr val="FF0000"/>
                  </a:solidFill>
                </a:rPr>
                <a:t>0</a:t>
              </a:r>
              <a:endParaRPr kumimoji="1" lang="ja-JP" altLang="en-US" sz="2400" b="1">
                <a:solidFill>
                  <a:srgbClr val="FF0000"/>
                </a:solidFill>
              </a:endParaRPr>
            </a:p>
          </p:txBody>
        </p:sp>
        <p:sp>
          <p:nvSpPr>
            <p:cNvPr id="123" name="テキスト ボックス 122">
              <a:extLst>
                <a:ext uri="{FF2B5EF4-FFF2-40B4-BE49-F238E27FC236}">
                  <a16:creationId xmlns:a16="http://schemas.microsoft.com/office/drawing/2014/main" id="{46DC7B9C-4586-8CE6-9C38-D89C422D523C}"/>
                </a:ext>
              </a:extLst>
            </p:cNvPr>
            <p:cNvSpPr txBox="1"/>
            <p:nvPr/>
          </p:nvSpPr>
          <p:spPr>
            <a:xfrm>
              <a:off x="891783" y="4282120"/>
              <a:ext cx="365654" cy="496269"/>
            </a:xfrm>
            <a:prstGeom prst="rect">
              <a:avLst/>
            </a:prstGeom>
            <a:noFill/>
          </p:spPr>
          <p:txBody>
            <a:bodyPr wrap="none" rtlCol="0">
              <a:spAutoFit/>
            </a:bodyPr>
            <a:lstStyle/>
            <a:p>
              <a:r>
                <a:rPr kumimoji="1" lang="en-US" altLang="ja-JP" sz="2400" b="1" dirty="0">
                  <a:solidFill>
                    <a:srgbClr val="FF0000"/>
                  </a:solidFill>
                </a:rPr>
                <a:t>1</a:t>
              </a:r>
              <a:endParaRPr kumimoji="1" lang="ja-JP" altLang="en-US" sz="2400" b="1">
                <a:solidFill>
                  <a:srgbClr val="FF0000"/>
                </a:solidFill>
              </a:endParaRPr>
            </a:p>
          </p:txBody>
        </p:sp>
        <p:sp>
          <p:nvSpPr>
            <p:cNvPr id="126" name="テキスト ボックス 125">
              <a:extLst>
                <a:ext uri="{FF2B5EF4-FFF2-40B4-BE49-F238E27FC236}">
                  <a16:creationId xmlns:a16="http://schemas.microsoft.com/office/drawing/2014/main" id="{C3BA8E55-7B7B-D43D-604A-DB5F3B0063EB}"/>
                </a:ext>
              </a:extLst>
            </p:cNvPr>
            <p:cNvSpPr txBox="1"/>
            <p:nvPr/>
          </p:nvSpPr>
          <p:spPr>
            <a:xfrm>
              <a:off x="4697940" y="6444622"/>
              <a:ext cx="1232400" cy="430100"/>
            </a:xfrm>
            <a:prstGeom prst="rect">
              <a:avLst/>
            </a:prstGeom>
            <a:solidFill>
              <a:schemeClr val="bg1"/>
            </a:solidFill>
            <a:ln w="28575">
              <a:solidFill>
                <a:srgbClr val="146082"/>
              </a:solidFill>
            </a:ln>
          </p:spPr>
          <p:txBody>
            <a:bodyPr wrap="none" rtlCol="0">
              <a:spAutoFit/>
            </a:bodyPr>
            <a:lstStyle/>
            <a:p>
              <a:r>
                <a:rPr kumimoji="1" lang="ja-JP" altLang="en-US" sz="2000" b="1"/>
                <a:t>承諾なし</a:t>
              </a:r>
            </a:p>
          </p:txBody>
        </p:sp>
        <p:sp>
          <p:nvSpPr>
            <p:cNvPr id="127" name="テキスト ボックス 126">
              <a:extLst>
                <a:ext uri="{FF2B5EF4-FFF2-40B4-BE49-F238E27FC236}">
                  <a16:creationId xmlns:a16="http://schemas.microsoft.com/office/drawing/2014/main" id="{255BD2C0-FB4C-79D2-F99C-29E996DB9B5E}"/>
                </a:ext>
              </a:extLst>
            </p:cNvPr>
            <p:cNvSpPr txBox="1"/>
            <p:nvPr/>
          </p:nvSpPr>
          <p:spPr>
            <a:xfrm>
              <a:off x="3252038" y="6742928"/>
              <a:ext cx="1241016" cy="562437"/>
            </a:xfrm>
            <a:prstGeom prst="rect">
              <a:avLst/>
            </a:prstGeom>
            <a:noFill/>
          </p:spPr>
          <p:txBody>
            <a:bodyPr wrap="none" rtlCol="0">
              <a:spAutoFit/>
            </a:bodyPr>
            <a:lstStyle/>
            <a:p>
              <a:r>
                <a:rPr lang="en-US" altLang="ja-JP" sz="2800" b="1" dirty="0"/>
                <a:t>r</a:t>
              </a:r>
              <a:r>
                <a:rPr lang="en-US" altLang="ja-JP" sz="2800" b="1" baseline="-25000" dirty="0"/>
                <a:t>3</a:t>
              </a:r>
              <a:r>
                <a:rPr kumimoji="1" lang="en-US" altLang="ja-JP" sz="2800" b="1" dirty="0"/>
                <a:t>(s,</a:t>
              </a:r>
              <a:r>
                <a:rPr lang="en-US" altLang="ja-JP" sz="2800" b="1" dirty="0"/>
                <a:t> </a:t>
              </a:r>
              <a:r>
                <a:rPr kumimoji="1" lang="en-US" altLang="ja-JP" sz="2800" b="1" dirty="0"/>
                <a:t>a)</a:t>
              </a:r>
              <a:endParaRPr kumimoji="1" lang="ja-JP" altLang="en-US" sz="2800" b="1"/>
            </a:p>
          </p:txBody>
        </p:sp>
        <p:sp>
          <p:nvSpPr>
            <p:cNvPr id="128" name="テキスト ボックス 127">
              <a:extLst>
                <a:ext uri="{FF2B5EF4-FFF2-40B4-BE49-F238E27FC236}">
                  <a16:creationId xmlns:a16="http://schemas.microsoft.com/office/drawing/2014/main" id="{32AC639B-7AB6-11D8-2903-6546CB58C7B9}"/>
                </a:ext>
              </a:extLst>
            </p:cNvPr>
            <p:cNvSpPr txBox="1"/>
            <p:nvPr/>
          </p:nvSpPr>
          <p:spPr>
            <a:xfrm>
              <a:off x="7842156" y="6392354"/>
              <a:ext cx="1285818" cy="562437"/>
            </a:xfrm>
            <a:prstGeom prst="rect">
              <a:avLst/>
            </a:prstGeom>
            <a:noFill/>
          </p:spPr>
          <p:txBody>
            <a:bodyPr wrap="none" rtlCol="0">
              <a:spAutoFit/>
            </a:bodyPr>
            <a:lstStyle/>
            <a:p>
              <a:r>
                <a:rPr lang="en-US" altLang="ja-JP" sz="2800" b="1" dirty="0"/>
                <a:t>y</a:t>
              </a:r>
              <a:r>
                <a:rPr lang="en-US" altLang="ja-JP" sz="2800" b="1" baseline="-25000" dirty="0"/>
                <a:t>3</a:t>
              </a:r>
              <a:r>
                <a:rPr kumimoji="1" lang="en-US" altLang="ja-JP" sz="2800" b="1" dirty="0"/>
                <a:t>(d,</a:t>
              </a:r>
              <a:r>
                <a:rPr lang="en-US" altLang="ja-JP" sz="2800" b="1" dirty="0"/>
                <a:t> r</a:t>
              </a:r>
              <a:r>
                <a:rPr kumimoji="1" lang="en-US" altLang="ja-JP" sz="2800" b="1" dirty="0"/>
                <a:t>)</a:t>
              </a:r>
              <a:endParaRPr kumimoji="1" lang="ja-JP" altLang="en-US" sz="2800" b="1"/>
            </a:p>
          </p:txBody>
        </p:sp>
        <p:sp>
          <p:nvSpPr>
            <p:cNvPr id="250" name="テキスト ボックス 249">
              <a:extLst>
                <a:ext uri="{FF2B5EF4-FFF2-40B4-BE49-F238E27FC236}">
                  <a16:creationId xmlns:a16="http://schemas.microsoft.com/office/drawing/2014/main" id="{4B0D58DA-3DEB-6909-3F4F-9EF0870C4A2D}"/>
                </a:ext>
              </a:extLst>
            </p:cNvPr>
            <p:cNvSpPr txBox="1"/>
            <p:nvPr/>
          </p:nvSpPr>
          <p:spPr>
            <a:xfrm>
              <a:off x="10007219" y="5765079"/>
              <a:ext cx="365654" cy="496268"/>
            </a:xfrm>
            <a:prstGeom prst="rect">
              <a:avLst/>
            </a:prstGeom>
            <a:noFill/>
          </p:spPr>
          <p:txBody>
            <a:bodyPr wrap="none" rtlCol="0">
              <a:spAutoFit/>
            </a:bodyPr>
            <a:lstStyle/>
            <a:p>
              <a:r>
                <a:rPr lang="en-US" altLang="ja-JP" sz="2400" b="1" dirty="0">
                  <a:solidFill>
                    <a:srgbClr val="FF0000"/>
                  </a:solidFill>
                </a:rPr>
                <a:t>1</a:t>
              </a:r>
              <a:endParaRPr kumimoji="1" lang="ja-JP" altLang="en-US" sz="2400" b="1">
                <a:solidFill>
                  <a:srgbClr val="FF0000"/>
                </a:solidFill>
              </a:endParaRPr>
            </a:p>
          </p:txBody>
        </p:sp>
        <p:grpSp>
          <p:nvGrpSpPr>
            <p:cNvPr id="165" name="グループ化 164">
              <a:extLst>
                <a:ext uri="{FF2B5EF4-FFF2-40B4-BE49-F238E27FC236}">
                  <a16:creationId xmlns:a16="http://schemas.microsoft.com/office/drawing/2014/main" id="{4E249F71-D976-0DDB-C12C-652C784BB137}"/>
                </a:ext>
              </a:extLst>
            </p:cNvPr>
            <p:cNvGrpSpPr/>
            <p:nvPr/>
          </p:nvGrpSpPr>
          <p:grpSpPr>
            <a:xfrm>
              <a:off x="10436784" y="4613317"/>
              <a:ext cx="3924190" cy="723853"/>
              <a:chOff x="11033461" y="3840047"/>
              <a:chExt cx="2901969" cy="767762"/>
            </a:xfrm>
          </p:grpSpPr>
          <p:sp>
            <p:nvSpPr>
              <p:cNvPr id="164" name="角丸四角形 163">
                <a:extLst>
                  <a:ext uri="{FF2B5EF4-FFF2-40B4-BE49-F238E27FC236}">
                    <a16:creationId xmlns:a16="http://schemas.microsoft.com/office/drawing/2014/main" id="{63E77C01-2636-292E-8CB3-A6489D1479A8}"/>
                  </a:ext>
                </a:extLst>
              </p:cNvPr>
              <p:cNvSpPr/>
              <p:nvPr/>
            </p:nvSpPr>
            <p:spPr>
              <a:xfrm>
                <a:off x="11589187" y="3840047"/>
                <a:ext cx="1838400" cy="767762"/>
              </a:xfrm>
              <a:prstGeom prst="roundRect">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sz="1400"/>
              </a:p>
            </p:txBody>
          </p:sp>
          <p:sp>
            <p:nvSpPr>
              <p:cNvPr id="163" name="テキスト ボックス 162">
                <a:extLst>
                  <a:ext uri="{FF2B5EF4-FFF2-40B4-BE49-F238E27FC236}">
                    <a16:creationId xmlns:a16="http://schemas.microsoft.com/office/drawing/2014/main" id="{1B1A0703-4AD0-CEAA-FF7F-2E386122A40D}"/>
                  </a:ext>
                </a:extLst>
              </p:cNvPr>
              <p:cNvSpPr txBox="1"/>
              <p:nvPr/>
            </p:nvSpPr>
            <p:spPr>
              <a:xfrm>
                <a:off x="11033461" y="3891679"/>
                <a:ext cx="2901969" cy="666737"/>
              </a:xfrm>
              <a:prstGeom prst="rect">
                <a:avLst/>
              </a:prstGeom>
              <a:noFill/>
            </p:spPr>
            <p:txBody>
              <a:bodyPr wrap="square" rtlCol="0">
                <a:spAutoFit/>
              </a:bodyPr>
              <a:lstStyle/>
              <a:p>
                <a:pPr algn="ctr"/>
                <a:r>
                  <a:rPr kumimoji="1" lang="ja-JP" altLang="en-US" sz="1600">
                    <a:solidFill>
                      <a:schemeClr val="bg1"/>
                    </a:solidFill>
                  </a:rPr>
                  <a:t>リーク防止期間</a:t>
                </a:r>
                <a:endParaRPr kumimoji="1" lang="en-US" altLang="ja-JP" sz="1600" dirty="0">
                  <a:solidFill>
                    <a:schemeClr val="bg1"/>
                  </a:solidFill>
                </a:endParaRPr>
              </a:p>
              <a:p>
                <a:pPr algn="ctr"/>
                <a:r>
                  <a:rPr kumimoji="1" lang="ja-JP" altLang="en-US" sz="1600">
                    <a:solidFill>
                      <a:schemeClr val="bg1"/>
                    </a:solidFill>
                  </a:rPr>
                  <a:t>（ラベル判定のみ）</a:t>
                </a:r>
              </a:p>
            </p:txBody>
          </p:sp>
        </p:grpSp>
        <p:sp>
          <p:nvSpPr>
            <p:cNvPr id="9" name="円/楕円 8">
              <a:extLst>
                <a:ext uri="{FF2B5EF4-FFF2-40B4-BE49-F238E27FC236}">
                  <a16:creationId xmlns:a16="http://schemas.microsoft.com/office/drawing/2014/main" id="{C33CF25C-1E02-7C2D-CD26-153CF6A75CF0}"/>
                </a:ext>
              </a:extLst>
            </p:cNvPr>
            <p:cNvSpPr/>
            <p:nvPr/>
          </p:nvSpPr>
          <p:spPr>
            <a:xfrm>
              <a:off x="13819851" y="5489996"/>
              <a:ext cx="221918" cy="22191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5" name="直線矢印コネクタ 14">
              <a:extLst>
                <a:ext uri="{FF2B5EF4-FFF2-40B4-BE49-F238E27FC236}">
                  <a16:creationId xmlns:a16="http://schemas.microsoft.com/office/drawing/2014/main" id="{6808079C-0DD6-E99E-96CB-925C55C2C654}"/>
                </a:ext>
              </a:extLst>
            </p:cNvPr>
            <p:cNvCxnSpPr>
              <a:cxnSpLocks/>
            </p:cNvCxnSpPr>
            <p:nvPr/>
          </p:nvCxnSpPr>
          <p:spPr>
            <a:xfrm>
              <a:off x="4796775" y="5025375"/>
              <a:ext cx="260120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417D9281-FD36-F98C-6176-3101B31AB603}"/>
                </a:ext>
              </a:extLst>
            </p:cNvPr>
            <p:cNvCxnSpPr>
              <a:cxnSpLocks/>
            </p:cNvCxnSpPr>
            <p:nvPr/>
          </p:nvCxnSpPr>
          <p:spPr>
            <a:xfrm>
              <a:off x="5584814" y="5444875"/>
              <a:ext cx="25657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D10D1016-D327-47EC-156E-7A4AE0F442AA}"/>
                </a:ext>
              </a:extLst>
            </p:cNvPr>
            <p:cNvCxnSpPr>
              <a:cxnSpLocks/>
            </p:cNvCxnSpPr>
            <p:nvPr/>
          </p:nvCxnSpPr>
          <p:spPr>
            <a:xfrm>
              <a:off x="6172447" y="5812076"/>
              <a:ext cx="2560941"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E85F0D7D-A3AE-4E43-569A-BB9EFE9D3771}"/>
                </a:ext>
              </a:extLst>
            </p:cNvPr>
            <p:cNvCxnSpPr>
              <a:cxnSpLocks/>
            </p:cNvCxnSpPr>
            <p:nvPr/>
          </p:nvCxnSpPr>
          <p:spPr>
            <a:xfrm>
              <a:off x="11851912" y="5933338"/>
              <a:ext cx="2061823"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00FED79E-D8EB-8E6D-0FD6-C585B33FD900}"/>
                </a:ext>
              </a:extLst>
            </p:cNvPr>
            <p:cNvCxnSpPr>
              <a:cxnSpLocks/>
            </p:cNvCxnSpPr>
            <p:nvPr/>
          </p:nvCxnSpPr>
          <p:spPr>
            <a:xfrm>
              <a:off x="16370420" y="5098026"/>
              <a:ext cx="2061823" cy="0"/>
            </a:xfrm>
            <a:prstGeom prst="straightConnector1">
              <a:avLst/>
            </a:prstGeom>
            <a:ln w="571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17B28AD1-746C-25F5-CC2C-3EB4F414329C}"/>
                </a:ext>
              </a:extLst>
            </p:cNvPr>
            <p:cNvCxnSpPr>
              <a:cxnSpLocks/>
            </p:cNvCxnSpPr>
            <p:nvPr/>
          </p:nvCxnSpPr>
          <p:spPr>
            <a:xfrm>
              <a:off x="16411556"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5EC83ED5-4681-DBDB-52E8-D987020389C6}"/>
                </a:ext>
              </a:extLst>
            </p:cNvPr>
            <p:cNvCxnSpPr>
              <a:cxnSpLocks/>
            </p:cNvCxnSpPr>
            <p:nvPr/>
          </p:nvCxnSpPr>
          <p:spPr>
            <a:xfrm>
              <a:off x="18473380" y="4806784"/>
              <a:ext cx="0" cy="1654997"/>
            </a:xfrm>
            <a:prstGeom prst="line">
              <a:avLst/>
            </a:prstGeom>
            <a:ln w="57150">
              <a:solidFill>
                <a:srgbClr val="146082"/>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D92C064F-6351-C4DE-603E-0CD3020B9DF5}"/>
                </a:ext>
              </a:extLst>
            </p:cNvPr>
            <p:cNvSpPr txBox="1"/>
            <p:nvPr/>
          </p:nvSpPr>
          <p:spPr>
            <a:xfrm>
              <a:off x="17133710" y="5037443"/>
              <a:ext cx="1297091" cy="430100"/>
            </a:xfrm>
            <a:prstGeom prst="rect">
              <a:avLst/>
            </a:prstGeom>
            <a:noFill/>
          </p:spPr>
          <p:txBody>
            <a:bodyPr wrap="square" rtlCol="0">
              <a:spAutoFit/>
            </a:bodyPr>
            <a:lstStyle/>
            <a:p>
              <a:r>
                <a:rPr kumimoji="1" lang="en-US" altLang="ja-JP" sz="2000" b="1" dirty="0" err="1"/>
                <a:t>W</a:t>
              </a:r>
              <a:r>
                <a:rPr kumimoji="1" lang="en-US" altLang="ja-JP" sz="2000" b="1" baseline="-25000" dirty="0" err="1"/>
                <a:t>h</a:t>
              </a:r>
              <a:endParaRPr kumimoji="1" lang="ja-JP" altLang="en-US" sz="2000" b="1" baseline="-25000"/>
            </a:p>
          </p:txBody>
        </p:sp>
        <p:sp>
          <p:nvSpPr>
            <p:cNvPr id="55" name="テキスト ボックス 54">
              <a:extLst>
                <a:ext uri="{FF2B5EF4-FFF2-40B4-BE49-F238E27FC236}">
                  <a16:creationId xmlns:a16="http://schemas.microsoft.com/office/drawing/2014/main" id="{ECA005E9-6406-BAB0-8822-C6440A321540}"/>
                </a:ext>
              </a:extLst>
            </p:cNvPr>
            <p:cNvSpPr txBox="1"/>
            <p:nvPr/>
          </p:nvSpPr>
          <p:spPr>
            <a:xfrm>
              <a:off x="3903317" y="3853073"/>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sp>
          <p:nvSpPr>
            <p:cNvPr id="125" name="テキスト ボックス 124">
              <a:extLst>
                <a:ext uri="{FF2B5EF4-FFF2-40B4-BE49-F238E27FC236}">
                  <a16:creationId xmlns:a16="http://schemas.microsoft.com/office/drawing/2014/main" id="{8CF9FC8A-6AF9-7D68-2D1C-B380F7E55DDA}"/>
                </a:ext>
              </a:extLst>
            </p:cNvPr>
            <p:cNvSpPr txBox="1"/>
            <p:nvPr/>
          </p:nvSpPr>
          <p:spPr>
            <a:xfrm>
              <a:off x="2767679" y="3514129"/>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cxnSp>
          <p:nvCxnSpPr>
            <p:cNvPr id="57" name="直線コネクタ 56">
              <a:extLst>
                <a:ext uri="{FF2B5EF4-FFF2-40B4-BE49-F238E27FC236}">
                  <a16:creationId xmlns:a16="http://schemas.microsoft.com/office/drawing/2014/main" id="{D92217A3-A12E-C814-A7D9-82F4FC491842}"/>
                </a:ext>
              </a:extLst>
            </p:cNvPr>
            <p:cNvCxnSpPr>
              <a:cxnSpLocks/>
            </p:cNvCxnSpPr>
            <p:nvPr/>
          </p:nvCxnSpPr>
          <p:spPr>
            <a:xfrm>
              <a:off x="17394858" y="4567898"/>
              <a:ext cx="0" cy="513180"/>
            </a:xfrm>
            <a:prstGeom prst="line">
              <a:avLst/>
            </a:prstGeom>
            <a:ln w="38100">
              <a:solidFill>
                <a:srgbClr val="14608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EF41F5C7-736C-292C-CE3E-FDABF33FEFD8}"/>
                </a:ext>
              </a:extLst>
            </p:cNvPr>
            <p:cNvCxnSpPr>
              <a:cxnSpLocks/>
            </p:cNvCxnSpPr>
            <p:nvPr/>
          </p:nvCxnSpPr>
          <p:spPr>
            <a:xfrm flipH="1">
              <a:off x="13954577" y="4567898"/>
              <a:ext cx="477555" cy="982725"/>
            </a:xfrm>
            <a:prstGeom prst="line">
              <a:avLst/>
            </a:prstGeom>
            <a:ln w="38100">
              <a:solidFill>
                <a:srgbClr val="14608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82" name="テキスト ボックス 81">
              <a:extLst>
                <a:ext uri="{FF2B5EF4-FFF2-40B4-BE49-F238E27FC236}">
                  <a16:creationId xmlns:a16="http://schemas.microsoft.com/office/drawing/2014/main" id="{EAA95152-810C-5E95-B80C-1E81636902C5}"/>
                </a:ext>
              </a:extLst>
            </p:cNvPr>
            <p:cNvSpPr txBox="1"/>
            <p:nvPr/>
          </p:nvSpPr>
          <p:spPr>
            <a:xfrm>
              <a:off x="10922106" y="6590030"/>
              <a:ext cx="1335233" cy="430100"/>
            </a:xfrm>
            <a:prstGeom prst="rect">
              <a:avLst/>
            </a:prstGeom>
            <a:solidFill>
              <a:schemeClr val="bg1"/>
            </a:solidFill>
            <a:ln w="28575">
              <a:solidFill>
                <a:srgbClr val="146082"/>
              </a:solidFill>
            </a:ln>
          </p:spPr>
          <p:txBody>
            <a:bodyPr wrap="square" rtlCol="0">
              <a:spAutoFit/>
            </a:bodyPr>
            <a:lstStyle/>
            <a:p>
              <a:r>
                <a:rPr kumimoji="1" lang="ja-JP" altLang="en-US" sz="2000" b="1"/>
                <a:t>承諾あり</a:t>
              </a:r>
            </a:p>
          </p:txBody>
        </p:sp>
      </p:grpSp>
      <p:sp>
        <p:nvSpPr>
          <p:cNvPr id="51" name="円/楕円 50">
            <a:extLst>
              <a:ext uri="{FF2B5EF4-FFF2-40B4-BE49-F238E27FC236}">
                <a16:creationId xmlns:a16="http://schemas.microsoft.com/office/drawing/2014/main" id="{3133BEAD-759E-8E72-756F-BE602CF1B8CB}"/>
              </a:ext>
            </a:extLst>
          </p:cNvPr>
          <p:cNvSpPr/>
          <p:nvPr/>
        </p:nvSpPr>
        <p:spPr>
          <a:xfrm>
            <a:off x="15556682" y="4369142"/>
            <a:ext cx="402175" cy="40217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accent6">
                    <a:lumMod val="75000"/>
                  </a:schemeClr>
                </a:solidFill>
              </a:rPr>
              <a:t>？</a:t>
            </a:r>
          </a:p>
        </p:txBody>
      </p:sp>
      <p:sp>
        <p:nvSpPr>
          <p:cNvPr id="54" name="テキスト ボックス 53">
            <a:extLst>
              <a:ext uri="{FF2B5EF4-FFF2-40B4-BE49-F238E27FC236}">
                <a16:creationId xmlns:a16="http://schemas.microsoft.com/office/drawing/2014/main" id="{F10EA79A-8572-2C61-5DF2-420193C091C0}"/>
              </a:ext>
            </a:extLst>
          </p:cNvPr>
          <p:cNvSpPr txBox="1"/>
          <p:nvPr/>
        </p:nvSpPr>
        <p:spPr>
          <a:xfrm>
            <a:off x="909420" y="2067578"/>
            <a:ext cx="5430634" cy="461665"/>
          </a:xfrm>
          <a:prstGeom prst="rect">
            <a:avLst/>
          </a:prstGeom>
          <a:noFill/>
        </p:spPr>
        <p:txBody>
          <a:bodyPr wrap="square">
            <a:spAutoFit/>
          </a:bodyPr>
          <a:lstStyle/>
          <a:p>
            <a:pPr algn="l"/>
            <a:r>
              <a:rPr lang="en-US" altLang="ja-JP" sz="2400" dirty="0">
                <a:solidFill>
                  <a:schemeClr val="tx1">
                    <a:lumMod val="75000"/>
                    <a:lumOff val="25000"/>
                  </a:schemeClr>
                </a:solidFill>
              </a:rPr>
              <a:t>4-6m</a:t>
            </a:r>
            <a:r>
              <a:rPr lang="ja-JP" altLang="en-US" sz="2400">
                <a:solidFill>
                  <a:schemeClr val="tx1">
                    <a:lumMod val="75000"/>
                    <a:lumOff val="25000"/>
                  </a:schemeClr>
                </a:solidFill>
              </a:rPr>
              <a:t>後にレビュー承諾があるか否か？</a:t>
            </a:r>
            <a:endParaRPr lang="en-US" altLang="ja-JP" sz="2400" dirty="0">
              <a:solidFill>
                <a:schemeClr val="tx1">
                  <a:lumMod val="75000"/>
                  <a:lumOff val="25000"/>
                </a:schemeClr>
              </a:solidFill>
            </a:endParaRPr>
          </a:p>
        </p:txBody>
      </p:sp>
      <p:cxnSp>
        <p:nvCxnSpPr>
          <p:cNvPr id="80" name="直線コネクタ 79">
            <a:extLst>
              <a:ext uri="{FF2B5EF4-FFF2-40B4-BE49-F238E27FC236}">
                <a16:creationId xmlns:a16="http://schemas.microsoft.com/office/drawing/2014/main" id="{5F4144EF-B7DC-39F1-37FD-07E649314613}"/>
              </a:ext>
            </a:extLst>
          </p:cNvPr>
          <p:cNvCxnSpPr>
            <a:cxnSpLocks/>
          </p:cNvCxnSpPr>
          <p:nvPr/>
        </p:nvCxnSpPr>
        <p:spPr>
          <a:xfrm>
            <a:off x="12996863" y="3581220"/>
            <a:ext cx="2790825" cy="0"/>
          </a:xfrm>
          <a:prstGeom prst="line">
            <a:avLst/>
          </a:prstGeom>
          <a:ln w="38100">
            <a:solidFill>
              <a:srgbClr val="146082"/>
            </a:solidFill>
          </a:ln>
        </p:spPr>
        <p:style>
          <a:lnRef idx="2">
            <a:schemeClr val="accent1"/>
          </a:lnRef>
          <a:fillRef idx="0">
            <a:schemeClr val="accent1"/>
          </a:fillRef>
          <a:effectRef idx="1">
            <a:schemeClr val="accent1"/>
          </a:effectRef>
          <a:fontRef idx="minor">
            <a:schemeClr val="tx1"/>
          </a:fontRef>
        </p:style>
      </p:cxnSp>
      <p:sp>
        <p:nvSpPr>
          <p:cNvPr id="46" name="テキスト ボックス 45">
            <a:extLst>
              <a:ext uri="{FF2B5EF4-FFF2-40B4-BE49-F238E27FC236}">
                <a16:creationId xmlns:a16="http://schemas.microsoft.com/office/drawing/2014/main" id="{125BB82D-2FE0-3C59-1AF1-4F70784E7764}"/>
              </a:ext>
            </a:extLst>
          </p:cNvPr>
          <p:cNvSpPr txBox="1"/>
          <p:nvPr/>
        </p:nvSpPr>
        <p:spPr>
          <a:xfrm>
            <a:off x="14212469" y="3384198"/>
            <a:ext cx="763622" cy="400110"/>
          </a:xfrm>
          <a:prstGeom prst="rect">
            <a:avLst/>
          </a:prstGeom>
          <a:solidFill>
            <a:schemeClr val="bg1"/>
          </a:solidFill>
          <a:ln w="28575">
            <a:solidFill>
              <a:srgbClr val="146082"/>
            </a:solidFill>
          </a:ln>
        </p:spPr>
        <p:txBody>
          <a:bodyPr wrap="square" rtlCol="0">
            <a:spAutoFit/>
          </a:bodyPr>
          <a:lstStyle/>
          <a:p>
            <a:r>
              <a:rPr kumimoji="1" lang="ja-JP" altLang="en-US" sz="2000" b="1"/>
              <a:t>予測</a:t>
            </a:r>
          </a:p>
        </p:txBody>
      </p:sp>
      <p:sp>
        <p:nvSpPr>
          <p:cNvPr id="93" name="テキスト ボックス 92">
            <a:extLst>
              <a:ext uri="{FF2B5EF4-FFF2-40B4-BE49-F238E27FC236}">
                <a16:creationId xmlns:a16="http://schemas.microsoft.com/office/drawing/2014/main" id="{D66B0ECA-470D-7606-68FB-BA25651635AD}"/>
              </a:ext>
            </a:extLst>
          </p:cNvPr>
          <p:cNvSpPr txBox="1"/>
          <p:nvPr/>
        </p:nvSpPr>
        <p:spPr>
          <a:xfrm>
            <a:off x="12611304" y="2875518"/>
            <a:ext cx="5430634" cy="400110"/>
          </a:xfrm>
          <a:prstGeom prst="rect">
            <a:avLst/>
          </a:prstGeom>
          <a:noFill/>
        </p:spPr>
        <p:txBody>
          <a:bodyPr wrap="square">
            <a:spAutoFit/>
          </a:bodyPr>
          <a:lstStyle/>
          <a:p>
            <a:pPr algn="l"/>
            <a:r>
              <a:rPr lang="en-US" altLang="ja-JP" sz="2000" dirty="0">
                <a:solidFill>
                  <a:schemeClr val="tx1">
                    <a:lumMod val="75000"/>
                    <a:lumOff val="25000"/>
                  </a:schemeClr>
                </a:solidFill>
              </a:rPr>
              <a:t>4-6m</a:t>
            </a:r>
            <a:r>
              <a:rPr lang="ja-JP" altLang="en-US" sz="2000">
                <a:solidFill>
                  <a:schemeClr val="tx1">
                    <a:lumMod val="75000"/>
                    <a:lumOff val="25000"/>
                  </a:schemeClr>
                </a:solidFill>
              </a:rPr>
              <a:t>後にレビュー承諾があるか否か？</a:t>
            </a:r>
            <a:endParaRPr lang="en-US" altLang="ja-JP" sz="2000" dirty="0">
              <a:solidFill>
                <a:schemeClr val="tx1">
                  <a:lumMod val="75000"/>
                  <a:lumOff val="25000"/>
                </a:schemeClr>
              </a:solidFill>
            </a:endParaRPr>
          </a:p>
        </p:txBody>
      </p:sp>
      <p:sp>
        <p:nvSpPr>
          <p:cNvPr id="7" name="正方形/長方形 6">
            <a:extLst>
              <a:ext uri="{FF2B5EF4-FFF2-40B4-BE49-F238E27FC236}">
                <a16:creationId xmlns:a16="http://schemas.microsoft.com/office/drawing/2014/main" id="{003F5FB5-4E17-5D81-B6C0-49067D2D32D6}"/>
              </a:ext>
            </a:extLst>
          </p:cNvPr>
          <p:cNvSpPr/>
          <p:nvPr/>
        </p:nvSpPr>
        <p:spPr>
          <a:xfrm>
            <a:off x="142875" y="6403012"/>
            <a:ext cx="16316325" cy="2758981"/>
          </a:xfrm>
          <a:prstGeom prst="rect">
            <a:avLst/>
          </a:prstGeom>
          <a:solidFill>
            <a:srgbClr val="FFFFFF">
              <a:alpha val="8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836BB5B-45F1-DEDE-60D6-38C40DBD0DDA}"/>
              </a:ext>
            </a:extLst>
          </p:cNvPr>
          <p:cNvSpPr/>
          <p:nvPr/>
        </p:nvSpPr>
        <p:spPr>
          <a:xfrm>
            <a:off x="982494" y="8315320"/>
            <a:ext cx="15620706" cy="1012672"/>
          </a:xfrm>
          <a:prstGeom prst="rect">
            <a:avLst/>
          </a:prstGeom>
          <a:solidFill>
            <a:srgbClr val="5758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5A8A07F-8688-BE50-C73C-FADFE97CE690}"/>
              </a:ext>
            </a:extLst>
          </p:cNvPr>
          <p:cNvSpPr txBox="1"/>
          <p:nvPr/>
        </p:nvSpPr>
        <p:spPr>
          <a:xfrm>
            <a:off x="993417" y="8683301"/>
            <a:ext cx="15523016" cy="374461"/>
          </a:xfrm>
          <a:prstGeom prst="rect">
            <a:avLst/>
          </a:prstGeom>
          <a:noFill/>
        </p:spPr>
        <p:txBody>
          <a:bodyPr wrap="square">
            <a:spAutoFit/>
          </a:bodyPr>
          <a:lstStyle/>
          <a:p>
            <a:pPr marL="0" indent="0">
              <a:lnSpc>
                <a:spcPts val="2200"/>
              </a:lnSpc>
              <a:buNone/>
            </a:pPr>
            <a:r>
              <a:rPr lang="en-US" altLang="ja-JP" sz="2400" b="1" dirty="0" err="1">
                <a:solidFill>
                  <a:schemeClr val="bg1"/>
                </a:solidFill>
                <a:latin typeface="+mj-ea"/>
                <a:ea typeface="+mj-ea"/>
                <a:cs typeface="Meiryo" pitchFamily="34" charset="-120"/>
              </a:rPr>
              <a:t>累積統計量では平均化される</a:t>
            </a:r>
            <a:r>
              <a:rPr lang="ja-JP" altLang="en-US" sz="2400" b="1">
                <a:solidFill>
                  <a:schemeClr val="bg1"/>
                </a:solidFill>
                <a:latin typeface="+mj-ea"/>
                <a:ea typeface="+mj-ea"/>
                <a:cs typeface="Meiryo" pitchFamily="34" charset="-120"/>
              </a:rPr>
              <a:t>「</a:t>
            </a:r>
            <a:r>
              <a:rPr lang="en-US" altLang="ja-JP" sz="2400" b="1" dirty="0" err="1">
                <a:solidFill>
                  <a:schemeClr val="bg1"/>
                </a:solidFill>
                <a:latin typeface="+mj-ea"/>
                <a:ea typeface="+mj-ea"/>
                <a:cs typeface="Meiryo" pitchFamily="34" charset="-120"/>
              </a:rPr>
              <a:t>活動の停止と再開</a:t>
            </a:r>
            <a:r>
              <a:rPr lang="en-US" altLang="ja-JP" sz="2400" b="1" dirty="0">
                <a:solidFill>
                  <a:schemeClr val="bg1"/>
                </a:solidFill>
                <a:latin typeface="+mj-ea"/>
                <a:ea typeface="+mj-ea"/>
                <a:cs typeface="Meiryo" pitchFamily="34" charset="-120"/>
              </a:rPr>
              <a:t>」</a:t>
            </a:r>
            <a:r>
              <a:rPr lang="ja-JP" altLang="en-US" sz="2400" b="1">
                <a:solidFill>
                  <a:schemeClr val="bg1"/>
                </a:solidFill>
                <a:latin typeface="+mj-ea"/>
                <a:ea typeface="+mj-ea"/>
                <a:cs typeface="Meiryo" pitchFamily="34" charset="-120"/>
              </a:rPr>
              <a:t>，</a:t>
            </a:r>
            <a:r>
              <a:rPr lang="en-US" altLang="ja-JP" sz="2400" b="1" dirty="0">
                <a:solidFill>
                  <a:schemeClr val="bg1"/>
                </a:solidFill>
                <a:latin typeface="+mj-ea"/>
                <a:ea typeface="+mj-ea"/>
                <a:cs typeface="Meiryo" pitchFamily="34" charset="-120"/>
              </a:rPr>
              <a:t>「</a:t>
            </a:r>
            <a:r>
              <a:rPr lang="en-US" altLang="ja-JP" sz="2400" b="1" dirty="0" err="1">
                <a:solidFill>
                  <a:schemeClr val="bg1"/>
                </a:solidFill>
                <a:latin typeface="+mj-ea"/>
                <a:ea typeface="+mj-ea"/>
                <a:cs typeface="Meiryo" pitchFamily="34" charset="-120"/>
              </a:rPr>
              <a:t>関与</a:t>
            </a:r>
            <a:r>
              <a:rPr lang="ja-JP" altLang="en-US" sz="2400" b="1">
                <a:solidFill>
                  <a:schemeClr val="bg1"/>
                </a:solidFill>
                <a:latin typeface="+mj-ea"/>
                <a:ea typeface="+mj-ea"/>
                <a:cs typeface="Meiryo" pitchFamily="34" charset="-120"/>
              </a:rPr>
              <a:t>する</a:t>
            </a:r>
            <a:r>
              <a:rPr lang="en-US" altLang="ja-JP" sz="2400" b="1" dirty="0" err="1">
                <a:solidFill>
                  <a:schemeClr val="bg1"/>
                </a:solidFill>
                <a:latin typeface="+mj-ea"/>
                <a:ea typeface="+mj-ea"/>
                <a:cs typeface="Meiryo" pitchFamily="34" charset="-120"/>
              </a:rPr>
              <a:t>ディレクトリの移り変わり</a:t>
            </a:r>
            <a:r>
              <a:rPr lang="en-US" altLang="ja-JP" sz="2400" b="1" dirty="0">
                <a:solidFill>
                  <a:schemeClr val="bg1"/>
                </a:solidFill>
                <a:latin typeface="+mj-ea"/>
                <a:ea typeface="+mj-ea"/>
                <a:cs typeface="Meiryo" pitchFamily="34" charset="-120"/>
              </a:rPr>
              <a:t>」</a:t>
            </a:r>
            <a:r>
              <a:rPr lang="ja-JP" altLang="en-US" sz="2400" b="1">
                <a:solidFill>
                  <a:schemeClr val="bg1"/>
                </a:solidFill>
                <a:latin typeface="+mj-ea"/>
                <a:ea typeface="+mj-ea"/>
                <a:cs typeface="Meiryo" pitchFamily="34" charset="-120"/>
              </a:rPr>
              <a:t>等</a:t>
            </a:r>
            <a:r>
              <a:rPr lang="en-US" altLang="ja-JP" sz="2400" b="1" dirty="0" err="1">
                <a:solidFill>
                  <a:schemeClr val="bg1"/>
                </a:solidFill>
                <a:latin typeface="+mj-ea"/>
                <a:ea typeface="+mj-ea"/>
                <a:cs typeface="Meiryo" pitchFamily="34" charset="-120"/>
              </a:rPr>
              <a:t>を時間経過順</a:t>
            </a:r>
            <a:r>
              <a:rPr lang="ja-JP" altLang="en-US" sz="2400" b="1">
                <a:solidFill>
                  <a:schemeClr val="bg1"/>
                </a:solidFill>
                <a:latin typeface="+mj-ea"/>
                <a:ea typeface="+mj-ea"/>
                <a:cs typeface="Meiryo" pitchFamily="34" charset="-120"/>
              </a:rPr>
              <a:t>に学習可能</a:t>
            </a:r>
            <a:endParaRPr lang="en-US" altLang="ja-JP" sz="2400" dirty="0">
              <a:solidFill>
                <a:schemeClr val="bg1"/>
              </a:solidFill>
              <a:latin typeface="+mj-ea"/>
              <a:ea typeface="+mj-ea"/>
            </a:endParaRPr>
          </a:p>
        </p:txBody>
      </p:sp>
    </p:spTree>
    <p:extLst>
      <p:ext uri="{BB962C8B-B14F-4D97-AF65-F5344CB8AC3E}">
        <p14:creationId xmlns:p14="http://schemas.microsoft.com/office/powerpoint/2010/main" val="3629263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E96218-2A25-DE5D-92A0-64CF95D470EC}"/>
              </a:ext>
            </a:extLst>
          </p:cNvPr>
          <p:cNvSpPr>
            <a:spLocks noGrp="1"/>
          </p:cNvSpPr>
          <p:nvPr>
            <p:ph type="title"/>
          </p:nvPr>
        </p:nvSpPr>
        <p:spPr/>
        <p:txBody>
          <a:bodyPr/>
          <a:lstStyle/>
          <a:p>
            <a:r>
              <a:rPr kumimoji="1" lang="ja-JP" altLang="en-US"/>
              <a:t>評価方法と比較手法</a:t>
            </a:r>
          </a:p>
        </p:txBody>
      </p:sp>
      <p:sp>
        <p:nvSpPr>
          <p:cNvPr id="3" name="スライド番号プレースホルダー 2">
            <a:extLst>
              <a:ext uri="{FF2B5EF4-FFF2-40B4-BE49-F238E27FC236}">
                <a16:creationId xmlns:a16="http://schemas.microsoft.com/office/drawing/2014/main" id="{2CA5F71F-927F-D496-E5A7-0AB95222CFF5}"/>
              </a:ext>
            </a:extLst>
          </p:cNvPr>
          <p:cNvSpPr>
            <a:spLocks noGrp="1"/>
          </p:cNvSpPr>
          <p:nvPr>
            <p:ph type="sldNum" sz="quarter" idx="12"/>
          </p:nvPr>
        </p:nvSpPr>
        <p:spPr/>
        <p:txBody>
          <a:bodyPr/>
          <a:lstStyle/>
          <a:p>
            <a:fld id="{85D74467-FFC2-5C49-A08A-98A9FE9BCA53}" type="slidenum">
              <a:rPr kumimoji="1" lang="ja-JP" altLang="en-US" smtClean="0"/>
              <a:pPr/>
              <a:t>15</a:t>
            </a:fld>
            <a:endParaRPr kumimoji="1" lang="ja-JP" altLang="en-US"/>
          </a:p>
        </p:txBody>
      </p:sp>
      <p:sp>
        <p:nvSpPr>
          <p:cNvPr id="4" name="テキスト プレースホルダー 3">
            <a:extLst>
              <a:ext uri="{FF2B5EF4-FFF2-40B4-BE49-F238E27FC236}">
                <a16:creationId xmlns:a16="http://schemas.microsoft.com/office/drawing/2014/main" id="{BD47094E-62A5-A572-22A1-9559799A745D}"/>
              </a:ext>
            </a:extLst>
          </p:cNvPr>
          <p:cNvSpPr>
            <a:spLocks noGrp="1"/>
          </p:cNvSpPr>
          <p:nvPr>
            <p:ph type="body" sz="quarter" idx="13"/>
          </p:nvPr>
        </p:nvSpPr>
        <p:spPr>
          <a:xfrm>
            <a:off x="576000" y="2160000"/>
            <a:ext cx="16545352" cy="3588162"/>
          </a:xfrm>
        </p:spPr>
        <p:txBody>
          <a:bodyPr/>
          <a:lstStyle/>
          <a:p>
            <a:r>
              <a:rPr kumimoji="1" lang="ja-JP" altLang="en-US"/>
              <a:t>評価方法</a:t>
            </a:r>
            <a:endParaRPr kumimoji="1" lang="en-US" altLang="ja-JP" dirty="0"/>
          </a:p>
          <a:p>
            <a:pPr lvl="1"/>
            <a:r>
              <a:rPr lang="en-US" altLang="ja-JP" dirty="0"/>
              <a:t>AUC-ROC: </a:t>
            </a:r>
            <a:r>
              <a:rPr lang="ja-JP" altLang="en-US"/>
              <a:t>貢献する開発者としない開発者をどれだけ正しく識別できるか</a:t>
            </a:r>
            <a:endParaRPr lang="en-US" altLang="ja-JP" dirty="0"/>
          </a:p>
          <a:p>
            <a:pPr lvl="1"/>
            <a:r>
              <a:rPr lang="ja-JP" altLang="en-US"/>
              <a:t>有意性の判定：</a:t>
            </a:r>
            <a:r>
              <a:rPr lang="en-US" altLang="ja-JP" dirty="0"/>
              <a:t>bootstrap</a:t>
            </a:r>
            <a:r>
              <a:rPr lang="ja-JP" altLang="en-US"/>
              <a:t>法による</a:t>
            </a:r>
            <a:r>
              <a:rPr lang="en-US" altLang="ja-JP" dirty="0"/>
              <a:t>95%</a:t>
            </a:r>
            <a:r>
              <a:rPr lang="ja-JP" altLang="en-US"/>
              <a:t>信頼区間</a:t>
            </a:r>
            <a:endParaRPr lang="en-US" altLang="ja-JP" dirty="0"/>
          </a:p>
          <a:p>
            <a:r>
              <a:rPr kumimoji="1" lang="ja-JP" altLang="en-US"/>
              <a:t>比較手法：</a:t>
            </a:r>
            <a:r>
              <a:rPr kumimoji="1" lang="en-US" altLang="ja-JP" dirty="0"/>
              <a:t>Random Forest</a:t>
            </a:r>
          </a:p>
          <a:p>
            <a:pPr lvl="1"/>
            <a:r>
              <a:rPr kumimoji="1" lang="ja-JP" altLang="en-US"/>
              <a:t>従来手法で広く用いられる．</a:t>
            </a:r>
            <a:r>
              <a:rPr lang="ja-JP" altLang="en-US"/>
              <a:t>決定木の多数決により貢献確率を算出</a:t>
            </a:r>
            <a:endParaRPr lang="en-US" altLang="ja-JP" sz="2400" dirty="0">
              <a:solidFill>
                <a:schemeClr val="bg1">
                  <a:lumMod val="50000"/>
                </a:schemeClr>
              </a:solidFill>
            </a:endParaRPr>
          </a:p>
        </p:txBody>
      </p:sp>
    </p:spTree>
    <p:extLst>
      <p:ext uri="{BB962C8B-B14F-4D97-AF65-F5344CB8AC3E}">
        <p14:creationId xmlns:p14="http://schemas.microsoft.com/office/powerpoint/2010/main" val="465571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6001AB-69E2-DEF0-FA7F-AED4AD4412A0}"/>
              </a:ext>
            </a:extLst>
          </p:cNvPr>
          <p:cNvSpPr>
            <a:spLocks noGrp="1"/>
          </p:cNvSpPr>
          <p:nvPr>
            <p:ph type="title"/>
          </p:nvPr>
        </p:nvSpPr>
        <p:spPr/>
        <p:txBody>
          <a:bodyPr/>
          <a:lstStyle/>
          <a:p>
            <a:r>
              <a:rPr kumimoji="1" lang="ja-JP" altLang="en-US"/>
              <a:t>ケーススタディ</a:t>
            </a:r>
          </a:p>
        </p:txBody>
      </p:sp>
      <p:sp>
        <p:nvSpPr>
          <p:cNvPr id="3" name="スライド番号プレースホルダー 2">
            <a:extLst>
              <a:ext uri="{FF2B5EF4-FFF2-40B4-BE49-F238E27FC236}">
                <a16:creationId xmlns:a16="http://schemas.microsoft.com/office/drawing/2014/main" id="{8D507739-CCFA-C875-97D6-5B3715184C0F}"/>
              </a:ext>
            </a:extLst>
          </p:cNvPr>
          <p:cNvSpPr>
            <a:spLocks noGrp="1"/>
          </p:cNvSpPr>
          <p:nvPr>
            <p:ph type="sldNum" sz="quarter" idx="12"/>
          </p:nvPr>
        </p:nvSpPr>
        <p:spPr/>
        <p:txBody>
          <a:bodyPr/>
          <a:lstStyle/>
          <a:p>
            <a:fld id="{85D74467-FFC2-5C49-A08A-98A9FE9BCA53}" type="slidenum">
              <a:rPr kumimoji="1" lang="ja-JP" altLang="en-US" smtClean="0"/>
              <a:pPr/>
              <a:t>16</a:t>
            </a:fld>
            <a:endParaRPr kumimoji="1" lang="ja-JP" altLang="en-US"/>
          </a:p>
        </p:txBody>
      </p:sp>
      <p:sp>
        <p:nvSpPr>
          <p:cNvPr id="4" name="テキスト プレースホルダー 3">
            <a:extLst>
              <a:ext uri="{FF2B5EF4-FFF2-40B4-BE49-F238E27FC236}">
                <a16:creationId xmlns:a16="http://schemas.microsoft.com/office/drawing/2014/main" id="{02BB8C23-598C-CDE4-9E07-D36116A8FA57}"/>
              </a:ext>
            </a:extLst>
          </p:cNvPr>
          <p:cNvSpPr>
            <a:spLocks noGrp="1"/>
          </p:cNvSpPr>
          <p:nvPr>
            <p:ph type="body" sz="quarter" idx="13"/>
          </p:nvPr>
        </p:nvSpPr>
        <p:spPr>
          <a:xfrm>
            <a:off x="576000" y="2160000"/>
            <a:ext cx="16185600" cy="5444054"/>
          </a:xfrm>
        </p:spPr>
        <p:txBody>
          <a:bodyPr/>
          <a:lstStyle/>
          <a:p>
            <a:r>
              <a:rPr kumimoji="1" lang="ja-JP" altLang="en-US"/>
              <a:t>対象プロジェクトの選定</a:t>
            </a:r>
            <a:endParaRPr kumimoji="1" lang="en-US" altLang="ja-JP" dirty="0"/>
          </a:p>
          <a:p>
            <a:pPr lvl="1"/>
            <a:r>
              <a:rPr kumimoji="1" lang="en-US" altLang="ja-JP" dirty="0"/>
              <a:t>OpenStack: </a:t>
            </a:r>
          </a:p>
          <a:p>
            <a:pPr lvl="2"/>
            <a:r>
              <a:rPr kumimoji="1" lang="ja-JP" altLang="en-US"/>
              <a:t>公式サービスリポジトリ</a:t>
            </a:r>
            <a:r>
              <a:rPr kumimoji="1" lang="en-US" altLang="ja-JP" dirty="0"/>
              <a:t>33</a:t>
            </a:r>
            <a:r>
              <a:rPr kumimoji="1" lang="ja-JP" altLang="en-US"/>
              <a:t>件のうち，レビュー履歴のない</a:t>
            </a:r>
            <a:r>
              <a:rPr kumimoji="1" lang="en-US" altLang="ja-JP" dirty="0"/>
              <a:t>sunbeam</a:t>
            </a:r>
            <a:r>
              <a:rPr kumimoji="1" lang="ja-JP" altLang="en-US"/>
              <a:t>を除く</a:t>
            </a:r>
            <a:r>
              <a:rPr lang="en-US" altLang="ja-JP" dirty="0"/>
              <a:t>32</a:t>
            </a:r>
            <a:r>
              <a:rPr lang="ja-JP" altLang="en-US"/>
              <a:t>件のリポジトリを選定</a:t>
            </a:r>
            <a:endParaRPr lang="en-US" altLang="ja-JP" dirty="0"/>
          </a:p>
          <a:p>
            <a:pPr lvl="1"/>
            <a:r>
              <a:rPr kumimoji="1" lang="en-US" altLang="ja-JP" dirty="0"/>
              <a:t>A</a:t>
            </a:r>
            <a:r>
              <a:rPr lang="en-US" altLang="ja-JP" dirty="0"/>
              <a:t>OSP:</a:t>
            </a:r>
          </a:p>
          <a:p>
            <a:pPr lvl="2"/>
            <a:r>
              <a:rPr lang="ja-JP" altLang="en-US"/>
              <a:t>活動量に基づき</a:t>
            </a:r>
            <a:r>
              <a:rPr lang="en-US" altLang="ja-JP" dirty="0"/>
              <a:t>32</a:t>
            </a:r>
            <a:r>
              <a:rPr lang="ja-JP" altLang="en-US"/>
              <a:t>件のリポジトリを選定</a:t>
            </a:r>
            <a:endParaRPr lang="en-US" altLang="ja-JP" dirty="0"/>
          </a:p>
          <a:p>
            <a:r>
              <a:rPr lang="ja-JP" altLang="en-US"/>
              <a:t>訓練・評価期間</a:t>
            </a:r>
            <a:endParaRPr lang="en-US" altLang="ja-JP" dirty="0"/>
          </a:p>
          <a:p>
            <a:pPr lvl="1"/>
            <a:r>
              <a:rPr lang="ja-JP" altLang="en-US"/>
              <a:t>訓練期間</a:t>
            </a:r>
            <a:r>
              <a:rPr lang="en-US" altLang="ja-JP" dirty="0"/>
              <a:t>3</a:t>
            </a:r>
            <a:r>
              <a:rPr lang="ja-JP" altLang="en-US"/>
              <a:t>年，評価期間</a:t>
            </a:r>
            <a:r>
              <a:rPr lang="en-US" altLang="ja-JP" dirty="0"/>
              <a:t>1</a:t>
            </a:r>
            <a:r>
              <a:rPr lang="ja-JP" altLang="en-US"/>
              <a:t>年</a:t>
            </a:r>
            <a:r>
              <a:rPr lang="en-US" altLang="ja-JP" dirty="0"/>
              <a:t>, t</a:t>
            </a:r>
            <a:r>
              <a:rPr lang="en-US" altLang="ja-JP" baseline="-25000" dirty="0"/>
              <a:t>0</a:t>
            </a:r>
            <a:r>
              <a:rPr lang="en-US" altLang="ja-JP" dirty="0"/>
              <a:t>(</a:t>
            </a:r>
            <a:r>
              <a:rPr lang="ja-JP" altLang="en-US"/>
              <a:t>予測開始地点</a:t>
            </a:r>
            <a:r>
              <a:rPr lang="en-US" altLang="ja-JP" dirty="0"/>
              <a:t>)2023</a:t>
            </a:r>
            <a:r>
              <a:rPr lang="ja-JP" altLang="en-US"/>
              <a:t>年</a:t>
            </a:r>
            <a:r>
              <a:rPr lang="en-US" altLang="ja-JP" dirty="0"/>
              <a:t>1</a:t>
            </a:r>
            <a:r>
              <a:rPr lang="ja-JP" altLang="en-US"/>
              <a:t>月１日</a:t>
            </a:r>
            <a:endParaRPr lang="en-US" altLang="ja-JP" dirty="0"/>
          </a:p>
          <a:p>
            <a:pPr lvl="1"/>
            <a:endParaRPr lang="en-US" altLang="ja-JP" dirty="0"/>
          </a:p>
        </p:txBody>
      </p:sp>
      <p:graphicFrame>
        <p:nvGraphicFramePr>
          <p:cNvPr id="26" name="Table 0">
            <a:extLst>
              <a:ext uri="{FF2B5EF4-FFF2-40B4-BE49-F238E27FC236}">
                <a16:creationId xmlns:a16="http://schemas.microsoft.com/office/drawing/2014/main" id="{812DF7FA-38C8-C581-2F48-962476F3B84D}"/>
              </a:ext>
            </a:extLst>
          </p:cNvPr>
          <p:cNvGraphicFramePr>
            <a:graphicFrameLocks noGrp="1"/>
          </p:cNvGraphicFramePr>
          <p:nvPr>
            <p:extLst>
              <p:ext uri="{D42A27DB-BD31-4B8C-83A1-F6EECF244321}">
                <p14:modId xmlns:p14="http://schemas.microsoft.com/office/powerpoint/2010/main" val="2911997212"/>
              </p:ext>
            </p:extLst>
          </p:nvPr>
        </p:nvGraphicFramePr>
        <p:xfrm>
          <a:off x="575488" y="7127032"/>
          <a:ext cx="15876757" cy="2034968"/>
        </p:xfrm>
        <a:graphic>
          <a:graphicData uri="http://schemas.openxmlformats.org/drawingml/2006/table">
            <a:tbl>
              <a:tblPr/>
              <a:tblGrid>
                <a:gridCol w="2550482">
                  <a:extLst>
                    <a:ext uri="{9D8B030D-6E8A-4147-A177-3AD203B41FA5}">
                      <a16:colId xmlns:a16="http://schemas.microsoft.com/office/drawing/2014/main" val="20000"/>
                    </a:ext>
                  </a:extLst>
                </a:gridCol>
                <a:gridCol w="1721576">
                  <a:extLst>
                    <a:ext uri="{9D8B030D-6E8A-4147-A177-3AD203B41FA5}">
                      <a16:colId xmlns:a16="http://schemas.microsoft.com/office/drawing/2014/main" val="20001"/>
                    </a:ext>
                  </a:extLst>
                </a:gridCol>
                <a:gridCol w="2167911">
                  <a:extLst>
                    <a:ext uri="{9D8B030D-6E8A-4147-A177-3AD203B41FA5}">
                      <a16:colId xmlns:a16="http://schemas.microsoft.com/office/drawing/2014/main" val="20002"/>
                    </a:ext>
                  </a:extLst>
                </a:gridCol>
                <a:gridCol w="2359197">
                  <a:extLst>
                    <a:ext uri="{9D8B030D-6E8A-4147-A177-3AD203B41FA5}">
                      <a16:colId xmlns:a16="http://schemas.microsoft.com/office/drawing/2014/main" val="20003"/>
                    </a:ext>
                  </a:extLst>
                </a:gridCol>
                <a:gridCol w="1912863">
                  <a:extLst>
                    <a:ext uri="{9D8B030D-6E8A-4147-A177-3AD203B41FA5}">
                      <a16:colId xmlns:a16="http://schemas.microsoft.com/office/drawing/2014/main" val="20004"/>
                    </a:ext>
                  </a:extLst>
                </a:gridCol>
                <a:gridCol w="2359197">
                  <a:extLst>
                    <a:ext uri="{9D8B030D-6E8A-4147-A177-3AD203B41FA5}">
                      <a16:colId xmlns:a16="http://schemas.microsoft.com/office/drawing/2014/main" val="20005"/>
                    </a:ext>
                  </a:extLst>
                </a:gridCol>
                <a:gridCol w="2805531">
                  <a:extLst>
                    <a:ext uri="{9D8B030D-6E8A-4147-A177-3AD203B41FA5}">
                      <a16:colId xmlns:a16="http://schemas.microsoft.com/office/drawing/2014/main" val="20006"/>
                    </a:ext>
                  </a:extLst>
                </a:gridCol>
              </a:tblGrid>
              <a:tr h="458345">
                <a:tc>
                  <a:txBody>
                    <a:bodyPr/>
                    <a:lstStyle/>
                    <a:p>
                      <a:pPr marL="0" indent="0">
                        <a:buNone/>
                      </a:pP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gridSpan="4">
                  <a:txBody>
                    <a:bodyPr/>
                    <a:lstStyle/>
                    <a:p>
                      <a:pPr marL="0" indent="0" algn="ctr">
                        <a:buNone/>
                      </a:pPr>
                      <a:r>
                        <a:rPr lang="en-US" sz="2000" b="1" dirty="0" err="1">
                          <a:solidFill>
                            <a:srgbClr val="262626"/>
                          </a:solidFill>
                          <a:latin typeface="Meiryo" pitchFamily="34" charset="0"/>
                          <a:ea typeface="Meiryo" pitchFamily="34" charset="-122"/>
                          <a:cs typeface="Meiryo" pitchFamily="34" charset="-120"/>
                        </a:rPr>
                        <a:t>データセット全体</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1F2F1"/>
                    </a:solidFill>
                  </a:tcPr>
                </a:tc>
                <a:tc hMerge="1">
                  <a:txBody>
                    <a:bodyPr/>
                    <a:lstStyle/>
                    <a:p>
                      <a:endParaRPr lang="ja-JP"/>
                    </a:p>
                  </a:txBody>
                  <a:tcPr/>
                </a:tc>
                <a:tc hMerge="1">
                  <a:txBody>
                    <a:bodyPr/>
                    <a:lstStyle/>
                    <a:p>
                      <a:endParaRPr lang="ja-JP"/>
                    </a:p>
                  </a:txBody>
                  <a:tcPr/>
                </a:tc>
                <a:tc hMerge="1">
                  <a:txBody>
                    <a:bodyPr/>
                    <a:lstStyle/>
                    <a:p>
                      <a:endParaRPr lang="ja-JP"/>
                    </a:p>
                  </a:txBody>
                  <a:tcPr/>
                </a:tc>
                <a:tc gridSpan="2">
                  <a:txBody>
                    <a:bodyPr/>
                    <a:lstStyle/>
                    <a:p>
                      <a:pPr marL="0" indent="0" algn="ctr">
                        <a:buNone/>
                      </a:pPr>
                      <a:r>
                        <a:rPr lang="en-US" sz="2000" b="1" dirty="0" err="1">
                          <a:solidFill>
                            <a:srgbClr val="FFFFFF"/>
                          </a:solidFill>
                          <a:latin typeface="Meiryo" pitchFamily="34" charset="0"/>
                          <a:ea typeface="Meiryo" pitchFamily="34" charset="-122"/>
                          <a:cs typeface="Meiryo" pitchFamily="34" charset="-120"/>
                        </a:rPr>
                        <a:t>予測対象（訓練・評価の両期間で観測</a:t>
                      </a:r>
                      <a:r>
                        <a:rPr lang="en-US" sz="2000" b="1" dirty="0">
                          <a:solidFill>
                            <a:srgbClr val="FFFFFF"/>
                          </a:solidFill>
                          <a:latin typeface="Meiryo" pitchFamily="34" charset="0"/>
                          <a:ea typeface="Meiryo" pitchFamily="34" charset="-122"/>
                          <a:cs typeface="Meiryo" pitchFamily="34" charset="-120"/>
                        </a:rPr>
                        <a:t>）</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3E4492"/>
                    </a:solidFill>
                  </a:tcPr>
                </a:tc>
                <a:tc hMerge="1">
                  <a:txBody>
                    <a:bodyPr/>
                    <a:lstStyle/>
                    <a:p>
                      <a:endParaRPr lang="ja-JP"/>
                    </a:p>
                  </a:txBody>
                  <a:tcPr/>
                </a:tc>
                <a:extLst>
                  <a:ext uri="{0D108BD9-81ED-4DB2-BD59-A6C34878D82A}">
                    <a16:rowId xmlns:a16="http://schemas.microsoft.com/office/drawing/2014/main" val="10000"/>
                  </a:ext>
                </a:extLst>
              </a:tr>
              <a:tr h="488901">
                <a:tc>
                  <a:txBody>
                    <a:bodyPr/>
                    <a:lstStyle/>
                    <a:p>
                      <a:pPr marL="0" indent="0" algn="l">
                        <a:buNone/>
                      </a:pPr>
                      <a:r>
                        <a:rPr lang="en-US" sz="2000" b="1" dirty="0">
                          <a:solidFill>
                            <a:srgbClr val="FFFFFF"/>
                          </a:solidFill>
                          <a:latin typeface="Meiryo" pitchFamily="34" charset="0"/>
                          <a:ea typeface="Meiryo" pitchFamily="34" charset="-122"/>
                          <a:cs typeface="Meiryo" pitchFamily="34" charset="-120"/>
                        </a:rPr>
                        <a:t>プロジェクト</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リポジトリ</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チケット</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レビュー依頼行</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575860"/>
                    </a:solidFill>
                  </a:tcPr>
                </a:tc>
                <a:tc>
                  <a:txBody>
                    <a:bodyPr/>
                    <a:lstStyle/>
                    <a:p>
                      <a:pPr marL="0" indent="0" algn="ctr">
                        <a:buNone/>
                      </a:pPr>
                      <a:r>
                        <a:rPr lang="en-US" sz="2000" b="1" dirty="0" err="1">
                          <a:solidFill>
                            <a:srgbClr val="FFFFFF"/>
                          </a:solidFill>
                          <a:latin typeface="Meiryo" pitchFamily="34" charset="0"/>
                          <a:ea typeface="Meiryo" pitchFamily="34" charset="-122"/>
                          <a:cs typeface="Meiryo" charset="0"/>
                        </a:rPr>
                        <a:t>開発者</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開発者</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ペア</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575860"/>
                    </a:solidFill>
                  </a:tcPr>
                </a:tc>
                <a:extLst>
                  <a:ext uri="{0D108BD9-81ED-4DB2-BD59-A6C34878D82A}">
                    <a16:rowId xmlns:a16="http://schemas.microsoft.com/office/drawing/2014/main" val="10001"/>
                  </a:ext>
                </a:extLst>
              </a:tr>
              <a:tr h="580570">
                <a:tc>
                  <a:txBody>
                    <a:bodyPr/>
                    <a:lstStyle/>
                    <a:p>
                      <a:pPr marL="0" indent="0">
                        <a:buNone/>
                      </a:pPr>
                      <a:r>
                        <a:rPr lang="en-US" sz="2000" b="1" dirty="0">
                          <a:solidFill>
                            <a:srgbClr val="3E4492"/>
                          </a:solidFill>
                          <a:latin typeface="Meiryo" pitchFamily="34" charset="0"/>
                          <a:ea typeface="Meiryo" pitchFamily="34" charset="-122"/>
                          <a:cs typeface="Meiryo" pitchFamily="34" charset="-120"/>
                        </a:rPr>
                        <a:t>OpenStack</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32</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42,441</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161,111</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2,372</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b="1" dirty="0">
                          <a:solidFill>
                            <a:srgbClr val="262626"/>
                          </a:solidFill>
                          <a:latin typeface="Meiryo" pitchFamily="34" charset="0"/>
                          <a:ea typeface="Meiryo" pitchFamily="34" charset="-122"/>
                          <a:cs typeface="Meiryo" pitchFamily="34" charset="-120"/>
                        </a:rPr>
                        <a:t>436</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EFF7"/>
                    </a:solidFill>
                  </a:tcPr>
                </a:tc>
                <a:tc>
                  <a:txBody>
                    <a:bodyPr/>
                    <a:lstStyle/>
                    <a:p>
                      <a:pPr marL="0" indent="0" algn="r">
                        <a:buNone/>
                      </a:pPr>
                      <a:r>
                        <a:rPr lang="en-US" sz="2000" b="1" dirty="0">
                          <a:solidFill>
                            <a:srgbClr val="262626"/>
                          </a:solidFill>
                          <a:latin typeface="Meiryo" pitchFamily="34" charset="0"/>
                          <a:ea typeface="Meiryo" pitchFamily="34" charset="-122"/>
                          <a:cs typeface="Meiryo" pitchFamily="34" charset="-120"/>
                        </a:rPr>
                        <a:t>4,534</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EFF7"/>
                    </a:solidFill>
                  </a:tcPr>
                </a:tc>
                <a:extLst>
                  <a:ext uri="{0D108BD9-81ED-4DB2-BD59-A6C34878D82A}">
                    <a16:rowId xmlns:a16="http://schemas.microsoft.com/office/drawing/2014/main" val="10002"/>
                  </a:ext>
                </a:extLst>
              </a:tr>
              <a:tr h="507152">
                <a:tc>
                  <a:txBody>
                    <a:bodyPr/>
                    <a:lstStyle/>
                    <a:p>
                      <a:pPr marL="0" indent="0">
                        <a:buNone/>
                      </a:pPr>
                      <a:r>
                        <a:rPr lang="en-US" sz="2000" b="1" dirty="0">
                          <a:solidFill>
                            <a:srgbClr val="4B90B1"/>
                          </a:solidFill>
                          <a:latin typeface="Meiryo" pitchFamily="34" charset="0"/>
                          <a:ea typeface="Meiryo" pitchFamily="34" charset="-122"/>
                          <a:cs typeface="Meiryo" pitchFamily="34" charset="-120"/>
                        </a:rPr>
                        <a:t>AOSP</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32</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408,574</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574,810</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62626"/>
                          </a:solidFill>
                          <a:latin typeface="Meiryo" pitchFamily="34" charset="0"/>
                          <a:ea typeface="Meiryo" pitchFamily="34" charset="-122"/>
                          <a:cs typeface="Meiryo" pitchFamily="34" charset="-120"/>
                        </a:rPr>
                        <a:t>8,901</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r">
                        <a:buNone/>
                      </a:pPr>
                      <a:r>
                        <a:rPr lang="en-US" sz="2000" b="1" dirty="0">
                          <a:solidFill>
                            <a:srgbClr val="262626"/>
                          </a:solidFill>
                          <a:latin typeface="Meiryo" pitchFamily="34" charset="0"/>
                          <a:ea typeface="Meiryo" pitchFamily="34" charset="-122"/>
                          <a:cs typeface="Meiryo" pitchFamily="34" charset="-120"/>
                        </a:rPr>
                        <a:t>2,508</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EFF7"/>
                    </a:solidFill>
                  </a:tcPr>
                </a:tc>
                <a:tc>
                  <a:txBody>
                    <a:bodyPr/>
                    <a:lstStyle/>
                    <a:p>
                      <a:pPr marL="0" indent="0" algn="r">
                        <a:buNone/>
                      </a:pPr>
                      <a:r>
                        <a:rPr lang="en-US" sz="2000" b="1" dirty="0">
                          <a:solidFill>
                            <a:srgbClr val="262626"/>
                          </a:solidFill>
                          <a:latin typeface="Meiryo" pitchFamily="34" charset="0"/>
                          <a:ea typeface="Meiryo" pitchFamily="34" charset="-122"/>
                          <a:cs typeface="Meiryo" pitchFamily="34" charset="-120"/>
                        </a:rPr>
                        <a:t>26,830</a:t>
                      </a:r>
                      <a:endParaRPr lang="en-US" sz="2000" dirty="0">
                        <a:latin typeface="Meiryo" charset="0"/>
                        <a:ea typeface="Meiryo" charset="0"/>
                        <a:cs typeface="Meiryo" charset="0"/>
                      </a:endParaRPr>
                    </a:p>
                  </a:txBody>
                  <a:tcPr marL="152782" marR="152782" marT="76391" marB="76391"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EF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58396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9F950-300C-481D-B2A7-1BD5852E90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4BE035-1AE6-FD82-C3B7-556248832BC1}"/>
              </a:ext>
            </a:extLst>
          </p:cNvPr>
          <p:cNvSpPr>
            <a:spLocks noGrp="1"/>
          </p:cNvSpPr>
          <p:nvPr>
            <p:ph type="title"/>
          </p:nvPr>
        </p:nvSpPr>
        <p:spPr/>
        <p:txBody>
          <a:bodyPr/>
          <a:lstStyle/>
          <a:p>
            <a:r>
              <a:rPr lang="ja-JP" altLang="en-US"/>
              <a:t>結果</a:t>
            </a:r>
            <a:endParaRPr kumimoji="1" lang="ja-JP" altLang="en-US"/>
          </a:p>
        </p:txBody>
      </p:sp>
      <p:sp>
        <p:nvSpPr>
          <p:cNvPr id="3" name="スライド番号プレースホルダー 2">
            <a:extLst>
              <a:ext uri="{FF2B5EF4-FFF2-40B4-BE49-F238E27FC236}">
                <a16:creationId xmlns:a16="http://schemas.microsoft.com/office/drawing/2014/main" id="{3D790A27-9904-5D98-F55E-FA2C0FCDCF3C}"/>
              </a:ext>
            </a:extLst>
          </p:cNvPr>
          <p:cNvSpPr>
            <a:spLocks noGrp="1"/>
          </p:cNvSpPr>
          <p:nvPr>
            <p:ph type="sldNum" sz="quarter" idx="12"/>
          </p:nvPr>
        </p:nvSpPr>
        <p:spPr/>
        <p:txBody>
          <a:bodyPr/>
          <a:lstStyle/>
          <a:p>
            <a:fld id="{85D74467-FFC2-5C49-A08A-98A9FE9BCA53}" type="slidenum">
              <a:rPr kumimoji="1" lang="ja-JP" altLang="en-US" smtClean="0"/>
              <a:pPr/>
              <a:t>17</a:t>
            </a:fld>
            <a:endParaRPr kumimoji="1" lang="ja-JP" altLang="en-US"/>
          </a:p>
        </p:txBody>
      </p:sp>
      <p:sp>
        <p:nvSpPr>
          <p:cNvPr id="4" name="テキスト プレースホルダー 3">
            <a:extLst>
              <a:ext uri="{FF2B5EF4-FFF2-40B4-BE49-F238E27FC236}">
                <a16:creationId xmlns:a16="http://schemas.microsoft.com/office/drawing/2014/main" id="{1E38EF79-3636-1A24-1868-54E37D141E34}"/>
              </a:ext>
            </a:extLst>
          </p:cNvPr>
          <p:cNvSpPr>
            <a:spLocks noGrp="1"/>
          </p:cNvSpPr>
          <p:nvPr>
            <p:ph type="body" sz="quarter" idx="13"/>
          </p:nvPr>
        </p:nvSpPr>
        <p:spPr>
          <a:xfrm>
            <a:off x="576000" y="2160000"/>
            <a:ext cx="16185600" cy="1934889"/>
          </a:xfrm>
        </p:spPr>
        <p:txBody>
          <a:bodyPr/>
          <a:lstStyle/>
          <a:p>
            <a:r>
              <a:rPr kumimoji="1" lang="en-US" altLang="ja-JP" dirty="0"/>
              <a:t>IRL</a:t>
            </a:r>
            <a:r>
              <a:rPr kumimoji="1" lang="ja-JP" altLang="en-US"/>
              <a:t>と</a:t>
            </a:r>
            <a:r>
              <a:rPr kumimoji="1" lang="en-US" altLang="ja-JP" dirty="0"/>
              <a:t>RF</a:t>
            </a:r>
            <a:r>
              <a:rPr kumimoji="1" lang="ja-JP" altLang="en-US"/>
              <a:t>は同程度の予測精度</a:t>
            </a:r>
            <a:endParaRPr kumimoji="1" lang="en-US" altLang="ja-JP" dirty="0"/>
          </a:p>
          <a:p>
            <a:pPr lvl="1"/>
            <a:r>
              <a:rPr lang="en-US" altLang="ja-JP" dirty="0"/>
              <a:t>4</a:t>
            </a:r>
            <a:r>
              <a:rPr lang="ja-JP" altLang="en-US"/>
              <a:t>期間の</a:t>
            </a:r>
            <a:r>
              <a:rPr lang="en-US" altLang="ja-JP" dirty="0"/>
              <a:t>AUC</a:t>
            </a:r>
            <a:r>
              <a:rPr lang="ja-JP" altLang="en-US"/>
              <a:t>では</a:t>
            </a:r>
            <a:r>
              <a:rPr lang="en-US" altLang="ja-JP" dirty="0"/>
              <a:t>OpenStack, AOSP</a:t>
            </a:r>
            <a:r>
              <a:rPr lang="ja-JP" altLang="en-US"/>
              <a:t>ともに</a:t>
            </a:r>
            <a:r>
              <a:rPr lang="en-US" altLang="ja-JP" dirty="0"/>
              <a:t>RF</a:t>
            </a:r>
            <a:r>
              <a:rPr lang="ja-JP" altLang="en-US"/>
              <a:t>が上回った</a:t>
            </a:r>
            <a:endParaRPr lang="en-US" altLang="ja-JP" dirty="0"/>
          </a:p>
          <a:p>
            <a:pPr lvl="1"/>
            <a:r>
              <a:rPr kumimoji="1" lang="ja-JP" altLang="en-US"/>
              <a:t>短期</a:t>
            </a:r>
            <a:r>
              <a:rPr kumimoji="1" lang="en-US" altLang="ja-JP" dirty="0"/>
              <a:t>(1-3m)</a:t>
            </a:r>
            <a:r>
              <a:rPr kumimoji="1" lang="ja-JP" altLang="en-US"/>
              <a:t>では</a:t>
            </a:r>
            <a:r>
              <a:rPr kumimoji="1" lang="en-US" altLang="ja-JP" dirty="0"/>
              <a:t>IRL</a:t>
            </a:r>
            <a:r>
              <a:rPr kumimoji="1" lang="ja-JP" altLang="en-US"/>
              <a:t>がわずかに優位な傾向が見られた</a:t>
            </a:r>
          </a:p>
        </p:txBody>
      </p:sp>
      <p:grpSp>
        <p:nvGrpSpPr>
          <p:cNvPr id="17" name="グループ化 16">
            <a:extLst>
              <a:ext uri="{FF2B5EF4-FFF2-40B4-BE49-F238E27FC236}">
                <a16:creationId xmlns:a16="http://schemas.microsoft.com/office/drawing/2014/main" id="{12BBD1C2-DE64-1AE9-9E06-AF04E644F72C}"/>
              </a:ext>
            </a:extLst>
          </p:cNvPr>
          <p:cNvGrpSpPr/>
          <p:nvPr/>
        </p:nvGrpSpPr>
        <p:grpSpPr>
          <a:xfrm>
            <a:off x="385807" y="10099518"/>
            <a:ext cx="15786051" cy="697376"/>
            <a:chOff x="385807" y="10099518"/>
            <a:chExt cx="15786051" cy="697376"/>
          </a:xfrm>
        </p:grpSpPr>
        <p:sp>
          <p:nvSpPr>
            <p:cNvPr id="8" name="Shape 7">
              <a:extLst>
                <a:ext uri="{FF2B5EF4-FFF2-40B4-BE49-F238E27FC236}">
                  <a16:creationId xmlns:a16="http://schemas.microsoft.com/office/drawing/2014/main" id="{C020817B-C030-6D8D-1135-6B559FBD0B75}"/>
                </a:ext>
              </a:extLst>
            </p:cNvPr>
            <p:cNvSpPr/>
            <p:nvPr/>
          </p:nvSpPr>
          <p:spPr>
            <a:xfrm>
              <a:off x="385807" y="10099518"/>
              <a:ext cx="7734531" cy="697376"/>
            </a:xfrm>
            <a:prstGeom prst="rect">
              <a:avLst/>
            </a:prstGeom>
            <a:solidFill>
              <a:srgbClr val="F1F2F1"/>
            </a:solidFill>
            <a:ln w="12700">
              <a:solidFill>
                <a:srgbClr val="BFBFBF"/>
              </a:solidFill>
              <a:prstDash val="solid"/>
            </a:ln>
          </p:spPr>
          <p:txBody>
            <a:bodyPr/>
            <a:lstStyle/>
            <a:p>
              <a:endParaRPr lang="ja-JP" altLang="en-US" sz="4000"/>
            </a:p>
          </p:txBody>
        </p:sp>
        <p:sp>
          <p:nvSpPr>
            <p:cNvPr id="9" name="Text 8">
              <a:extLst>
                <a:ext uri="{FF2B5EF4-FFF2-40B4-BE49-F238E27FC236}">
                  <a16:creationId xmlns:a16="http://schemas.microsoft.com/office/drawing/2014/main" id="{DFE6CA96-6B58-7C65-AFD5-B938BF14465C}"/>
                </a:ext>
              </a:extLst>
            </p:cNvPr>
            <p:cNvSpPr/>
            <p:nvPr/>
          </p:nvSpPr>
          <p:spPr>
            <a:xfrm>
              <a:off x="576000" y="10099518"/>
              <a:ext cx="7354144" cy="697376"/>
            </a:xfrm>
            <a:prstGeom prst="rect">
              <a:avLst/>
            </a:prstGeom>
            <a:noFill/>
            <a:ln/>
          </p:spPr>
          <p:txBody>
            <a:bodyPr wrap="square" lIns="0" tIns="0" rIns="0" bIns="0" rtlCol="0" anchor="ctr"/>
            <a:lstStyle/>
            <a:p>
              <a:pPr marL="0" indent="0" algn="ctr">
                <a:buNone/>
              </a:pPr>
              <a:r>
                <a:rPr lang="en-US" dirty="0">
                  <a:solidFill>
                    <a:srgbClr val="595959"/>
                  </a:solidFill>
                  <a:latin typeface="Meiryo" pitchFamily="34" charset="0"/>
                  <a:ea typeface="Meiryo" pitchFamily="34" charset="-122"/>
                  <a:cs typeface="Meiryo" pitchFamily="34" charset="-120"/>
                </a:rPr>
                <a:t>∆ </a:t>
              </a:r>
              <a:r>
                <a:rPr lang="en-US" sz="2400" b="1" dirty="0">
                  <a:solidFill>
                    <a:srgbClr val="215044"/>
                  </a:solidFill>
                  <a:latin typeface="Meiryo" pitchFamily="34" charset="0"/>
                  <a:ea typeface="Meiryo" pitchFamily="34" charset="-122"/>
                  <a:cs typeface="Meiryo" pitchFamily="34" charset="-120"/>
                </a:rPr>
                <a:t>+3.5</a:t>
              </a:r>
              <a:r>
                <a:rPr lang="en-US" dirty="0">
                  <a:solidFill>
                    <a:srgbClr val="8C8C8C"/>
                  </a:solidFill>
                  <a:latin typeface="Meiryo" pitchFamily="34" charset="0"/>
                  <a:ea typeface="Meiryo" pitchFamily="34" charset="-122"/>
                  <a:cs typeface="Meiryo" pitchFamily="34" charset="-120"/>
                </a:rPr>
                <a:t> / </a:t>
              </a:r>
              <a:r>
                <a:rPr lang="en-US" sz="2400" b="1" dirty="0">
                  <a:solidFill>
                    <a:srgbClr val="215044"/>
                  </a:solidFill>
                  <a:latin typeface="Meiryo" pitchFamily="34" charset="0"/>
                  <a:ea typeface="Meiryo" pitchFamily="34" charset="-122"/>
                  <a:cs typeface="Meiryo" pitchFamily="34" charset="-120"/>
                </a:rPr>
                <a:t>+0.1</a:t>
              </a:r>
              <a:r>
                <a:rPr lang="en-US" dirty="0">
                  <a:solidFill>
                    <a:srgbClr val="8C8C8C"/>
                  </a:solidFill>
                  <a:latin typeface="Meiryo" pitchFamily="34" charset="0"/>
                  <a:ea typeface="Meiryo" pitchFamily="34" charset="-122"/>
                  <a:cs typeface="Meiryo" pitchFamily="34" charset="-120"/>
                </a:rPr>
                <a:t> / </a:t>
              </a:r>
              <a:r>
                <a:rPr lang="en-US" sz="2400" b="1" dirty="0">
                  <a:solidFill>
                    <a:srgbClr val="C00000"/>
                  </a:solidFill>
                  <a:latin typeface="Meiryo" pitchFamily="34" charset="0"/>
                  <a:ea typeface="Meiryo" pitchFamily="34" charset="-122"/>
                  <a:cs typeface="Meiryo" pitchFamily="34" charset="-120"/>
                </a:rPr>
                <a:t>−4.1</a:t>
              </a:r>
              <a:r>
                <a:rPr lang="en-US" dirty="0">
                  <a:solidFill>
                    <a:srgbClr val="8C8C8C"/>
                  </a:solidFill>
                  <a:latin typeface="Meiryo" pitchFamily="34" charset="0"/>
                  <a:ea typeface="Meiryo" pitchFamily="34" charset="-122"/>
                  <a:cs typeface="Meiryo" pitchFamily="34" charset="-120"/>
                </a:rPr>
                <a:t> / </a:t>
              </a:r>
              <a:r>
                <a:rPr lang="en-US" sz="2400" b="1" dirty="0">
                  <a:solidFill>
                    <a:srgbClr val="C00000"/>
                  </a:solidFill>
                  <a:latin typeface="Meiryo" pitchFamily="34" charset="0"/>
                  <a:ea typeface="Meiryo" pitchFamily="34" charset="-122"/>
                  <a:cs typeface="Meiryo" pitchFamily="34" charset="-120"/>
                </a:rPr>
                <a:t>−5.2</a:t>
              </a:r>
              <a:r>
                <a:rPr lang="en-US" dirty="0">
                  <a:solidFill>
                    <a:srgbClr val="595959"/>
                  </a:solidFill>
                  <a:latin typeface="Meiryo" pitchFamily="34" charset="0"/>
                  <a:ea typeface="Meiryo" pitchFamily="34" charset="-122"/>
                  <a:cs typeface="Meiryo" pitchFamily="34" charset="-120"/>
                </a:rPr>
                <a:t>　4期間平均 </a:t>
              </a:r>
              <a:r>
                <a:rPr lang="en-US" sz="2800" b="1" dirty="0">
                  <a:solidFill>
                    <a:srgbClr val="C00000"/>
                  </a:solidFill>
                  <a:latin typeface="Meiryo" pitchFamily="34" charset="0"/>
                  <a:ea typeface="Meiryo" pitchFamily="34" charset="-122"/>
                  <a:cs typeface="Meiryo" pitchFamily="34" charset="-120"/>
                </a:rPr>
                <a:t>−1.4</a:t>
              </a:r>
              <a:endParaRPr lang="en-US" dirty="0"/>
            </a:p>
          </p:txBody>
        </p:sp>
        <p:sp>
          <p:nvSpPr>
            <p:cNvPr id="10" name="Shape 9">
              <a:extLst>
                <a:ext uri="{FF2B5EF4-FFF2-40B4-BE49-F238E27FC236}">
                  <a16:creationId xmlns:a16="http://schemas.microsoft.com/office/drawing/2014/main" id="{D8863D30-C412-99DA-DAAF-B7165136485C}"/>
                </a:ext>
              </a:extLst>
            </p:cNvPr>
            <p:cNvSpPr/>
            <p:nvPr/>
          </p:nvSpPr>
          <p:spPr>
            <a:xfrm>
              <a:off x="8437327" y="10099518"/>
              <a:ext cx="7734531" cy="697376"/>
            </a:xfrm>
            <a:prstGeom prst="rect">
              <a:avLst/>
            </a:prstGeom>
            <a:solidFill>
              <a:srgbClr val="F1F2F1"/>
            </a:solidFill>
            <a:ln w="12700">
              <a:solidFill>
                <a:srgbClr val="BFBFBF"/>
              </a:solidFill>
              <a:prstDash val="solid"/>
            </a:ln>
          </p:spPr>
          <p:txBody>
            <a:bodyPr/>
            <a:lstStyle/>
            <a:p>
              <a:endParaRPr lang="ja-JP" altLang="en-US" sz="4000"/>
            </a:p>
          </p:txBody>
        </p:sp>
        <p:sp>
          <p:nvSpPr>
            <p:cNvPr id="11" name="Text 10">
              <a:extLst>
                <a:ext uri="{FF2B5EF4-FFF2-40B4-BE49-F238E27FC236}">
                  <a16:creationId xmlns:a16="http://schemas.microsoft.com/office/drawing/2014/main" id="{5C1318C4-9AB4-A1FA-7BFE-BF4516AB5883}"/>
                </a:ext>
              </a:extLst>
            </p:cNvPr>
            <p:cNvSpPr/>
            <p:nvPr/>
          </p:nvSpPr>
          <p:spPr>
            <a:xfrm>
              <a:off x="8627520" y="10099518"/>
              <a:ext cx="7354144" cy="697376"/>
            </a:xfrm>
            <a:prstGeom prst="rect">
              <a:avLst/>
            </a:prstGeom>
            <a:noFill/>
            <a:ln/>
          </p:spPr>
          <p:txBody>
            <a:bodyPr wrap="square" lIns="0" tIns="0" rIns="0" bIns="0" rtlCol="0" anchor="ctr"/>
            <a:lstStyle/>
            <a:p>
              <a:pPr marL="0" indent="0" algn="ctr">
                <a:buNone/>
              </a:pPr>
              <a:r>
                <a:rPr lang="en-US" dirty="0">
                  <a:solidFill>
                    <a:srgbClr val="595959"/>
                  </a:solidFill>
                  <a:latin typeface="Meiryo" pitchFamily="34" charset="0"/>
                  <a:ea typeface="Meiryo" pitchFamily="34" charset="-122"/>
                  <a:cs typeface="Meiryo" pitchFamily="34" charset="-120"/>
                </a:rPr>
                <a:t>∆ </a:t>
              </a:r>
              <a:r>
                <a:rPr lang="en-US" sz="2400" b="1" dirty="0">
                  <a:solidFill>
                    <a:srgbClr val="215044"/>
                  </a:solidFill>
                  <a:latin typeface="Meiryo" pitchFamily="34" charset="0"/>
                  <a:ea typeface="Meiryo" pitchFamily="34" charset="-122"/>
                  <a:cs typeface="Meiryo" pitchFamily="34" charset="-120"/>
                </a:rPr>
                <a:t>+0.6</a:t>
              </a:r>
              <a:r>
                <a:rPr lang="en-US" dirty="0">
                  <a:solidFill>
                    <a:srgbClr val="8C8C8C"/>
                  </a:solidFill>
                  <a:latin typeface="Meiryo" pitchFamily="34" charset="0"/>
                  <a:ea typeface="Meiryo" pitchFamily="34" charset="-122"/>
                  <a:cs typeface="Meiryo" pitchFamily="34" charset="-120"/>
                </a:rPr>
                <a:t> / </a:t>
              </a:r>
              <a:r>
                <a:rPr lang="en-US" sz="2400" b="1" dirty="0">
                  <a:solidFill>
                    <a:srgbClr val="C00000"/>
                  </a:solidFill>
                  <a:latin typeface="Meiryo" pitchFamily="34" charset="0"/>
                  <a:ea typeface="Meiryo" pitchFamily="34" charset="-122"/>
                  <a:cs typeface="Meiryo" pitchFamily="34" charset="-120"/>
                </a:rPr>
                <a:t>−6.8</a:t>
              </a:r>
              <a:r>
                <a:rPr lang="en-US" dirty="0">
                  <a:solidFill>
                    <a:srgbClr val="8C8C8C"/>
                  </a:solidFill>
                  <a:latin typeface="Meiryo" pitchFamily="34" charset="0"/>
                  <a:ea typeface="Meiryo" pitchFamily="34" charset="-122"/>
                  <a:cs typeface="Meiryo" pitchFamily="34" charset="-120"/>
                </a:rPr>
                <a:t> / </a:t>
              </a:r>
              <a:r>
                <a:rPr lang="en-US" sz="2400" b="1" dirty="0">
                  <a:solidFill>
                    <a:srgbClr val="C00000"/>
                  </a:solidFill>
                  <a:latin typeface="Meiryo" pitchFamily="34" charset="0"/>
                  <a:ea typeface="Meiryo" pitchFamily="34" charset="-122"/>
                  <a:cs typeface="Meiryo" pitchFamily="34" charset="-120"/>
                </a:rPr>
                <a:t>−2.0</a:t>
              </a:r>
              <a:r>
                <a:rPr lang="en-US" dirty="0">
                  <a:solidFill>
                    <a:srgbClr val="8C8C8C"/>
                  </a:solidFill>
                  <a:latin typeface="Meiryo" pitchFamily="34" charset="0"/>
                  <a:ea typeface="Meiryo" pitchFamily="34" charset="-122"/>
                  <a:cs typeface="Meiryo" pitchFamily="34" charset="-120"/>
                </a:rPr>
                <a:t> / </a:t>
              </a:r>
              <a:r>
                <a:rPr lang="en-US" sz="2400" b="1" dirty="0">
                  <a:solidFill>
                    <a:srgbClr val="C00000"/>
                  </a:solidFill>
                  <a:latin typeface="Meiryo" pitchFamily="34" charset="0"/>
                  <a:ea typeface="Meiryo" pitchFamily="34" charset="-122"/>
                  <a:cs typeface="Meiryo" pitchFamily="34" charset="-120"/>
                </a:rPr>
                <a:t>−5.4</a:t>
              </a:r>
              <a:r>
                <a:rPr lang="en-US" dirty="0">
                  <a:solidFill>
                    <a:srgbClr val="595959"/>
                  </a:solidFill>
                  <a:latin typeface="Meiryo" pitchFamily="34" charset="0"/>
                  <a:ea typeface="Meiryo" pitchFamily="34" charset="-122"/>
                  <a:cs typeface="Meiryo" pitchFamily="34" charset="-120"/>
                </a:rPr>
                <a:t>　4期間平均 </a:t>
              </a:r>
              <a:r>
                <a:rPr lang="en-US" sz="2800" b="1" dirty="0">
                  <a:solidFill>
                    <a:srgbClr val="C00000"/>
                  </a:solidFill>
                  <a:latin typeface="Meiryo" pitchFamily="34" charset="0"/>
                  <a:ea typeface="Meiryo" pitchFamily="34" charset="-122"/>
                  <a:cs typeface="Meiryo" pitchFamily="34" charset="-120"/>
                </a:rPr>
                <a:t>−3.4</a:t>
              </a:r>
              <a:endParaRPr lang="en-US" dirty="0"/>
            </a:p>
          </p:txBody>
        </p:sp>
      </p:grpSp>
      <p:grpSp>
        <p:nvGrpSpPr>
          <p:cNvPr id="49" name="グループ化 48">
            <a:extLst>
              <a:ext uri="{FF2B5EF4-FFF2-40B4-BE49-F238E27FC236}">
                <a16:creationId xmlns:a16="http://schemas.microsoft.com/office/drawing/2014/main" id="{8CFDDB8F-B0F2-7A5B-37E5-D4B2B65C0872}"/>
              </a:ext>
            </a:extLst>
          </p:cNvPr>
          <p:cNvGrpSpPr/>
          <p:nvPr/>
        </p:nvGrpSpPr>
        <p:grpSpPr>
          <a:xfrm>
            <a:off x="202703" y="4592063"/>
            <a:ext cx="16931681" cy="4721199"/>
            <a:chOff x="271555" y="4382889"/>
            <a:chExt cx="16931681" cy="4721199"/>
          </a:xfrm>
        </p:grpSpPr>
        <p:grpSp>
          <p:nvGrpSpPr>
            <p:cNvPr id="18" name="グループ化 17">
              <a:extLst>
                <a:ext uri="{FF2B5EF4-FFF2-40B4-BE49-F238E27FC236}">
                  <a16:creationId xmlns:a16="http://schemas.microsoft.com/office/drawing/2014/main" id="{66D5F41C-0D4F-7B2A-45BC-D96B4A597CE9}"/>
                </a:ext>
              </a:extLst>
            </p:cNvPr>
            <p:cNvGrpSpPr/>
            <p:nvPr/>
          </p:nvGrpSpPr>
          <p:grpSpPr>
            <a:xfrm>
              <a:off x="271555" y="4382889"/>
              <a:ext cx="16793978" cy="4721199"/>
              <a:chOff x="975038" y="4085180"/>
              <a:chExt cx="15786051" cy="4437846"/>
            </a:xfrm>
          </p:grpSpPr>
          <p:graphicFrame>
            <p:nvGraphicFramePr>
              <p:cNvPr id="6" name="Chart 0">
                <a:extLst>
                  <a:ext uri="{FF2B5EF4-FFF2-40B4-BE49-F238E27FC236}">
                    <a16:creationId xmlns:a16="http://schemas.microsoft.com/office/drawing/2014/main" id="{6F82155E-C6E8-6B39-FA1F-3803C3B121E5}"/>
                  </a:ext>
                </a:extLst>
              </p:cNvPr>
              <p:cNvGraphicFramePr/>
              <p:nvPr>
                <p:extLst>
                  <p:ext uri="{D42A27DB-BD31-4B8C-83A1-F6EECF244321}">
                    <p14:modId xmlns:p14="http://schemas.microsoft.com/office/powerpoint/2010/main" val="2828140251"/>
                  </p:ext>
                </p:extLst>
              </p:nvPr>
            </p:nvGraphicFramePr>
            <p:xfrm>
              <a:off x="975038" y="4085180"/>
              <a:ext cx="7734531" cy="44378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a:extLst>
                  <a:ext uri="{FF2B5EF4-FFF2-40B4-BE49-F238E27FC236}">
                    <a16:creationId xmlns:a16="http://schemas.microsoft.com/office/drawing/2014/main" id="{5DCC0C2D-C515-52DC-70D4-F858732C6163}"/>
                  </a:ext>
                </a:extLst>
              </p:cNvPr>
              <p:cNvGraphicFramePr/>
              <p:nvPr>
                <p:extLst>
                  <p:ext uri="{D42A27DB-BD31-4B8C-83A1-F6EECF244321}">
                    <p14:modId xmlns:p14="http://schemas.microsoft.com/office/powerpoint/2010/main" val="2476631420"/>
                  </p:ext>
                </p:extLst>
              </p:nvPr>
            </p:nvGraphicFramePr>
            <p:xfrm>
              <a:off x="9026558" y="4085180"/>
              <a:ext cx="7734531" cy="4437846"/>
            </p:xfrm>
            <a:graphic>
              <a:graphicData uri="http://schemas.openxmlformats.org/drawingml/2006/chart">
                <c:chart xmlns:c="http://schemas.openxmlformats.org/drawingml/2006/chart" xmlns:r="http://schemas.openxmlformats.org/officeDocument/2006/relationships" r:id="rId4"/>
              </a:graphicData>
            </a:graphic>
          </p:graphicFrame>
        </p:grpSp>
        <p:cxnSp>
          <p:nvCxnSpPr>
            <p:cNvPr id="12" name="直線矢印コネクタ 11">
              <a:extLst>
                <a:ext uri="{FF2B5EF4-FFF2-40B4-BE49-F238E27FC236}">
                  <a16:creationId xmlns:a16="http://schemas.microsoft.com/office/drawing/2014/main" id="{14048F24-0C9F-82CE-6569-3804525FA257}"/>
                </a:ext>
              </a:extLst>
            </p:cNvPr>
            <p:cNvCxnSpPr>
              <a:cxnSpLocks/>
            </p:cNvCxnSpPr>
            <p:nvPr/>
          </p:nvCxnSpPr>
          <p:spPr>
            <a:xfrm flipV="1">
              <a:off x="1402366" y="5496691"/>
              <a:ext cx="705557" cy="422384"/>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6C7E62A-CDDB-0910-287B-E2DB8EBD9BC0}"/>
                </a:ext>
              </a:extLst>
            </p:cNvPr>
            <p:cNvSpPr txBox="1"/>
            <p:nvPr/>
          </p:nvSpPr>
          <p:spPr>
            <a:xfrm>
              <a:off x="776895" y="5183742"/>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3.5</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cxnSp>
          <p:nvCxnSpPr>
            <p:cNvPr id="15" name="直線矢印コネクタ 14">
              <a:extLst>
                <a:ext uri="{FF2B5EF4-FFF2-40B4-BE49-F238E27FC236}">
                  <a16:creationId xmlns:a16="http://schemas.microsoft.com/office/drawing/2014/main" id="{8ABDEF85-B2EB-6920-C9DF-BD12B364030E}"/>
                </a:ext>
              </a:extLst>
            </p:cNvPr>
            <p:cNvCxnSpPr>
              <a:cxnSpLocks/>
            </p:cNvCxnSpPr>
            <p:nvPr/>
          </p:nvCxnSpPr>
          <p:spPr>
            <a:xfrm>
              <a:off x="5400750" y="5853996"/>
              <a:ext cx="552302" cy="573503"/>
            </a:xfrm>
            <a:prstGeom prst="straightConnector1">
              <a:avLst/>
            </a:prstGeom>
            <a:ln w="762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9A4778BD-AF54-75DB-0EE5-6FB0CB87245D}"/>
                </a:ext>
              </a:extLst>
            </p:cNvPr>
            <p:cNvSpPr txBox="1"/>
            <p:nvPr/>
          </p:nvSpPr>
          <p:spPr>
            <a:xfrm>
              <a:off x="5428124" y="5501585"/>
              <a:ext cx="1383872" cy="584775"/>
            </a:xfrm>
            <a:prstGeom prst="rect">
              <a:avLst/>
            </a:prstGeom>
            <a:noFill/>
          </p:spPr>
          <p:txBody>
            <a:bodyPr wrap="square" rtlCol="0">
              <a:spAutoFit/>
            </a:bodyPr>
            <a:lstStyle/>
            <a:p>
              <a:r>
                <a:rPr kumimoji="1" lang="en-US" altLang="ja-JP" sz="3200" dirty="0">
                  <a:solidFill>
                    <a:schemeClr val="accent6">
                      <a:lumMod val="75000"/>
                    </a:schemeClr>
                  </a:solidFill>
                </a:rPr>
                <a:t>-</a:t>
              </a:r>
              <a:r>
                <a:rPr kumimoji="1" lang="en-US" altLang="ja-JP" sz="2800" dirty="0">
                  <a:solidFill>
                    <a:schemeClr val="accent6">
                      <a:lumMod val="75000"/>
                    </a:schemeClr>
                  </a:solidFill>
                </a:rPr>
                <a:t>4.1</a:t>
              </a:r>
              <a:r>
                <a:rPr kumimoji="1" lang="en-US" altLang="ja-JP" sz="2400" dirty="0">
                  <a:solidFill>
                    <a:schemeClr val="accent6">
                      <a:lumMod val="75000"/>
                    </a:schemeClr>
                  </a:solidFill>
                </a:rPr>
                <a:t>pp</a:t>
              </a:r>
              <a:endParaRPr kumimoji="1" lang="ja-JP" altLang="en-US" sz="3200">
                <a:solidFill>
                  <a:schemeClr val="accent6">
                    <a:lumMod val="75000"/>
                  </a:schemeClr>
                </a:solidFill>
              </a:endParaRPr>
            </a:p>
          </p:txBody>
        </p:sp>
        <p:cxnSp>
          <p:nvCxnSpPr>
            <p:cNvPr id="22" name="直線矢印コネクタ 21">
              <a:extLst>
                <a:ext uri="{FF2B5EF4-FFF2-40B4-BE49-F238E27FC236}">
                  <a16:creationId xmlns:a16="http://schemas.microsoft.com/office/drawing/2014/main" id="{A1D946C4-E1F4-0C36-D39A-978EC1BAF838}"/>
                </a:ext>
              </a:extLst>
            </p:cNvPr>
            <p:cNvCxnSpPr>
              <a:cxnSpLocks/>
            </p:cNvCxnSpPr>
            <p:nvPr/>
          </p:nvCxnSpPr>
          <p:spPr>
            <a:xfrm flipV="1">
              <a:off x="3353470" y="5655451"/>
              <a:ext cx="847819" cy="104374"/>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AD6794CD-2560-C195-3B47-C092FE997483}"/>
                </a:ext>
              </a:extLst>
            </p:cNvPr>
            <p:cNvSpPr txBox="1"/>
            <p:nvPr/>
          </p:nvSpPr>
          <p:spPr>
            <a:xfrm>
              <a:off x="3249886" y="5120745"/>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0.1</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cxnSp>
          <p:nvCxnSpPr>
            <p:cNvPr id="29" name="直線矢印コネクタ 28">
              <a:extLst>
                <a:ext uri="{FF2B5EF4-FFF2-40B4-BE49-F238E27FC236}">
                  <a16:creationId xmlns:a16="http://schemas.microsoft.com/office/drawing/2014/main" id="{93FF75F4-1DB5-4BCA-8F44-E270118C67B4}"/>
                </a:ext>
              </a:extLst>
            </p:cNvPr>
            <p:cNvCxnSpPr>
              <a:cxnSpLocks/>
            </p:cNvCxnSpPr>
            <p:nvPr/>
          </p:nvCxnSpPr>
          <p:spPr>
            <a:xfrm>
              <a:off x="7270204" y="5722264"/>
              <a:ext cx="464099" cy="690848"/>
            </a:xfrm>
            <a:prstGeom prst="straightConnector1">
              <a:avLst/>
            </a:prstGeom>
            <a:ln w="762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B4A5B0FA-1642-FE51-570E-4D1E75F2EA99}"/>
                </a:ext>
              </a:extLst>
            </p:cNvPr>
            <p:cNvSpPr txBox="1"/>
            <p:nvPr/>
          </p:nvSpPr>
          <p:spPr>
            <a:xfrm>
              <a:off x="7290868" y="5434264"/>
              <a:ext cx="1383872" cy="584775"/>
            </a:xfrm>
            <a:prstGeom prst="rect">
              <a:avLst/>
            </a:prstGeom>
            <a:noFill/>
          </p:spPr>
          <p:txBody>
            <a:bodyPr wrap="square" rtlCol="0">
              <a:spAutoFit/>
            </a:bodyPr>
            <a:lstStyle/>
            <a:p>
              <a:r>
                <a:rPr kumimoji="1" lang="en-US" altLang="ja-JP" sz="3200" dirty="0">
                  <a:solidFill>
                    <a:schemeClr val="accent6">
                      <a:lumMod val="75000"/>
                    </a:schemeClr>
                  </a:solidFill>
                </a:rPr>
                <a:t>-</a:t>
              </a:r>
              <a:r>
                <a:rPr kumimoji="1" lang="en-US" altLang="ja-JP" sz="2800" dirty="0">
                  <a:solidFill>
                    <a:schemeClr val="accent6">
                      <a:lumMod val="75000"/>
                    </a:schemeClr>
                  </a:solidFill>
                </a:rPr>
                <a:t>5.2</a:t>
              </a:r>
              <a:r>
                <a:rPr kumimoji="1" lang="en-US" altLang="ja-JP" sz="2400" dirty="0">
                  <a:solidFill>
                    <a:schemeClr val="accent6">
                      <a:lumMod val="75000"/>
                    </a:schemeClr>
                  </a:solidFill>
                </a:rPr>
                <a:t>pp</a:t>
              </a:r>
              <a:endParaRPr kumimoji="1" lang="ja-JP" altLang="en-US" sz="3200">
                <a:solidFill>
                  <a:schemeClr val="accent6">
                    <a:lumMod val="75000"/>
                  </a:schemeClr>
                </a:solidFill>
              </a:endParaRPr>
            </a:p>
          </p:txBody>
        </p:sp>
        <p:cxnSp>
          <p:nvCxnSpPr>
            <p:cNvPr id="38" name="直線矢印コネクタ 37">
              <a:extLst>
                <a:ext uri="{FF2B5EF4-FFF2-40B4-BE49-F238E27FC236}">
                  <a16:creationId xmlns:a16="http://schemas.microsoft.com/office/drawing/2014/main" id="{C3E82C8B-E097-70F1-C6BA-CC490B40D2D1}"/>
                </a:ext>
              </a:extLst>
            </p:cNvPr>
            <p:cNvCxnSpPr>
              <a:cxnSpLocks/>
            </p:cNvCxnSpPr>
            <p:nvPr/>
          </p:nvCxnSpPr>
          <p:spPr>
            <a:xfrm flipV="1">
              <a:off x="10069089" y="6134530"/>
              <a:ext cx="731371" cy="153866"/>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59DA3E22-172F-159D-E582-81F5215BBD44}"/>
                </a:ext>
              </a:extLst>
            </p:cNvPr>
            <p:cNvSpPr txBox="1"/>
            <p:nvPr/>
          </p:nvSpPr>
          <p:spPr>
            <a:xfrm>
              <a:off x="9754978" y="5584653"/>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0.6</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cxnSp>
          <p:nvCxnSpPr>
            <p:cNvPr id="41" name="直線矢印コネクタ 40">
              <a:extLst>
                <a:ext uri="{FF2B5EF4-FFF2-40B4-BE49-F238E27FC236}">
                  <a16:creationId xmlns:a16="http://schemas.microsoft.com/office/drawing/2014/main" id="{8AC9AD6A-FC96-1E9C-261E-6B43037B4CF2}"/>
                </a:ext>
              </a:extLst>
            </p:cNvPr>
            <p:cNvCxnSpPr>
              <a:cxnSpLocks/>
            </p:cNvCxnSpPr>
            <p:nvPr/>
          </p:nvCxnSpPr>
          <p:spPr>
            <a:xfrm>
              <a:off x="12123626" y="6240226"/>
              <a:ext cx="434608" cy="780334"/>
            </a:xfrm>
            <a:prstGeom prst="straightConnector1">
              <a:avLst/>
            </a:prstGeom>
            <a:ln w="762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113442C6-8179-B333-361F-5B109F4061D7}"/>
                </a:ext>
              </a:extLst>
            </p:cNvPr>
            <p:cNvSpPr txBox="1"/>
            <p:nvPr/>
          </p:nvSpPr>
          <p:spPr>
            <a:xfrm>
              <a:off x="12123409" y="5919075"/>
              <a:ext cx="1383872" cy="584775"/>
            </a:xfrm>
            <a:prstGeom prst="rect">
              <a:avLst/>
            </a:prstGeom>
            <a:noFill/>
          </p:spPr>
          <p:txBody>
            <a:bodyPr wrap="square" rtlCol="0">
              <a:spAutoFit/>
            </a:bodyPr>
            <a:lstStyle/>
            <a:p>
              <a:r>
                <a:rPr kumimoji="1" lang="en-US" altLang="ja-JP" sz="3200" dirty="0">
                  <a:solidFill>
                    <a:schemeClr val="accent6">
                      <a:lumMod val="75000"/>
                    </a:schemeClr>
                  </a:solidFill>
                </a:rPr>
                <a:t>-</a:t>
              </a:r>
              <a:r>
                <a:rPr kumimoji="1" lang="en-US" altLang="ja-JP" sz="2800" dirty="0">
                  <a:solidFill>
                    <a:schemeClr val="accent6">
                      <a:lumMod val="75000"/>
                    </a:schemeClr>
                  </a:solidFill>
                </a:rPr>
                <a:t>6.8</a:t>
              </a:r>
              <a:r>
                <a:rPr kumimoji="1" lang="en-US" altLang="ja-JP" sz="2400" dirty="0">
                  <a:solidFill>
                    <a:schemeClr val="accent6">
                      <a:lumMod val="75000"/>
                    </a:schemeClr>
                  </a:solidFill>
                </a:rPr>
                <a:t>pp</a:t>
              </a:r>
              <a:endParaRPr kumimoji="1" lang="ja-JP" altLang="en-US" sz="3200">
                <a:solidFill>
                  <a:schemeClr val="accent6">
                    <a:lumMod val="75000"/>
                  </a:schemeClr>
                </a:solidFill>
              </a:endParaRPr>
            </a:p>
          </p:txBody>
        </p:sp>
        <p:cxnSp>
          <p:nvCxnSpPr>
            <p:cNvPr id="44" name="直線矢印コネクタ 43">
              <a:extLst>
                <a:ext uri="{FF2B5EF4-FFF2-40B4-BE49-F238E27FC236}">
                  <a16:creationId xmlns:a16="http://schemas.microsoft.com/office/drawing/2014/main" id="{93F800DD-F465-52F2-8D62-104F88B1FBC9}"/>
                </a:ext>
              </a:extLst>
            </p:cNvPr>
            <p:cNvCxnSpPr>
              <a:cxnSpLocks/>
            </p:cNvCxnSpPr>
            <p:nvPr/>
          </p:nvCxnSpPr>
          <p:spPr>
            <a:xfrm>
              <a:off x="13773942" y="6240226"/>
              <a:ext cx="722473" cy="341997"/>
            </a:xfrm>
            <a:prstGeom prst="straightConnector1">
              <a:avLst/>
            </a:prstGeom>
            <a:ln w="762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6F8F5F05-7430-9502-5AD2-FD5FEEF7B754}"/>
                </a:ext>
              </a:extLst>
            </p:cNvPr>
            <p:cNvSpPr txBox="1"/>
            <p:nvPr/>
          </p:nvSpPr>
          <p:spPr>
            <a:xfrm>
              <a:off x="13718856" y="5807542"/>
              <a:ext cx="1383872" cy="584775"/>
            </a:xfrm>
            <a:prstGeom prst="rect">
              <a:avLst/>
            </a:prstGeom>
            <a:noFill/>
          </p:spPr>
          <p:txBody>
            <a:bodyPr wrap="square" rtlCol="0">
              <a:spAutoFit/>
            </a:bodyPr>
            <a:lstStyle/>
            <a:p>
              <a:r>
                <a:rPr kumimoji="1" lang="en-US" altLang="ja-JP" sz="3200" dirty="0">
                  <a:solidFill>
                    <a:schemeClr val="accent6">
                      <a:lumMod val="75000"/>
                    </a:schemeClr>
                  </a:solidFill>
                </a:rPr>
                <a:t>-</a:t>
              </a:r>
              <a:r>
                <a:rPr kumimoji="1" lang="en-US" altLang="ja-JP" sz="2800" dirty="0">
                  <a:solidFill>
                    <a:schemeClr val="accent6">
                      <a:lumMod val="75000"/>
                    </a:schemeClr>
                  </a:solidFill>
                </a:rPr>
                <a:t>2.0</a:t>
              </a:r>
              <a:r>
                <a:rPr kumimoji="1" lang="en-US" altLang="ja-JP" sz="2400" dirty="0">
                  <a:solidFill>
                    <a:schemeClr val="accent6">
                      <a:lumMod val="75000"/>
                    </a:schemeClr>
                  </a:solidFill>
                </a:rPr>
                <a:t>pp</a:t>
              </a:r>
              <a:endParaRPr kumimoji="1" lang="ja-JP" altLang="en-US" sz="3200">
                <a:solidFill>
                  <a:schemeClr val="accent6">
                    <a:lumMod val="75000"/>
                  </a:schemeClr>
                </a:solidFill>
              </a:endParaRPr>
            </a:p>
          </p:txBody>
        </p:sp>
        <p:cxnSp>
          <p:nvCxnSpPr>
            <p:cNvPr id="47" name="直線矢印コネクタ 46">
              <a:extLst>
                <a:ext uri="{FF2B5EF4-FFF2-40B4-BE49-F238E27FC236}">
                  <a16:creationId xmlns:a16="http://schemas.microsoft.com/office/drawing/2014/main" id="{6BC0A2D4-ABD8-BC58-949B-1D0F977E5F39}"/>
                </a:ext>
              </a:extLst>
            </p:cNvPr>
            <p:cNvCxnSpPr>
              <a:cxnSpLocks/>
            </p:cNvCxnSpPr>
            <p:nvPr/>
          </p:nvCxnSpPr>
          <p:spPr>
            <a:xfrm>
              <a:off x="15819364" y="6099929"/>
              <a:ext cx="499072" cy="737751"/>
            </a:xfrm>
            <a:prstGeom prst="straightConnector1">
              <a:avLst/>
            </a:prstGeom>
            <a:ln w="762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18C51926-DAE0-5A45-1A3E-2026EA5631EA}"/>
                </a:ext>
              </a:extLst>
            </p:cNvPr>
            <p:cNvSpPr txBox="1"/>
            <p:nvPr/>
          </p:nvSpPr>
          <p:spPr>
            <a:xfrm>
              <a:off x="15819364" y="5793972"/>
              <a:ext cx="1383872" cy="584775"/>
            </a:xfrm>
            <a:prstGeom prst="rect">
              <a:avLst/>
            </a:prstGeom>
            <a:noFill/>
          </p:spPr>
          <p:txBody>
            <a:bodyPr wrap="square" rtlCol="0">
              <a:spAutoFit/>
            </a:bodyPr>
            <a:lstStyle/>
            <a:p>
              <a:r>
                <a:rPr kumimoji="1" lang="en-US" altLang="ja-JP" sz="3200" dirty="0">
                  <a:solidFill>
                    <a:schemeClr val="accent6">
                      <a:lumMod val="75000"/>
                    </a:schemeClr>
                  </a:solidFill>
                </a:rPr>
                <a:t>-</a:t>
              </a:r>
              <a:r>
                <a:rPr kumimoji="1" lang="en-US" altLang="ja-JP" sz="2800" dirty="0">
                  <a:solidFill>
                    <a:schemeClr val="accent6">
                      <a:lumMod val="75000"/>
                    </a:schemeClr>
                  </a:solidFill>
                </a:rPr>
                <a:t>5.4</a:t>
              </a:r>
              <a:r>
                <a:rPr kumimoji="1" lang="en-US" altLang="ja-JP" sz="2400" dirty="0">
                  <a:solidFill>
                    <a:schemeClr val="accent6">
                      <a:lumMod val="75000"/>
                    </a:schemeClr>
                  </a:solidFill>
                </a:rPr>
                <a:t>pp</a:t>
              </a:r>
              <a:endParaRPr kumimoji="1" lang="ja-JP" altLang="en-US" sz="3200">
                <a:solidFill>
                  <a:schemeClr val="accent6">
                    <a:lumMod val="75000"/>
                  </a:schemeClr>
                </a:solidFill>
              </a:endParaRPr>
            </a:p>
          </p:txBody>
        </p:sp>
      </p:grpSp>
      <p:grpSp>
        <p:nvGrpSpPr>
          <p:cNvPr id="57" name="グループ化 56">
            <a:extLst>
              <a:ext uri="{FF2B5EF4-FFF2-40B4-BE49-F238E27FC236}">
                <a16:creationId xmlns:a16="http://schemas.microsoft.com/office/drawing/2014/main" id="{9100EB1F-4680-E5E7-1649-20D9A1B9C79B}"/>
              </a:ext>
            </a:extLst>
          </p:cNvPr>
          <p:cNvGrpSpPr/>
          <p:nvPr/>
        </p:nvGrpSpPr>
        <p:grpSpPr>
          <a:xfrm>
            <a:off x="6692929" y="4731297"/>
            <a:ext cx="1875854" cy="724099"/>
            <a:chOff x="12188444" y="3241775"/>
            <a:chExt cx="1875854" cy="724099"/>
          </a:xfrm>
        </p:grpSpPr>
        <p:sp>
          <p:nvSpPr>
            <p:cNvPr id="52" name="正方形/長方形 51">
              <a:extLst>
                <a:ext uri="{FF2B5EF4-FFF2-40B4-BE49-F238E27FC236}">
                  <a16:creationId xmlns:a16="http://schemas.microsoft.com/office/drawing/2014/main" id="{9F761ACE-D204-7E14-4094-521E1563EE1F}"/>
                </a:ext>
              </a:extLst>
            </p:cNvPr>
            <p:cNvSpPr/>
            <p:nvPr/>
          </p:nvSpPr>
          <p:spPr>
            <a:xfrm>
              <a:off x="12188444" y="3362065"/>
              <a:ext cx="167268" cy="167268"/>
            </a:xfrm>
            <a:prstGeom prst="rect">
              <a:avLst/>
            </a:prstGeom>
            <a:solidFill>
              <a:srgbClr val="3D43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31AFA4BE-A0F8-6FAF-CA7D-0D65ED0D1A70}"/>
                </a:ext>
              </a:extLst>
            </p:cNvPr>
            <p:cNvSpPr txBox="1"/>
            <p:nvPr/>
          </p:nvSpPr>
          <p:spPr>
            <a:xfrm>
              <a:off x="12339146" y="3241775"/>
              <a:ext cx="1725152" cy="400110"/>
            </a:xfrm>
            <a:prstGeom prst="rect">
              <a:avLst/>
            </a:prstGeom>
            <a:noFill/>
          </p:spPr>
          <p:txBody>
            <a:bodyPr wrap="none" rtlCol="0">
              <a:spAutoFit/>
            </a:bodyPr>
            <a:lstStyle/>
            <a:p>
              <a:r>
                <a:rPr kumimoji="1" lang="ja-JP" altLang="en-US" sz="2000"/>
                <a:t>比較手法（</a:t>
              </a:r>
              <a:r>
                <a:rPr kumimoji="1" lang="en-US" altLang="ja-JP" sz="2000" dirty="0"/>
                <a:t>RF</a:t>
              </a:r>
              <a:r>
                <a:rPr kumimoji="1" lang="ja-JP" altLang="en-US" sz="2000"/>
                <a:t>）</a:t>
              </a:r>
              <a:endParaRPr kumimoji="1" lang="en-US" altLang="ja-JP" sz="2000" dirty="0"/>
            </a:p>
          </p:txBody>
        </p:sp>
        <p:sp>
          <p:nvSpPr>
            <p:cNvPr id="55" name="テキスト ボックス 54">
              <a:extLst>
                <a:ext uri="{FF2B5EF4-FFF2-40B4-BE49-F238E27FC236}">
                  <a16:creationId xmlns:a16="http://schemas.microsoft.com/office/drawing/2014/main" id="{E376A509-BF5A-4471-222A-C35FBE2B74D0}"/>
                </a:ext>
              </a:extLst>
            </p:cNvPr>
            <p:cNvSpPr txBox="1"/>
            <p:nvPr/>
          </p:nvSpPr>
          <p:spPr>
            <a:xfrm>
              <a:off x="12339146" y="3565764"/>
              <a:ext cx="1662604" cy="400110"/>
            </a:xfrm>
            <a:prstGeom prst="rect">
              <a:avLst/>
            </a:prstGeom>
            <a:noFill/>
          </p:spPr>
          <p:txBody>
            <a:bodyPr wrap="square">
              <a:spAutoFit/>
            </a:bodyPr>
            <a:lstStyle/>
            <a:p>
              <a:r>
                <a:rPr kumimoji="1" lang="ja-JP" altLang="en-US" sz="2000"/>
                <a:t>提案手法</a:t>
              </a:r>
              <a:r>
                <a:rPr kumimoji="1" lang="en-US" altLang="ja-JP" sz="2000" dirty="0"/>
                <a:t>(IRL)</a:t>
              </a:r>
              <a:endParaRPr kumimoji="1" lang="ja-JP" altLang="en-US" sz="2000"/>
            </a:p>
          </p:txBody>
        </p:sp>
        <p:sp>
          <p:nvSpPr>
            <p:cNvPr id="56" name="正方形/長方形 55">
              <a:extLst>
                <a:ext uri="{FF2B5EF4-FFF2-40B4-BE49-F238E27FC236}">
                  <a16:creationId xmlns:a16="http://schemas.microsoft.com/office/drawing/2014/main" id="{B2FD86D8-8837-517F-B4D6-B66F1277C642}"/>
                </a:ext>
              </a:extLst>
            </p:cNvPr>
            <p:cNvSpPr/>
            <p:nvPr/>
          </p:nvSpPr>
          <p:spPr>
            <a:xfrm>
              <a:off x="12188444" y="3678316"/>
              <a:ext cx="167268" cy="167268"/>
            </a:xfrm>
            <a:prstGeom prst="rect">
              <a:avLst/>
            </a:prstGeom>
            <a:solidFill>
              <a:srgbClr val="4A90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a:extLst>
              <a:ext uri="{FF2B5EF4-FFF2-40B4-BE49-F238E27FC236}">
                <a16:creationId xmlns:a16="http://schemas.microsoft.com/office/drawing/2014/main" id="{69C8E666-9A51-6327-D3E5-E9886230AF9C}"/>
              </a:ext>
            </a:extLst>
          </p:cNvPr>
          <p:cNvGrpSpPr/>
          <p:nvPr/>
        </p:nvGrpSpPr>
        <p:grpSpPr>
          <a:xfrm>
            <a:off x="14727346" y="4731297"/>
            <a:ext cx="1875854" cy="724099"/>
            <a:chOff x="12188444" y="3241775"/>
            <a:chExt cx="1875854" cy="724099"/>
          </a:xfrm>
        </p:grpSpPr>
        <p:sp>
          <p:nvSpPr>
            <p:cNvPr id="59" name="正方形/長方形 58">
              <a:extLst>
                <a:ext uri="{FF2B5EF4-FFF2-40B4-BE49-F238E27FC236}">
                  <a16:creationId xmlns:a16="http://schemas.microsoft.com/office/drawing/2014/main" id="{5936092F-E54F-6282-9440-B85376B98E31}"/>
                </a:ext>
              </a:extLst>
            </p:cNvPr>
            <p:cNvSpPr/>
            <p:nvPr/>
          </p:nvSpPr>
          <p:spPr>
            <a:xfrm>
              <a:off x="12188444" y="3362065"/>
              <a:ext cx="167268" cy="167268"/>
            </a:xfrm>
            <a:prstGeom prst="rect">
              <a:avLst/>
            </a:prstGeom>
            <a:solidFill>
              <a:srgbClr val="3D43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A0767B1B-D78B-AFC7-8D97-538F0BB3734B}"/>
                </a:ext>
              </a:extLst>
            </p:cNvPr>
            <p:cNvSpPr txBox="1"/>
            <p:nvPr/>
          </p:nvSpPr>
          <p:spPr>
            <a:xfrm>
              <a:off x="12339146" y="3241775"/>
              <a:ext cx="1725152" cy="400110"/>
            </a:xfrm>
            <a:prstGeom prst="rect">
              <a:avLst/>
            </a:prstGeom>
            <a:noFill/>
          </p:spPr>
          <p:txBody>
            <a:bodyPr wrap="none" rtlCol="0">
              <a:spAutoFit/>
            </a:bodyPr>
            <a:lstStyle/>
            <a:p>
              <a:r>
                <a:rPr kumimoji="1" lang="ja-JP" altLang="en-US" sz="2000"/>
                <a:t>比較手法（</a:t>
              </a:r>
              <a:r>
                <a:rPr kumimoji="1" lang="en-US" altLang="ja-JP" sz="2000" dirty="0"/>
                <a:t>RF</a:t>
              </a:r>
              <a:r>
                <a:rPr kumimoji="1" lang="ja-JP" altLang="en-US" sz="2000"/>
                <a:t>）</a:t>
              </a:r>
              <a:endParaRPr kumimoji="1" lang="en-US" altLang="ja-JP" sz="2000" dirty="0"/>
            </a:p>
          </p:txBody>
        </p:sp>
        <p:sp>
          <p:nvSpPr>
            <p:cNvPr id="61" name="テキスト ボックス 60">
              <a:extLst>
                <a:ext uri="{FF2B5EF4-FFF2-40B4-BE49-F238E27FC236}">
                  <a16:creationId xmlns:a16="http://schemas.microsoft.com/office/drawing/2014/main" id="{3CFAFB1D-54E0-CF92-4F4B-F3D74B4C3608}"/>
                </a:ext>
              </a:extLst>
            </p:cNvPr>
            <p:cNvSpPr txBox="1"/>
            <p:nvPr/>
          </p:nvSpPr>
          <p:spPr>
            <a:xfrm>
              <a:off x="12339146" y="3565764"/>
              <a:ext cx="1662604" cy="400110"/>
            </a:xfrm>
            <a:prstGeom prst="rect">
              <a:avLst/>
            </a:prstGeom>
            <a:noFill/>
          </p:spPr>
          <p:txBody>
            <a:bodyPr wrap="square">
              <a:spAutoFit/>
            </a:bodyPr>
            <a:lstStyle/>
            <a:p>
              <a:r>
                <a:rPr kumimoji="1" lang="ja-JP" altLang="en-US" sz="2000"/>
                <a:t>提案手法</a:t>
              </a:r>
              <a:r>
                <a:rPr kumimoji="1" lang="en-US" altLang="ja-JP" sz="2000" dirty="0"/>
                <a:t>(IRL)</a:t>
              </a:r>
              <a:endParaRPr kumimoji="1" lang="ja-JP" altLang="en-US" sz="2000"/>
            </a:p>
          </p:txBody>
        </p:sp>
        <p:sp>
          <p:nvSpPr>
            <p:cNvPr id="62" name="正方形/長方形 61">
              <a:extLst>
                <a:ext uri="{FF2B5EF4-FFF2-40B4-BE49-F238E27FC236}">
                  <a16:creationId xmlns:a16="http://schemas.microsoft.com/office/drawing/2014/main" id="{15B39EC8-FE66-C109-BC99-710D40B65A53}"/>
                </a:ext>
              </a:extLst>
            </p:cNvPr>
            <p:cNvSpPr/>
            <p:nvPr/>
          </p:nvSpPr>
          <p:spPr>
            <a:xfrm>
              <a:off x="12188444" y="3678316"/>
              <a:ext cx="167268" cy="167268"/>
            </a:xfrm>
            <a:prstGeom prst="rect">
              <a:avLst/>
            </a:prstGeom>
            <a:solidFill>
              <a:srgbClr val="4A90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548422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D47527-D0BE-D56C-7C64-65ED80A0BF77}"/>
              </a:ext>
            </a:extLst>
          </p:cNvPr>
          <p:cNvSpPr>
            <a:spLocks noGrp="1"/>
          </p:cNvSpPr>
          <p:nvPr>
            <p:ph type="title"/>
          </p:nvPr>
        </p:nvSpPr>
        <p:spPr/>
        <p:txBody>
          <a:bodyPr/>
          <a:lstStyle/>
          <a:p>
            <a:r>
              <a:rPr kumimoji="1" lang="ja-JP" altLang="en-US"/>
              <a:t>アプローチ：</a:t>
            </a:r>
            <a:r>
              <a:rPr lang="ja-JP" altLang="en-US"/>
              <a:t>比較手法との補完性の検証</a:t>
            </a:r>
            <a:br>
              <a:rPr kumimoji="1" lang="en-US" altLang="ja-JP" dirty="0"/>
            </a:br>
            <a:r>
              <a:rPr kumimoji="1" lang="ja-JP" altLang="en-US"/>
              <a:t>原型分析</a:t>
            </a:r>
            <a:r>
              <a:rPr lang="en-US" altLang="ja-JP" baseline="30000" dirty="0"/>
              <a:t>[1]</a:t>
            </a:r>
            <a:endParaRPr kumimoji="1" lang="ja-JP" altLang="en-US" baseline="30000"/>
          </a:p>
        </p:txBody>
      </p:sp>
      <p:sp>
        <p:nvSpPr>
          <p:cNvPr id="3" name="スライド番号プレースホルダー 2">
            <a:extLst>
              <a:ext uri="{FF2B5EF4-FFF2-40B4-BE49-F238E27FC236}">
                <a16:creationId xmlns:a16="http://schemas.microsoft.com/office/drawing/2014/main" id="{E6BFB513-9F91-6F45-E856-613D72222A7F}"/>
              </a:ext>
            </a:extLst>
          </p:cNvPr>
          <p:cNvSpPr>
            <a:spLocks noGrp="1"/>
          </p:cNvSpPr>
          <p:nvPr>
            <p:ph type="sldNum" sz="quarter" idx="12"/>
          </p:nvPr>
        </p:nvSpPr>
        <p:spPr/>
        <p:txBody>
          <a:bodyPr/>
          <a:lstStyle/>
          <a:p>
            <a:fld id="{85D74467-FFC2-5C49-A08A-98A9FE9BCA53}" type="slidenum">
              <a:rPr kumimoji="1" lang="ja-JP" altLang="en-US" smtClean="0"/>
              <a:pPr/>
              <a:t>18</a:t>
            </a:fld>
            <a:endParaRPr kumimoji="1" lang="ja-JP" altLang="en-US"/>
          </a:p>
        </p:txBody>
      </p:sp>
      <p:sp>
        <p:nvSpPr>
          <p:cNvPr id="18" name="Text 15">
            <a:extLst>
              <a:ext uri="{FF2B5EF4-FFF2-40B4-BE49-F238E27FC236}">
                <a16:creationId xmlns:a16="http://schemas.microsoft.com/office/drawing/2014/main" id="{431D5F2B-2EF0-A23F-5F28-0566A6BC612C}"/>
              </a:ext>
            </a:extLst>
          </p:cNvPr>
          <p:cNvSpPr/>
          <p:nvPr/>
        </p:nvSpPr>
        <p:spPr>
          <a:xfrm>
            <a:off x="2768642" y="8267290"/>
            <a:ext cx="12699415" cy="554463"/>
          </a:xfrm>
          <a:prstGeom prst="rect">
            <a:avLst/>
          </a:prstGeom>
          <a:noFill/>
          <a:ln/>
        </p:spPr>
        <p:txBody>
          <a:bodyPr wrap="square" lIns="0" tIns="0" rIns="0" bIns="0" rtlCol="0" anchor="t"/>
          <a:lstStyle/>
          <a:p>
            <a:pPr>
              <a:lnSpc>
                <a:spcPts val="1700"/>
              </a:lnSpc>
            </a:pPr>
            <a:endParaRPr lang="en-US" dirty="0">
              <a:latin typeface="Meiryo" pitchFamily="34" charset="0"/>
              <a:ea typeface="Meiryo" pitchFamily="34" charset="-122"/>
              <a:cs typeface="Meiryo" pitchFamily="34" charset="-120"/>
            </a:endParaRPr>
          </a:p>
          <a:p>
            <a:pPr>
              <a:lnSpc>
                <a:spcPts val="1700"/>
              </a:lnSpc>
            </a:pPr>
            <a:r>
              <a:rPr lang="en-US" altLang="ja-JP" sz="1800" dirty="0" err="1">
                <a:solidFill>
                  <a:srgbClr val="262626"/>
                </a:solidFill>
                <a:latin typeface="Meiryo" pitchFamily="34" charset="0"/>
                <a:ea typeface="Meiryo" pitchFamily="34" charset="-122"/>
                <a:cs typeface="Meiryo" pitchFamily="34" charset="-120"/>
              </a:rPr>
              <a:t>分析対象</a:t>
            </a:r>
            <a:r>
              <a:rPr lang="ja-JP" altLang="en-US">
                <a:solidFill>
                  <a:srgbClr val="262626"/>
                </a:solidFill>
              </a:rPr>
              <a:t>：</a:t>
            </a:r>
            <a:r>
              <a:rPr lang="en-US" dirty="0">
                <a:latin typeface="Meiryo" pitchFamily="34" charset="0"/>
                <a:ea typeface="Meiryo" pitchFamily="34" charset="-122"/>
                <a:cs typeface="Meiryo" pitchFamily="34" charset="-120"/>
              </a:rPr>
              <a:t>t₀ </a:t>
            </a:r>
            <a:r>
              <a:rPr lang="ja-JP" altLang="en-US">
                <a:latin typeface="Meiryo" pitchFamily="34" charset="0"/>
                <a:ea typeface="Meiryo" pitchFamily="34" charset="-122"/>
                <a:cs typeface="Meiryo" pitchFamily="34" charset="-120"/>
              </a:rPr>
              <a:t>直前</a:t>
            </a:r>
            <a:r>
              <a:rPr lang="en-US" altLang="ja-JP" dirty="0">
                <a:latin typeface="Meiryo" pitchFamily="34" charset="0"/>
                <a:ea typeface="Meiryo" pitchFamily="34" charset="-122"/>
                <a:cs typeface="Meiryo" pitchFamily="34" charset="-120"/>
              </a:rPr>
              <a:t>6</a:t>
            </a:r>
            <a:r>
              <a:rPr lang="ja-JP" altLang="en-US">
                <a:latin typeface="Meiryo" pitchFamily="34" charset="0"/>
                <a:ea typeface="Meiryo" pitchFamily="34" charset="-122"/>
                <a:cs typeface="Meiryo" pitchFamily="34" charset="-120"/>
              </a:rPr>
              <a:t>か月に履歴がある開発者（</a:t>
            </a:r>
            <a:r>
              <a:rPr lang="en-US" altLang="ja-JP" sz="1800" dirty="0">
                <a:latin typeface="Meiryo" pitchFamily="34" charset="0"/>
                <a:ea typeface="Meiryo" pitchFamily="34" charset="-122"/>
                <a:cs typeface="Meiryo" pitchFamily="34" charset="-120"/>
              </a:rPr>
              <a:t>OpenStack 289 開発者・3,747 </a:t>
            </a:r>
            <a:r>
              <a:rPr lang="en-US" altLang="ja-JP" sz="1800" dirty="0" err="1">
                <a:latin typeface="Meiryo" pitchFamily="34" charset="0"/>
                <a:ea typeface="Meiryo" pitchFamily="34" charset="-122"/>
                <a:cs typeface="Meiryo" pitchFamily="34" charset="-120"/>
              </a:rPr>
              <a:t>ペア</a:t>
            </a:r>
            <a:r>
              <a:rPr lang="ja-JP" altLang="en-US">
                <a:latin typeface="Meiryo" pitchFamily="34" charset="0"/>
                <a:ea typeface="Meiryo" pitchFamily="34" charset="-122"/>
                <a:cs typeface="Meiryo" pitchFamily="34" charset="-120"/>
              </a:rPr>
              <a:t>，</a:t>
            </a:r>
            <a:r>
              <a:rPr lang="en-US" altLang="ja-JP" sz="1800" dirty="0">
                <a:latin typeface="Meiryo" pitchFamily="34" charset="0"/>
                <a:ea typeface="Meiryo" pitchFamily="34" charset="-122"/>
                <a:cs typeface="Meiryo" pitchFamily="34" charset="-120"/>
              </a:rPr>
              <a:t>AOSP 1,248 開発者・21,291 </a:t>
            </a:r>
            <a:r>
              <a:rPr lang="en-US" altLang="ja-JP" sz="1800" dirty="0" err="1">
                <a:latin typeface="Meiryo" pitchFamily="34" charset="0"/>
                <a:ea typeface="Meiryo" pitchFamily="34" charset="-122"/>
                <a:cs typeface="Meiryo" pitchFamily="34" charset="-120"/>
              </a:rPr>
              <a:t>ペア</a:t>
            </a:r>
            <a:r>
              <a:rPr lang="ja-JP" altLang="en-US">
                <a:latin typeface="Meiryo" pitchFamily="34" charset="0"/>
                <a:ea typeface="Meiryo" pitchFamily="34" charset="-122"/>
                <a:cs typeface="Meiryo" pitchFamily="34" charset="-120"/>
              </a:rPr>
              <a:t>）</a:t>
            </a:r>
            <a:endParaRPr lang="en-US" dirty="0"/>
          </a:p>
        </p:txBody>
      </p:sp>
      <p:sp>
        <p:nvSpPr>
          <p:cNvPr id="43" name="テキスト プレースホルダー 3">
            <a:extLst>
              <a:ext uri="{FF2B5EF4-FFF2-40B4-BE49-F238E27FC236}">
                <a16:creationId xmlns:a16="http://schemas.microsoft.com/office/drawing/2014/main" id="{F9845179-78AF-E665-6FB6-0DB38900F23D}"/>
              </a:ext>
            </a:extLst>
          </p:cNvPr>
          <p:cNvSpPr>
            <a:spLocks noGrp="1"/>
          </p:cNvSpPr>
          <p:nvPr>
            <p:ph type="body" sz="quarter" idx="13"/>
          </p:nvPr>
        </p:nvSpPr>
        <p:spPr>
          <a:xfrm>
            <a:off x="576000" y="2160000"/>
            <a:ext cx="16185600" cy="576504"/>
          </a:xfrm>
        </p:spPr>
        <p:txBody>
          <a:bodyPr/>
          <a:lstStyle/>
          <a:p>
            <a:r>
              <a:rPr kumimoji="1" lang="ja-JP" altLang="en-US"/>
              <a:t>極端なパターンを </a:t>
            </a:r>
            <a:r>
              <a:rPr kumimoji="1" lang="en-US" altLang="ja-JP" dirty="0"/>
              <a:t>K </a:t>
            </a:r>
            <a:r>
              <a:rPr kumimoji="1" lang="ja-JP" altLang="en-US"/>
              <a:t>個抽出し、各データ点をその重み付き和で近似する手法</a:t>
            </a:r>
            <a:endParaRPr kumimoji="1" lang="en-US" altLang="ja-JP" dirty="0"/>
          </a:p>
        </p:txBody>
      </p:sp>
      <p:grpSp>
        <p:nvGrpSpPr>
          <p:cNvPr id="44" name="グループ化 43">
            <a:extLst>
              <a:ext uri="{FF2B5EF4-FFF2-40B4-BE49-F238E27FC236}">
                <a16:creationId xmlns:a16="http://schemas.microsoft.com/office/drawing/2014/main" id="{4008CA66-FA39-9F31-6DF7-57CBBC5C41E0}"/>
              </a:ext>
            </a:extLst>
          </p:cNvPr>
          <p:cNvGrpSpPr/>
          <p:nvPr/>
        </p:nvGrpSpPr>
        <p:grpSpPr>
          <a:xfrm>
            <a:off x="285216" y="3725275"/>
            <a:ext cx="8570846" cy="3039833"/>
            <a:chOff x="402336" y="2029968"/>
            <a:chExt cx="5285232" cy="1874520"/>
          </a:xfrm>
        </p:grpSpPr>
        <p:sp>
          <p:nvSpPr>
            <p:cNvPr id="45" name="Shape 5">
              <a:extLst>
                <a:ext uri="{FF2B5EF4-FFF2-40B4-BE49-F238E27FC236}">
                  <a16:creationId xmlns:a16="http://schemas.microsoft.com/office/drawing/2014/main" id="{F221D2C5-E72B-86E8-C9C2-33ED8A011DD2}"/>
                </a:ext>
              </a:extLst>
            </p:cNvPr>
            <p:cNvSpPr/>
            <p:nvPr/>
          </p:nvSpPr>
          <p:spPr>
            <a:xfrm>
              <a:off x="402336" y="2029968"/>
              <a:ext cx="2395728" cy="1874520"/>
            </a:xfrm>
            <a:prstGeom prst="rect">
              <a:avLst/>
            </a:prstGeom>
            <a:solidFill>
              <a:srgbClr val="FFFFFF"/>
            </a:solidFill>
            <a:ln w="12700">
              <a:solidFill>
                <a:srgbClr val="BFBFBF"/>
              </a:solidFill>
              <a:prstDash val="solid"/>
            </a:ln>
          </p:spPr>
          <p:txBody>
            <a:bodyPr/>
            <a:lstStyle/>
            <a:p>
              <a:endParaRPr lang="ja-JP" altLang="en-US" sz="4000"/>
            </a:p>
          </p:txBody>
        </p:sp>
        <p:sp>
          <p:nvSpPr>
            <p:cNvPr id="46" name="Text 6">
              <a:extLst>
                <a:ext uri="{FF2B5EF4-FFF2-40B4-BE49-F238E27FC236}">
                  <a16:creationId xmlns:a16="http://schemas.microsoft.com/office/drawing/2014/main" id="{71A910C1-271E-51BD-239C-A7BC6E7486DE}"/>
                </a:ext>
              </a:extLst>
            </p:cNvPr>
            <p:cNvSpPr/>
            <p:nvPr/>
          </p:nvSpPr>
          <p:spPr>
            <a:xfrm>
              <a:off x="402336" y="2066544"/>
              <a:ext cx="2395728" cy="237744"/>
            </a:xfrm>
            <a:prstGeom prst="rect">
              <a:avLst/>
            </a:prstGeom>
            <a:noFill/>
            <a:ln/>
          </p:spPr>
          <p:txBody>
            <a:bodyPr wrap="square" lIns="0" tIns="0" rIns="0" bIns="0" rtlCol="0" anchor="ctr"/>
            <a:lstStyle/>
            <a:p>
              <a:pPr marL="0" indent="0" algn="ctr">
                <a:buNone/>
              </a:pPr>
              <a:r>
                <a:rPr lang="en-US" sz="2400" b="1" dirty="0">
                  <a:solidFill>
                    <a:srgbClr val="595959"/>
                  </a:solidFill>
                  <a:latin typeface="Meiryo" pitchFamily="34" charset="0"/>
                  <a:ea typeface="Meiryo" pitchFamily="34" charset="-122"/>
                  <a:cs typeface="Meiryo" pitchFamily="34" charset="-120"/>
                </a:rPr>
                <a:t>k-means（比較）</a:t>
              </a:r>
              <a:endParaRPr lang="en-US" sz="2400" dirty="0"/>
            </a:p>
          </p:txBody>
        </p:sp>
        <p:sp>
          <p:nvSpPr>
            <p:cNvPr id="47" name="Shape 7">
              <a:extLst>
                <a:ext uri="{FF2B5EF4-FFF2-40B4-BE49-F238E27FC236}">
                  <a16:creationId xmlns:a16="http://schemas.microsoft.com/office/drawing/2014/main" id="{5873A7E9-F6FF-2925-CC47-4D70A337C284}"/>
                </a:ext>
              </a:extLst>
            </p:cNvPr>
            <p:cNvSpPr/>
            <p:nvPr/>
          </p:nvSpPr>
          <p:spPr>
            <a:xfrm>
              <a:off x="761695" y="2573487"/>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48" name="Shape 8">
              <a:extLst>
                <a:ext uri="{FF2B5EF4-FFF2-40B4-BE49-F238E27FC236}">
                  <a16:creationId xmlns:a16="http://schemas.microsoft.com/office/drawing/2014/main" id="{2A317C41-D394-96DC-271B-44ABD357184E}"/>
                </a:ext>
              </a:extLst>
            </p:cNvPr>
            <p:cNvSpPr/>
            <p:nvPr/>
          </p:nvSpPr>
          <p:spPr>
            <a:xfrm>
              <a:off x="1040770" y="2852196"/>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49" name="Shape 9">
              <a:extLst>
                <a:ext uri="{FF2B5EF4-FFF2-40B4-BE49-F238E27FC236}">
                  <a16:creationId xmlns:a16="http://schemas.microsoft.com/office/drawing/2014/main" id="{3ADB49C9-DB16-A5AC-C6D2-E5F373D83139}"/>
                </a:ext>
              </a:extLst>
            </p:cNvPr>
            <p:cNvSpPr/>
            <p:nvPr/>
          </p:nvSpPr>
          <p:spPr>
            <a:xfrm>
              <a:off x="901233" y="3154131"/>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0" name="Shape 10">
              <a:extLst>
                <a:ext uri="{FF2B5EF4-FFF2-40B4-BE49-F238E27FC236}">
                  <a16:creationId xmlns:a16="http://schemas.microsoft.com/office/drawing/2014/main" id="{6625CE38-B9D5-B4FC-468C-A621AAD9A912}"/>
                </a:ext>
              </a:extLst>
            </p:cNvPr>
            <p:cNvSpPr/>
            <p:nvPr/>
          </p:nvSpPr>
          <p:spPr>
            <a:xfrm>
              <a:off x="1220175" y="2503810"/>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1" name="Shape 11">
              <a:extLst>
                <a:ext uri="{FF2B5EF4-FFF2-40B4-BE49-F238E27FC236}">
                  <a16:creationId xmlns:a16="http://schemas.microsoft.com/office/drawing/2014/main" id="{2D957921-9D29-9826-7B14-748F0479F33A}"/>
                </a:ext>
              </a:extLst>
            </p:cNvPr>
            <p:cNvSpPr/>
            <p:nvPr/>
          </p:nvSpPr>
          <p:spPr>
            <a:xfrm>
              <a:off x="1160374" y="3316712"/>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2" name="Shape 12">
              <a:extLst>
                <a:ext uri="{FF2B5EF4-FFF2-40B4-BE49-F238E27FC236}">
                  <a16:creationId xmlns:a16="http://schemas.microsoft.com/office/drawing/2014/main" id="{33691C7F-0BE2-C0D9-67B9-39E6DE4D61E5}"/>
                </a:ext>
              </a:extLst>
            </p:cNvPr>
            <p:cNvSpPr/>
            <p:nvPr/>
          </p:nvSpPr>
          <p:spPr>
            <a:xfrm>
              <a:off x="1479316" y="2666390"/>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3" name="Shape 13">
              <a:extLst>
                <a:ext uri="{FF2B5EF4-FFF2-40B4-BE49-F238E27FC236}">
                  <a16:creationId xmlns:a16="http://schemas.microsoft.com/office/drawing/2014/main" id="{D5AF8083-876B-4E83-1CB0-D6D90931EBA5}"/>
                </a:ext>
              </a:extLst>
            </p:cNvPr>
            <p:cNvSpPr/>
            <p:nvPr/>
          </p:nvSpPr>
          <p:spPr>
            <a:xfrm>
              <a:off x="1658722" y="2991551"/>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4" name="Shape 14">
              <a:extLst>
                <a:ext uri="{FF2B5EF4-FFF2-40B4-BE49-F238E27FC236}">
                  <a16:creationId xmlns:a16="http://schemas.microsoft.com/office/drawing/2014/main" id="{4CF68CAA-0461-0641-2CD3-A457DDD34899}"/>
                </a:ext>
              </a:extLst>
            </p:cNvPr>
            <p:cNvSpPr/>
            <p:nvPr/>
          </p:nvSpPr>
          <p:spPr>
            <a:xfrm>
              <a:off x="1559052" y="3223809"/>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5" name="Shape 15">
              <a:extLst>
                <a:ext uri="{FF2B5EF4-FFF2-40B4-BE49-F238E27FC236}">
                  <a16:creationId xmlns:a16="http://schemas.microsoft.com/office/drawing/2014/main" id="{675C3C00-177F-6B79-6200-53589B9B67D4}"/>
                </a:ext>
              </a:extLst>
            </p:cNvPr>
            <p:cNvSpPr/>
            <p:nvPr/>
          </p:nvSpPr>
          <p:spPr>
            <a:xfrm>
              <a:off x="1877995" y="3363163"/>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6" name="Shape 16">
              <a:extLst>
                <a:ext uri="{FF2B5EF4-FFF2-40B4-BE49-F238E27FC236}">
                  <a16:creationId xmlns:a16="http://schemas.microsoft.com/office/drawing/2014/main" id="{A89187C9-0093-D21A-9DD1-986779714508}"/>
                </a:ext>
              </a:extLst>
            </p:cNvPr>
            <p:cNvSpPr/>
            <p:nvPr/>
          </p:nvSpPr>
          <p:spPr>
            <a:xfrm>
              <a:off x="1997598" y="2596713"/>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7" name="Shape 17">
              <a:extLst>
                <a:ext uri="{FF2B5EF4-FFF2-40B4-BE49-F238E27FC236}">
                  <a16:creationId xmlns:a16="http://schemas.microsoft.com/office/drawing/2014/main" id="{43F59254-33BD-ABF7-F1EF-7B751D47D3A9}"/>
                </a:ext>
              </a:extLst>
            </p:cNvPr>
            <p:cNvSpPr/>
            <p:nvPr/>
          </p:nvSpPr>
          <p:spPr>
            <a:xfrm>
              <a:off x="2157070" y="2921874"/>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8" name="Shape 18">
              <a:extLst>
                <a:ext uri="{FF2B5EF4-FFF2-40B4-BE49-F238E27FC236}">
                  <a16:creationId xmlns:a16="http://schemas.microsoft.com/office/drawing/2014/main" id="{F0BAF3B8-F33E-62CE-A691-9DC926626CDD}"/>
                </a:ext>
              </a:extLst>
            </p:cNvPr>
            <p:cNvSpPr/>
            <p:nvPr/>
          </p:nvSpPr>
          <p:spPr>
            <a:xfrm>
              <a:off x="2316541" y="3247034"/>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59" name="Shape 19">
              <a:extLst>
                <a:ext uri="{FF2B5EF4-FFF2-40B4-BE49-F238E27FC236}">
                  <a16:creationId xmlns:a16="http://schemas.microsoft.com/office/drawing/2014/main" id="{539BB0A1-4596-850B-FBB1-DB4FAAADE438}"/>
                </a:ext>
              </a:extLst>
            </p:cNvPr>
            <p:cNvSpPr/>
            <p:nvPr/>
          </p:nvSpPr>
          <p:spPr>
            <a:xfrm>
              <a:off x="1359713" y="3038003"/>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60" name="Shape 20">
              <a:extLst>
                <a:ext uri="{FF2B5EF4-FFF2-40B4-BE49-F238E27FC236}">
                  <a16:creationId xmlns:a16="http://schemas.microsoft.com/office/drawing/2014/main" id="{2A6230B1-9C1D-F414-2333-7FDD3D03A53C}"/>
                </a:ext>
              </a:extLst>
            </p:cNvPr>
            <p:cNvSpPr/>
            <p:nvPr/>
          </p:nvSpPr>
          <p:spPr>
            <a:xfrm>
              <a:off x="1818193" y="2828971"/>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61" name="Shape 21">
              <a:extLst>
                <a:ext uri="{FF2B5EF4-FFF2-40B4-BE49-F238E27FC236}">
                  <a16:creationId xmlns:a16="http://schemas.microsoft.com/office/drawing/2014/main" id="{B74E9187-648E-BCF8-D45D-B75882B641E6}"/>
                </a:ext>
              </a:extLst>
            </p:cNvPr>
            <p:cNvSpPr/>
            <p:nvPr/>
          </p:nvSpPr>
          <p:spPr>
            <a:xfrm>
              <a:off x="2276673" y="2550262"/>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62" name="Shape 22">
              <a:extLst>
                <a:ext uri="{FF2B5EF4-FFF2-40B4-BE49-F238E27FC236}">
                  <a16:creationId xmlns:a16="http://schemas.microsoft.com/office/drawing/2014/main" id="{593E01AE-121D-AAA0-BC69-1D0FA1D2796C}"/>
                </a:ext>
              </a:extLst>
            </p:cNvPr>
            <p:cNvSpPr/>
            <p:nvPr/>
          </p:nvSpPr>
          <p:spPr>
            <a:xfrm>
              <a:off x="1000902" y="3409615"/>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63" name="Shape 23">
              <a:extLst>
                <a:ext uri="{FF2B5EF4-FFF2-40B4-BE49-F238E27FC236}">
                  <a16:creationId xmlns:a16="http://schemas.microsoft.com/office/drawing/2014/main" id="{2A135486-6DCA-176F-7D3F-744D75F7F55A}"/>
                </a:ext>
              </a:extLst>
            </p:cNvPr>
            <p:cNvSpPr/>
            <p:nvPr/>
          </p:nvSpPr>
          <p:spPr>
            <a:xfrm>
              <a:off x="1100938" y="2781148"/>
              <a:ext cx="201168" cy="201168"/>
            </a:xfrm>
            <a:prstGeom prst="ellipse">
              <a:avLst/>
            </a:prstGeom>
            <a:solidFill>
              <a:srgbClr val="8C8C8C"/>
            </a:solidFill>
            <a:ln w="12700">
              <a:solidFill>
                <a:srgbClr val="8C8C8C"/>
              </a:solidFill>
              <a:prstDash val="solid"/>
            </a:ln>
          </p:spPr>
          <p:txBody>
            <a:bodyPr/>
            <a:lstStyle/>
            <a:p>
              <a:endParaRPr lang="ja-JP" altLang="en-US" sz="4000"/>
            </a:p>
          </p:txBody>
        </p:sp>
        <p:sp>
          <p:nvSpPr>
            <p:cNvPr id="64" name="Shape 24">
              <a:extLst>
                <a:ext uri="{FF2B5EF4-FFF2-40B4-BE49-F238E27FC236}">
                  <a16:creationId xmlns:a16="http://schemas.microsoft.com/office/drawing/2014/main" id="{D2B4ED71-1DB6-4511-6700-D6B22D208F7F}"/>
                </a:ext>
              </a:extLst>
            </p:cNvPr>
            <p:cNvSpPr/>
            <p:nvPr/>
          </p:nvSpPr>
          <p:spPr>
            <a:xfrm>
              <a:off x="1898294" y="2955341"/>
              <a:ext cx="201168" cy="201168"/>
            </a:xfrm>
            <a:prstGeom prst="ellipse">
              <a:avLst/>
            </a:prstGeom>
            <a:solidFill>
              <a:srgbClr val="8C8C8C"/>
            </a:solidFill>
            <a:ln w="12700">
              <a:solidFill>
                <a:srgbClr val="8C8C8C"/>
              </a:solidFill>
              <a:prstDash val="solid"/>
            </a:ln>
          </p:spPr>
          <p:txBody>
            <a:bodyPr/>
            <a:lstStyle/>
            <a:p>
              <a:endParaRPr lang="ja-JP" altLang="en-US" sz="4000"/>
            </a:p>
          </p:txBody>
        </p:sp>
        <p:sp>
          <p:nvSpPr>
            <p:cNvPr id="65" name="Text 25">
              <a:extLst>
                <a:ext uri="{FF2B5EF4-FFF2-40B4-BE49-F238E27FC236}">
                  <a16:creationId xmlns:a16="http://schemas.microsoft.com/office/drawing/2014/main" id="{F79E0FDB-8BE1-A2F9-16AD-C878ECE99D74}"/>
                </a:ext>
              </a:extLst>
            </p:cNvPr>
            <p:cNvSpPr/>
            <p:nvPr/>
          </p:nvSpPr>
          <p:spPr>
            <a:xfrm>
              <a:off x="402336" y="3611880"/>
              <a:ext cx="2395728" cy="237744"/>
            </a:xfrm>
            <a:prstGeom prst="rect">
              <a:avLst/>
            </a:prstGeom>
            <a:noFill/>
            <a:ln/>
          </p:spPr>
          <p:txBody>
            <a:bodyPr wrap="square" lIns="0" tIns="0" rIns="0" bIns="0" rtlCol="0" anchor="ctr"/>
            <a:lstStyle/>
            <a:p>
              <a:pPr marL="0" indent="0" algn="ctr">
                <a:buNone/>
              </a:pPr>
              <a:r>
                <a:rPr lang="en-US" dirty="0">
                  <a:solidFill>
                    <a:srgbClr val="595959"/>
                  </a:solidFill>
                  <a:latin typeface="Meiryo" pitchFamily="34" charset="0"/>
                  <a:ea typeface="Meiryo" pitchFamily="34" charset="-122"/>
                  <a:cs typeface="Meiryo" pitchFamily="34" charset="-120"/>
                </a:rPr>
                <a:t>重心＝平均的な点</a:t>
              </a:r>
              <a:endParaRPr lang="en-US" dirty="0"/>
            </a:p>
          </p:txBody>
        </p:sp>
        <p:sp>
          <p:nvSpPr>
            <p:cNvPr id="66" name="Shape 26">
              <a:extLst>
                <a:ext uri="{FF2B5EF4-FFF2-40B4-BE49-F238E27FC236}">
                  <a16:creationId xmlns:a16="http://schemas.microsoft.com/office/drawing/2014/main" id="{E6970632-72FB-0F81-759B-FD0A87FC5A01}"/>
                </a:ext>
              </a:extLst>
            </p:cNvPr>
            <p:cNvSpPr/>
            <p:nvPr/>
          </p:nvSpPr>
          <p:spPr>
            <a:xfrm>
              <a:off x="2889504" y="2788920"/>
              <a:ext cx="310896" cy="256032"/>
            </a:xfrm>
            <a:prstGeom prst="rightArrow">
              <a:avLst/>
            </a:prstGeom>
            <a:solidFill>
              <a:srgbClr val="575860"/>
            </a:solidFill>
            <a:ln w="12700">
              <a:solidFill>
                <a:srgbClr val="575860"/>
              </a:solidFill>
              <a:prstDash val="solid"/>
            </a:ln>
          </p:spPr>
          <p:txBody>
            <a:bodyPr/>
            <a:lstStyle/>
            <a:p>
              <a:endParaRPr lang="ja-JP" altLang="en-US" sz="4000"/>
            </a:p>
          </p:txBody>
        </p:sp>
        <p:sp>
          <p:nvSpPr>
            <p:cNvPr id="67" name="Shape 27">
              <a:extLst>
                <a:ext uri="{FF2B5EF4-FFF2-40B4-BE49-F238E27FC236}">
                  <a16:creationId xmlns:a16="http://schemas.microsoft.com/office/drawing/2014/main" id="{69F5E5AC-0DA4-7C33-2A29-2E385E5B3510}"/>
                </a:ext>
              </a:extLst>
            </p:cNvPr>
            <p:cNvSpPr/>
            <p:nvPr/>
          </p:nvSpPr>
          <p:spPr>
            <a:xfrm>
              <a:off x="3291840" y="2029968"/>
              <a:ext cx="2395728" cy="1874520"/>
            </a:xfrm>
            <a:prstGeom prst="rect">
              <a:avLst/>
            </a:prstGeom>
            <a:solidFill>
              <a:srgbClr val="FFFFFF"/>
            </a:solidFill>
            <a:ln w="19050">
              <a:solidFill>
                <a:srgbClr val="3E4492"/>
              </a:solidFill>
              <a:prstDash val="solid"/>
            </a:ln>
          </p:spPr>
          <p:txBody>
            <a:bodyPr/>
            <a:lstStyle/>
            <a:p>
              <a:endParaRPr lang="ja-JP" altLang="en-US" sz="4000"/>
            </a:p>
          </p:txBody>
        </p:sp>
        <p:sp>
          <p:nvSpPr>
            <p:cNvPr id="68" name="Text 28">
              <a:extLst>
                <a:ext uri="{FF2B5EF4-FFF2-40B4-BE49-F238E27FC236}">
                  <a16:creationId xmlns:a16="http://schemas.microsoft.com/office/drawing/2014/main" id="{6E325F4C-F754-8462-2C02-E99E2368C5B2}"/>
                </a:ext>
              </a:extLst>
            </p:cNvPr>
            <p:cNvSpPr/>
            <p:nvPr/>
          </p:nvSpPr>
          <p:spPr>
            <a:xfrm>
              <a:off x="3291840" y="2066544"/>
              <a:ext cx="2395728" cy="237744"/>
            </a:xfrm>
            <a:prstGeom prst="rect">
              <a:avLst/>
            </a:prstGeom>
            <a:noFill/>
            <a:ln/>
          </p:spPr>
          <p:txBody>
            <a:bodyPr wrap="square" lIns="0" tIns="0" rIns="0" bIns="0" rtlCol="0" anchor="ctr"/>
            <a:lstStyle/>
            <a:p>
              <a:pPr marL="0" indent="0" algn="ctr">
                <a:buNone/>
              </a:pPr>
              <a:r>
                <a:rPr lang="en-US" sz="2400" b="1" dirty="0">
                  <a:solidFill>
                    <a:srgbClr val="3E4492"/>
                  </a:solidFill>
                  <a:latin typeface="Meiryo" pitchFamily="34" charset="0"/>
                  <a:ea typeface="Meiryo" pitchFamily="34" charset="-122"/>
                  <a:cs typeface="Meiryo" pitchFamily="34" charset="-120"/>
                </a:rPr>
                <a:t>原型分析（本研究）</a:t>
              </a:r>
              <a:endParaRPr lang="en-US" sz="2400" dirty="0"/>
            </a:p>
          </p:txBody>
        </p:sp>
        <p:sp>
          <p:nvSpPr>
            <p:cNvPr id="69" name="Shape 29">
              <a:extLst>
                <a:ext uri="{FF2B5EF4-FFF2-40B4-BE49-F238E27FC236}">
                  <a16:creationId xmlns:a16="http://schemas.microsoft.com/office/drawing/2014/main" id="{5266F492-3698-776C-134A-9238C11C59DB}"/>
                </a:ext>
              </a:extLst>
            </p:cNvPr>
            <p:cNvSpPr/>
            <p:nvPr/>
          </p:nvSpPr>
          <p:spPr>
            <a:xfrm>
              <a:off x="3493008" y="2359152"/>
              <a:ext cx="1993392" cy="1161288"/>
            </a:xfrm>
            <a:prstGeom prst="rect">
              <a:avLst/>
            </a:prstGeom>
            <a:solidFill>
              <a:srgbClr val="F7F8FC"/>
            </a:solidFill>
            <a:ln w="12700">
              <a:solidFill>
                <a:srgbClr val="3E4492"/>
              </a:solidFill>
              <a:prstDash val="dash"/>
            </a:ln>
          </p:spPr>
          <p:txBody>
            <a:bodyPr/>
            <a:lstStyle/>
            <a:p>
              <a:endParaRPr lang="ja-JP" altLang="en-US" sz="4000"/>
            </a:p>
          </p:txBody>
        </p:sp>
        <p:sp>
          <p:nvSpPr>
            <p:cNvPr id="70" name="Shape 30">
              <a:extLst>
                <a:ext uri="{FF2B5EF4-FFF2-40B4-BE49-F238E27FC236}">
                  <a16:creationId xmlns:a16="http://schemas.microsoft.com/office/drawing/2014/main" id="{8AAE0494-7B2B-15A6-B7C2-8E8DE31A7394}"/>
                </a:ext>
              </a:extLst>
            </p:cNvPr>
            <p:cNvSpPr/>
            <p:nvPr/>
          </p:nvSpPr>
          <p:spPr>
            <a:xfrm>
              <a:off x="3651199" y="2573487"/>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1" name="Shape 31">
              <a:extLst>
                <a:ext uri="{FF2B5EF4-FFF2-40B4-BE49-F238E27FC236}">
                  <a16:creationId xmlns:a16="http://schemas.microsoft.com/office/drawing/2014/main" id="{4A10F28D-4D27-2D48-2295-2ED7BCFCA5E3}"/>
                </a:ext>
              </a:extLst>
            </p:cNvPr>
            <p:cNvSpPr/>
            <p:nvPr/>
          </p:nvSpPr>
          <p:spPr>
            <a:xfrm>
              <a:off x="3930274" y="2852196"/>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2" name="Shape 32">
              <a:extLst>
                <a:ext uri="{FF2B5EF4-FFF2-40B4-BE49-F238E27FC236}">
                  <a16:creationId xmlns:a16="http://schemas.microsoft.com/office/drawing/2014/main" id="{1A5E2185-1C9C-1638-41C1-A2DF94B0614F}"/>
                </a:ext>
              </a:extLst>
            </p:cNvPr>
            <p:cNvSpPr/>
            <p:nvPr/>
          </p:nvSpPr>
          <p:spPr>
            <a:xfrm>
              <a:off x="3790737" y="3154131"/>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3" name="Shape 33">
              <a:extLst>
                <a:ext uri="{FF2B5EF4-FFF2-40B4-BE49-F238E27FC236}">
                  <a16:creationId xmlns:a16="http://schemas.microsoft.com/office/drawing/2014/main" id="{D428BF9E-AD2B-7F3F-5CCF-EF1ECF36B745}"/>
                </a:ext>
              </a:extLst>
            </p:cNvPr>
            <p:cNvSpPr/>
            <p:nvPr/>
          </p:nvSpPr>
          <p:spPr>
            <a:xfrm>
              <a:off x="4109679" y="2503810"/>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4" name="Shape 34">
              <a:extLst>
                <a:ext uri="{FF2B5EF4-FFF2-40B4-BE49-F238E27FC236}">
                  <a16:creationId xmlns:a16="http://schemas.microsoft.com/office/drawing/2014/main" id="{5ED7FDAC-A990-5118-7B23-0DAB26D92D8B}"/>
                </a:ext>
              </a:extLst>
            </p:cNvPr>
            <p:cNvSpPr/>
            <p:nvPr/>
          </p:nvSpPr>
          <p:spPr>
            <a:xfrm>
              <a:off x="4049878" y="3316712"/>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5" name="Shape 35">
              <a:extLst>
                <a:ext uri="{FF2B5EF4-FFF2-40B4-BE49-F238E27FC236}">
                  <a16:creationId xmlns:a16="http://schemas.microsoft.com/office/drawing/2014/main" id="{2CDD2A17-99A1-F571-807A-5918DB75629B}"/>
                </a:ext>
              </a:extLst>
            </p:cNvPr>
            <p:cNvSpPr/>
            <p:nvPr/>
          </p:nvSpPr>
          <p:spPr>
            <a:xfrm>
              <a:off x="4368820" y="2666390"/>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6" name="Shape 36">
              <a:extLst>
                <a:ext uri="{FF2B5EF4-FFF2-40B4-BE49-F238E27FC236}">
                  <a16:creationId xmlns:a16="http://schemas.microsoft.com/office/drawing/2014/main" id="{AC266C17-B9F9-6825-ABA0-0BFB7FB88C24}"/>
                </a:ext>
              </a:extLst>
            </p:cNvPr>
            <p:cNvSpPr/>
            <p:nvPr/>
          </p:nvSpPr>
          <p:spPr>
            <a:xfrm>
              <a:off x="4548226" y="2991551"/>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7" name="Shape 37">
              <a:extLst>
                <a:ext uri="{FF2B5EF4-FFF2-40B4-BE49-F238E27FC236}">
                  <a16:creationId xmlns:a16="http://schemas.microsoft.com/office/drawing/2014/main" id="{1A5CAA51-73E2-EAA0-5707-498AA8F4C64E}"/>
                </a:ext>
              </a:extLst>
            </p:cNvPr>
            <p:cNvSpPr/>
            <p:nvPr/>
          </p:nvSpPr>
          <p:spPr>
            <a:xfrm>
              <a:off x="4448556" y="3223809"/>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8" name="Shape 38">
              <a:extLst>
                <a:ext uri="{FF2B5EF4-FFF2-40B4-BE49-F238E27FC236}">
                  <a16:creationId xmlns:a16="http://schemas.microsoft.com/office/drawing/2014/main" id="{92CF6255-DAE8-42E8-87A0-AA434F2E6DB8}"/>
                </a:ext>
              </a:extLst>
            </p:cNvPr>
            <p:cNvSpPr/>
            <p:nvPr/>
          </p:nvSpPr>
          <p:spPr>
            <a:xfrm>
              <a:off x="4767499" y="3363163"/>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79" name="Shape 39">
              <a:extLst>
                <a:ext uri="{FF2B5EF4-FFF2-40B4-BE49-F238E27FC236}">
                  <a16:creationId xmlns:a16="http://schemas.microsoft.com/office/drawing/2014/main" id="{5A930680-A569-F45C-FC8E-2875577B3DE4}"/>
                </a:ext>
              </a:extLst>
            </p:cNvPr>
            <p:cNvSpPr/>
            <p:nvPr/>
          </p:nvSpPr>
          <p:spPr>
            <a:xfrm>
              <a:off x="4887102" y="2596713"/>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80" name="Shape 40">
              <a:extLst>
                <a:ext uri="{FF2B5EF4-FFF2-40B4-BE49-F238E27FC236}">
                  <a16:creationId xmlns:a16="http://schemas.microsoft.com/office/drawing/2014/main" id="{06597CB3-6CB9-92A4-AAAF-34E2C40DDDE6}"/>
                </a:ext>
              </a:extLst>
            </p:cNvPr>
            <p:cNvSpPr/>
            <p:nvPr/>
          </p:nvSpPr>
          <p:spPr>
            <a:xfrm>
              <a:off x="5046574" y="2921874"/>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81" name="Shape 41">
              <a:extLst>
                <a:ext uri="{FF2B5EF4-FFF2-40B4-BE49-F238E27FC236}">
                  <a16:creationId xmlns:a16="http://schemas.microsoft.com/office/drawing/2014/main" id="{CC45EBD0-85BF-51ED-25D5-FFD2F9F601E4}"/>
                </a:ext>
              </a:extLst>
            </p:cNvPr>
            <p:cNvSpPr/>
            <p:nvPr/>
          </p:nvSpPr>
          <p:spPr>
            <a:xfrm>
              <a:off x="5206045" y="3247034"/>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82" name="Shape 42">
              <a:extLst>
                <a:ext uri="{FF2B5EF4-FFF2-40B4-BE49-F238E27FC236}">
                  <a16:creationId xmlns:a16="http://schemas.microsoft.com/office/drawing/2014/main" id="{EA7BEF3A-3AFA-3640-8D26-C1A4512849A9}"/>
                </a:ext>
              </a:extLst>
            </p:cNvPr>
            <p:cNvSpPr/>
            <p:nvPr/>
          </p:nvSpPr>
          <p:spPr>
            <a:xfrm>
              <a:off x="4249217" y="3038003"/>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83" name="Shape 43">
              <a:extLst>
                <a:ext uri="{FF2B5EF4-FFF2-40B4-BE49-F238E27FC236}">
                  <a16:creationId xmlns:a16="http://schemas.microsoft.com/office/drawing/2014/main" id="{816A41F1-BF6B-44E9-4DA4-C0CE8ECE526B}"/>
                </a:ext>
              </a:extLst>
            </p:cNvPr>
            <p:cNvSpPr/>
            <p:nvPr/>
          </p:nvSpPr>
          <p:spPr>
            <a:xfrm>
              <a:off x="4707697" y="2828971"/>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84" name="Shape 44">
              <a:extLst>
                <a:ext uri="{FF2B5EF4-FFF2-40B4-BE49-F238E27FC236}">
                  <a16:creationId xmlns:a16="http://schemas.microsoft.com/office/drawing/2014/main" id="{8CF5E93B-F5BD-702B-9596-EDA547D1CF4B}"/>
                </a:ext>
              </a:extLst>
            </p:cNvPr>
            <p:cNvSpPr/>
            <p:nvPr/>
          </p:nvSpPr>
          <p:spPr>
            <a:xfrm>
              <a:off x="5166177" y="2550262"/>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85" name="Shape 45">
              <a:extLst>
                <a:ext uri="{FF2B5EF4-FFF2-40B4-BE49-F238E27FC236}">
                  <a16:creationId xmlns:a16="http://schemas.microsoft.com/office/drawing/2014/main" id="{229E5CC0-2D75-3FC4-9BA2-13836E0DA67B}"/>
                </a:ext>
              </a:extLst>
            </p:cNvPr>
            <p:cNvSpPr/>
            <p:nvPr/>
          </p:nvSpPr>
          <p:spPr>
            <a:xfrm>
              <a:off x="3890406" y="3409615"/>
              <a:ext cx="82296" cy="82296"/>
            </a:xfrm>
            <a:prstGeom prst="ellipse">
              <a:avLst/>
            </a:prstGeom>
            <a:solidFill>
              <a:srgbClr val="C9CAD0"/>
            </a:solidFill>
            <a:ln w="12700">
              <a:solidFill>
                <a:srgbClr val="C9CAD0"/>
              </a:solidFill>
              <a:prstDash val="solid"/>
            </a:ln>
          </p:spPr>
          <p:txBody>
            <a:bodyPr/>
            <a:lstStyle/>
            <a:p>
              <a:endParaRPr lang="ja-JP" altLang="en-US" sz="4000"/>
            </a:p>
          </p:txBody>
        </p:sp>
        <p:sp>
          <p:nvSpPr>
            <p:cNvPr id="86" name="Shape 46">
              <a:extLst>
                <a:ext uri="{FF2B5EF4-FFF2-40B4-BE49-F238E27FC236}">
                  <a16:creationId xmlns:a16="http://schemas.microsoft.com/office/drawing/2014/main" id="{D0763E49-AADF-2988-B37F-D34CFEB28760}"/>
                </a:ext>
              </a:extLst>
            </p:cNvPr>
            <p:cNvSpPr/>
            <p:nvPr/>
          </p:nvSpPr>
          <p:spPr>
            <a:xfrm>
              <a:off x="3392424" y="2258568"/>
              <a:ext cx="201168" cy="201168"/>
            </a:xfrm>
            <a:prstGeom prst="ellipse">
              <a:avLst/>
            </a:prstGeom>
            <a:solidFill>
              <a:srgbClr val="3E4492"/>
            </a:solidFill>
            <a:ln w="12700">
              <a:solidFill>
                <a:srgbClr val="3E4492"/>
              </a:solidFill>
              <a:prstDash val="solid"/>
            </a:ln>
          </p:spPr>
          <p:txBody>
            <a:bodyPr/>
            <a:lstStyle/>
            <a:p>
              <a:endParaRPr lang="ja-JP" altLang="en-US" sz="4000"/>
            </a:p>
          </p:txBody>
        </p:sp>
        <p:sp>
          <p:nvSpPr>
            <p:cNvPr id="87" name="Text 47">
              <a:extLst>
                <a:ext uri="{FF2B5EF4-FFF2-40B4-BE49-F238E27FC236}">
                  <a16:creationId xmlns:a16="http://schemas.microsoft.com/office/drawing/2014/main" id="{DEA182D6-EC17-E7F1-9D92-E85D3EA07C7E}"/>
                </a:ext>
              </a:extLst>
            </p:cNvPr>
            <p:cNvSpPr/>
            <p:nvPr/>
          </p:nvSpPr>
          <p:spPr>
            <a:xfrm>
              <a:off x="3355848" y="2258568"/>
              <a:ext cx="274320"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P1</a:t>
              </a:r>
              <a:endParaRPr lang="en-US" sz="1400" dirty="0"/>
            </a:p>
          </p:txBody>
        </p:sp>
        <p:sp>
          <p:nvSpPr>
            <p:cNvPr id="88" name="Shape 48">
              <a:extLst>
                <a:ext uri="{FF2B5EF4-FFF2-40B4-BE49-F238E27FC236}">
                  <a16:creationId xmlns:a16="http://schemas.microsoft.com/office/drawing/2014/main" id="{22AB2D15-2520-F0B9-199B-8E7B4689F0D7}"/>
                </a:ext>
              </a:extLst>
            </p:cNvPr>
            <p:cNvSpPr/>
            <p:nvPr/>
          </p:nvSpPr>
          <p:spPr>
            <a:xfrm>
              <a:off x="5385816" y="2258568"/>
              <a:ext cx="201168" cy="201168"/>
            </a:xfrm>
            <a:prstGeom prst="ellipse">
              <a:avLst/>
            </a:prstGeom>
            <a:solidFill>
              <a:srgbClr val="3E4492"/>
            </a:solidFill>
            <a:ln w="12700">
              <a:solidFill>
                <a:srgbClr val="3E4492"/>
              </a:solidFill>
              <a:prstDash val="solid"/>
            </a:ln>
          </p:spPr>
          <p:txBody>
            <a:bodyPr/>
            <a:lstStyle/>
            <a:p>
              <a:endParaRPr lang="ja-JP" altLang="en-US" sz="4000"/>
            </a:p>
          </p:txBody>
        </p:sp>
        <p:sp>
          <p:nvSpPr>
            <p:cNvPr id="89" name="Text 49">
              <a:extLst>
                <a:ext uri="{FF2B5EF4-FFF2-40B4-BE49-F238E27FC236}">
                  <a16:creationId xmlns:a16="http://schemas.microsoft.com/office/drawing/2014/main" id="{4F58727E-1B20-714F-7C68-C674BA7C4F6A}"/>
                </a:ext>
              </a:extLst>
            </p:cNvPr>
            <p:cNvSpPr/>
            <p:nvPr/>
          </p:nvSpPr>
          <p:spPr>
            <a:xfrm>
              <a:off x="5349240" y="2258568"/>
              <a:ext cx="274320"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P2</a:t>
              </a:r>
              <a:endParaRPr lang="en-US" sz="1400" dirty="0"/>
            </a:p>
          </p:txBody>
        </p:sp>
        <p:sp>
          <p:nvSpPr>
            <p:cNvPr id="90" name="Shape 50">
              <a:extLst>
                <a:ext uri="{FF2B5EF4-FFF2-40B4-BE49-F238E27FC236}">
                  <a16:creationId xmlns:a16="http://schemas.microsoft.com/office/drawing/2014/main" id="{839CB12A-EEAD-0F5A-DDCC-AF797C49650A}"/>
                </a:ext>
              </a:extLst>
            </p:cNvPr>
            <p:cNvSpPr/>
            <p:nvPr/>
          </p:nvSpPr>
          <p:spPr>
            <a:xfrm>
              <a:off x="3392424" y="3419856"/>
              <a:ext cx="201168" cy="201168"/>
            </a:xfrm>
            <a:prstGeom prst="ellipse">
              <a:avLst/>
            </a:prstGeom>
            <a:solidFill>
              <a:srgbClr val="3E4492"/>
            </a:solidFill>
            <a:ln w="12700">
              <a:solidFill>
                <a:srgbClr val="3E4492"/>
              </a:solidFill>
              <a:prstDash val="solid"/>
            </a:ln>
          </p:spPr>
          <p:txBody>
            <a:bodyPr/>
            <a:lstStyle/>
            <a:p>
              <a:endParaRPr lang="ja-JP" altLang="en-US" sz="4000"/>
            </a:p>
          </p:txBody>
        </p:sp>
        <p:sp>
          <p:nvSpPr>
            <p:cNvPr id="91" name="Text 51">
              <a:extLst>
                <a:ext uri="{FF2B5EF4-FFF2-40B4-BE49-F238E27FC236}">
                  <a16:creationId xmlns:a16="http://schemas.microsoft.com/office/drawing/2014/main" id="{A2708A80-2757-CDA2-9B0A-032B7087DFD7}"/>
                </a:ext>
              </a:extLst>
            </p:cNvPr>
            <p:cNvSpPr/>
            <p:nvPr/>
          </p:nvSpPr>
          <p:spPr>
            <a:xfrm>
              <a:off x="3355848" y="3419856"/>
              <a:ext cx="274320"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P3</a:t>
              </a:r>
              <a:endParaRPr lang="en-US" sz="1400" dirty="0"/>
            </a:p>
          </p:txBody>
        </p:sp>
        <p:sp>
          <p:nvSpPr>
            <p:cNvPr id="92" name="Shape 52">
              <a:extLst>
                <a:ext uri="{FF2B5EF4-FFF2-40B4-BE49-F238E27FC236}">
                  <a16:creationId xmlns:a16="http://schemas.microsoft.com/office/drawing/2014/main" id="{D1E97703-0662-7A3B-42AE-B8FD527AE39A}"/>
                </a:ext>
              </a:extLst>
            </p:cNvPr>
            <p:cNvSpPr/>
            <p:nvPr/>
          </p:nvSpPr>
          <p:spPr>
            <a:xfrm>
              <a:off x="5385816" y="3419856"/>
              <a:ext cx="201168" cy="201168"/>
            </a:xfrm>
            <a:prstGeom prst="ellipse">
              <a:avLst/>
            </a:prstGeom>
            <a:solidFill>
              <a:srgbClr val="3E4492"/>
            </a:solidFill>
            <a:ln w="12700">
              <a:solidFill>
                <a:srgbClr val="3E4492"/>
              </a:solidFill>
              <a:prstDash val="solid"/>
            </a:ln>
          </p:spPr>
          <p:txBody>
            <a:bodyPr/>
            <a:lstStyle/>
            <a:p>
              <a:endParaRPr lang="ja-JP" altLang="en-US" sz="4000"/>
            </a:p>
          </p:txBody>
        </p:sp>
        <p:sp>
          <p:nvSpPr>
            <p:cNvPr id="93" name="Text 53">
              <a:extLst>
                <a:ext uri="{FF2B5EF4-FFF2-40B4-BE49-F238E27FC236}">
                  <a16:creationId xmlns:a16="http://schemas.microsoft.com/office/drawing/2014/main" id="{C77093B1-9571-6229-181F-D34B1354463B}"/>
                </a:ext>
              </a:extLst>
            </p:cNvPr>
            <p:cNvSpPr/>
            <p:nvPr/>
          </p:nvSpPr>
          <p:spPr>
            <a:xfrm>
              <a:off x="5349240" y="3419856"/>
              <a:ext cx="274320"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P4</a:t>
              </a:r>
              <a:endParaRPr lang="en-US" sz="1400" dirty="0"/>
            </a:p>
          </p:txBody>
        </p:sp>
        <p:sp>
          <p:nvSpPr>
            <p:cNvPr id="94" name="Text 54">
              <a:extLst>
                <a:ext uri="{FF2B5EF4-FFF2-40B4-BE49-F238E27FC236}">
                  <a16:creationId xmlns:a16="http://schemas.microsoft.com/office/drawing/2014/main" id="{BED38E7E-7970-FBF9-35BA-78C4848F5B0B}"/>
                </a:ext>
              </a:extLst>
            </p:cNvPr>
            <p:cNvSpPr/>
            <p:nvPr/>
          </p:nvSpPr>
          <p:spPr>
            <a:xfrm>
              <a:off x="3291840" y="3611880"/>
              <a:ext cx="2395728" cy="237744"/>
            </a:xfrm>
            <a:prstGeom prst="rect">
              <a:avLst/>
            </a:prstGeom>
            <a:noFill/>
            <a:ln/>
          </p:spPr>
          <p:txBody>
            <a:bodyPr wrap="square" lIns="0" tIns="0" rIns="0" bIns="0" rtlCol="0" anchor="ctr"/>
            <a:lstStyle/>
            <a:p>
              <a:pPr marL="0" indent="0" algn="ctr">
                <a:buNone/>
              </a:pPr>
              <a:r>
                <a:rPr lang="en-US" dirty="0">
                  <a:solidFill>
                    <a:srgbClr val="3E4492"/>
                  </a:solidFill>
                  <a:latin typeface="Meiryo" pitchFamily="34" charset="0"/>
                  <a:ea typeface="Meiryo" pitchFamily="34" charset="-122"/>
                  <a:cs typeface="Meiryo" pitchFamily="34" charset="-120"/>
                </a:rPr>
                <a:t>原型＝集団の「端」の極端な型</a:t>
              </a:r>
              <a:endParaRPr lang="en-US" dirty="0"/>
            </a:p>
          </p:txBody>
        </p:sp>
      </p:grpSp>
      <p:sp>
        <p:nvSpPr>
          <p:cNvPr id="111" name="テキスト ボックス 110">
            <a:extLst>
              <a:ext uri="{FF2B5EF4-FFF2-40B4-BE49-F238E27FC236}">
                <a16:creationId xmlns:a16="http://schemas.microsoft.com/office/drawing/2014/main" id="{CA6BAC97-5984-9287-FB2A-D273E782C3D4}"/>
              </a:ext>
            </a:extLst>
          </p:cNvPr>
          <p:cNvSpPr txBox="1"/>
          <p:nvPr/>
        </p:nvSpPr>
        <p:spPr>
          <a:xfrm>
            <a:off x="376264" y="3202055"/>
            <a:ext cx="3237233" cy="523220"/>
          </a:xfrm>
          <a:prstGeom prst="rect">
            <a:avLst/>
          </a:prstGeom>
          <a:noFill/>
        </p:spPr>
        <p:txBody>
          <a:bodyPr wrap="none" rtlCol="0">
            <a:spAutoFit/>
          </a:bodyPr>
          <a:lstStyle/>
          <a:p>
            <a:pPr marL="457200" indent="-457200">
              <a:buFont typeface="Wingdings" pitchFamily="2" charset="2"/>
              <a:buChar char="n"/>
            </a:pPr>
            <a:r>
              <a:rPr kumimoji="1" lang="en-US" altLang="ja-JP" sz="2800" dirty="0"/>
              <a:t>K-means</a:t>
            </a:r>
            <a:r>
              <a:rPr kumimoji="1" lang="ja-JP" altLang="en-US" sz="2800"/>
              <a:t>との違い</a:t>
            </a:r>
          </a:p>
        </p:txBody>
      </p:sp>
      <p:sp>
        <p:nvSpPr>
          <p:cNvPr id="112" name="テキスト ボックス 111">
            <a:extLst>
              <a:ext uri="{FF2B5EF4-FFF2-40B4-BE49-F238E27FC236}">
                <a16:creationId xmlns:a16="http://schemas.microsoft.com/office/drawing/2014/main" id="{34393FAA-806F-DE9C-2357-D7992AD3C338}"/>
              </a:ext>
            </a:extLst>
          </p:cNvPr>
          <p:cNvSpPr txBox="1"/>
          <p:nvPr/>
        </p:nvSpPr>
        <p:spPr>
          <a:xfrm>
            <a:off x="9498598" y="3202055"/>
            <a:ext cx="3459601" cy="523220"/>
          </a:xfrm>
          <a:prstGeom prst="rect">
            <a:avLst/>
          </a:prstGeom>
          <a:noFill/>
        </p:spPr>
        <p:txBody>
          <a:bodyPr wrap="none" rtlCol="0">
            <a:spAutoFit/>
          </a:bodyPr>
          <a:lstStyle/>
          <a:p>
            <a:pPr marL="457200" indent="-457200">
              <a:buFont typeface="Wingdings" pitchFamily="2" charset="2"/>
              <a:buChar char="n"/>
            </a:pPr>
            <a:r>
              <a:rPr kumimoji="1" lang="ja-JP" altLang="en-US" sz="2800"/>
              <a:t>原型数</a:t>
            </a:r>
            <a:r>
              <a:rPr kumimoji="1" lang="en-US" altLang="ja-JP" sz="2800" dirty="0"/>
              <a:t>K</a:t>
            </a:r>
            <a:r>
              <a:rPr kumimoji="1" lang="ja-JP" altLang="en-US" sz="2800"/>
              <a:t>の決め方</a:t>
            </a:r>
          </a:p>
        </p:txBody>
      </p:sp>
      <p:cxnSp>
        <p:nvCxnSpPr>
          <p:cNvPr id="114" name="直線コネクタ 113">
            <a:extLst>
              <a:ext uri="{FF2B5EF4-FFF2-40B4-BE49-F238E27FC236}">
                <a16:creationId xmlns:a16="http://schemas.microsoft.com/office/drawing/2014/main" id="{038E24E1-988B-A99F-4F00-64FCB164DCEE}"/>
              </a:ext>
            </a:extLst>
          </p:cNvPr>
          <p:cNvCxnSpPr>
            <a:cxnSpLocks/>
          </p:cNvCxnSpPr>
          <p:nvPr/>
        </p:nvCxnSpPr>
        <p:spPr>
          <a:xfrm>
            <a:off x="9204744" y="3202055"/>
            <a:ext cx="0" cy="4654533"/>
          </a:xfrm>
          <a:prstGeom prst="line">
            <a:avLst/>
          </a:prstGeom>
          <a:ln w="28575">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99AF8D08-BC28-8693-CE82-80902E685733}"/>
              </a:ext>
            </a:extLst>
          </p:cNvPr>
          <p:cNvSpPr txBox="1"/>
          <p:nvPr/>
        </p:nvSpPr>
        <p:spPr>
          <a:xfrm>
            <a:off x="285216" y="7025591"/>
            <a:ext cx="4140313" cy="830997"/>
          </a:xfrm>
          <a:prstGeom prst="rect">
            <a:avLst/>
          </a:prstGeom>
          <a:noFill/>
        </p:spPr>
        <p:txBody>
          <a:bodyPr wrap="square" rtlCol="0">
            <a:spAutoFit/>
          </a:bodyPr>
          <a:lstStyle/>
          <a:p>
            <a:pPr algn="ctr"/>
            <a:r>
              <a:rPr kumimoji="1" lang="ja-JP" altLang="en-US" sz="2400"/>
              <a:t>中心が平均に近く，クラスタ間での特徴に差が出にくい</a:t>
            </a:r>
            <a:endParaRPr kumimoji="1" lang="en-US" altLang="ja-JP" sz="2400" dirty="0"/>
          </a:p>
        </p:txBody>
      </p:sp>
      <p:sp>
        <p:nvSpPr>
          <p:cNvPr id="117" name="テキスト ボックス 116">
            <a:extLst>
              <a:ext uri="{FF2B5EF4-FFF2-40B4-BE49-F238E27FC236}">
                <a16:creationId xmlns:a16="http://schemas.microsoft.com/office/drawing/2014/main" id="{E218A394-1C09-2C19-6486-0DFC518820C9}"/>
              </a:ext>
            </a:extLst>
          </p:cNvPr>
          <p:cNvSpPr txBox="1"/>
          <p:nvPr/>
        </p:nvSpPr>
        <p:spPr>
          <a:xfrm>
            <a:off x="4822722" y="7025591"/>
            <a:ext cx="4295628" cy="830997"/>
          </a:xfrm>
          <a:prstGeom prst="rect">
            <a:avLst/>
          </a:prstGeom>
          <a:noFill/>
        </p:spPr>
        <p:txBody>
          <a:bodyPr wrap="square" rtlCol="0">
            <a:spAutoFit/>
          </a:bodyPr>
          <a:lstStyle/>
          <a:p>
            <a:pPr algn="ctr"/>
            <a:r>
              <a:rPr kumimoji="1" lang="ja-JP" altLang="en-US" sz="2400"/>
              <a:t>原型は特徴量の偏りが大きくタイプごとの特徴を分離しやすい</a:t>
            </a:r>
          </a:p>
        </p:txBody>
      </p:sp>
      <p:sp>
        <p:nvSpPr>
          <p:cNvPr id="118" name="テキスト ボックス 117">
            <a:extLst>
              <a:ext uri="{FF2B5EF4-FFF2-40B4-BE49-F238E27FC236}">
                <a16:creationId xmlns:a16="http://schemas.microsoft.com/office/drawing/2014/main" id="{613472ED-BE12-D780-BBE5-7731DBCA8C45}"/>
              </a:ext>
            </a:extLst>
          </p:cNvPr>
          <p:cNvSpPr txBox="1"/>
          <p:nvPr/>
        </p:nvSpPr>
        <p:spPr>
          <a:xfrm>
            <a:off x="9849375" y="7154234"/>
            <a:ext cx="8096379" cy="461665"/>
          </a:xfrm>
          <a:prstGeom prst="rect">
            <a:avLst/>
          </a:prstGeom>
          <a:noFill/>
        </p:spPr>
        <p:txBody>
          <a:bodyPr wrap="square" rtlCol="0">
            <a:spAutoFit/>
          </a:bodyPr>
          <a:lstStyle/>
          <a:p>
            <a:r>
              <a:rPr kumimoji="1" lang="en-US" altLang="ja-JP" sz="2400" dirty="0"/>
              <a:t>RSS /N</a:t>
            </a:r>
            <a:r>
              <a:rPr kumimoji="1" lang="ja-JP" altLang="en-US" sz="2400"/>
              <a:t>の改善が小さくなる点（エルボー）で</a:t>
            </a:r>
            <a:r>
              <a:rPr kumimoji="1" lang="en-US" altLang="ja-JP" sz="2400" dirty="0"/>
              <a:t>K=4</a:t>
            </a:r>
            <a:r>
              <a:rPr kumimoji="1" lang="ja-JP" altLang="en-US" sz="2400"/>
              <a:t>に決定</a:t>
            </a:r>
            <a:endParaRPr kumimoji="1" lang="en-US" altLang="ja-JP" sz="2400" dirty="0"/>
          </a:p>
        </p:txBody>
      </p:sp>
      <p:sp>
        <p:nvSpPr>
          <p:cNvPr id="121" name="テキスト ボックス 120">
            <a:extLst>
              <a:ext uri="{FF2B5EF4-FFF2-40B4-BE49-F238E27FC236}">
                <a16:creationId xmlns:a16="http://schemas.microsoft.com/office/drawing/2014/main" id="{EDD1ADEF-5721-5B61-880E-A56A5635C881}"/>
              </a:ext>
            </a:extLst>
          </p:cNvPr>
          <p:cNvSpPr txBox="1"/>
          <p:nvPr/>
        </p:nvSpPr>
        <p:spPr>
          <a:xfrm>
            <a:off x="52530" y="8973876"/>
            <a:ext cx="10508101" cy="369332"/>
          </a:xfrm>
          <a:prstGeom prst="rect">
            <a:avLst/>
          </a:prstGeom>
          <a:noFill/>
        </p:spPr>
        <p:txBody>
          <a:bodyPr wrap="square">
            <a:spAutoFit/>
          </a:bodyPr>
          <a:lstStyle/>
          <a:p>
            <a:r>
              <a:rPr lang="en-US" altLang="ja-JP" dirty="0"/>
              <a:t>[1] Cutler, A. and </a:t>
            </a:r>
            <a:r>
              <a:rPr lang="en-US" altLang="ja-JP" dirty="0" err="1"/>
              <a:t>Breiman</a:t>
            </a:r>
            <a:r>
              <a:rPr lang="en-US" altLang="ja-JP" dirty="0"/>
              <a:t>, L.: Archetypal analysis, </a:t>
            </a:r>
            <a:r>
              <a:rPr lang="en-US" altLang="ja-JP" dirty="0" err="1"/>
              <a:t>Technometrics</a:t>
            </a:r>
            <a:r>
              <a:rPr lang="en-US" altLang="ja-JP" dirty="0"/>
              <a:t>, Vol. 36, No. 4, pp. 338–347 (1994).</a:t>
            </a:r>
            <a:endParaRPr lang="ja-JP" altLang="en-US"/>
          </a:p>
        </p:txBody>
      </p:sp>
      <p:grpSp>
        <p:nvGrpSpPr>
          <p:cNvPr id="125" name="グループ化 124">
            <a:extLst>
              <a:ext uri="{FF2B5EF4-FFF2-40B4-BE49-F238E27FC236}">
                <a16:creationId xmlns:a16="http://schemas.microsoft.com/office/drawing/2014/main" id="{93878269-EB2D-A5FB-BD02-291C6C587EE1}"/>
              </a:ext>
            </a:extLst>
          </p:cNvPr>
          <p:cNvGrpSpPr/>
          <p:nvPr/>
        </p:nvGrpSpPr>
        <p:grpSpPr>
          <a:xfrm>
            <a:off x="9498598" y="3652889"/>
            <a:ext cx="7628756" cy="3085580"/>
            <a:chOff x="9498598" y="3367053"/>
            <a:chExt cx="7628756" cy="3085580"/>
          </a:xfrm>
        </p:grpSpPr>
        <p:pic>
          <p:nvPicPr>
            <p:cNvPr id="123" name="図 122">
              <a:extLst>
                <a:ext uri="{FF2B5EF4-FFF2-40B4-BE49-F238E27FC236}">
                  <a16:creationId xmlns:a16="http://schemas.microsoft.com/office/drawing/2014/main" id="{F5DDE133-D41F-3262-EBC9-37582E86F9D2}"/>
                </a:ext>
              </a:extLst>
            </p:cNvPr>
            <p:cNvPicPr>
              <a:picLocks noChangeAspect="1"/>
            </p:cNvPicPr>
            <p:nvPr/>
          </p:nvPicPr>
          <p:blipFill>
            <a:blip r:embed="rId3"/>
            <a:stretch>
              <a:fillRect/>
            </a:stretch>
          </p:blipFill>
          <p:spPr>
            <a:xfrm>
              <a:off x="13172274" y="3643492"/>
              <a:ext cx="3955080" cy="2809141"/>
            </a:xfrm>
            <a:prstGeom prst="rect">
              <a:avLst/>
            </a:prstGeom>
          </p:spPr>
        </p:pic>
        <p:sp>
          <p:nvSpPr>
            <p:cNvPr id="99" name="正方形/長方形 98">
              <a:extLst>
                <a:ext uri="{FF2B5EF4-FFF2-40B4-BE49-F238E27FC236}">
                  <a16:creationId xmlns:a16="http://schemas.microsoft.com/office/drawing/2014/main" id="{D84EB9C0-1E9B-C679-1466-F6809D604C44}"/>
                </a:ext>
              </a:extLst>
            </p:cNvPr>
            <p:cNvSpPr/>
            <p:nvPr/>
          </p:nvSpPr>
          <p:spPr>
            <a:xfrm>
              <a:off x="14517568" y="3367053"/>
              <a:ext cx="2154264" cy="2246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正方形/長方形 102">
              <a:extLst>
                <a:ext uri="{FF2B5EF4-FFF2-40B4-BE49-F238E27FC236}">
                  <a16:creationId xmlns:a16="http://schemas.microsoft.com/office/drawing/2014/main" id="{0E652FB3-B059-BE9C-BC77-9B9AF227B131}"/>
                </a:ext>
              </a:extLst>
            </p:cNvPr>
            <p:cNvSpPr/>
            <p:nvPr/>
          </p:nvSpPr>
          <p:spPr>
            <a:xfrm>
              <a:off x="13172274" y="4483575"/>
              <a:ext cx="163200" cy="8722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6" name="図 95">
              <a:extLst>
                <a:ext uri="{FF2B5EF4-FFF2-40B4-BE49-F238E27FC236}">
                  <a16:creationId xmlns:a16="http://schemas.microsoft.com/office/drawing/2014/main" id="{8B47AB57-27B0-4BDA-9258-2B0E46630FA5}"/>
                </a:ext>
              </a:extLst>
            </p:cNvPr>
            <p:cNvPicPr>
              <a:picLocks noChangeAspect="1"/>
            </p:cNvPicPr>
            <p:nvPr/>
          </p:nvPicPr>
          <p:blipFill>
            <a:blip r:embed="rId4"/>
            <a:stretch>
              <a:fillRect/>
            </a:stretch>
          </p:blipFill>
          <p:spPr>
            <a:xfrm>
              <a:off x="9498598" y="3643492"/>
              <a:ext cx="3955079" cy="2809141"/>
            </a:xfrm>
            <a:prstGeom prst="rect">
              <a:avLst/>
            </a:prstGeom>
          </p:spPr>
        </p:pic>
        <p:sp>
          <p:nvSpPr>
            <p:cNvPr id="110" name="正方形/長方形 109">
              <a:extLst>
                <a:ext uri="{FF2B5EF4-FFF2-40B4-BE49-F238E27FC236}">
                  <a16:creationId xmlns:a16="http://schemas.microsoft.com/office/drawing/2014/main" id="{D34E73C3-2C43-112A-F12A-E7A2E4DAFE08}"/>
                </a:ext>
              </a:extLst>
            </p:cNvPr>
            <p:cNvSpPr/>
            <p:nvPr/>
          </p:nvSpPr>
          <p:spPr>
            <a:xfrm>
              <a:off x="11476137" y="6191322"/>
              <a:ext cx="411063" cy="1816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正方形/長方形 123">
              <a:extLst>
                <a:ext uri="{FF2B5EF4-FFF2-40B4-BE49-F238E27FC236}">
                  <a16:creationId xmlns:a16="http://schemas.microsoft.com/office/drawing/2014/main" id="{0F2A323F-63CA-4D5B-AE4E-99E0685FA7EA}"/>
                </a:ext>
              </a:extLst>
            </p:cNvPr>
            <p:cNvSpPr/>
            <p:nvPr/>
          </p:nvSpPr>
          <p:spPr>
            <a:xfrm>
              <a:off x="15149814" y="6191322"/>
              <a:ext cx="318243" cy="2613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6" name="テキスト ボックス 125">
            <a:extLst>
              <a:ext uri="{FF2B5EF4-FFF2-40B4-BE49-F238E27FC236}">
                <a16:creationId xmlns:a16="http://schemas.microsoft.com/office/drawing/2014/main" id="{FDEEB1B3-168E-B671-AE28-022AA2EB23E8}"/>
              </a:ext>
            </a:extLst>
          </p:cNvPr>
          <p:cNvSpPr txBox="1"/>
          <p:nvPr/>
        </p:nvSpPr>
        <p:spPr>
          <a:xfrm>
            <a:off x="11127454" y="3985212"/>
            <a:ext cx="1303627" cy="400110"/>
          </a:xfrm>
          <a:prstGeom prst="rect">
            <a:avLst/>
          </a:prstGeom>
          <a:noFill/>
        </p:spPr>
        <p:txBody>
          <a:bodyPr wrap="none" rtlCol="0">
            <a:spAutoFit/>
          </a:bodyPr>
          <a:lstStyle/>
          <a:p>
            <a:r>
              <a:rPr kumimoji="1" lang="en-US" altLang="ja-JP" sz="2000" dirty="0"/>
              <a:t>OpenStack</a:t>
            </a:r>
            <a:endParaRPr kumimoji="1" lang="ja-JP" altLang="en-US" sz="2000"/>
          </a:p>
        </p:txBody>
      </p:sp>
      <p:sp>
        <p:nvSpPr>
          <p:cNvPr id="127" name="テキスト ボックス 126">
            <a:extLst>
              <a:ext uri="{FF2B5EF4-FFF2-40B4-BE49-F238E27FC236}">
                <a16:creationId xmlns:a16="http://schemas.microsoft.com/office/drawing/2014/main" id="{E5269D19-8AA4-A9E5-F490-1362C22E5637}"/>
              </a:ext>
            </a:extLst>
          </p:cNvPr>
          <p:cNvSpPr txBox="1"/>
          <p:nvPr/>
        </p:nvSpPr>
        <p:spPr>
          <a:xfrm>
            <a:off x="14943513" y="3983472"/>
            <a:ext cx="752450" cy="400110"/>
          </a:xfrm>
          <a:prstGeom prst="rect">
            <a:avLst/>
          </a:prstGeom>
          <a:noFill/>
        </p:spPr>
        <p:txBody>
          <a:bodyPr wrap="none" rtlCol="0">
            <a:spAutoFit/>
          </a:bodyPr>
          <a:lstStyle/>
          <a:p>
            <a:r>
              <a:rPr kumimoji="1" lang="en-US" altLang="ja-JP" sz="2000" dirty="0"/>
              <a:t>AOSP</a:t>
            </a:r>
            <a:endParaRPr kumimoji="1" lang="ja-JP" altLang="en-US" sz="2000"/>
          </a:p>
        </p:txBody>
      </p:sp>
      <p:sp>
        <p:nvSpPr>
          <p:cNvPr id="129" name="テキスト ボックス 128">
            <a:extLst>
              <a:ext uri="{FF2B5EF4-FFF2-40B4-BE49-F238E27FC236}">
                <a16:creationId xmlns:a16="http://schemas.microsoft.com/office/drawing/2014/main" id="{78FB3270-7AE1-3583-41E4-EAE8ADCA4607}"/>
              </a:ext>
            </a:extLst>
          </p:cNvPr>
          <p:cNvSpPr txBox="1"/>
          <p:nvPr/>
        </p:nvSpPr>
        <p:spPr>
          <a:xfrm>
            <a:off x="11023930" y="6525946"/>
            <a:ext cx="4623086" cy="369332"/>
          </a:xfrm>
          <a:prstGeom prst="rect">
            <a:avLst/>
          </a:prstGeom>
          <a:noFill/>
        </p:spPr>
        <p:txBody>
          <a:bodyPr wrap="square">
            <a:spAutoFit/>
          </a:bodyPr>
          <a:lstStyle/>
          <a:p>
            <a:r>
              <a:rPr lang="ja-JP" altLang="en-US"/>
              <a:t>図：原型数 </a:t>
            </a:r>
            <a:r>
              <a:rPr lang="en-US" altLang="ja-JP" dirty="0"/>
              <a:t>K </a:t>
            </a:r>
            <a:r>
              <a:rPr lang="ja-JP" altLang="en-US"/>
              <a:t>に対する平均残差平方和の推移</a:t>
            </a:r>
          </a:p>
        </p:txBody>
      </p:sp>
    </p:spTree>
    <p:extLst>
      <p:ext uri="{BB962C8B-B14F-4D97-AF65-F5344CB8AC3E}">
        <p14:creationId xmlns:p14="http://schemas.microsoft.com/office/powerpoint/2010/main" val="1782662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1C3A-127C-F27B-A867-4972B302F475}"/>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3FF13632-9E73-03D2-481D-28179F5C2C15}"/>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9EB59D1B-4CAB-8A11-B010-49E41E30574B}"/>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38D91249-5730-EB8E-BC40-36F3FAB8F8D7}"/>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3629A2D7-9836-6F27-EDC9-5FD7C34731FF}"/>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9FDA294F-510C-4502-52D0-2755C1D30BF0}"/>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057495D7-A62E-ECB2-F8C8-D01862341191}"/>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A23DFF5B-C997-9D1F-5AEE-F04B0BB766C2}"/>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48A27C39-34A1-A3AA-2738-35917F3C704A}"/>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6FC375E-3DA0-F49E-556D-877A22E12802}"/>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6E41A9A2-3D61-5B95-3C9D-52AC5776F331}"/>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A25FEF9A-69ED-8E24-576B-78FB25B67471}"/>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B0360C29-69F4-ADFF-2C98-B7FF51F5A29C}"/>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06E9BBF2-6149-72CD-5122-857DFAF87985}"/>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11C1B7B2-D479-93AA-9448-A62A7E1BFFBC}"/>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2ABE28B0-173B-07E2-147D-DAD699548CB0}"/>
              </a:ext>
            </a:extLst>
          </p:cNvPr>
          <p:cNvSpPr/>
          <p:nvPr/>
        </p:nvSpPr>
        <p:spPr>
          <a:xfrm>
            <a:off x="8301599" y="3429062"/>
            <a:ext cx="8013195" cy="1316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tx1"/>
                </a:solidFill>
              </a:rPr>
              <a:t>IRL</a:t>
            </a:r>
            <a:r>
              <a:rPr kumimoji="1" lang="ja-JP" altLang="en-US" sz="2800">
                <a:solidFill>
                  <a:schemeClr val="tx1"/>
                </a:solidFill>
              </a:rPr>
              <a:t>が他ディレクトリの活動状況を活用</a:t>
            </a:r>
            <a:endParaRPr kumimoji="1" lang="en-US" altLang="ja-JP" sz="2800" dirty="0">
              <a:solidFill>
                <a:schemeClr val="tx1"/>
              </a:solidFill>
            </a:endParaRPr>
          </a:p>
          <a:p>
            <a:pPr algn="ctr"/>
            <a:r>
              <a:rPr kumimoji="1" lang="ja-JP" altLang="en-US" sz="2400">
                <a:solidFill>
                  <a:schemeClr val="tx1">
                    <a:lumMod val="75000"/>
                    <a:lumOff val="25000"/>
                  </a:schemeClr>
                </a:solidFill>
              </a:rPr>
              <a:t>後半になると活動状況の影響が弱まることが示唆</a:t>
            </a:r>
            <a:endParaRPr kumimoji="1" lang="en-US" altLang="ja-JP" sz="2400" dirty="0">
              <a:solidFill>
                <a:schemeClr val="tx1">
                  <a:lumMod val="75000"/>
                  <a:lumOff val="25000"/>
                </a:schemeClr>
              </a:solidFill>
            </a:endParaRPr>
          </a:p>
        </p:txBody>
      </p:sp>
      <p:sp>
        <p:nvSpPr>
          <p:cNvPr id="67" name="角丸四角形 66">
            <a:extLst>
              <a:ext uri="{FF2B5EF4-FFF2-40B4-BE49-F238E27FC236}">
                <a16:creationId xmlns:a16="http://schemas.microsoft.com/office/drawing/2014/main" id="{A72F0709-D7A9-7162-26AD-318F360C1454}"/>
              </a:ext>
            </a:extLst>
          </p:cNvPr>
          <p:cNvSpPr/>
          <p:nvPr/>
        </p:nvSpPr>
        <p:spPr>
          <a:xfrm>
            <a:off x="7556201" y="568603"/>
            <a:ext cx="9493549" cy="4376945"/>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56067865-D0BC-AEF9-7399-2579D7F197F9}"/>
              </a:ext>
            </a:extLst>
          </p:cNvPr>
          <p:cNvSpPr>
            <a:spLocks noGrp="1"/>
          </p:cNvSpPr>
          <p:nvPr>
            <p:ph type="sldNum" sz="quarter" idx="12"/>
          </p:nvPr>
        </p:nvSpPr>
        <p:spPr/>
        <p:txBody>
          <a:bodyPr/>
          <a:lstStyle/>
          <a:p>
            <a:fld id="{85D74467-FFC2-5C49-A08A-98A9FE9BCA53}" type="slidenum">
              <a:rPr kumimoji="1" lang="ja-JP" altLang="en-US" smtClean="0"/>
              <a:pPr/>
              <a:t>19</a:t>
            </a:fld>
            <a:endParaRPr kumimoji="1" lang="ja-JP" altLang="en-US"/>
          </a:p>
        </p:txBody>
      </p:sp>
      <p:sp>
        <p:nvSpPr>
          <p:cNvPr id="83" name="Text 9">
            <a:extLst>
              <a:ext uri="{FF2B5EF4-FFF2-40B4-BE49-F238E27FC236}">
                <a16:creationId xmlns:a16="http://schemas.microsoft.com/office/drawing/2014/main" id="{47D4CE8A-4C08-A816-D5F6-594D78FDF9AD}"/>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87" name="テキスト ボックス 86">
            <a:extLst>
              <a:ext uri="{FF2B5EF4-FFF2-40B4-BE49-F238E27FC236}">
                <a16:creationId xmlns:a16="http://schemas.microsoft.com/office/drawing/2014/main" id="{5005FE95-9536-4C42-9B5A-ACD72AB25B0D}"/>
              </a:ext>
            </a:extLst>
          </p:cNvPr>
          <p:cNvSpPr txBox="1"/>
          <p:nvPr/>
        </p:nvSpPr>
        <p:spPr>
          <a:xfrm>
            <a:off x="8101959" y="2854700"/>
            <a:ext cx="11172824" cy="461665"/>
          </a:xfrm>
          <a:prstGeom prst="rect">
            <a:avLst/>
          </a:prstGeom>
          <a:noFill/>
        </p:spPr>
        <p:txBody>
          <a:bodyPr wrap="square">
            <a:spAutoFit/>
          </a:bodyPr>
          <a:lstStyle/>
          <a:p>
            <a:r>
              <a:rPr lang="en-US" altLang="ja-JP" sz="2400" dirty="0">
                <a:latin typeface="MS PGothic" panose="020B0600070205080204" pitchFamily="34" charset="-128"/>
                <a:ea typeface="MS PGothic" panose="020B0600070205080204" pitchFamily="34" charset="-128"/>
                <a:cs typeface="Meiryo" pitchFamily="34" charset="-120"/>
              </a:rPr>
              <a:t>4</a:t>
            </a:r>
            <a:r>
              <a:rPr lang="ja-JP" altLang="en-US" sz="2400">
                <a:latin typeface="MS PGothic" panose="020B0600070205080204" pitchFamily="34" charset="-128"/>
                <a:ea typeface="MS PGothic" panose="020B0600070205080204" pitchFamily="34" charset="-128"/>
                <a:cs typeface="Meiryo" pitchFamily="34" charset="-120"/>
              </a:rPr>
              <a:t>原型中最多の</a:t>
            </a:r>
            <a:r>
              <a:rPr lang="en-US" altLang="ja-JP" sz="2400" dirty="0">
                <a:latin typeface="MS PGothic" panose="020B0600070205080204" pitchFamily="34" charset="-128"/>
                <a:ea typeface="MS PGothic" panose="020B0600070205080204" pitchFamily="34" charset="-128"/>
                <a:cs typeface="Meiryo" pitchFamily="34" charset="-120"/>
              </a:rPr>
              <a:t>n(1,284)</a:t>
            </a:r>
            <a:r>
              <a:rPr lang="ja-JP" altLang="en-US" sz="2400">
                <a:latin typeface="MS PGothic" panose="020B0600070205080204" pitchFamily="34" charset="-128"/>
                <a:ea typeface="MS PGothic" panose="020B0600070205080204" pitchFamily="34" charset="-128"/>
                <a:cs typeface="Meiryo" pitchFamily="34" charset="-120"/>
              </a:rPr>
              <a:t>を持つ</a:t>
            </a:r>
            <a:r>
              <a:rPr lang="en-US" altLang="ja-JP" sz="2400" dirty="0">
                <a:latin typeface="MS PGothic" panose="020B0600070205080204" pitchFamily="34" charset="-128"/>
                <a:ea typeface="MS PGothic" panose="020B0600070205080204" pitchFamily="34" charset="-128"/>
                <a:cs typeface="Meiryo" pitchFamily="34" charset="-120"/>
              </a:rPr>
              <a:t>P1</a:t>
            </a:r>
            <a:r>
              <a:rPr lang="ja-JP" altLang="en-US" sz="2400">
                <a:latin typeface="MS PGothic" panose="020B0600070205080204" pitchFamily="34" charset="-128"/>
                <a:ea typeface="MS PGothic" panose="020B0600070205080204" pitchFamily="34" charset="-128"/>
                <a:cs typeface="Meiryo" pitchFamily="34" charset="-120"/>
              </a:rPr>
              <a:t>で，</a:t>
            </a:r>
            <a:r>
              <a:rPr lang="en-US" altLang="ja-JP" sz="2400" dirty="0">
                <a:latin typeface="MS PGothic" panose="020B0600070205080204" pitchFamily="34" charset="-128"/>
                <a:ea typeface="MS PGothic" panose="020B0600070205080204" pitchFamily="34" charset="-128"/>
                <a:cs typeface="Meiryo" pitchFamily="34" charset="-120"/>
              </a:rPr>
              <a:t>4</a:t>
            </a:r>
            <a:r>
              <a:rPr lang="ja-JP" altLang="en-US" sz="2400">
                <a:latin typeface="MS PGothic" panose="020B0600070205080204" pitchFamily="34" charset="-128"/>
                <a:ea typeface="MS PGothic" panose="020B0600070205080204" pitchFamily="34" charset="-128"/>
                <a:cs typeface="Meiryo" pitchFamily="34" charset="-120"/>
              </a:rPr>
              <a:t>期間中</a:t>
            </a:r>
            <a:r>
              <a:rPr lang="en-US" altLang="ja-JP" sz="2400" dirty="0">
                <a:latin typeface="MS PGothic" panose="020B0600070205080204" pitchFamily="34" charset="-128"/>
                <a:ea typeface="MS PGothic" panose="020B0600070205080204" pitchFamily="34" charset="-128"/>
                <a:cs typeface="Meiryo" pitchFamily="34" charset="-120"/>
              </a:rPr>
              <a:t>3</a:t>
            </a:r>
            <a:r>
              <a:rPr lang="ja-JP" altLang="en-US" sz="2400">
                <a:latin typeface="MS PGothic" panose="020B0600070205080204" pitchFamily="34" charset="-128"/>
                <a:ea typeface="MS PGothic" panose="020B0600070205080204" pitchFamily="34" charset="-128"/>
                <a:cs typeface="Meiryo" pitchFamily="34" charset="-120"/>
              </a:rPr>
              <a:t>期間 </a:t>
            </a:r>
            <a:r>
              <a:rPr lang="en-US" altLang="ja-JP" sz="2400" dirty="0">
                <a:latin typeface="MS PGothic" panose="020B0600070205080204" pitchFamily="34" charset="-128"/>
                <a:ea typeface="MS PGothic" panose="020B0600070205080204" pitchFamily="34" charset="-128"/>
                <a:cs typeface="Meiryo" pitchFamily="34" charset="-120"/>
              </a:rPr>
              <a:t>IRL </a:t>
            </a:r>
            <a:r>
              <a:rPr lang="ja-JP" altLang="en-US" sz="2400">
                <a:latin typeface="MS PGothic" panose="020B0600070205080204" pitchFamily="34" charset="-128"/>
                <a:ea typeface="MS PGothic" panose="020B0600070205080204" pitchFamily="34" charset="-128"/>
                <a:cs typeface="Meiryo" pitchFamily="34" charset="-120"/>
              </a:rPr>
              <a:t>が優位 </a:t>
            </a:r>
            <a:endParaRPr lang="en-US" altLang="ja-JP" sz="2400" dirty="0">
              <a:latin typeface="MS PGothic" panose="020B0600070205080204" pitchFamily="34" charset="-128"/>
              <a:ea typeface="MS PGothic" panose="020B0600070205080204" pitchFamily="34" charset="-128"/>
              <a:cs typeface="Meiryo" pitchFamily="34" charset="-120"/>
            </a:endParaRPr>
          </a:p>
        </p:txBody>
      </p:sp>
      <p:sp>
        <p:nvSpPr>
          <p:cNvPr id="71" name="角丸四角形 70">
            <a:extLst>
              <a:ext uri="{FF2B5EF4-FFF2-40B4-BE49-F238E27FC236}">
                <a16:creationId xmlns:a16="http://schemas.microsoft.com/office/drawing/2014/main" id="{88B16009-9EE5-0178-20E3-52521C414672}"/>
              </a:ext>
            </a:extLst>
          </p:cNvPr>
          <p:cNvSpPr/>
          <p:nvPr/>
        </p:nvSpPr>
        <p:spPr>
          <a:xfrm>
            <a:off x="7556201" y="5740947"/>
            <a:ext cx="9589660" cy="772098"/>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03B8BCE8-2F73-187E-355A-848BEB3F766F}"/>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D3989D2F-10AE-9111-C2B9-062B51DE3D56}"/>
              </a:ext>
            </a:extLst>
          </p:cNvPr>
          <p:cNvGrpSpPr/>
          <p:nvPr/>
        </p:nvGrpSpPr>
        <p:grpSpPr>
          <a:xfrm>
            <a:off x="-3897499" y="5054150"/>
            <a:ext cx="14415338" cy="5139955"/>
            <a:chOff x="-9643191" y="-2889165"/>
            <a:chExt cx="15034054" cy="5360565"/>
          </a:xfrm>
        </p:grpSpPr>
        <p:pic>
          <p:nvPicPr>
            <p:cNvPr id="30" name="図 29">
              <a:extLst>
                <a:ext uri="{FF2B5EF4-FFF2-40B4-BE49-F238E27FC236}">
                  <a16:creationId xmlns:a16="http://schemas.microsoft.com/office/drawing/2014/main" id="{B6EF82EA-1C20-8F53-89BF-50104CCDF10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918A7A0F-CEB5-4735-C202-6229D2543C0F}"/>
                </a:ext>
              </a:extLst>
            </p:cNvPr>
            <p:cNvSpPr txBox="1"/>
            <p:nvPr/>
          </p:nvSpPr>
          <p:spPr>
            <a:xfrm>
              <a:off x="-6770239" y="-2755187"/>
              <a:ext cx="5066095"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a:t>
              </a:r>
              <a:endParaRPr kumimoji="1" lang="en-US" altLang="ja-JP" sz="2000" dirty="0">
                <a:solidFill>
                  <a:srgbClr val="E05C49"/>
                </a:solidFill>
              </a:endParaRPr>
            </a:p>
            <a:p>
              <a:pPr algn="ctr"/>
              <a:r>
                <a:rPr kumimoji="1" lang="ja-JP" altLang="en-US" sz="2000">
                  <a:solidFill>
                    <a:srgbClr val="E05C49"/>
                  </a:solidFill>
                </a:rPr>
                <a:t>ディレクトリ未経験型</a:t>
              </a:r>
            </a:p>
          </p:txBody>
        </p:sp>
        <p:sp>
          <p:nvSpPr>
            <p:cNvPr id="27" name="テキスト ボックス 26">
              <a:extLst>
                <a:ext uri="{FF2B5EF4-FFF2-40B4-BE49-F238E27FC236}">
                  <a16:creationId xmlns:a16="http://schemas.microsoft.com/office/drawing/2014/main" id="{78992395-4BB8-3F86-C694-ED9C520AF2AF}"/>
                </a:ext>
              </a:extLst>
            </p:cNvPr>
            <p:cNvSpPr txBox="1"/>
            <p:nvPr/>
          </p:nvSpPr>
          <p:spPr>
            <a:xfrm>
              <a:off x="-1693405" y="-2652318"/>
              <a:ext cx="5044829" cy="369332"/>
            </a:xfrm>
            <a:prstGeom prst="rect">
              <a:avLst/>
            </a:prstGeom>
            <a:noFill/>
          </p:spPr>
          <p:txBody>
            <a:bodyPr wrap="square" rtlCol="0">
              <a:spAutoFit/>
            </a:bodyPr>
            <a:lstStyle/>
            <a:p>
              <a:r>
                <a:rPr kumimoji="1" lang="en-US" altLang="ja-JP" dirty="0">
                  <a:solidFill>
                    <a:srgbClr val="8CD3E3"/>
                  </a:solidFill>
                </a:rPr>
                <a:t>P2:</a:t>
              </a:r>
              <a:r>
                <a:rPr kumimoji="1" lang="ja-JP" altLang="en-US">
                  <a:solidFill>
                    <a:srgbClr val="8CD3E3"/>
                  </a:solidFill>
                </a:rPr>
                <a:t>ディレクトリ経験者・高関与型</a:t>
              </a:r>
            </a:p>
          </p:txBody>
        </p:sp>
        <p:sp>
          <p:nvSpPr>
            <p:cNvPr id="28" name="テキスト ボックス 27">
              <a:extLst>
                <a:ext uri="{FF2B5EF4-FFF2-40B4-BE49-F238E27FC236}">
                  <a16:creationId xmlns:a16="http://schemas.microsoft.com/office/drawing/2014/main" id="{BCF1EFF9-2B75-46F3-4A62-854BBDCBD6A0}"/>
                </a:ext>
              </a:extLst>
            </p:cNvPr>
            <p:cNvSpPr txBox="1"/>
            <p:nvPr/>
          </p:nvSpPr>
          <p:spPr>
            <a:xfrm>
              <a:off x="-9643191" y="1635722"/>
              <a:ext cx="10269414" cy="369332"/>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p>
          </p:txBody>
        </p:sp>
        <p:sp>
          <p:nvSpPr>
            <p:cNvPr id="29" name="テキスト ボックス 28">
              <a:extLst>
                <a:ext uri="{FF2B5EF4-FFF2-40B4-BE49-F238E27FC236}">
                  <a16:creationId xmlns:a16="http://schemas.microsoft.com/office/drawing/2014/main" id="{B7F7936D-B3D9-DE6C-A3A9-E354266DB6D9}"/>
                </a:ext>
              </a:extLst>
            </p:cNvPr>
            <p:cNvSpPr txBox="1"/>
            <p:nvPr/>
          </p:nvSpPr>
          <p:spPr>
            <a:xfrm>
              <a:off x="-806791" y="1625542"/>
              <a:ext cx="5044829" cy="417283"/>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r>
                <a:rPr kumimoji="1" lang="en-US" altLang="ja-JP" sz="2000" dirty="0">
                  <a:solidFill>
                    <a:srgbClr val="35B3A0"/>
                  </a:solidFill>
                </a:rPr>
                <a:t>(n =8,923)</a:t>
              </a:r>
              <a:endParaRPr kumimoji="1" lang="ja-JP" altLang="en-US" sz="2000">
                <a:solidFill>
                  <a:srgbClr val="35B3A0"/>
                </a:solidFill>
              </a:endParaRPr>
            </a:p>
          </p:txBody>
        </p:sp>
      </p:grpSp>
      <p:sp>
        <p:nvSpPr>
          <p:cNvPr id="37" name="角丸四角形 36">
            <a:extLst>
              <a:ext uri="{FF2B5EF4-FFF2-40B4-BE49-F238E27FC236}">
                <a16:creationId xmlns:a16="http://schemas.microsoft.com/office/drawing/2014/main" id="{818EE610-8E0B-702E-6497-26973E6B4403}"/>
              </a:ext>
            </a:extLst>
          </p:cNvPr>
          <p:cNvSpPr/>
          <p:nvPr/>
        </p:nvSpPr>
        <p:spPr>
          <a:xfrm>
            <a:off x="7556201" y="8409060"/>
            <a:ext cx="9589660" cy="548804"/>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E10A1F50-73FA-D819-5572-6B99B6D4F198}"/>
              </a:ext>
            </a:extLst>
          </p:cNvPr>
          <p:cNvSpPr/>
          <p:nvPr/>
        </p:nvSpPr>
        <p:spPr>
          <a:xfrm>
            <a:off x="7556201" y="7051891"/>
            <a:ext cx="9589660" cy="643836"/>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46" name="表 45">
            <a:extLst>
              <a:ext uri="{FF2B5EF4-FFF2-40B4-BE49-F238E27FC236}">
                <a16:creationId xmlns:a16="http://schemas.microsoft.com/office/drawing/2014/main" id="{4CD2EC5F-CF40-D1AD-1157-02CB4AAC00BB}"/>
              </a:ext>
            </a:extLst>
          </p:cNvPr>
          <p:cNvGraphicFramePr>
            <a:graphicFrameLocks noGrp="1"/>
          </p:cNvGraphicFramePr>
          <p:nvPr>
            <p:extLst>
              <p:ext uri="{D42A27DB-BD31-4B8C-83A1-F6EECF244321}">
                <p14:modId xmlns:p14="http://schemas.microsoft.com/office/powerpoint/2010/main" val="421374020"/>
              </p:ext>
            </p:extLst>
          </p:nvPr>
        </p:nvGraphicFramePr>
        <p:xfrm>
          <a:off x="8252362" y="1487079"/>
          <a:ext cx="8013194" cy="1182258"/>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OpenStack</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E96651"/>
                    </a:solidFill>
                  </a:tcPr>
                </a:tc>
                <a:tc>
                  <a:txBody>
                    <a:bodyPr/>
                    <a:lstStyle/>
                    <a:p>
                      <a:pPr marL="0" indent="0" algn="ctr">
                        <a:buNone/>
                      </a:pPr>
                      <a:r>
                        <a:rPr lang="en-US" sz="2400" dirty="0">
                          <a:solidFill>
                            <a:srgbClr val="215044"/>
                          </a:solidFill>
                          <a:latin typeface="MS PGothic" panose="020B0600070205080204" pitchFamily="34" charset="-128"/>
                          <a:ea typeface="MS PGothic" panose="020B0600070205080204" pitchFamily="34" charset="-128"/>
                          <a:cs typeface="Meiryo" pitchFamily="34" charset="-120"/>
                        </a:rPr>
                        <a:t>+9.0</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15044"/>
                          </a:solidFill>
                          <a:latin typeface="MS PGothic" panose="020B0600070205080204" pitchFamily="34" charset="-128"/>
                          <a:ea typeface="MS PGothic" panose="020B0600070205080204" pitchFamily="34" charset="-128"/>
                          <a:cs typeface="Meiryo" pitchFamily="34" charset="-120"/>
                        </a:rPr>
                        <a:t>+3.9</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15044"/>
                          </a:solidFill>
                          <a:latin typeface="MS PGothic" panose="020B0600070205080204" pitchFamily="34" charset="-128"/>
                          <a:ea typeface="MS PGothic" panose="020B0600070205080204" pitchFamily="34" charset="-128"/>
                          <a:cs typeface="Meiryo" pitchFamily="34" charset="-120"/>
                        </a:rPr>
                        <a:t>+4.2</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−5.4</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rgbClr val="FFFFFF"/>
                          </a:solidFill>
                          <a:latin typeface="MS PGothic" panose="020B0600070205080204" pitchFamily="34" charset="-128"/>
                          <a:ea typeface="MS PGothic" panose="020B0600070205080204" pitchFamily="34" charset="-128"/>
                          <a:cs typeface="Meiryo" pitchFamily="34" charset="-120"/>
                        </a:rPr>
                        <a:t>AOSP</a:t>
                      </a:r>
                      <a:endParaRPr lang="en-US" altLang="ja-JP"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E96651"/>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+0.4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−3.3</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−0.2</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−8.6</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47" name="Text 6">
            <a:extLst>
              <a:ext uri="{FF2B5EF4-FFF2-40B4-BE49-F238E27FC236}">
                <a16:creationId xmlns:a16="http://schemas.microsoft.com/office/drawing/2014/main" id="{54650DED-9A5B-6456-A1FB-8EBFF7129FE5}"/>
              </a:ext>
            </a:extLst>
          </p:cNvPr>
          <p:cNvSpPr/>
          <p:nvPr/>
        </p:nvSpPr>
        <p:spPr>
          <a:xfrm>
            <a:off x="8252362" y="1077592"/>
            <a:ext cx="3664231" cy="390081"/>
          </a:xfrm>
          <a:prstGeom prst="rect">
            <a:avLst/>
          </a:prstGeom>
          <a:noFill/>
          <a:ln/>
        </p:spPr>
        <p:txBody>
          <a:bodyPr wrap="square" lIns="0" tIns="0" rIns="0" bIns="0" rtlCol="0" anchor="ctr"/>
          <a:lstStyle/>
          <a:p>
            <a:r>
              <a:rPr lang="en-US" sz="2000" b="1" dirty="0">
                <a:solidFill>
                  <a:srgbClr val="262626"/>
                </a:solidFill>
                <a:latin typeface="MS PGothic" panose="020B0600070205080204" pitchFamily="34" charset="-128"/>
                <a:ea typeface="MS PGothic" panose="020B0600070205080204" pitchFamily="34" charset="-128"/>
                <a:cs typeface="Meiryo" pitchFamily="34" charset="-120"/>
              </a:rPr>
              <a:t>評価期間別 Δ ＝ IRL − RF（pp）</a:t>
            </a:r>
            <a:endParaRPr lang="en-US" sz="2000" dirty="0">
              <a:latin typeface="MS PGothic" panose="020B0600070205080204" pitchFamily="34" charset="-128"/>
              <a:ea typeface="MS PGothic" panose="020B0600070205080204" pitchFamily="34" charset="-128"/>
            </a:endParaRPr>
          </a:p>
        </p:txBody>
      </p:sp>
      <p:sp>
        <p:nvSpPr>
          <p:cNvPr id="48" name="角丸四角形 47">
            <a:extLst>
              <a:ext uri="{FF2B5EF4-FFF2-40B4-BE49-F238E27FC236}">
                <a16:creationId xmlns:a16="http://schemas.microsoft.com/office/drawing/2014/main" id="{F5C6BF8B-DFCA-082B-1073-F3CC847AE179}"/>
              </a:ext>
            </a:extLst>
          </p:cNvPr>
          <p:cNvSpPr/>
          <p:nvPr/>
        </p:nvSpPr>
        <p:spPr>
          <a:xfrm>
            <a:off x="8004777" y="8041746"/>
            <a:ext cx="8260778"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BBF6FF91-DEE8-60C4-2751-2A1B18B4C8FE}"/>
              </a:ext>
            </a:extLst>
          </p:cNvPr>
          <p:cNvSpPr txBox="1"/>
          <p:nvPr/>
        </p:nvSpPr>
        <p:spPr>
          <a:xfrm>
            <a:off x="8180500" y="8143513"/>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0" name="角丸四角形 49">
            <a:extLst>
              <a:ext uri="{FF2B5EF4-FFF2-40B4-BE49-F238E27FC236}">
                <a16:creationId xmlns:a16="http://schemas.microsoft.com/office/drawing/2014/main" id="{0794342F-3B7F-EB53-BF78-C9F2E513E8C7}"/>
              </a:ext>
            </a:extLst>
          </p:cNvPr>
          <p:cNvSpPr/>
          <p:nvPr/>
        </p:nvSpPr>
        <p:spPr>
          <a:xfrm>
            <a:off x="8004777" y="5394726"/>
            <a:ext cx="8260778"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51" name="テキスト ボックス 50">
            <a:extLst>
              <a:ext uri="{FF2B5EF4-FFF2-40B4-BE49-F238E27FC236}">
                <a16:creationId xmlns:a16="http://schemas.microsoft.com/office/drawing/2014/main" id="{A0A3F00A-85C0-826C-DC25-E73E301CCE4B}"/>
              </a:ext>
            </a:extLst>
          </p:cNvPr>
          <p:cNvSpPr txBox="1"/>
          <p:nvPr/>
        </p:nvSpPr>
        <p:spPr>
          <a:xfrm>
            <a:off x="8098612" y="5493985"/>
            <a:ext cx="8166943" cy="523220"/>
          </a:xfrm>
          <a:prstGeom prst="rect">
            <a:avLst/>
          </a:prstGeom>
          <a:noFill/>
        </p:spPr>
        <p:txBody>
          <a:bodyPr wrap="square" rtlCol="0">
            <a:spAutoFit/>
          </a:bodyPr>
          <a:lstStyle/>
          <a:p>
            <a:r>
              <a:rPr kumimoji="1" lang="en-US" altLang="ja-JP" sz="2800" dirty="0">
                <a:solidFill>
                  <a:schemeClr val="accent1">
                    <a:lumMod val="75000"/>
                  </a:schemeClr>
                </a:solidFill>
              </a:rPr>
              <a:t>P2:</a:t>
            </a:r>
            <a:r>
              <a:rPr kumimoji="1" lang="ja-JP" altLang="en-US" sz="2800">
                <a:solidFill>
                  <a:schemeClr val="accent1">
                    <a:lumMod val="75000"/>
                  </a:schemeClr>
                </a:solidFill>
              </a:rPr>
              <a:t>ディレクトリへの関与が</a:t>
            </a:r>
            <a:r>
              <a:rPr kumimoji="1" lang="ja-JP" altLang="en-US" sz="2800">
                <a:solidFill>
                  <a:schemeClr val="tx1">
                    <a:lumMod val="75000"/>
                    <a:lumOff val="25000"/>
                  </a:schemeClr>
                </a:solidFill>
              </a:rPr>
              <a:t>少ない</a:t>
            </a:r>
            <a:r>
              <a:rPr kumimoji="1" lang="ja-JP" altLang="en-US" sz="2000">
                <a:solidFill>
                  <a:schemeClr val="tx1">
                    <a:lumMod val="75000"/>
                    <a:lumOff val="25000"/>
                  </a:schemeClr>
                </a:solidFill>
              </a:rPr>
              <a:t>（</a:t>
            </a:r>
            <a:r>
              <a:rPr kumimoji="1" lang="en-US" altLang="ja-JP" sz="2000" dirty="0">
                <a:solidFill>
                  <a:schemeClr val="tx1">
                    <a:lumMod val="75000"/>
                    <a:lumOff val="25000"/>
                  </a:schemeClr>
                </a:solidFill>
              </a:rPr>
              <a:t>OpenStack</a:t>
            </a:r>
            <a:r>
              <a:rPr kumimoji="1" lang="ja-JP" altLang="en-US" sz="2000">
                <a:solidFill>
                  <a:schemeClr val="tx1">
                    <a:lumMod val="75000"/>
                    <a:lumOff val="25000"/>
                  </a:schemeClr>
                </a:solidFill>
              </a:rPr>
              <a:t>）</a:t>
            </a:r>
            <a:r>
              <a:rPr kumimoji="1" lang="en-US" altLang="ja-JP" sz="2800" dirty="0">
                <a:solidFill>
                  <a:schemeClr val="accent1">
                    <a:lumMod val="75000"/>
                  </a:schemeClr>
                </a:solidFill>
              </a:rPr>
              <a:t>/</a:t>
            </a:r>
            <a:r>
              <a:rPr kumimoji="1" lang="ja-JP" altLang="en-US" sz="2800"/>
              <a:t>多い</a:t>
            </a:r>
            <a:r>
              <a:rPr kumimoji="1" lang="en-US" altLang="ja-JP" sz="2000" dirty="0"/>
              <a:t>(AOSP)</a:t>
            </a:r>
            <a:endParaRPr kumimoji="1" lang="ja-JP" altLang="en-US" sz="2800"/>
          </a:p>
        </p:txBody>
      </p:sp>
      <p:sp>
        <p:nvSpPr>
          <p:cNvPr id="52" name="角丸四角形 51">
            <a:extLst>
              <a:ext uri="{FF2B5EF4-FFF2-40B4-BE49-F238E27FC236}">
                <a16:creationId xmlns:a16="http://schemas.microsoft.com/office/drawing/2014/main" id="{0A2B40A9-23F5-7C73-0B39-870F5296A87B}"/>
              </a:ext>
            </a:extLst>
          </p:cNvPr>
          <p:cNvSpPr/>
          <p:nvPr/>
        </p:nvSpPr>
        <p:spPr>
          <a:xfrm>
            <a:off x="8004777" y="6716649"/>
            <a:ext cx="8260778"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53" name="テキスト ボックス 52">
            <a:extLst>
              <a:ext uri="{FF2B5EF4-FFF2-40B4-BE49-F238E27FC236}">
                <a16:creationId xmlns:a16="http://schemas.microsoft.com/office/drawing/2014/main" id="{72100724-D0F6-D174-A694-060E1BA99329}"/>
              </a:ext>
            </a:extLst>
          </p:cNvPr>
          <p:cNvSpPr txBox="1"/>
          <p:nvPr/>
        </p:nvSpPr>
        <p:spPr>
          <a:xfrm>
            <a:off x="8101959" y="6815908"/>
            <a:ext cx="4775613" cy="523220"/>
          </a:xfrm>
          <a:prstGeom prst="rect">
            <a:avLst/>
          </a:prstGeom>
          <a:noFill/>
        </p:spPr>
        <p:txBody>
          <a:bodyPr wrap="square" rtlCol="0">
            <a:spAutoFit/>
          </a:bodyPr>
          <a:lstStyle/>
          <a:p>
            <a:r>
              <a:rPr kumimoji="1" lang="en-US" altLang="ja-JP" sz="2800" dirty="0">
                <a:solidFill>
                  <a:srgbClr val="F29552"/>
                </a:solidFill>
              </a:rPr>
              <a:t>P4</a:t>
            </a:r>
            <a:r>
              <a:rPr kumimoji="1" lang="en-US" altLang="ja-JP" sz="2000" dirty="0">
                <a:solidFill>
                  <a:srgbClr val="F29552"/>
                </a:solidFill>
              </a:rPr>
              <a:t>(3):</a:t>
            </a:r>
            <a:r>
              <a:rPr kumimoji="1" lang="ja-JP" altLang="en-US" sz="2800">
                <a:solidFill>
                  <a:srgbClr val="F29552"/>
                </a:solidFill>
              </a:rPr>
              <a:t>活動頻度・承諾率が低い</a:t>
            </a:r>
          </a:p>
        </p:txBody>
      </p:sp>
      <p:grpSp>
        <p:nvGrpSpPr>
          <p:cNvPr id="56" name="グループ化 55">
            <a:extLst>
              <a:ext uri="{FF2B5EF4-FFF2-40B4-BE49-F238E27FC236}">
                <a16:creationId xmlns:a16="http://schemas.microsoft.com/office/drawing/2014/main" id="{16F9E4CA-129C-ABE2-7A78-22257469B832}"/>
              </a:ext>
            </a:extLst>
          </p:cNvPr>
          <p:cNvGrpSpPr/>
          <p:nvPr/>
        </p:nvGrpSpPr>
        <p:grpSpPr>
          <a:xfrm>
            <a:off x="8004777" y="187154"/>
            <a:ext cx="8260779" cy="689751"/>
            <a:chOff x="8004777" y="187154"/>
            <a:chExt cx="8260779" cy="689751"/>
          </a:xfrm>
        </p:grpSpPr>
        <p:sp>
          <p:nvSpPr>
            <p:cNvPr id="55" name="角丸四角形 54">
              <a:extLst>
                <a:ext uri="{FF2B5EF4-FFF2-40B4-BE49-F238E27FC236}">
                  <a16:creationId xmlns:a16="http://schemas.microsoft.com/office/drawing/2014/main" id="{A9B61EC6-7AAA-908A-C4DD-DA99AB3B4368}"/>
                </a:ext>
              </a:extLst>
            </p:cNvPr>
            <p:cNvSpPr/>
            <p:nvPr/>
          </p:nvSpPr>
          <p:spPr>
            <a:xfrm>
              <a:off x="8004777" y="187154"/>
              <a:ext cx="8260779"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5" name="テキスト ボックス 44">
              <a:extLst>
                <a:ext uri="{FF2B5EF4-FFF2-40B4-BE49-F238E27FC236}">
                  <a16:creationId xmlns:a16="http://schemas.microsoft.com/office/drawing/2014/main" id="{C895C670-6B11-8F6D-1A09-AE8090A9D05D}"/>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grpSp>
      <p:sp>
        <p:nvSpPr>
          <p:cNvPr id="57" name="正方形/長方形 56">
            <a:extLst>
              <a:ext uri="{FF2B5EF4-FFF2-40B4-BE49-F238E27FC236}">
                <a16:creationId xmlns:a16="http://schemas.microsoft.com/office/drawing/2014/main" id="{F60966F5-3309-4D1F-B606-B8C640ECF9C1}"/>
              </a:ext>
            </a:extLst>
          </p:cNvPr>
          <p:cNvSpPr/>
          <p:nvPr/>
        </p:nvSpPr>
        <p:spPr>
          <a:xfrm>
            <a:off x="7436925" y="5318292"/>
            <a:ext cx="9886275" cy="3775250"/>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005A56AF-A478-1D44-1457-5BF0F29079BD}"/>
              </a:ext>
            </a:extLst>
          </p:cNvPr>
          <p:cNvSpPr txBox="1"/>
          <p:nvPr/>
        </p:nvSpPr>
        <p:spPr>
          <a:xfrm>
            <a:off x="2775857" y="539569"/>
            <a:ext cx="1557029" cy="461665"/>
          </a:xfrm>
          <a:prstGeom prst="rect">
            <a:avLst/>
          </a:prstGeom>
          <a:noFill/>
        </p:spPr>
        <p:txBody>
          <a:bodyPr wrap="none" rtlCol="0">
            <a:spAutoFit/>
          </a:bodyPr>
          <a:lstStyle/>
          <a:p>
            <a:r>
              <a:rPr kumimoji="1" lang="en-US" altLang="ja-JP" sz="2400" b="1" dirty="0"/>
              <a:t>OpenStack</a:t>
            </a:r>
            <a:endParaRPr kumimoji="1" lang="ja-JP" altLang="en-US" sz="2400" b="1"/>
          </a:p>
        </p:txBody>
      </p:sp>
      <p:sp>
        <p:nvSpPr>
          <p:cNvPr id="59" name="テキスト ボックス 58">
            <a:extLst>
              <a:ext uri="{FF2B5EF4-FFF2-40B4-BE49-F238E27FC236}">
                <a16:creationId xmlns:a16="http://schemas.microsoft.com/office/drawing/2014/main" id="{E7F1F062-EF1E-ADCD-7B1C-4F53D3CF8160}"/>
              </a:ext>
            </a:extLst>
          </p:cNvPr>
          <p:cNvSpPr txBox="1"/>
          <p:nvPr/>
        </p:nvSpPr>
        <p:spPr>
          <a:xfrm>
            <a:off x="3112294" y="5557671"/>
            <a:ext cx="884153" cy="461665"/>
          </a:xfrm>
          <a:prstGeom prst="rect">
            <a:avLst/>
          </a:prstGeom>
          <a:noFill/>
        </p:spPr>
        <p:txBody>
          <a:bodyPr wrap="none" rtlCol="0">
            <a:spAutoFit/>
          </a:bodyPr>
          <a:lstStyle/>
          <a:p>
            <a:r>
              <a:rPr kumimoji="1" lang="en-US" altLang="ja-JP" sz="2400" b="1" dirty="0"/>
              <a:t>AOSP</a:t>
            </a:r>
            <a:endParaRPr kumimoji="1" lang="ja-JP" altLang="en-US" sz="2400" b="1"/>
          </a:p>
        </p:txBody>
      </p:sp>
    </p:spTree>
    <p:extLst>
      <p:ext uri="{BB962C8B-B14F-4D97-AF65-F5344CB8AC3E}">
        <p14:creationId xmlns:p14="http://schemas.microsoft.com/office/powerpoint/2010/main" val="4008760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1BFCF-F37F-E59F-EAD1-759C18CF7B5E}"/>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F67F4006-9766-C51F-6F74-6E822B637CD3}"/>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88181C6-1401-C86A-FBD1-0A50C81CA381}"/>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D529DFC-DEF9-B41D-7BA2-5ADFD124F0C4}"/>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905A73C4-D9E7-FE58-0ACA-CCE1281A7D87}"/>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5B9EB86F-3485-A0F4-1387-06C0ADBCEF19}"/>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79482D4F-5B54-03B9-ADC4-8D8A1D0FDA49}"/>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6BB07E82-9607-99B5-035E-55008BBBB0BB}"/>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CA40891-9615-A60A-6A6D-E93101A3C040}"/>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B0532D46-24CA-A8FB-E94F-A3A4D06BB140}"/>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C5BAC994-80C5-7E5D-894D-97C1E7C534A0}"/>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E7A32E13-B3AE-6760-54BD-A50303B3A02E}"/>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6AD401DF-696A-6084-8CED-FC433D7D2BB5}"/>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239B3549-3ED2-9BF1-3F87-439E3A14A053}"/>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29858E9F-680B-CC4A-F749-49000A2F5101}"/>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0A072770-8867-4088-A23D-475A3D499CDC}"/>
              </a:ext>
            </a:extLst>
          </p:cNvPr>
          <p:cNvSpPr/>
          <p:nvPr/>
        </p:nvSpPr>
        <p:spPr>
          <a:xfrm>
            <a:off x="8252362" y="880028"/>
            <a:ext cx="8013195" cy="9698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lumMod val="65000"/>
                  </a:schemeClr>
                </a:solidFill>
              </a:rPr>
              <a:t>IRL</a:t>
            </a:r>
            <a:r>
              <a:rPr kumimoji="1" lang="ja-JP" altLang="en-US" sz="2800">
                <a:solidFill>
                  <a:schemeClr val="bg1">
                    <a:lumMod val="65000"/>
                  </a:schemeClr>
                </a:solidFill>
              </a:rPr>
              <a:t>が他ディレクトリの活動状況を活用</a:t>
            </a:r>
            <a:endParaRPr kumimoji="1" lang="en-US" altLang="ja-JP" sz="2800" dirty="0">
              <a:solidFill>
                <a:schemeClr val="bg1">
                  <a:lumMod val="65000"/>
                </a:schemeClr>
              </a:solidFill>
            </a:endParaRPr>
          </a:p>
          <a:p>
            <a:pPr algn="ctr"/>
            <a:r>
              <a:rPr kumimoji="1" lang="ja-JP" altLang="en-US" sz="2400">
                <a:solidFill>
                  <a:schemeClr val="bg1">
                    <a:lumMod val="65000"/>
                  </a:schemeClr>
                </a:solidFill>
              </a:rPr>
              <a:t>後半になると活動状況の影響が弱まることが示唆</a:t>
            </a:r>
            <a:endParaRPr kumimoji="1" lang="en-US" altLang="ja-JP" sz="2400" dirty="0">
              <a:solidFill>
                <a:schemeClr val="bg1">
                  <a:lumMod val="65000"/>
                </a:schemeClr>
              </a:solidFill>
            </a:endParaRPr>
          </a:p>
        </p:txBody>
      </p:sp>
      <p:sp>
        <p:nvSpPr>
          <p:cNvPr id="67" name="角丸四角形 66">
            <a:extLst>
              <a:ext uri="{FF2B5EF4-FFF2-40B4-BE49-F238E27FC236}">
                <a16:creationId xmlns:a16="http://schemas.microsoft.com/office/drawing/2014/main" id="{2A341768-0A70-D94D-65DF-FAEA506EC5A0}"/>
              </a:ext>
            </a:extLst>
          </p:cNvPr>
          <p:cNvSpPr/>
          <p:nvPr/>
        </p:nvSpPr>
        <p:spPr>
          <a:xfrm>
            <a:off x="7556201" y="568603"/>
            <a:ext cx="9589660" cy="1327713"/>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角丸四角形 69">
            <a:extLst>
              <a:ext uri="{FF2B5EF4-FFF2-40B4-BE49-F238E27FC236}">
                <a16:creationId xmlns:a16="http://schemas.microsoft.com/office/drawing/2014/main" id="{7C523014-2A10-FFF5-A178-8569347E8B9B}"/>
              </a:ext>
            </a:extLst>
          </p:cNvPr>
          <p:cNvSpPr/>
          <p:nvPr/>
        </p:nvSpPr>
        <p:spPr>
          <a:xfrm>
            <a:off x="8004777" y="187154"/>
            <a:ext cx="8260779"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 name="スライド番号プレースホルダー 2">
            <a:extLst>
              <a:ext uri="{FF2B5EF4-FFF2-40B4-BE49-F238E27FC236}">
                <a16:creationId xmlns:a16="http://schemas.microsoft.com/office/drawing/2014/main" id="{32CD1E21-CEBE-429F-E16D-084D5F1F7CAA}"/>
              </a:ext>
            </a:extLst>
          </p:cNvPr>
          <p:cNvSpPr>
            <a:spLocks noGrp="1"/>
          </p:cNvSpPr>
          <p:nvPr>
            <p:ph type="sldNum" sz="quarter" idx="12"/>
          </p:nvPr>
        </p:nvSpPr>
        <p:spPr/>
        <p:txBody>
          <a:bodyPr/>
          <a:lstStyle/>
          <a:p>
            <a:fld id="{85D74467-FFC2-5C49-A08A-98A9FE9BCA53}" type="slidenum">
              <a:rPr kumimoji="1" lang="ja-JP" altLang="en-US" smtClean="0"/>
              <a:pPr/>
              <a:t>20</a:t>
            </a:fld>
            <a:endParaRPr kumimoji="1" lang="ja-JP" altLang="en-US"/>
          </a:p>
        </p:txBody>
      </p:sp>
      <p:sp>
        <p:nvSpPr>
          <p:cNvPr id="83" name="Text 9">
            <a:extLst>
              <a:ext uri="{FF2B5EF4-FFF2-40B4-BE49-F238E27FC236}">
                <a16:creationId xmlns:a16="http://schemas.microsoft.com/office/drawing/2014/main" id="{37EABBDC-6DCF-67A7-8761-AA281D445270}"/>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19" name="正方形/長方形 18">
            <a:extLst>
              <a:ext uri="{FF2B5EF4-FFF2-40B4-BE49-F238E27FC236}">
                <a16:creationId xmlns:a16="http://schemas.microsoft.com/office/drawing/2014/main" id="{BE71B3A8-53A2-0FF3-5B24-430A50230738}"/>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6A2B7003-4F88-8E2F-9D2B-029D04510245}"/>
              </a:ext>
            </a:extLst>
          </p:cNvPr>
          <p:cNvGrpSpPr/>
          <p:nvPr/>
        </p:nvGrpSpPr>
        <p:grpSpPr>
          <a:xfrm>
            <a:off x="-3897499" y="5054150"/>
            <a:ext cx="14415338" cy="5139955"/>
            <a:chOff x="-9643191" y="-2889165"/>
            <a:chExt cx="15034054" cy="5360565"/>
          </a:xfrm>
        </p:grpSpPr>
        <p:pic>
          <p:nvPicPr>
            <p:cNvPr id="30" name="図 29">
              <a:extLst>
                <a:ext uri="{FF2B5EF4-FFF2-40B4-BE49-F238E27FC236}">
                  <a16:creationId xmlns:a16="http://schemas.microsoft.com/office/drawing/2014/main" id="{D70CDCEC-D156-7B3A-75CB-6F85D16929D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39728F1F-C2C5-9EBA-BAA8-9777F1E2F378}"/>
                </a:ext>
              </a:extLst>
            </p:cNvPr>
            <p:cNvSpPr txBox="1"/>
            <p:nvPr/>
          </p:nvSpPr>
          <p:spPr>
            <a:xfrm>
              <a:off x="-6770239" y="-2755187"/>
              <a:ext cx="5066095"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a:t>
              </a:r>
              <a:endParaRPr kumimoji="1" lang="en-US" altLang="ja-JP" sz="2000" dirty="0">
                <a:solidFill>
                  <a:srgbClr val="E05C49"/>
                </a:solidFill>
              </a:endParaRPr>
            </a:p>
            <a:p>
              <a:pPr algn="ctr"/>
              <a:r>
                <a:rPr kumimoji="1" lang="ja-JP" altLang="en-US" sz="2000">
                  <a:solidFill>
                    <a:srgbClr val="E05C49"/>
                  </a:solidFill>
                </a:rPr>
                <a:t>ディレクトリ未経験型</a:t>
              </a:r>
            </a:p>
          </p:txBody>
        </p:sp>
        <p:sp>
          <p:nvSpPr>
            <p:cNvPr id="27" name="テキスト ボックス 26">
              <a:extLst>
                <a:ext uri="{FF2B5EF4-FFF2-40B4-BE49-F238E27FC236}">
                  <a16:creationId xmlns:a16="http://schemas.microsoft.com/office/drawing/2014/main" id="{E1035506-5E00-4CA9-EA7C-556AFF21145E}"/>
                </a:ext>
              </a:extLst>
            </p:cNvPr>
            <p:cNvSpPr txBox="1"/>
            <p:nvPr/>
          </p:nvSpPr>
          <p:spPr>
            <a:xfrm>
              <a:off x="-1704144" y="-2440454"/>
              <a:ext cx="5044829" cy="369332"/>
            </a:xfrm>
            <a:prstGeom prst="rect">
              <a:avLst/>
            </a:prstGeom>
            <a:noFill/>
          </p:spPr>
          <p:txBody>
            <a:bodyPr wrap="square" rtlCol="0">
              <a:spAutoFit/>
            </a:bodyPr>
            <a:lstStyle/>
            <a:p>
              <a:r>
                <a:rPr kumimoji="1" lang="en-US" altLang="ja-JP" dirty="0">
                  <a:solidFill>
                    <a:srgbClr val="8CD3E3"/>
                  </a:solidFill>
                </a:rPr>
                <a:t>P2:</a:t>
              </a:r>
              <a:r>
                <a:rPr kumimoji="1" lang="ja-JP" altLang="en-US">
                  <a:solidFill>
                    <a:srgbClr val="8CD3E3"/>
                  </a:solidFill>
                </a:rPr>
                <a:t>ディレクトリ経験者・高関与型</a:t>
              </a:r>
            </a:p>
          </p:txBody>
        </p:sp>
        <p:sp>
          <p:nvSpPr>
            <p:cNvPr id="28" name="テキスト ボックス 27">
              <a:extLst>
                <a:ext uri="{FF2B5EF4-FFF2-40B4-BE49-F238E27FC236}">
                  <a16:creationId xmlns:a16="http://schemas.microsoft.com/office/drawing/2014/main" id="{677E19F6-7A8E-6251-EB8C-282E999F02FB}"/>
                </a:ext>
              </a:extLst>
            </p:cNvPr>
            <p:cNvSpPr txBox="1"/>
            <p:nvPr/>
          </p:nvSpPr>
          <p:spPr>
            <a:xfrm>
              <a:off x="-9643191" y="1635722"/>
              <a:ext cx="10269414" cy="369332"/>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p>
          </p:txBody>
        </p:sp>
      </p:grpSp>
      <p:sp>
        <p:nvSpPr>
          <p:cNvPr id="37" name="角丸四角形 36">
            <a:extLst>
              <a:ext uri="{FF2B5EF4-FFF2-40B4-BE49-F238E27FC236}">
                <a16:creationId xmlns:a16="http://schemas.microsoft.com/office/drawing/2014/main" id="{0C52877F-5028-0351-A1C0-02B84FD8BC93}"/>
              </a:ext>
            </a:extLst>
          </p:cNvPr>
          <p:cNvSpPr/>
          <p:nvPr/>
        </p:nvSpPr>
        <p:spPr>
          <a:xfrm>
            <a:off x="7556201" y="8409060"/>
            <a:ext cx="9589660" cy="548804"/>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8BD12E6E-B20B-4EB0-657E-819161CF4B1B}"/>
              </a:ext>
            </a:extLst>
          </p:cNvPr>
          <p:cNvSpPr/>
          <p:nvPr/>
        </p:nvSpPr>
        <p:spPr>
          <a:xfrm>
            <a:off x="7556201" y="7051891"/>
            <a:ext cx="9589660" cy="643836"/>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65EDEB56-51BD-C66B-4D3C-03D7154286CA}"/>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sp>
        <p:nvSpPr>
          <p:cNvPr id="48" name="角丸四角形 47">
            <a:extLst>
              <a:ext uri="{FF2B5EF4-FFF2-40B4-BE49-F238E27FC236}">
                <a16:creationId xmlns:a16="http://schemas.microsoft.com/office/drawing/2014/main" id="{1DB41EDC-47F3-E268-8C30-F3EED52C0646}"/>
              </a:ext>
            </a:extLst>
          </p:cNvPr>
          <p:cNvSpPr/>
          <p:nvPr/>
        </p:nvSpPr>
        <p:spPr>
          <a:xfrm>
            <a:off x="8004777" y="8041746"/>
            <a:ext cx="8260778"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9C92CFCF-561C-855B-BA89-6892FDF6F820}"/>
              </a:ext>
            </a:extLst>
          </p:cNvPr>
          <p:cNvSpPr txBox="1"/>
          <p:nvPr/>
        </p:nvSpPr>
        <p:spPr>
          <a:xfrm>
            <a:off x="8180500" y="8143513"/>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2" name="角丸四角形 51">
            <a:extLst>
              <a:ext uri="{FF2B5EF4-FFF2-40B4-BE49-F238E27FC236}">
                <a16:creationId xmlns:a16="http://schemas.microsoft.com/office/drawing/2014/main" id="{883C8BA7-341E-3DCF-10A1-FD43A8D8CCCB}"/>
              </a:ext>
            </a:extLst>
          </p:cNvPr>
          <p:cNvSpPr/>
          <p:nvPr/>
        </p:nvSpPr>
        <p:spPr>
          <a:xfrm>
            <a:off x="8004776" y="6716649"/>
            <a:ext cx="8260779"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grpSp>
        <p:nvGrpSpPr>
          <p:cNvPr id="23" name="グループ化 22">
            <a:extLst>
              <a:ext uri="{FF2B5EF4-FFF2-40B4-BE49-F238E27FC236}">
                <a16:creationId xmlns:a16="http://schemas.microsoft.com/office/drawing/2014/main" id="{A2885E5D-C4C0-FD10-173F-FC4D170E7E47}"/>
              </a:ext>
            </a:extLst>
          </p:cNvPr>
          <p:cNvGrpSpPr/>
          <p:nvPr/>
        </p:nvGrpSpPr>
        <p:grpSpPr>
          <a:xfrm>
            <a:off x="7556201" y="2018512"/>
            <a:ext cx="12047866" cy="4084063"/>
            <a:chOff x="8056601" y="3426876"/>
            <a:chExt cx="11715988" cy="4084063"/>
          </a:xfrm>
        </p:grpSpPr>
        <p:sp>
          <p:nvSpPr>
            <p:cNvPr id="25" name="角丸四角形 24">
              <a:extLst>
                <a:ext uri="{FF2B5EF4-FFF2-40B4-BE49-F238E27FC236}">
                  <a16:creationId xmlns:a16="http://schemas.microsoft.com/office/drawing/2014/main" id="{8F329E00-F3C4-07FD-2106-449BB47789B8}"/>
                </a:ext>
              </a:extLst>
            </p:cNvPr>
            <p:cNvSpPr/>
            <p:nvPr/>
          </p:nvSpPr>
          <p:spPr>
            <a:xfrm>
              <a:off x="8056601" y="3759571"/>
              <a:ext cx="9325497" cy="3751368"/>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A3B5DDB4-710F-B5F2-09B9-D1858E58DFAB}"/>
                </a:ext>
              </a:extLst>
            </p:cNvPr>
            <p:cNvSpPr/>
            <p:nvPr/>
          </p:nvSpPr>
          <p:spPr>
            <a:xfrm>
              <a:off x="8492820" y="3426876"/>
              <a:ext cx="8033222"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2" name="テキスト ボックス 31">
              <a:extLst>
                <a:ext uri="{FF2B5EF4-FFF2-40B4-BE49-F238E27FC236}">
                  <a16:creationId xmlns:a16="http://schemas.microsoft.com/office/drawing/2014/main" id="{6C7B883F-0E3F-A9D3-D898-770BCFC63391}"/>
                </a:ext>
              </a:extLst>
            </p:cNvPr>
            <p:cNvSpPr txBox="1"/>
            <p:nvPr/>
          </p:nvSpPr>
          <p:spPr>
            <a:xfrm>
              <a:off x="8663703" y="3493526"/>
              <a:ext cx="11108886" cy="523220"/>
            </a:xfrm>
            <a:prstGeom prst="rect">
              <a:avLst/>
            </a:prstGeom>
            <a:noFill/>
            <a:ln>
              <a:noFill/>
            </a:ln>
          </p:spPr>
          <p:txBody>
            <a:bodyPr wrap="square" rtlCol="0">
              <a:spAutoFit/>
            </a:bodyPr>
            <a:lstStyle/>
            <a:p>
              <a:r>
                <a:rPr kumimoji="1" lang="en-US" altLang="ja-JP" sz="2800" dirty="0">
                  <a:solidFill>
                    <a:schemeClr val="accent1">
                      <a:lumMod val="75000"/>
                    </a:schemeClr>
                  </a:solidFill>
                </a:rPr>
                <a:t>P2:</a:t>
              </a:r>
              <a:r>
                <a:rPr kumimoji="1" lang="ja-JP" altLang="en-US" sz="2800">
                  <a:solidFill>
                    <a:schemeClr val="accent1">
                      <a:lumMod val="75000"/>
                    </a:schemeClr>
                  </a:solidFill>
                </a:rPr>
                <a:t>ディレクトリへの関与が</a:t>
              </a:r>
              <a:r>
                <a:rPr kumimoji="1" lang="ja-JP" altLang="en-US" sz="2800">
                  <a:solidFill>
                    <a:schemeClr val="tx1">
                      <a:lumMod val="75000"/>
                      <a:lumOff val="25000"/>
                    </a:schemeClr>
                  </a:solidFill>
                </a:rPr>
                <a:t>少ない</a:t>
              </a:r>
              <a:r>
                <a:rPr kumimoji="1" lang="ja-JP" altLang="en-US" sz="2000">
                  <a:solidFill>
                    <a:schemeClr val="tx1">
                      <a:lumMod val="75000"/>
                      <a:lumOff val="25000"/>
                    </a:schemeClr>
                  </a:solidFill>
                </a:rPr>
                <a:t>（</a:t>
              </a:r>
              <a:r>
                <a:rPr kumimoji="1" lang="en-US" altLang="ja-JP" sz="2000" dirty="0">
                  <a:solidFill>
                    <a:schemeClr val="tx1">
                      <a:lumMod val="75000"/>
                      <a:lumOff val="25000"/>
                    </a:schemeClr>
                  </a:solidFill>
                </a:rPr>
                <a:t>OpenStack</a:t>
              </a:r>
              <a:r>
                <a:rPr kumimoji="1" lang="ja-JP" altLang="en-US" sz="2000">
                  <a:solidFill>
                    <a:schemeClr val="tx1">
                      <a:lumMod val="75000"/>
                      <a:lumOff val="25000"/>
                    </a:schemeClr>
                  </a:solidFill>
                </a:rPr>
                <a:t>）</a:t>
              </a:r>
              <a:r>
                <a:rPr kumimoji="1" lang="en-US" altLang="ja-JP" sz="2800" dirty="0">
                  <a:solidFill>
                    <a:schemeClr val="accent1">
                      <a:lumMod val="75000"/>
                    </a:schemeClr>
                  </a:solidFill>
                </a:rPr>
                <a:t>/</a:t>
              </a:r>
              <a:r>
                <a:rPr kumimoji="1" lang="ja-JP" altLang="en-US" sz="2800"/>
                <a:t>多い</a:t>
              </a:r>
              <a:r>
                <a:rPr kumimoji="1" lang="en-US" altLang="ja-JP" sz="2000" dirty="0"/>
                <a:t>(AOSP)</a:t>
              </a:r>
              <a:endParaRPr kumimoji="1" lang="ja-JP" altLang="en-US" sz="2800"/>
            </a:p>
          </p:txBody>
        </p:sp>
      </p:grpSp>
      <p:graphicFrame>
        <p:nvGraphicFramePr>
          <p:cNvPr id="33" name="表 32">
            <a:extLst>
              <a:ext uri="{FF2B5EF4-FFF2-40B4-BE49-F238E27FC236}">
                <a16:creationId xmlns:a16="http://schemas.microsoft.com/office/drawing/2014/main" id="{108F8C73-35EC-5578-C2B4-84AE6AE47242}"/>
              </a:ext>
            </a:extLst>
          </p:cNvPr>
          <p:cNvGraphicFramePr>
            <a:graphicFrameLocks noGrp="1"/>
          </p:cNvGraphicFramePr>
          <p:nvPr>
            <p:extLst>
              <p:ext uri="{D42A27DB-BD31-4B8C-83A1-F6EECF244321}">
                <p14:modId xmlns:p14="http://schemas.microsoft.com/office/powerpoint/2010/main" val="1861453049"/>
              </p:ext>
            </p:extLst>
          </p:nvPr>
        </p:nvGraphicFramePr>
        <p:xfrm>
          <a:off x="8252362" y="2836857"/>
          <a:ext cx="8013194" cy="1237122"/>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chemeClr val="bg1"/>
                          </a:solidFill>
                          <a:latin typeface="MS PGothic" panose="020B0600070205080204" pitchFamily="34" charset="-128"/>
                          <a:ea typeface="MS PGothic" panose="020B0600070205080204" pitchFamily="34" charset="-128"/>
                          <a:cs typeface="Meiryo" pitchFamily="34" charset="-120"/>
                        </a:rPr>
                        <a:t>OpenStack</a:t>
                      </a:r>
                      <a:endParaRPr lang="en-US" sz="2400" dirty="0">
                        <a:solidFill>
                          <a:schemeClr val="bg1"/>
                        </a:solidFill>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4DBBD5"/>
                    </a:solidFill>
                  </a:tcPr>
                </a:tc>
                <a:tc>
                  <a:txBody>
                    <a:bodyPr/>
                    <a:lstStyle/>
                    <a:p>
                      <a:pPr marL="0" indent="0" algn="ctr">
                        <a:buNone/>
                      </a:pPr>
                      <a:r>
                        <a:rPr lang="en-US" sz="2400" dirty="0">
                          <a:solidFill>
                            <a:srgbClr val="1F7A33"/>
                          </a:solidFill>
                          <a:latin typeface="MS PGothic" panose="020B0600070205080204" pitchFamily="34" charset="-128"/>
                          <a:ea typeface="MS PGothic" panose="020B0600070205080204" pitchFamily="34" charset="-128"/>
                          <a:cs typeface="Meiryo" pitchFamily="34" charset="-120"/>
                        </a:rPr>
                        <a:t>+2.0</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−1.5</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−0.1</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−4.2</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chemeClr val="bg1"/>
                          </a:solidFill>
                          <a:latin typeface="MS PGothic" panose="020B0600070205080204" pitchFamily="34" charset="-128"/>
                          <a:ea typeface="MS PGothic" panose="020B0600070205080204" pitchFamily="34" charset="-128"/>
                          <a:cs typeface="Meiryo" pitchFamily="34" charset="-120"/>
                        </a:rPr>
                        <a:t>AOSP</a:t>
                      </a:r>
                      <a:endParaRPr lang="en-US" altLang="ja-JP" sz="2400" dirty="0">
                        <a:solidFill>
                          <a:schemeClr val="bg1"/>
                        </a:solidFill>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4DBBD5"/>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−4.4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−11.4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−9.8</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−12.4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34" name="テキスト ボックス 33">
            <a:extLst>
              <a:ext uri="{FF2B5EF4-FFF2-40B4-BE49-F238E27FC236}">
                <a16:creationId xmlns:a16="http://schemas.microsoft.com/office/drawing/2014/main" id="{A08F944D-C2F4-317C-4D91-F496BB9AE6A1}"/>
              </a:ext>
            </a:extLst>
          </p:cNvPr>
          <p:cNvSpPr txBox="1"/>
          <p:nvPr/>
        </p:nvSpPr>
        <p:spPr>
          <a:xfrm>
            <a:off x="8220641" y="4165029"/>
            <a:ext cx="8260779" cy="461665"/>
          </a:xfrm>
          <a:prstGeom prst="rect">
            <a:avLst/>
          </a:prstGeom>
          <a:noFill/>
        </p:spPr>
        <p:txBody>
          <a:bodyPr wrap="square">
            <a:spAutoFit/>
          </a:bodyPr>
          <a:lstStyle/>
          <a:p>
            <a:r>
              <a:rPr lang="ja-JP" altLang="en-US" sz="2400">
                <a:latin typeface="MS PGothic" panose="020B0600070205080204" pitchFamily="34" charset="-128"/>
                <a:ea typeface="MS PGothic" panose="020B0600070205080204" pitchFamily="34" charset="-128"/>
                <a:cs typeface="Meiryo" pitchFamily="34" charset="-120"/>
              </a:rPr>
              <a:t>ディレクトリへの関与が多い</a:t>
            </a:r>
            <a:r>
              <a:rPr lang="en-US" altLang="ja-JP" sz="2400" dirty="0">
                <a:latin typeface="MS PGothic" panose="020B0600070205080204" pitchFamily="34" charset="-128"/>
                <a:ea typeface="MS PGothic" panose="020B0600070205080204" pitchFamily="34" charset="-128"/>
                <a:cs typeface="Meiryo" pitchFamily="34" charset="-120"/>
              </a:rPr>
              <a:t>AOSP</a:t>
            </a:r>
            <a:r>
              <a:rPr lang="ja-JP" altLang="en-US" sz="2400">
                <a:latin typeface="MS PGothic" panose="020B0600070205080204" pitchFamily="34" charset="-128"/>
                <a:ea typeface="MS PGothic" panose="020B0600070205080204" pitchFamily="34" charset="-128"/>
                <a:cs typeface="Meiryo" pitchFamily="34" charset="-120"/>
              </a:rPr>
              <a:t>の</a:t>
            </a:r>
            <a:r>
              <a:rPr lang="en-US" altLang="ja-JP" sz="2400" dirty="0">
                <a:latin typeface="MS PGothic" panose="020B0600070205080204" pitchFamily="34" charset="-128"/>
                <a:ea typeface="MS PGothic" panose="020B0600070205080204" pitchFamily="34" charset="-128"/>
                <a:cs typeface="Meiryo" pitchFamily="34" charset="-120"/>
              </a:rPr>
              <a:t>P2</a:t>
            </a:r>
            <a:r>
              <a:rPr lang="ja-JP" altLang="en-US" sz="2400">
                <a:latin typeface="MS PGothic" panose="020B0600070205080204" pitchFamily="34" charset="-128"/>
                <a:ea typeface="MS PGothic" panose="020B0600070205080204" pitchFamily="34" charset="-128"/>
                <a:cs typeface="Meiryo" pitchFamily="34" charset="-120"/>
              </a:rPr>
              <a:t>では全期間</a:t>
            </a:r>
            <a:r>
              <a:rPr lang="en-US" altLang="ja-JP" sz="2400" dirty="0">
                <a:latin typeface="MS PGothic" panose="020B0600070205080204" pitchFamily="34" charset="-128"/>
                <a:ea typeface="MS PGothic" panose="020B0600070205080204" pitchFamily="34" charset="-128"/>
                <a:cs typeface="Meiryo" pitchFamily="34" charset="-120"/>
              </a:rPr>
              <a:t>RF</a:t>
            </a:r>
            <a:r>
              <a:rPr lang="ja-JP" altLang="en-US" sz="2400">
                <a:latin typeface="MS PGothic" panose="020B0600070205080204" pitchFamily="34" charset="-128"/>
                <a:ea typeface="MS PGothic" panose="020B0600070205080204" pitchFamily="34" charset="-128"/>
                <a:cs typeface="Meiryo" pitchFamily="34" charset="-120"/>
              </a:rPr>
              <a:t>が優位</a:t>
            </a:r>
          </a:p>
        </p:txBody>
      </p:sp>
      <p:sp>
        <p:nvSpPr>
          <p:cNvPr id="35" name="正方形/長方形 34">
            <a:extLst>
              <a:ext uri="{FF2B5EF4-FFF2-40B4-BE49-F238E27FC236}">
                <a16:creationId xmlns:a16="http://schemas.microsoft.com/office/drawing/2014/main" id="{733585A5-E7C4-74E7-5405-0F2DF12BF147}"/>
              </a:ext>
            </a:extLst>
          </p:cNvPr>
          <p:cNvSpPr/>
          <p:nvPr/>
        </p:nvSpPr>
        <p:spPr>
          <a:xfrm>
            <a:off x="8271456" y="4619592"/>
            <a:ext cx="8013195" cy="1316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tx1">
                    <a:lumMod val="75000"/>
                    <a:lumOff val="25000"/>
                  </a:schemeClr>
                </a:solidFill>
              </a:rPr>
              <a:t>IRL</a:t>
            </a:r>
            <a:r>
              <a:rPr kumimoji="1" lang="ja-JP" altLang="en-US" sz="2400">
                <a:solidFill>
                  <a:schemeClr val="tx1">
                    <a:lumMod val="75000"/>
                    <a:lumOff val="25000"/>
                  </a:schemeClr>
                </a:solidFill>
              </a:rPr>
              <a:t>は開発者の関与低下を初期のみ捉えた可能性</a:t>
            </a:r>
            <a:endParaRPr kumimoji="1" lang="en-US" altLang="ja-JP" sz="2400" b="1" dirty="0">
              <a:solidFill>
                <a:schemeClr val="tx1"/>
              </a:solidFill>
            </a:endParaRPr>
          </a:p>
          <a:p>
            <a:pPr algn="ctr"/>
            <a:r>
              <a:rPr kumimoji="1" lang="ja-JP" altLang="en-US" sz="2800">
                <a:solidFill>
                  <a:schemeClr val="tx1"/>
                </a:solidFill>
              </a:rPr>
              <a:t>関与が多いと累積統計量</a:t>
            </a:r>
            <a:r>
              <a:rPr kumimoji="1" lang="en-US" altLang="ja-JP" sz="2800" dirty="0">
                <a:solidFill>
                  <a:schemeClr val="tx1"/>
                </a:solidFill>
              </a:rPr>
              <a:t>(RF)</a:t>
            </a:r>
            <a:r>
              <a:rPr kumimoji="1" lang="ja-JP" altLang="en-US" sz="2800">
                <a:solidFill>
                  <a:schemeClr val="tx1"/>
                </a:solidFill>
              </a:rPr>
              <a:t>の方が優位</a:t>
            </a:r>
            <a:endParaRPr kumimoji="1" lang="en-US" altLang="ja-JP" sz="2800" dirty="0">
              <a:solidFill>
                <a:schemeClr val="tx1"/>
              </a:solidFill>
            </a:endParaRPr>
          </a:p>
        </p:txBody>
      </p:sp>
      <p:sp>
        <p:nvSpPr>
          <p:cNvPr id="40" name="テキスト ボックス 39">
            <a:extLst>
              <a:ext uri="{FF2B5EF4-FFF2-40B4-BE49-F238E27FC236}">
                <a16:creationId xmlns:a16="http://schemas.microsoft.com/office/drawing/2014/main" id="{467039BA-B83E-0ECB-9FF3-1AFADECC79A8}"/>
              </a:ext>
            </a:extLst>
          </p:cNvPr>
          <p:cNvSpPr txBox="1"/>
          <p:nvPr/>
        </p:nvSpPr>
        <p:spPr>
          <a:xfrm>
            <a:off x="8101959" y="6815908"/>
            <a:ext cx="4775613" cy="523220"/>
          </a:xfrm>
          <a:prstGeom prst="rect">
            <a:avLst/>
          </a:prstGeom>
          <a:noFill/>
        </p:spPr>
        <p:txBody>
          <a:bodyPr wrap="square" rtlCol="0">
            <a:spAutoFit/>
          </a:bodyPr>
          <a:lstStyle/>
          <a:p>
            <a:r>
              <a:rPr kumimoji="1" lang="en-US" altLang="ja-JP" sz="2800" dirty="0">
                <a:solidFill>
                  <a:srgbClr val="F29552"/>
                </a:solidFill>
              </a:rPr>
              <a:t>P4</a:t>
            </a:r>
            <a:r>
              <a:rPr kumimoji="1" lang="en-US" altLang="ja-JP" sz="2000" dirty="0">
                <a:solidFill>
                  <a:srgbClr val="F29552"/>
                </a:solidFill>
              </a:rPr>
              <a:t>(3):</a:t>
            </a:r>
            <a:r>
              <a:rPr kumimoji="1" lang="ja-JP" altLang="en-US" sz="2800">
                <a:solidFill>
                  <a:srgbClr val="F29552"/>
                </a:solidFill>
              </a:rPr>
              <a:t>活動頻度・承諾率が低い</a:t>
            </a:r>
          </a:p>
        </p:txBody>
      </p:sp>
      <p:sp>
        <p:nvSpPr>
          <p:cNvPr id="41" name="正方形/長方形 40">
            <a:extLst>
              <a:ext uri="{FF2B5EF4-FFF2-40B4-BE49-F238E27FC236}">
                <a16:creationId xmlns:a16="http://schemas.microsoft.com/office/drawing/2014/main" id="{C1408D3F-BCB7-5B30-2C78-D7F6176E4ADD}"/>
              </a:ext>
            </a:extLst>
          </p:cNvPr>
          <p:cNvSpPr/>
          <p:nvPr/>
        </p:nvSpPr>
        <p:spPr>
          <a:xfrm>
            <a:off x="7436925" y="6433178"/>
            <a:ext cx="9886275" cy="2660364"/>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F5D49E62-78AB-EF0C-37C3-DBB91CDDF841}"/>
              </a:ext>
            </a:extLst>
          </p:cNvPr>
          <p:cNvSpPr/>
          <p:nvPr/>
        </p:nvSpPr>
        <p:spPr>
          <a:xfrm>
            <a:off x="7436925" y="83637"/>
            <a:ext cx="9886275" cy="1843826"/>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DFE5B025-04C4-4AAD-F8E6-63419796EEAC}"/>
              </a:ext>
            </a:extLst>
          </p:cNvPr>
          <p:cNvSpPr txBox="1"/>
          <p:nvPr/>
        </p:nvSpPr>
        <p:spPr>
          <a:xfrm>
            <a:off x="2775857" y="539569"/>
            <a:ext cx="1557029" cy="461665"/>
          </a:xfrm>
          <a:prstGeom prst="rect">
            <a:avLst/>
          </a:prstGeom>
          <a:noFill/>
        </p:spPr>
        <p:txBody>
          <a:bodyPr wrap="none" rtlCol="0">
            <a:spAutoFit/>
          </a:bodyPr>
          <a:lstStyle/>
          <a:p>
            <a:r>
              <a:rPr kumimoji="1" lang="en-US" altLang="ja-JP" sz="2400" b="1" dirty="0"/>
              <a:t>OpenStack</a:t>
            </a:r>
            <a:endParaRPr kumimoji="1" lang="ja-JP" altLang="en-US" sz="2400" b="1"/>
          </a:p>
        </p:txBody>
      </p:sp>
      <p:sp>
        <p:nvSpPr>
          <p:cNvPr id="44" name="テキスト ボックス 43">
            <a:extLst>
              <a:ext uri="{FF2B5EF4-FFF2-40B4-BE49-F238E27FC236}">
                <a16:creationId xmlns:a16="http://schemas.microsoft.com/office/drawing/2014/main" id="{D20CE783-79E2-D794-2F0D-A5EE23ACBB3B}"/>
              </a:ext>
            </a:extLst>
          </p:cNvPr>
          <p:cNvSpPr txBox="1"/>
          <p:nvPr/>
        </p:nvSpPr>
        <p:spPr>
          <a:xfrm>
            <a:off x="3112294" y="5557671"/>
            <a:ext cx="884153" cy="461665"/>
          </a:xfrm>
          <a:prstGeom prst="rect">
            <a:avLst/>
          </a:prstGeom>
          <a:noFill/>
        </p:spPr>
        <p:txBody>
          <a:bodyPr wrap="none" rtlCol="0">
            <a:spAutoFit/>
          </a:bodyPr>
          <a:lstStyle/>
          <a:p>
            <a:r>
              <a:rPr kumimoji="1" lang="en-US" altLang="ja-JP" sz="2400" b="1" dirty="0"/>
              <a:t>AOSP</a:t>
            </a:r>
            <a:endParaRPr kumimoji="1" lang="ja-JP" altLang="en-US" sz="2400" b="1"/>
          </a:p>
        </p:txBody>
      </p:sp>
      <p:sp>
        <p:nvSpPr>
          <p:cNvPr id="54" name="テキスト ボックス 53">
            <a:extLst>
              <a:ext uri="{FF2B5EF4-FFF2-40B4-BE49-F238E27FC236}">
                <a16:creationId xmlns:a16="http://schemas.microsoft.com/office/drawing/2014/main" id="{5EF19780-634C-08A2-11B4-E252568068AA}"/>
              </a:ext>
            </a:extLst>
          </p:cNvPr>
          <p:cNvSpPr txBox="1"/>
          <p:nvPr/>
        </p:nvSpPr>
        <p:spPr>
          <a:xfrm>
            <a:off x="4575245" y="9383058"/>
            <a:ext cx="4837213" cy="400110"/>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r>
              <a:rPr kumimoji="1" lang="en-US" altLang="ja-JP" sz="2000" dirty="0">
                <a:solidFill>
                  <a:srgbClr val="35B3A0"/>
                </a:solidFill>
              </a:rPr>
              <a:t>(n =8,923)</a:t>
            </a:r>
            <a:endParaRPr kumimoji="1" lang="ja-JP" altLang="en-US" sz="2000">
              <a:solidFill>
                <a:srgbClr val="35B3A0"/>
              </a:solidFill>
            </a:endParaRPr>
          </a:p>
        </p:txBody>
      </p:sp>
    </p:spTree>
    <p:extLst>
      <p:ext uri="{BB962C8B-B14F-4D97-AF65-F5344CB8AC3E}">
        <p14:creationId xmlns:p14="http://schemas.microsoft.com/office/powerpoint/2010/main" val="3113110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CDBE-36BD-FBA9-4DD3-F5C0EF8007C6}"/>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11BA5732-B920-45AF-C2DB-C507464A42B2}"/>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D5DEFDEE-DC88-DC40-AACB-F508F3B8E9D9}"/>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19203BF5-2C51-E373-D988-4D53DDB4B664}"/>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899314D1-C7D8-E0D7-E9DC-B5F28914481B}"/>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9DCF2392-9267-076A-C6F6-FBBBF5B21A23}"/>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1A81ABC8-D075-95BB-B094-465DCE4358DB}"/>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6B0B936A-0873-B2C5-C4F4-5144A17B8F09}"/>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9C3E8486-DBD3-AA7E-E762-101FBE8B7DD2}"/>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82B8BCE9-BFA6-AE28-57EC-30FFB9E6D39F}"/>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643F8F50-6156-C164-0889-3179C369D826}"/>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D529D682-9F52-1FDA-60AA-9F9FFCC63055}"/>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F91300C9-997B-54F8-C1CF-D1C8A4144002}"/>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D103AB95-73DC-728B-D488-4EE90EA2DA8C}"/>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D2580B8F-C64A-0D1E-EAC8-60F1FA807C63}"/>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C4D276CE-2C8A-AB4A-BB31-C0716839CCA4}"/>
              </a:ext>
            </a:extLst>
          </p:cNvPr>
          <p:cNvSpPr/>
          <p:nvPr/>
        </p:nvSpPr>
        <p:spPr>
          <a:xfrm>
            <a:off x="8252362" y="880028"/>
            <a:ext cx="8013195" cy="9698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lumMod val="65000"/>
                  </a:schemeClr>
                </a:solidFill>
              </a:rPr>
              <a:t>IRL</a:t>
            </a:r>
            <a:r>
              <a:rPr kumimoji="1" lang="ja-JP" altLang="en-US" sz="2800">
                <a:solidFill>
                  <a:schemeClr val="bg1">
                    <a:lumMod val="65000"/>
                  </a:schemeClr>
                </a:solidFill>
              </a:rPr>
              <a:t>が他ディレクトリの活動状況を活用</a:t>
            </a:r>
            <a:endParaRPr kumimoji="1" lang="en-US" altLang="ja-JP" sz="2800" dirty="0">
              <a:solidFill>
                <a:schemeClr val="bg1">
                  <a:lumMod val="65000"/>
                </a:schemeClr>
              </a:solidFill>
            </a:endParaRPr>
          </a:p>
          <a:p>
            <a:pPr algn="ctr"/>
            <a:r>
              <a:rPr kumimoji="1" lang="ja-JP" altLang="en-US" sz="2400">
                <a:solidFill>
                  <a:schemeClr val="bg1">
                    <a:lumMod val="65000"/>
                  </a:schemeClr>
                </a:solidFill>
              </a:rPr>
              <a:t>後半になると活動状況の影響が弱まることが示唆</a:t>
            </a:r>
            <a:endParaRPr kumimoji="1" lang="en-US" altLang="ja-JP" sz="2400" dirty="0">
              <a:solidFill>
                <a:schemeClr val="bg1">
                  <a:lumMod val="65000"/>
                </a:schemeClr>
              </a:solidFill>
            </a:endParaRPr>
          </a:p>
        </p:txBody>
      </p:sp>
      <p:sp>
        <p:nvSpPr>
          <p:cNvPr id="67" name="角丸四角形 66">
            <a:extLst>
              <a:ext uri="{FF2B5EF4-FFF2-40B4-BE49-F238E27FC236}">
                <a16:creationId xmlns:a16="http://schemas.microsoft.com/office/drawing/2014/main" id="{F9967067-A9C8-6F8F-A919-18C40077A18B}"/>
              </a:ext>
            </a:extLst>
          </p:cNvPr>
          <p:cNvSpPr/>
          <p:nvPr/>
        </p:nvSpPr>
        <p:spPr>
          <a:xfrm>
            <a:off x="7556201" y="568603"/>
            <a:ext cx="9589660" cy="1327713"/>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角丸四角形 69">
            <a:extLst>
              <a:ext uri="{FF2B5EF4-FFF2-40B4-BE49-F238E27FC236}">
                <a16:creationId xmlns:a16="http://schemas.microsoft.com/office/drawing/2014/main" id="{4F8B2962-28AD-43E7-BFC2-C29AE3F6D7FE}"/>
              </a:ext>
            </a:extLst>
          </p:cNvPr>
          <p:cNvSpPr/>
          <p:nvPr/>
        </p:nvSpPr>
        <p:spPr>
          <a:xfrm>
            <a:off x="8004777" y="187154"/>
            <a:ext cx="7813979"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 name="スライド番号プレースホルダー 2">
            <a:extLst>
              <a:ext uri="{FF2B5EF4-FFF2-40B4-BE49-F238E27FC236}">
                <a16:creationId xmlns:a16="http://schemas.microsoft.com/office/drawing/2014/main" id="{AFCDC779-0AA0-982F-E5FF-9C7969FC1F03}"/>
              </a:ext>
            </a:extLst>
          </p:cNvPr>
          <p:cNvSpPr>
            <a:spLocks noGrp="1"/>
          </p:cNvSpPr>
          <p:nvPr>
            <p:ph type="sldNum" sz="quarter" idx="12"/>
          </p:nvPr>
        </p:nvSpPr>
        <p:spPr/>
        <p:txBody>
          <a:bodyPr/>
          <a:lstStyle/>
          <a:p>
            <a:fld id="{85D74467-FFC2-5C49-A08A-98A9FE9BCA53}" type="slidenum">
              <a:rPr kumimoji="1" lang="ja-JP" altLang="en-US" smtClean="0"/>
              <a:pPr/>
              <a:t>21</a:t>
            </a:fld>
            <a:endParaRPr kumimoji="1" lang="ja-JP" altLang="en-US"/>
          </a:p>
        </p:txBody>
      </p:sp>
      <p:sp>
        <p:nvSpPr>
          <p:cNvPr id="83" name="Text 9">
            <a:extLst>
              <a:ext uri="{FF2B5EF4-FFF2-40B4-BE49-F238E27FC236}">
                <a16:creationId xmlns:a16="http://schemas.microsoft.com/office/drawing/2014/main" id="{388CA1BA-649A-CDFB-8147-F44333DBAB4E}"/>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19" name="正方形/長方形 18">
            <a:extLst>
              <a:ext uri="{FF2B5EF4-FFF2-40B4-BE49-F238E27FC236}">
                <a16:creationId xmlns:a16="http://schemas.microsoft.com/office/drawing/2014/main" id="{95F805FF-4E35-C812-FF76-444BEBC9A0D5}"/>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6EC4A90F-CAC1-D353-6D9E-B0E2B012FADE}"/>
              </a:ext>
            </a:extLst>
          </p:cNvPr>
          <p:cNvGrpSpPr/>
          <p:nvPr/>
        </p:nvGrpSpPr>
        <p:grpSpPr>
          <a:xfrm>
            <a:off x="-3897499" y="5054150"/>
            <a:ext cx="14415338" cy="5139955"/>
            <a:chOff x="-9643191" y="-2889165"/>
            <a:chExt cx="15034054" cy="5360565"/>
          </a:xfrm>
        </p:grpSpPr>
        <p:pic>
          <p:nvPicPr>
            <p:cNvPr id="30" name="図 29">
              <a:extLst>
                <a:ext uri="{FF2B5EF4-FFF2-40B4-BE49-F238E27FC236}">
                  <a16:creationId xmlns:a16="http://schemas.microsoft.com/office/drawing/2014/main" id="{C28F5FE7-6954-0416-C9D2-36034003592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D148FCC5-5BB0-B72C-F23D-0CF203337A7F}"/>
                </a:ext>
              </a:extLst>
            </p:cNvPr>
            <p:cNvSpPr txBox="1"/>
            <p:nvPr/>
          </p:nvSpPr>
          <p:spPr>
            <a:xfrm>
              <a:off x="-6770239" y="-2755187"/>
              <a:ext cx="5066095"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a:t>
              </a:r>
              <a:endParaRPr kumimoji="1" lang="en-US" altLang="ja-JP" sz="2000" dirty="0">
                <a:solidFill>
                  <a:srgbClr val="E05C49"/>
                </a:solidFill>
              </a:endParaRPr>
            </a:p>
            <a:p>
              <a:pPr algn="ctr"/>
              <a:r>
                <a:rPr kumimoji="1" lang="ja-JP" altLang="en-US" sz="2000">
                  <a:solidFill>
                    <a:srgbClr val="E05C49"/>
                  </a:solidFill>
                </a:rPr>
                <a:t>ディレクトリ未経験型</a:t>
              </a:r>
            </a:p>
          </p:txBody>
        </p:sp>
        <p:sp>
          <p:nvSpPr>
            <p:cNvPr id="27" name="テキスト ボックス 26">
              <a:extLst>
                <a:ext uri="{FF2B5EF4-FFF2-40B4-BE49-F238E27FC236}">
                  <a16:creationId xmlns:a16="http://schemas.microsoft.com/office/drawing/2014/main" id="{8A20E7C3-7D73-A9DD-DA4C-A91123DDB4D5}"/>
                </a:ext>
              </a:extLst>
            </p:cNvPr>
            <p:cNvSpPr txBox="1"/>
            <p:nvPr/>
          </p:nvSpPr>
          <p:spPr>
            <a:xfrm>
              <a:off x="-1704144" y="-2440454"/>
              <a:ext cx="5044829" cy="369332"/>
            </a:xfrm>
            <a:prstGeom prst="rect">
              <a:avLst/>
            </a:prstGeom>
            <a:noFill/>
          </p:spPr>
          <p:txBody>
            <a:bodyPr wrap="square" rtlCol="0">
              <a:spAutoFit/>
            </a:bodyPr>
            <a:lstStyle/>
            <a:p>
              <a:r>
                <a:rPr kumimoji="1" lang="en-US" altLang="ja-JP" dirty="0">
                  <a:solidFill>
                    <a:srgbClr val="8CD3E3"/>
                  </a:solidFill>
                </a:rPr>
                <a:t>P2:</a:t>
              </a:r>
              <a:r>
                <a:rPr kumimoji="1" lang="ja-JP" altLang="en-US">
                  <a:solidFill>
                    <a:srgbClr val="8CD3E3"/>
                  </a:solidFill>
                </a:rPr>
                <a:t>ディレクトリ経験者・高関与型</a:t>
              </a:r>
            </a:p>
          </p:txBody>
        </p:sp>
        <p:sp>
          <p:nvSpPr>
            <p:cNvPr id="28" name="テキスト ボックス 27">
              <a:extLst>
                <a:ext uri="{FF2B5EF4-FFF2-40B4-BE49-F238E27FC236}">
                  <a16:creationId xmlns:a16="http://schemas.microsoft.com/office/drawing/2014/main" id="{C48AC3F1-332A-C0F2-C1E7-2D16901B7A49}"/>
                </a:ext>
              </a:extLst>
            </p:cNvPr>
            <p:cNvSpPr txBox="1"/>
            <p:nvPr/>
          </p:nvSpPr>
          <p:spPr>
            <a:xfrm>
              <a:off x="-9643191" y="1635722"/>
              <a:ext cx="10269414" cy="369332"/>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p>
          </p:txBody>
        </p:sp>
      </p:grpSp>
      <p:sp>
        <p:nvSpPr>
          <p:cNvPr id="37" name="角丸四角形 36">
            <a:extLst>
              <a:ext uri="{FF2B5EF4-FFF2-40B4-BE49-F238E27FC236}">
                <a16:creationId xmlns:a16="http://schemas.microsoft.com/office/drawing/2014/main" id="{0BDB1172-6B0A-3912-CDEE-70EF8725BF09}"/>
              </a:ext>
            </a:extLst>
          </p:cNvPr>
          <p:cNvSpPr/>
          <p:nvPr/>
        </p:nvSpPr>
        <p:spPr>
          <a:xfrm>
            <a:off x="7556201" y="8409060"/>
            <a:ext cx="9589660" cy="548804"/>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EB0D1C32-4B27-AA5F-7B44-14ED858F9CFB}"/>
              </a:ext>
            </a:extLst>
          </p:cNvPr>
          <p:cNvSpPr/>
          <p:nvPr/>
        </p:nvSpPr>
        <p:spPr>
          <a:xfrm>
            <a:off x="7556201" y="4087368"/>
            <a:ext cx="9589660" cy="3608359"/>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EBF63D25-9D02-5AE5-4757-AEA2D62E4AF8}"/>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sp>
        <p:nvSpPr>
          <p:cNvPr id="48" name="角丸四角形 47">
            <a:extLst>
              <a:ext uri="{FF2B5EF4-FFF2-40B4-BE49-F238E27FC236}">
                <a16:creationId xmlns:a16="http://schemas.microsoft.com/office/drawing/2014/main" id="{BD21385B-B22C-028C-A2B9-D97BEC3420B5}"/>
              </a:ext>
            </a:extLst>
          </p:cNvPr>
          <p:cNvSpPr/>
          <p:nvPr/>
        </p:nvSpPr>
        <p:spPr>
          <a:xfrm>
            <a:off x="8004776" y="8041746"/>
            <a:ext cx="8161171"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18B65E6F-7247-4374-2334-3B8695084F41}"/>
              </a:ext>
            </a:extLst>
          </p:cNvPr>
          <p:cNvSpPr txBox="1"/>
          <p:nvPr/>
        </p:nvSpPr>
        <p:spPr>
          <a:xfrm>
            <a:off x="8180500" y="8143513"/>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2" name="角丸四角形 51">
            <a:extLst>
              <a:ext uri="{FF2B5EF4-FFF2-40B4-BE49-F238E27FC236}">
                <a16:creationId xmlns:a16="http://schemas.microsoft.com/office/drawing/2014/main" id="{A03B5D9A-C183-3644-BA16-5A53DB1D1FF9}"/>
              </a:ext>
            </a:extLst>
          </p:cNvPr>
          <p:cNvSpPr/>
          <p:nvPr/>
        </p:nvSpPr>
        <p:spPr>
          <a:xfrm>
            <a:off x="8004776" y="3829219"/>
            <a:ext cx="8260779"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grpSp>
        <p:nvGrpSpPr>
          <p:cNvPr id="23" name="グループ化 22">
            <a:extLst>
              <a:ext uri="{FF2B5EF4-FFF2-40B4-BE49-F238E27FC236}">
                <a16:creationId xmlns:a16="http://schemas.microsoft.com/office/drawing/2014/main" id="{B33967E2-8B5C-45D3-E36B-F4639F494073}"/>
              </a:ext>
            </a:extLst>
          </p:cNvPr>
          <p:cNvGrpSpPr/>
          <p:nvPr/>
        </p:nvGrpSpPr>
        <p:grpSpPr>
          <a:xfrm>
            <a:off x="7556201" y="2018512"/>
            <a:ext cx="12047866" cy="1649295"/>
            <a:chOff x="8056601" y="3426876"/>
            <a:chExt cx="11715988" cy="1649295"/>
          </a:xfrm>
        </p:grpSpPr>
        <p:sp>
          <p:nvSpPr>
            <p:cNvPr id="25" name="角丸四角形 24">
              <a:extLst>
                <a:ext uri="{FF2B5EF4-FFF2-40B4-BE49-F238E27FC236}">
                  <a16:creationId xmlns:a16="http://schemas.microsoft.com/office/drawing/2014/main" id="{EC41F47E-544E-BD76-74A2-6E46A6342020}"/>
                </a:ext>
              </a:extLst>
            </p:cNvPr>
            <p:cNvSpPr/>
            <p:nvPr/>
          </p:nvSpPr>
          <p:spPr>
            <a:xfrm>
              <a:off x="8056601" y="3759571"/>
              <a:ext cx="9325497" cy="1316600"/>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37FD08AF-DF22-CAC6-83FE-B50CA6AE7005}"/>
                </a:ext>
              </a:extLst>
            </p:cNvPr>
            <p:cNvSpPr/>
            <p:nvPr/>
          </p:nvSpPr>
          <p:spPr>
            <a:xfrm>
              <a:off x="8492820" y="3426876"/>
              <a:ext cx="8033222"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2" name="テキスト ボックス 31">
              <a:extLst>
                <a:ext uri="{FF2B5EF4-FFF2-40B4-BE49-F238E27FC236}">
                  <a16:creationId xmlns:a16="http://schemas.microsoft.com/office/drawing/2014/main" id="{02BB4E90-CA43-11EC-20B4-6582C9B730CF}"/>
                </a:ext>
              </a:extLst>
            </p:cNvPr>
            <p:cNvSpPr txBox="1"/>
            <p:nvPr/>
          </p:nvSpPr>
          <p:spPr>
            <a:xfrm>
              <a:off x="8663703" y="3493526"/>
              <a:ext cx="11108886" cy="523220"/>
            </a:xfrm>
            <a:prstGeom prst="rect">
              <a:avLst/>
            </a:prstGeom>
            <a:noFill/>
            <a:ln>
              <a:noFill/>
            </a:ln>
          </p:spPr>
          <p:txBody>
            <a:bodyPr wrap="square" rtlCol="0">
              <a:spAutoFit/>
            </a:bodyPr>
            <a:lstStyle/>
            <a:p>
              <a:r>
                <a:rPr kumimoji="1" lang="en-US" altLang="ja-JP" sz="2800" dirty="0">
                  <a:solidFill>
                    <a:schemeClr val="accent1">
                      <a:lumMod val="75000"/>
                    </a:schemeClr>
                  </a:solidFill>
                </a:rPr>
                <a:t>P2:</a:t>
              </a:r>
              <a:r>
                <a:rPr kumimoji="1" lang="ja-JP" altLang="en-US" sz="2800">
                  <a:solidFill>
                    <a:schemeClr val="accent1">
                      <a:lumMod val="75000"/>
                    </a:schemeClr>
                  </a:solidFill>
                </a:rPr>
                <a:t>ディレクトリへの関与が</a:t>
              </a:r>
              <a:r>
                <a:rPr kumimoji="1" lang="ja-JP" altLang="en-US" sz="2800">
                  <a:solidFill>
                    <a:schemeClr val="tx1">
                      <a:lumMod val="75000"/>
                      <a:lumOff val="25000"/>
                    </a:schemeClr>
                  </a:solidFill>
                </a:rPr>
                <a:t>少ない</a:t>
              </a:r>
              <a:r>
                <a:rPr kumimoji="1" lang="ja-JP" altLang="en-US" sz="2000">
                  <a:solidFill>
                    <a:schemeClr val="tx1">
                      <a:lumMod val="75000"/>
                      <a:lumOff val="25000"/>
                    </a:schemeClr>
                  </a:solidFill>
                </a:rPr>
                <a:t>（</a:t>
              </a:r>
              <a:r>
                <a:rPr kumimoji="1" lang="en-US" altLang="ja-JP" sz="2000" dirty="0">
                  <a:solidFill>
                    <a:schemeClr val="tx1">
                      <a:lumMod val="75000"/>
                      <a:lumOff val="25000"/>
                    </a:schemeClr>
                  </a:solidFill>
                </a:rPr>
                <a:t>OpenStack</a:t>
              </a:r>
              <a:r>
                <a:rPr kumimoji="1" lang="ja-JP" altLang="en-US" sz="2000">
                  <a:solidFill>
                    <a:schemeClr val="tx1">
                      <a:lumMod val="75000"/>
                      <a:lumOff val="25000"/>
                    </a:schemeClr>
                  </a:solidFill>
                </a:rPr>
                <a:t>）</a:t>
              </a:r>
              <a:r>
                <a:rPr kumimoji="1" lang="en-US" altLang="ja-JP" sz="2800" dirty="0">
                  <a:solidFill>
                    <a:schemeClr val="accent1">
                      <a:lumMod val="75000"/>
                    </a:schemeClr>
                  </a:solidFill>
                </a:rPr>
                <a:t>/</a:t>
              </a:r>
              <a:r>
                <a:rPr kumimoji="1" lang="ja-JP" altLang="en-US" sz="2800"/>
                <a:t>多い</a:t>
              </a:r>
              <a:r>
                <a:rPr kumimoji="1" lang="en-US" altLang="ja-JP" sz="2000" dirty="0"/>
                <a:t>(AOSP)</a:t>
              </a:r>
              <a:endParaRPr kumimoji="1" lang="ja-JP" altLang="en-US" sz="2800"/>
            </a:p>
          </p:txBody>
        </p:sp>
      </p:grpSp>
      <p:sp>
        <p:nvSpPr>
          <p:cNvPr id="35" name="正方形/長方形 34">
            <a:extLst>
              <a:ext uri="{FF2B5EF4-FFF2-40B4-BE49-F238E27FC236}">
                <a16:creationId xmlns:a16="http://schemas.microsoft.com/office/drawing/2014/main" id="{2BB173F7-49D4-29C9-1822-C112127694C9}"/>
              </a:ext>
            </a:extLst>
          </p:cNvPr>
          <p:cNvSpPr/>
          <p:nvPr/>
        </p:nvSpPr>
        <p:spPr>
          <a:xfrm>
            <a:off x="8271456" y="2524621"/>
            <a:ext cx="8013195" cy="1316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bg1">
                    <a:lumMod val="65000"/>
                  </a:schemeClr>
                </a:solidFill>
              </a:rPr>
              <a:t>IRL</a:t>
            </a:r>
            <a:r>
              <a:rPr kumimoji="1" lang="ja-JP" altLang="en-US" sz="2400">
                <a:solidFill>
                  <a:schemeClr val="bg1">
                    <a:lumMod val="65000"/>
                  </a:schemeClr>
                </a:solidFill>
              </a:rPr>
              <a:t>は開発者の関与低下を初期のみ捉えた可能性</a:t>
            </a:r>
            <a:endParaRPr kumimoji="1" lang="en-US" altLang="ja-JP" sz="2400" b="1" dirty="0">
              <a:solidFill>
                <a:schemeClr val="bg1">
                  <a:lumMod val="65000"/>
                </a:schemeClr>
              </a:solidFill>
            </a:endParaRPr>
          </a:p>
          <a:p>
            <a:pPr algn="ctr"/>
            <a:r>
              <a:rPr kumimoji="1" lang="ja-JP" altLang="en-US" sz="2800">
                <a:solidFill>
                  <a:schemeClr val="bg1">
                    <a:lumMod val="65000"/>
                  </a:schemeClr>
                </a:solidFill>
              </a:rPr>
              <a:t>関与が多いと累積統計量</a:t>
            </a:r>
            <a:r>
              <a:rPr kumimoji="1" lang="en-US" altLang="ja-JP" sz="2800" dirty="0">
                <a:solidFill>
                  <a:schemeClr val="bg1">
                    <a:lumMod val="65000"/>
                  </a:schemeClr>
                </a:solidFill>
              </a:rPr>
              <a:t>(RF)</a:t>
            </a:r>
            <a:r>
              <a:rPr kumimoji="1" lang="ja-JP" altLang="en-US" sz="2800">
                <a:solidFill>
                  <a:schemeClr val="bg1">
                    <a:lumMod val="65000"/>
                  </a:schemeClr>
                </a:solidFill>
              </a:rPr>
              <a:t>の方が優位</a:t>
            </a:r>
            <a:endParaRPr kumimoji="1" lang="en-US" altLang="ja-JP" sz="2800" dirty="0">
              <a:solidFill>
                <a:schemeClr val="bg1">
                  <a:lumMod val="65000"/>
                </a:schemeClr>
              </a:solidFill>
            </a:endParaRPr>
          </a:p>
        </p:txBody>
      </p:sp>
      <p:graphicFrame>
        <p:nvGraphicFramePr>
          <p:cNvPr id="2" name="表 1">
            <a:extLst>
              <a:ext uri="{FF2B5EF4-FFF2-40B4-BE49-F238E27FC236}">
                <a16:creationId xmlns:a16="http://schemas.microsoft.com/office/drawing/2014/main" id="{F976A528-A2C9-E865-0573-0A6D99DE1304}"/>
              </a:ext>
            </a:extLst>
          </p:cNvPr>
          <p:cNvGraphicFramePr>
            <a:graphicFrameLocks noGrp="1"/>
          </p:cNvGraphicFramePr>
          <p:nvPr>
            <p:extLst>
              <p:ext uri="{D42A27DB-BD31-4B8C-83A1-F6EECF244321}">
                <p14:modId xmlns:p14="http://schemas.microsoft.com/office/powerpoint/2010/main" val="361464507"/>
              </p:ext>
            </p:extLst>
          </p:nvPr>
        </p:nvGraphicFramePr>
        <p:xfrm>
          <a:off x="8152754" y="4635275"/>
          <a:ext cx="8013194" cy="1237122"/>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OpenStack</a:t>
                      </a:r>
                      <a:r>
                        <a:rPr lang="en-US" sz="2000" b="1" dirty="0">
                          <a:solidFill>
                            <a:srgbClr val="FFFFFF"/>
                          </a:solidFill>
                          <a:latin typeface="MS PGothic" panose="020B0600070205080204" pitchFamily="34" charset="-128"/>
                          <a:ea typeface="MS PGothic" panose="020B0600070205080204" pitchFamily="34" charset="-128"/>
                          <a:cs typeface="Meiryo" pitchFamily="34" charset="-120"/>
                        </a:rPr>
                        <a:t>(P4)</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0997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−0.4</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−0.5</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−8.7</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−5.9</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rgbClr val="FFFFFF"/>
                          </a:solidFill>
                          <a:latin typeface="MS PGothic" panose="020B0600070205080204" pitchFamily="34" charset="-128"/>
                          <a:ea typeface="MS PGothic" panose="020B0600070205080204" pitchFamily="34" charset="-128"/>
                          <a:cs typeface="Meiryo" pitchFamily="34" charset="-120"/>
                        </a:rPr>
                        <a:t>AOSP</a:t>
                      </a:r>
                      <a:r>
                        <a:rPr lang="en-US" altLang="ja-JP" sz="2000" b="1" dirty="0">
                          <a:solidFill>
                            <a:srgbClr val="FFFFFF"/>
                          </a:solidFill>
                          <a:latin typeface="MS PGothic" panose="020B0600070205080204" pitchFamily="34" charset="-128"/>
                          <a:ea typeface="MS PGothic" panose="020B0600070205080204" pitchFamily="34" charset="-128"/>
                          <a:cs typeface="Meiryo" pitchFamily="34" charset="-120"/>
                        </a:rPr>
                        <a:t>(P3)</a:t>
                      </a:r>
                      <a:endParaRPr lang="en-US" altLang="ja-JP"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0997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+1.5</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−0.5</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−2.9</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−2.6</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5" name="正方形/長方形 4">
            <a:extLst>
              <a:ext uri="{FF2B5EF4-FFF2-40B4-BE49-F238E27FC236}">
                <a16:creationId xmlns:a16="http://schemas.microsoft.com/office/drawing/2014/main" id="{E8EC2D74-A75B-7E12-7519-E0593F4A5E82}"/>
              </a:ext>
            </a:extLst>
          </p:cNvPr>
          <p:cNvSpPr/>
          <p:nvPr/>
        </p:nvSpPr>
        <p:spPr>
          <a:xfrm>
            <a:off x="8301599" y="6516457"/>
            <a:ext cx="8013195" cy="89050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solidFill>
                  <a:schemeClr val="tx1"/>
                </a:solidFill>
              </a:rPr>
              <a:t>活動頻度が低いと</a:t>
            </a:r>
            <a:r>
              <a:rPr kumimoji="1" lang="en-US" altLang="ja-JP" sz="2800" dirty="0">
                <a:solidFill>
                  <a:schemeClr val="tx1"/>
                </a:solidFill>
              </a:rPr>
              <a:t>IRL</a:t>
            </a:r>
            <a:r>
              <a:rPr kumimoji="1" lang="ja-JP" altLang="en-US" sz="2800">
                <a:solidFill>
                  <a:schemeClr val="tx1"/>
                </a:solidFill>
              </a:rPr>
              <a:t>が軌跡を十分に学習できない</a:t>
            </a:r>
            <a:endParaRPr kumimoji="1" lang="en-US" altLang="ja-JP" sz="2800" dirty="0">
              <a:solidFill>
                <a:schemeClr val="tx1"/>
              </a:solidFill>
            </a:endParaRPr>
          </a:p>
        </p:txBody>
      </p:sp>
      <p:sp>
        <p:nvSpPr>
          <p:cNvPr id="12" name="テキスト ボックス 11">
            <a:extLst>
              <a:ext uri="{FF2B5EF4-FFF2-40B4-BE49-F238E27FC236}">
                <a16:creationId xmlns:a16="http://schemas.microsoft.com/office/drawing/2014/main" id="{245C4A09-8843-C938-3824-83EE11F60FF9}"/>
              </a:ext>
            </a:extLst>
          </p:cNvPr>
          <p:cNvSpPr txBox="1"/>
          <p:nvPr/>
        </p:nvSpPr>
        <p:spPr>
          <a:xfrm>
            <a:off x="8252362" y="5978778"/>
            <a:ext cx="8260779" cy="461665"/>
          </a:xfrm>
          <a:prstGeom prst="rect">
            <a:avLst/>
          </a:prstGeom>
          <a:noFill/>
        </p:spPr>
        <p:txBody>
          <a:bodyPr wrap="square">
            <a:spAutoFit/>
          </a:bodyPr>
          <a:lstStyle/>
          <a:p>
            <a:r>
              <a:rPr lang="ja-JP" altLang="en-US" sz="2400">
                <a:latin typeface="MS PGothic" panose="020B0600070205080204" pitchFamily="34" charset="-128"/>
                <a:ea typeface="MS PGothic" panose="020B0600070205080204" pitchFamily="34" charset="-128"/>
                <a:cs typeface="Meiryo" pitchFamily="34" charset="-120"/>
              </a:rPr>
              <a:t>基本的に</a:t>
            </a:r>
            <a:r>
              <a:rPr lang="en-US" altLang="ja-JP" sz="2400" dirty="0">
                <a:latin typeface="MS PGothic" panose="020B0600070205080204" pitchFamily="34" charset="-128"/>
                <a:ea typeface="MS PGothic" panose="020B0600070205080204" pitchFamily="34" charset="-128"/>
                <a:cs typeface="Meiryo" pitchFamily="34" charset="-120"/>
              </a:rPr>
              <a:t>RF</a:t>
            </a:r>
            <a:r>
              <a:rPr lang="ja-JP" altLang="en-US" sz="2400">
                <a:latin typeface="MS PGothic" panose="020B0600070205080204" pitchFamily="34" charset="-128"/>
                <a:ea typeface="MS PGothic" panose="020B0600070205080204" pitchFamily="34" charset="-128"/>
                <a:cs typeface="Meiryo" pitchFamily="34" charset="-120"/>
              </a:rPr>
              <a:t>が優位，後半は差が拡大する傾向</a:t>
            </a:r>
          </a:p>
        </p:txBody>
      </p:sp>
      <p:sp>
        <p:nvSpPr>
          <p:cNvPr id="42" name="正方形/長方形 41">
            <a:extLst>
              <a:ext uri="{FF2B5EF4-FFF2-40B4-BE49-F238E27FC236}">
                <a16:creationId xmlns:a16="http://schemas.microsoft.com/office/drawing/2014/main" id="{80E5B1E6-852F-C040-4D58-3277507B5B59}"/>
              </a:ext>
            </a:extLst>
          </p:cNvPr>
          <p:cNvSpPr/>
          <p:nvPr/>
        </p:nvSpPr>
        <p:spPr>
          <a:xfrm>
            <a:off x="7436925" y="7854616"/>
            <a:ext cx="9886275" cy="1238925"/>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7910E525-6645-6E53-D3C5-2015AC5B2B57}"/>
              </a:ext>
            </a:extLst>
          </p:cNvPr>
          <p:cNvSpPr/>
          <p:nvPr/>
        </p:nvSpPr>
        <p:spPr>
          <a:xfrm>
            <a:off x="7436925" y="43718"/>
            <a:ext cx="9886275" cy="370224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570803A0-961C-E73B-EA04-5C759B876E2B}"/>
              </a:ext>
            </a:extLst>
          </p:cNvPr>
          <p:cNvSpPr txBox="1"/>
          <p:nvPr/>
        </p:nvSpPr>
        <p:spPr>
          <a:xfrm>
            <a:off x="8101959" y="3904855"/>
            <a:ext cx="4775613" cy="523220"/>
          </a:xfrm>
          <a:prstGeom prst="rect">
            <a:avLst/>
          </a:prstGeom>
          <a:noFill/>
        </p:spPr>
        <p:txBody>
          <a:bodyPr wrap="square" rtlCol="0">
            <a:spAutoFit/>
          </a:bodyPr>
          <a:lstStyle/>
          <a:p>
            <a:r>
              <a:rPr kumimoji="1" lang="en-US" altLang="ja-JP" sz="2800" dirty="0">
                <a:solidFill>
                  <a:srgbClr val="F29552"/>
                </a:solidFill>
              </a:rPr>
              <a:t>P4</a:t>
            </a:r>
            <a:r>
              <a:rPr kumimoji="1" lang="en-US" altLang="ja-JP" sz="2000" dirty="0">
                <a:solidFill>
                  <a:srgbClr val="F29552"/>
                </a:solidFill>
              </a:rPr>
              <a:t>(3):</a:t>
            </a:r>
            <a:r>
              <a:rPr kumimoji="1" lang="ja-JP" altLang="en-US" sz="2800">
                <a:solidFill>
                  <a:srgbClr val="F29552"/>
                </a:solidFill>
              </a:rPr>
              <a:t>活動頻度・承諾率が低い</a:t>
            </a:r>
          </a:p>
        </p:txBody>
      </p:sp>
      <p:sp>
        <p:nvSpPr>
          <p:cNvPr id="46" name="テキスト ボックス 45">
            <a:extLst>
              <a:ext uri="{FF2B5EF4-FFF2-40B4-BE49-F238E27FC236}">
                <a16:creationId xmlns:a16="http://schemas.microsoft.com/office/drawing/2014/main" id="{DCC20ABC-12F2-F699-8E2A-D6E74EA0EB93}"/>
              </a:ext>
            </a:extLst>
          </p:cNvPr>
          <p:cNvSpPr txBox="1"/>
          <p:nvPr/>
        </p:nvSpPr>
        <p:spPr>
          <a:xfrm>
            <a:off x="2775857" y="539569"/>
            <a:ext cx="1557029" cy="461665"/>
          </a:xfrm>
          <a:prstGeom prst="rect">
            <a:avLst/>
          </a:prstGeom>
          <a:noFill/>
        </p:spPr>
        <p:txBody>
          <a:bodyPr wrap="none" rtlCol="0">
            <a:spAutoFit/>
          </a:bodyPr>
          <a:lstStyle/>
          <a:p>
            <a:r>
              <a:rPr kumimoji="1" lang="en-US" altLang="ja-JP" sz="2400" b="1" dirty="0"/>
              <a:t>OpenStack</a:t>
            </a:r>
            <a:endParaRPr kumimoji="1" lang="ja-JP" altLang="en-US" sz="2400" b="1"/>
          </a:p>
        </p:txBody>
      </p:sp>
      <p:sp>
        <p:nvSpPr>
          <p:cNvPr id="47" name="テキスト ボックス 46">
            <a:extLst>
              <a:ext uri="{FF2B5EF4-FFF2-40B4-BE49-F238E27FC236}">
                <a16:creationId xmlns:a16="http://schemas.microsoft.com/office/drawing/2014/main" id="{2DB3CAC8-8D67-6E5D-E765-111BD73AD48D}"/>
              </a:ext>
            </a:extLst>
          </p:cNvPr>
          <p:cNvSpPr txBox="1"/>
          <p:nvPr/>
        </p:nvSpPr>
        <p:spPr>
          <a:xfrm>
            <a:off x="3112294" y="5557671"/>
            <a:ext cx="884153" cy="461665"/>
          </a:xfrm>
          <a:prstGeom prst="rect">
            <a:avLst/>
          </a:prstGeom>
          <a:noFill/>
        </p:spPr>
        <p:txBody>
          <a:bodyPr wrap="none" rtlCol="0">
            <a:spAutoFit/>
          </a:bodyPr>
          <a:lstStyle/>
          <a:p>
            <a:r>
              <a:rPr kumimoji="1" lang="en-US" altLang="ja-JP" sz="2400" b="1" dirty="0"/>
              <a:t>AOSP</a:t>
            </a:r>
            <a:endParaRPr kumimoji="1" lang="ja-JP" altLang="en-US" sz="2400" b="1"/>
          </a:p>
        </p:txBody>
      </p:sp>
      <p:sp>
        <p:nvSpPr>
          <p:cNvPr id="50" name="テキスト ボックス 49">
            <a:extLst>
              <a:ext uri="{FF2B5EF4-FFF2-40B4-BE49-F238E27FC236}">
                <a16:creationId xmlns:a16="http://schemas.microsoft.com/office/drawing/2014/main" id="{FB3867B6-7AC2-65B2-C21A-AC9C756FA260}"/>
              </a:ext>
            </a:extLst>
          </p:cNvPr>
          <p:cNvSpPr txBox="1"/>
          <p:nvPr/>
        </p:nvSpPr>
        <p:spPr>
          <a:xfrm>
            <a:off x="4575245" y="9383058"/>
            <a:ext cx="4837213" cy="400110"/>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r>
              <a:rPr kumimoji="1" lang="en-US" altLang="ja-JP" sz="2000" dirty="0">
                <a:solidFill>
                  <a:srgbClr val="35B3A0"/>
                </a:solidFill>
              </a:rPr>
              <a:t>(n =8,923)</a:t>
            </a:r>
            <a:endParaRPr kumimoji="1" lang="ja-JP" altLang="en-US" sz="2000">
              <a:solidFill>
                <a:srgbClr val="35B3A0"/>
              </a:solidFill>
            </a:endParaRPr>
          </a:p>
        </p:txBody>
      </p:sp>
    </p:spTree>
    <p:extLst>
      <p:ext uri="{BB962C8B-B14F-4D97-AF65-F5344CB8AC3E}">
        <p14:creationId xmlns:p14="http://schemas.microsoft.com/office/powerpoint/2010/main" val="564833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4FE70-655A-E08F-C1C7-7AB39AA0548E}"/>
            </a:ext>
          </a:extLst>
        </p:cNvPr>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3BB449B4-D327-E98B-C8E4-21B6F5709593}"/>
              </a:ext>
            </a:extLst>
          </p:cNvPr>
          <p:cNvSpPr/>
          <p:nvPr/>
        </p:nvSpPr>
        <p:spPr>
          <a:xfrm>
            <a:off x="8180500" y="8013431"/>
            <a:ext cx="8013195" cy="9530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rPr>
              <a:t>優劣を分けるのは承諾率ではなくディレクトリ経験</a:t>
            </a:r>
            <a:endParaRPr kumimoji="1" lang="en-US" altLang="ja-JP" sz="2400" dirty="0">
              <a:solidFill>
                <a:schemeClr val="tx1"/>
              </a:solidFill>
            </a:endParaRPr>
          </a:p>
        </p:txBody>
      </p:sp>
      <p:sp>
        <p:nvSpPr>
          <p:cNvPr id="36" name="正方形/長方形 35">
            <a:extLst>
              <a:ext uri="{FF2B5EF4-FFF2-40B4-BE49-F238E27FC236}">
                <a16:creationId xmlns:a16="http://schemas.microsoft.com/office/drawing/2014/main" id="{1B89D0AE-01CB-6EA7-D8F7-18DA32AFA841}"/>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A311AE88-A70B-ED96-14B6-4AE818C4179B}"/>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DB588861-EE08-206C-4C22-838DE5B986DB}"/>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66DACAEB-5221-6FBC-06A7-FA56EC7836A7}"/>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57B48A6B-C922-4088-5333-ACF6BDB9C036}"/>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AB29A608-BE03-6954-E9CB-F644493FC6BF}"/>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B4A22FBB-F607-82D1-B7F5-2079580B0664}"/>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ACAB997-58DC-893C-D410-B71973B83601}"/>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9B79564F-EB81-0270-2319-01C414E2AB76}"/>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8A72953A-8712-080D-4A6B-15EA05000656}"/>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EEF1D774-B614-76F5-1CE5-EE6A45749A64}"/>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2B707CBC-5E1B-1D3E-DF1D-5E5806132A6D}"/>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6C394073-FD32-A947-34DE-84B5FA94B4BD}"/>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BDED57B1-2304-E710-727C-A625006D238A}"/>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36F0CAB2-7C4C-D392-F6D9-3D362057A3F0}"/>
              </a:ext>
            </a:extLst>
          </p:cNvPr>
          <p:cNvSpPr/>
          <p:nvPr/>
        </p:nvSpPr>
        <p:spPr>
          <a:xfrm>
            <a:off x="8252362" y="880028"/>
            <a:ext cx="8013195" cy="9698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lumMod val="65000"/>
                  </a:schemeClr>
                </a:solidFill>
              </a:rPr>
              <a:t>IRL</a:t>
            </a:r>
            <a:r>
              <a:rPr kumimoji="1" lang="ja-JP" altLang="en-US" sz="2800">
                <a:solidFill>
                  <a:schemeClr val="bg1">
                    <a:lumMod val="65000"/>
                  </a:schemeClr>
                </a:solidFill>
              </a:rPr>
              <a:t>が他ディレクトリの活動状況を活用</a:t>
            </a:r>
            <a:endParaRPr kumimoji="1" lang="en-US" altLang="ja-JP" sz="2800" dirty="0">
              <a:solidFill>
                <a:schemeClr val="bg1">
                  <a:lumMod val="65000"/>
                </a:schemeClr>
              </a:solidFill>
            </a:endParaRPr>
          </a:p>
          <a:p>
            <a:pPr algn="ctr"/>
            <a:r>
              <a:rPr kumimoji="1" lang="ja-JP" altLang="en-US" sz="2400">
                <a:solidFill>
                  <a:schemeClr val="bg1">
                    <a:lumMod val="65000"/>
                  </a:schemeClr>
                </a:solidFill>
              </a:rPr>
              <a:t>後半になると活動状況の影響が弱まることが示唆</a:t>
            </a:r>
            <a:endParaRPr kumimoji="1" lang="en-US" altLang="ja-JP" sz="2400" dirty="0">
              <a:solidFill>
                <a:schemeClr val="bg1">
                  <a:lumMod val="65000"/>
                </a:schemeClr>
              </a:solidFill>
            </a:endParaRPr>
          </a:p>
        </p:txBody>
      </p:sp>
      <p:sp>
        <p:nvSpPr>
          <p:cNvPr id="67" name="角丸四角形 66">
            <a:extLst>
              <a:ext uri="{FF2B5EF4-FFF2-40B4-BE49-F238E27FC236}">
                <a16:creationId xmlns:a16="http://schemas.microsoft.com/office/drawing/2014/main" id="{B34352B2-24DA-B2DE-54C3-3849A3B0200C}"/>
              </a:ext>
            </a:extLst>
          </p:cNvPr>
          <p:cNvSpPr/>
          <p:nvPr/>
        </p:nvSpPr>
        <p:spPr>
          <a:xfrm>
            <a:off x="7556201" y="568603"/>
            <a:ext cx="9589660" cy="1327713"/>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角丸四角形 69">
            <a:extLst>
              <a:ext uri="{FF2B5EF4-FFF2-40B4-BE49-F238E27FC236}">
                <a16:creationId xmlns:a16="http://schemas.microsoft.com/office/drawing/2014/main" id="{38F5B745-8F86-F377-E888-B72C268319BF}"/>
              </a:ext>
            </a:extLst>
          </p:cNvPr>
          <p:cNvSpPr/>
          <p:nvPr/>
        </p:nvSpPr>
        <p:spPr>
          <a:xfrm>
            <a:off x="8004777" y="187154"/>
            <a:ext cx="8279874"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 name="スライド番号プレースホルダー 2">
            <a:extLst>
              <a:ext uri="{FF2B5EF4-FFF2-40B4-BE49-F238E27FC236}">
                <a16:creationId xmlns:a16="http://schemas.microsoft.com/office/drawing/2014/main" id="{E7229D43-DB5E-F341-CBAD-221D7194E398}"/>
              </a:ext>
            </a:extLst>
          </p:cNvPr>
          <p:cNvSpPr>
            <a:spLocks noGrp="1"/>
          </p:cNvSpPr>
          <p:nvPr>
            <p:ph type="sldNum" sz="quarter" idx="12"/>
          </p:nvPr>
        </p:nvSpPr>
        <p:spPr/>
        <p:txBody>
          <a:bodyPr/>
          <a:lstStyle/>
          <a:p>
            <a:fld id="{85D74467-FFC2-5C49-A08A-98A9FE9BCA53}" type="slidenum">
              <a:rPr kumimoji="1" lang="ja-JP" altLang="en-US" smtClean="0"/>
              <a:pPr/>
              <a:t>22</a:t>
            </a:fld>
            <a:endParaRPr kumimoji="1" lang="ja-JP" altLang="en-US"/>
          </a:p>
        </p:txBody>
      </p:sp>
      <p:sp>
        <p:nvSpPr>
          <p:cNvPr id="83" name="Text 9">
            <a:extLst>
              <a:ext uri="{FF2B5EF4-FFF2-40B4-BE49-F238E27FC236}">
                <a16:creationId xmlns:a16="http://schemas.microsoft.com/office/drawing/2014/main" id="{052A954C-8CF8-0615-18F2-B2245E03E813}"/>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19" name="正方形/長方形 18">
            <a:extLst>
              <a:ext uri="{FF2B5EF4-FFF2-40B4-BE49-F238E27FC236}">
                <a16:creationId xmlns:a16="http://schemas.microsoft.com/office/drawing/2014/main" id="{09EDF08C-E70F-EC30-FCB2-5DBF584BDECF}"/>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AC399166-0533-1163-4478-2A3812140942}"/>
              </a:ext>
            </a:extLst>
          </p:cNvPr>
          <p:cNvGrpSpPr/>
          <p:nvPr/>
        </p:nvGrpSpPr>
        <p:grpSpPr>
          <a:xfrm>
            <a:off x="-3409094" y="5054150"/>
            <a:ext cx="13926933" cy="5139955"/>
            <a:chOff x="-9133824" y="-2889165"/>
            <a:chExt cx="14524687" cy="5360565"/>
          </a:xfrm>
        </p:grpSpPr>
        <p:pic>
          <p:nvPicPr>
            <p:cNvPr id="30" name="図 29">
              <a:extLst>
                <a:ext uri="{FF2B5EF4-FFF2-40B4-BE49-F238E27FC236}">
                  <a16:creationId xmlns:a16="http://schemas.microsoft.com/office/drawing/2014/main" id="{5BF3B968-5EAB-B3F4-EAAF-586FA5BCD30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13962605-1F84-9B3C-9A04-A35F7FEA3E94}"/>
                </a:ext>
              </a:extLst>
            </p:cNvPr>
            <p:cNvSpPr txBox="1"/>
            <p:nvPr/>
          </p:nvSpPr>
          <p:spPr>
            <a:xfrm>
              <a:off x="-6150406" y="-2805836"/>
              <a:ext cx="5066095" cy="738269"/>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高活動・ディレクトリ未経験型</a:t>
              </a:r>
              <a:endParaRPr kumimoji="1" lang="en-US" altLang="ja-JP" sz="2000" dirty="0">
                <a:solidFill>
                  <a:srgbClr val="E05C49"/>
                </a:solidFill>
              </a:endParaRPr>
            </a:p>
            <a:p>
              <a:pPr algn="ctr"/>
              <a:r>
                <a:rPr kumimoji="1" lang="en-US" altLang="ja-JP" sz="2000" dirty="0">
                  <a:solidFill>
                    <a:srgbClr val="E05C49"/>
                  </a:solidFill>
                </a:rPr>
                <a:t>(n = 5,068)</a:t>
              </a:r>
              <a:endParaRPr kumimoji="1" lang="ja-JP" altLang="en-US" sz="2000">
                <a:solidFill>
                  <a:srgbClr val="E05C49"/>
                </a:solidFill>
              </a:endParaRPr>
            </a:p>
          </p:txBody>
        </p:sp>
        <p:sp>
          <p:nvSpPr>
            <p:cNvPr id="27" name="テキスト ボックス 26">
              <a:extLst>
                <a:ext uri="{FF2B5EF4-FFF2-40B4-BE49-F238E27FC236}">
                  <a16:creationId xmlns:a16="http://schemas.microsoft.com/office/drawing/2014/main" id="{44E6A7C7-A882-0B7A-16DC-8D0E99C96899}"/>
                </a:ext>
              </a:extLst>
            </p:cNvPr>
            <p:cNvSpPr txBox="1"/>
            <p:nvPr/>
          </p:nvSpPr>
          <p:spPr>
            <a:xfrm>
              <a:off x="-1963333" y="-2801095"/>
              <a:ext cx="5044829" cy="674072"/>
            </a:xfrm>
            <a:prstGeom prst="rect">
              <a:avLst/>
            </a:prstGeom>
            <a:noFill/>
          </p:spPr>
          <p:txBody>
            <a:bodyPr wrap="square" rtlCol="0">
              <a:spAutoFit/>
            </a:bodyPr>
            <a:lstStyle/>
            <a:p>
              <a:pPr algn="ctr"/>
              <a:r>
                <a:rPr kumimoji="1" lang="en-US" altLang="ja-JP" dirty="0">
                  <a:solidFill>
                    <a:srgbClr val="8CD3E3"/>
                  </a:solidFill>
                </a:rPr>
                <a:t>P2:</a:t>
              </a:r>
              <a:r>
                <a:rPr kumimoji="1" lang="ja-JP" altLang="en-US">
                  <a:solidFill>
                    <a:srgbClr val="8CD3E3"/>
                  </a:solidFill>
                </a:rPr>
                <a:t>ディレクトリ経験者・高関与型</a:t>
              </a:r>
              <a:endParaRPr kumimoji="1" lang="en-US" altLang="ja-JP" dirty="0">
                <a:solidFill>
                  <a:srgbClr val="8CD3E3"/>
                </a:solidFill>
              </a:endParaRPr>
            </a:p>
            <a:p>
              <a:pPr algn="ctr"/>
              <a:r>
                <a:rPr kumimoji="1" lang="en-US" altLang="ja-JP" dirty="0">
                  <a:solidFill>
                    <a:srgbClr val="8CD3E3"/>
                  </a:solidFill>
                </a:rPr>
                <a:t>(n = 4,422)</a:t>
              </a:r>
              <a:endParaRPr kumimoji="1" lang="ja-JP" altLang="en-US">
                <a:solidFill>
                  <a:srgbClr val="8CD3E3"/>
                </a:solidFill>
              </a:endParaRPr>
            </a:p>
          </p:txBody>
        </p:sp>
        <p:sp>
          <p:nvSpPr>
            <p:cNvPr id="28" name="テキスト ボックス 27">
              <a:extLst>
                <a:ext uri="{FF2B5EF4-FFF2-40B4-BE49-F238E27FC236}">
                  <a16:creationId xmlns:a16="http://schemas.microsoft.com/office/drawing/2014/main" id="{73FF95C3-8BB7-787A-C0C9-85B1E9B7100E}"/>
                </a:ext>
              </a:extLst>
            </p:cNvPr>
            <p:cNvSpPr txBox="1"/>
            <p:nvPr/>
          </p:nvSpPr>
          <p:spPr>
            <a:xfrm>
              <a:off x="-6560468" y="1625542"/>
              <a:ext cx="4532864" cy="385184"/>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r>
                <a:rPr kumimoji="1" lang="en-US" altLang="ja-JP" sz="1800" dirty="0">
                  <a:solidFill>
                    <a:srgbClr val="F4A992"/>
                  </a:solidFill>
                </a:rPr>
                <a:t>(n =2,878)</a:t>
              </a:r>
              <a:endParaRPr kumimoji="1" lang="ja-JP" altLang="en-US" sz="1800">
                <a:solidFill>
                  <a:srgbClr val="F4A992"/>
                </a:solidFill>
              </a:endParaRPr>
            </a:p>
          </p:txBody>
        </p:sp>
      </p:grpSp>
      <p:sp>
        <p:nvSpPr>
          <p:cNvPr id="37" name="角丸四角形 36">
            <a:extLst>
              <a:ext uri="{FF2B5EF4-FFF2-40B4-BE49-F238E27FC236}">
                <a16:creationId xmlns:a16="http://schemas.microsoft.com/office/drawing/2014/main" id="{C643D879-9DEC-304C-B54A-55DDEE306B0A}"/>
              </a:ext>
            </a:extLst>
          </p:cNvPr>
          <p:cNvSpPr/>
          <p:nvPr/>
        </p:nvSpPr>
        <p:spPr>
          <a:xfrm>
            <a:off x="7556201" y="5658979"/>
            <a:ext cx="9589660" cy="3442970"/>
          </a:xfrm>
          <a:prstGeom prst="roundRect">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69C8177D-B437-C9DB-A9B6-253BD56A4D70}"/>
              </a:ext>
            </a:extLst>
          </p:cNvPr>
          <p:cNvSpPr/>
          <p:nvPr/>
        </p:nvSpPr>
        <p:spPr>
          <a:xfrm>
            <a:off x="7556201" y="4087368"/>
            <a:ext cx="9589660" cy="1145675"/>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C644D3BD-36BD-8633-C195-F237C6C2FF80}"/>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sp>
        <p:nvSpPr>
          <p:cNvPr id="48" name="角丸四角形 47">
            <a:extLst>
              <a:ext uri="{FF2B5EF4-FFF2-40B4-BE49-F238E27FC236}">
                <a16:creationId xmlns:a16="http://schemas.microsoft.com/office/drawing/2014/main" id="{8D1BB157-7821-1376-F98C-F818C6ABD5F1}"/>
              </a:ext>
            </a:extLst>
          </p:cNvPr>
          <p:cNvSpPr/>
          <p:nvPr/>
        </p:nvSpPr>
        <p:spPr>
          <a:xfrm>
            <a:off x="8004777" y="5381834"/>
            <a:ext cx="8279874"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F08541BF-E1CB-37F8-B46F-2E75A6399751}"/>
              </a:ext>
            </a:extLst>
          </p:cNvPr>
          <p:cNvSpPr txBox="1"/>
          <p:nvPr/>
        </p:nvSpPr>
        <p:spPr>
          <a:xfrm>
            <a:off x="8180500" y="5483601"/>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2" name="角丸四角形 51">
            <a:extLst>
              <a:ext uri="{FF2B5EF4-FFF2-40B4-BE49-F238E27FC236}">
                <a16:creationId xmlns:a16="http://schemas.microsoft.com/office/drawing/2014/main" id="{B6BDFC56-7D91-3C0D-1609-8289F3FD3618}"/>
              </a:ext>
            </a:extLst>
          </p:cNvPr>
          <p:cNvSpPr/>
          <p:nvPr/>
        </p:nvSpPr>
        <p:spPr>
          <a:xfrm>
            <a:off x="8004777" y="3829219"/>
            <a:ext cx="8279874"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grpSp>
        <p:nvGrpSpPr>
          <p:cNvPr id="23" name="グループ化 22">
            <a:extLst>
              <a:ext uri="{FF2B5EF4-FFF2-40B4-BE49-F238E27FC236}">
                <a16:creationId xmlns:a16="http://schemas.microsoft.com/office/drawing/2014/main" id="{B78DA1CC-8FB1-D28A-4DD5-233C7B8A09F7}"/>
              </a:ext>
            </a:extLst>
          </p:cNvPr>
          <p:cNvGrpSpPr/>
          <p:nvPr/>
        </p:nvGrpSpPr>
        <p:grpSpPr>
          <a:xfrm>
            <a:off x="7556201" y="2018512"/>
            <a:ext cx="12047866" cy="1649295"/>
            <a:chOff x="8056601" y="3426876"/>
            <a:chExt cx="11715988" cy="1649295"/>
          </a:xfrm>
        </p:grpSpPr>
        <p:sp>
          <p:nvSpPr>
            <p:cNvPr id="25" name="角丸四角形 24">
              <a:extLst>
                <a:ext uri="{FF2B5EF4-FFF2-40B4-BE49-F238E27FC236}">
                  <a16:creationId xmlns:a16="http://schemas.microsoft.com/office/drawing/2014/main" id="{40DFD232-DDDE-4AF6-7DDB-E6E9B9475D4C}"/>
                </a:ext>
              </a:extLst>
            </p:cNvPr>
            <p:cNvSpPr/>
            <p:nvPr/>
          </p:nvSpPr>
          <p:spPr>
            <a:xfrm>
              <a:off x="8056601" y="3759571"/>
              <a:ext cx="9325497" cy="1316600"/>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DA25EC11-6B01-B514-4F26-1D7D10D1BC54}"/>
                </a:ext>
              </a:extLst>
            </p:cNvPr>
            <p:cNvSpPr/>
            <p:nvPr/>
          </p:nvSpPr>
          <p:spPr>
            <a:xfrm>
              <a:off x="8492820" y="3426876"/>
              <a:ext cx="8033222"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2" name="テキスト ボックス 31">
              <a:extLst>
                <a:ext uri="{FF2B5EF4-FFF2-40B4-BE49-F238E27FC236}">
                  <a16:creationId xmlns:a16="http://schemas.microsoft.com/office/drawing/2014/main" id="{A5E6DFA4-6A3D-A37F-546A-11639EB90BC3}"/>
                </a:ext>
              </a:extLst>
            </p:cNvPr>
            <p:cNvSpPr txBox="1"/>
            <p:nvPr/>
          </p:nvSpPr>
          <p:spPr>
            <a:xfrm>
              <a:off x="8663703" y="3493526"/>
              <a:ext cx="11108886" cy="523220"/>
            </a:xfrm>
            <a:prstGeom prst="rect">
              <a:avLst/>
            </a:prstGeom>
            <a:noFill/>
            <a:ln>
              <a:noFill/>
            </a:ln>
          </p:spPr>
          <p:txBody>
            <a:bodyPr wrap="square" rtlCol="0">
              <a:spAutoFit/>
            </a:bodyPr>
            <a:lstStyle/>
            <a:p>
              <a:r>
                <a:rPr kumimoji="1" lang="en-US" altLang="ja-JP" sz="2800" dirty="0">
                  <a:solidFill>
                    <a:schemeClr val="accent1">
                      <a:lumMod val="75000"/>
                    </a:schemeClr>
                  </a:solidFill>
                </a:rPr>
                <a:t>P2:</a:t>
              </a:r>
              <a:r>
                <a:rPr kumimoji="1" lang="ja-JP" altLang="en-US" sz="2800">
                  <a:solidFill>
                    <a:schemeClr val="accent1">
                      <a:lumMod val="75000"/>
                    </a:schemeClr>
                  </a:solidFill>
                </a:rPr>
                <a:t>ディレクトリへの関与が</a:t>
              </a:r>
              <a:r>
                <a:rPr kumimoji="1" lang="ja-JP" altLang="en-US" sz="2800">
                  <a:solidFill>
                    <a:schemeClr val="tx1">
                      <a:lumMod val="75000"/>
                      <a:lumOff val="25000"/>
                    </a:schemeClr>
                  </a:solidFill>
                </a:rPr>
                <a:t>少ない</a:t>
              </a:r>
              <a:r>
                <a:rPr kumimoji="1" lang="ja-JP" altLang="en-US" sz="2000">
                  <a:solidFill>
                    <a:schemeClr val="tx1">
                      <a:lumMod val="75000"/>
                      <a:lumOff val="25000"/>
                    </a:schemeClr>
                  </a:solidFill>
                </a:rPr>
                <a:t>（</a:t>
              </a:r>
              <a:r>
                <a:rPr kumimoji="1" lang="en-US" altLang="ja-JP" sz="2000" dirty="0">
                  <a:solidFill>
                    <a:schemeClr val="tx1">
                      <a:lumMod val="75000"/>
                      <a:lumOff val="25000"/>
                    </a:schemeClr>
                  </a:solidFill>
                </a:rPr>
                <a:t>OpenStack</a:t>
              </a:r>
              <a:r>
                <a:rPr kumimoji="1" lang="ja-JP" altLang="en-US" sz="2000">
                  <a:solidFill>
                    <a:schemeClr val="tx1">
                      <a:lumMod val="75000"/>
                      <a:lumOff val="25000"/>
                    </a:schemeClr>
                  </a:solidFill>
                </a:rPr>
                <a:t>）</a:t>
              </a:r>
              <a:r>
                <a:rPr kumimoji="1" lang="en-US" altLang="ja-JP" sz="2800" dirty="0">
                  <a:solidFill>
                    <a:schemeClr val="accent1">
                      <a:lumMod val="75000"/>
                    </a:schemeClr>
                  </a:solidFill>
                </a:rPr>
                <a:t>/</a:t>
              </a:r>
              <a:r>
                <a:rPr kumimoji="1" lang="ja-JP" altLang="en-US" sz="2800"/>
                <a:t>多い</a:t>
              </a:r>
              <a:r>
                <a:rPr kumimoji="1" lang="en-US" altLang="ja-JP" sz="2000" dirty="0"/>
                <a:t>(AOSP)</a:t>
              </a:r>
              <a:endParaRPr kumimoji="1" lang="ja-JP" altLang="en-US" sz="2800"/>
            </a:p>
          </p:txBody>
        </p:sp>
      </p:grpSp>
      <p:sp>
        <p:nvSpPr>
          <p:cNvPr id="35" name="正方形/長方形 34">
            <a:extLst>
              <a:ext uri="{FF2B5EF4-FFF2-40B4-BE49-F238E27FC236}">
                <a16:creationId xmlns:a16="http://schemas.microsoft.com/office/drawing/2014/main" id="{612488EE-5AE4-DFE8-84C4-D4A191EAD6CC}"/>
              </a:ext>
            </a:extLst>
          </p:cNvPr>
          <p:cNvSpPr/>
          <p:nvPr/>
        </p:nvSpPr>
        <p:spPr>
          <a:xfrm>
            <a:off x="8271456" y="2524621"/>
            <a:ext cx="8013195" cy="1316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bg1">
                    <a:lumMod val="65000"/>
                  </a:schemeClr>
                </a:solidFill>
              </a:rPr>
              <a:t>IRL</a:t>
            </a:r>
            <a:r>
              <a:rPr kumimoji="1" lang="ja-JP" altLang="en-US" sz="2400">
                <a:solidFill>
                  <a:schemeClr val="bg1">
                    <a:lumMod val="65000"/>
                  </a:schemeClr>
                </a:solidFill>
              </a:rPr>
              <a:t>は開発者の関与低下を初期のみ捉えた可能性</a:t>
            </a:r>
            <a:endParaRPr kumimoji="1" lang="en-US" altLang="ja-JP" sz="2400" b="1" dirty="0">
              <a:solidFill>
                <a:schemeClr val="bg1">
                  <a:lumMod val="65000"/>
                </a:schemeClr>
              </a:solidFill>
            </a:endParaRPr>
          </a:p>
          <a:p>
            <a:pPr algn="ctr"/>
            <a:r>
              <a:rPr kumimoji="1" lang="ja-JP" altLang="en-US" sz="2800">
                <a:solidFill>
                  <a:schemeClr val="bg1">
                    <a:lumMod val="65000"/>
                  </a:schemeClr>
                </a:solidFill>
              </a:rPr>
              <a:t>関与が多いと累積統計量</a:t>
            </a:r>
            <a:r>
              <a:rPr kumimoji="1" lang="en-US" altLang="ja-JP" sz="2800" dirty="0">
                <a:solidFill>
                  <a:schemeClr val="bg1">
                    <a:lumMod val="65000"/>
                  </a:schemeClr>
                </a:solidFill>
              </a:rPr>
              <a:t>(RF)</a:t>
            </a:r>
            <a:r>
              <a:rPr kumimoji="1" lang="ja-JP" altLang="en-US" sz="2800">
                <a:solidFill>
                  <a:schemeClr val="bg1">
                    <a:lumMod val="65000"/>
                  </a:schemeClr>
                </a:solidFill>
              </a:rPr>
              <a:t>の方が優位</a:t>
            </a:r>
            <a:endParaRPr kumimoji="1" lang="en-US" altLang="ja-JP" sz="2800" dirty="0">
              <a:solidFill>
                <a:schemeClr val="bg1">
                  <a:lumMod val="65000"/>
                </a:schemeClr>
              </a:solidFill>
            </a:endParaRPr>
          </a:p>
        </p:txBody>
      </p:sp>
      <p:sp>
        <p:nvSpPr>
          <p:cNvPr id="5" name="正方形/長方形 4">
            <a:extLst>
              <a:ext uri="{FF2B5EF4-FFF2-40B4-BE49-F238E27FC236}">
                <a16:creationId xmlns:a16="http://schemas.microsoft.com/office/drawing/2014/main" id="{78A96984-13DF-2ECA-3950-FA8B44F758E0}"/>
              </a:ext>
            </a:extLst>
          </p:cNvPr>
          <p:cNvSpPr/>
          <p:nvPr/>
        </p:nvSpPr>
        <p:spPr>
          <a:xfrm>
            <a:off x="8293738" y="4397270"/>
            <a:ext cx="8013195" cy="8905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solidFill>
                  <a:schemeClr val="bg1">
                    <a:lumMod val="65000"/>
                  </a:schemeClr>
                </a:solidFill>
              </a:rPr>
              <a:t>活動頻度が低いと</a:t>
            </a:r>
            <a:r>
              <a:rPr kumimoji="1" lang="en-US" altLang="ja-JP" sz="2800" dirty="0">
                <a:solidFill>
                  <a:schemeClr val="bg1">
                    <a:lumMod val="65000"/>
                  </a:schemeClr>
                </a:solidFill>
              </a:rPr>
              <a:t>IRL</a:t>
            </a:r>
            <a:r>
              <a:rPr kumimoji="1" lang="ja-JP" altLang="en-US" sz="2800">
                <a:solidFill>
                  <a:schemeClr val="bg1">
                    <a:lumMod val="65000"/>
                  </a:schemeClr>
                </a:solidFill>
              </a:rPr>
              <a:t>が軌跡を十分に学習できない</a:t>
            </a:r>
            <a:endParaRPr kumimoji="1" lang="en-US" altLang="ja-JP" sz="2800" dirty="0">
              <a:solidFill>
                <a:schemeClr val="bg1">
                  <a:lumMod val="65000"/>
                </a:schemeClr>
              </a:solidFill>
            </a:endParaRPr>
          </a:p>
        </p:txBody>
      </p:sp>
      <p:graphicFrame>
        <p:nvGraphicFramePr>
          <p:cNvPr id="20" name="表 19">
            <a:extLst>
              <a:ext uri="{FF2B5EF4-FFF2-40B4-BE49-F238E27FC236}">
                <a16:creationId xmlns:a16="http://schemas.microsoft.com/office/drawing/2014/main" id="{F1AF1A60-A25B-C5C4-319E-3C66D0B0B115}"/>
              </a:ext>
            </a:extLst>
          </p:cNvPr>
          <p:cNvGraphicFramePr>
            <a:graphicFrameLocks noGrp="1"/>
          </p:cNvGraphicFramePr>
          <p:nvPr>
            <p:extLst>
              <p:ext uri="{D42A27DB-BD31-4B8C-83A1-F6EECF244321}">
                <p14:modId xmlns:p14="http://schemas.microsoft.com/office/powerpoint/2010/main" val="20062356"/>
              </p:ext>
            </p:extLst>
          </p:nvPr>
        </p:nvGraphicFramePr>
        <p:xfrm>
          <a:off x="8152754" y="6182314"/>
          <a:ext cx="8013194" cy="1237122"/>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OpenStack</a:t>
                      </a:r>
                      <a:r>
                        <a:rPr lang="en-US" sz="2000" b="1" dirty="0">
                          <a:solidFill>
                            <a:srgbClr val="FFFFFF"/>
                          </a:solidFill>
                          <a:latin typeface="MS PGothic" panose="020B0600070205080204" pitchFamily="34" charset="-128"/>
                          <a:ea typeface="MS PGothic" panose="020B0600070205080204" pitchFamily="34" charset="-128"/>
                          <a:cs typeface="Meiryo" pitchFamily="34" charset="-120"/>
                        </a:rPr>
                        <a:t>(P3)</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2DB09B"/>
                    </a:solidFill>
                  </a:tcPr>
                </a:tc>
                <a:tc>
                  <a:txBody>
                    <a:bodyPr/>
                    <a:lstStyle/>
                    <a:p>
                      <a:pPr marL="0" indent="0" algn="ctr">
                        <a:buNone/>
                      </a:pPr>
                      <a:r>
                        <a:rPr lang="en-US" sz="2400" dirty="0">
                          <a:solidFill>
                            <a:srgbClr val="1F7A33"/>
                          </a:solidFill>
                          <a:latin typeface="MS PGothic" panose="020B0600070205080204" pitchFamily="34" charset="-128"/>
                          <a:ea typeface="MS PGothic" panose="020B0600070205080204" pitchFamily="34" charset="-128"/>
                          <a:cs typeface="Meiryo" pitchFamily="34" charset="-120"/>
                        </a:rPr>
                        <a:t>+5.8</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−2.3</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−7.0</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−0.7</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rgbClr val="FFFFFF"/>
                          </a:solidFill>
                          <a:latin typeface="MS PGothic" panose="020B0600070205080204" pitchFamily="34" charset="-128"/>
                          <a:ea typeface="MS PGothic" panose="020B0600070205080204" pitchFamily="34" charset="-128"/>
                          <a:cs typeface="Meiryo" pitchFamily="34" charset="-120"/>
                        </a:rPr>
                        <a:t>AOSP</a:t>
                      </a:r>
                      <a:r>
                        <a:rPr lang="en-US" altLang="ja-JP" sz="2000" b="1" dirty="0">
                          <a:solidFill>
                            <a:srgbClr val="FFFFFF"/>
                          </a:solidFill>
                          <a:latin typeface="MS PGothic" panose="020B0600070205080204" pitchFamily="34" charset="-128"/>
                          <a:ea typeface="MS PGothic" panose="020B0600070205080204" pitchFamily="34" charset="-128"/>
                          <a:cs typeface="Meiryo" pitchFamily="34" charset="-120"/>
                        </a:rPr>
                        <a:t>(P4)</a:t>
                      </a:r>
                      <a:endParaRPr lang="en-US" altLang="ja-JP"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2DB09B"/>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+4.6</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+2.3</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+3.9</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+3.5</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42" name="テキスト ボックス 41">
            <a:extLst>
              <a:ext uri="{FF2B5EF4-FFF2-40B4-BE49-F238E27FC236}">
                <a16:creationId xmlns:a16="http://schemas.microsoft.com/office/drawing/2014/main" id="{AEB6C33E-4825-6C04-6B43-85CFE4C99E68}"/>
              </a:ext>
            </a:extLst>
          </p:cNvPr>
          <p:cNvSpPr txBox="1"/>
          <p:nvPr/>
        </p:nvSpPr>
        <p:spPr>
          <a:xfrm>
            <a:off x="7293001" y="7548752"/>
            <a:ext cx="10116059" cy="400110"/>
          </a:xfrm>
          <a:prstGeom prst="rect">
            <a:avLst/>
          </a:prstGeom>
          <a:noFill/>
        </p:spPr>
        <p:txBody>
          <a:bodyPr wrap="square">
            <a:spAutoFit/>
          </a:bodyPr>
          <a:lstStyle/>
          <a:p>
            <a:pPr algn="ctr"/>
            <a:r>
              <a:rPr lang="ja-JP" altLang="en-US" sz="2000"/>
              <a:t>開発者のディレクトリ経験が厚いOpenStackではRF，乏しいAOSPはIRLが優位</a:t>
            </a:r>
          </a:p>
        </p:txBody>
      </p:sp>
      <p:sp>
        <p:nvSpPr>
          <p:cNvPr id="44" name="テキスト ボックス 43">
            <a:extLst>
              <a:ext uri="{FF2B5EF4-FFF2-40B4-BE49-F238E27FC236}">
                <a16:creationId xmlns:a16="http://schemas.microsoft.com/office/drawing/2014/main" id="{F0E7AFE4-E93B-4A68-49FD-297919DF50A2}"/>
              </a:ext>
            </a:extLst>
          </p:cNvPr>
          <p:cNvSpPr txBox="1"/>
          <p:nvPr/>
        </p:nvSpPr>
        <p:spPr>
          <a:xfrm>
            <a:off x="8152754" y="3919744"/>
            <a:ext cx="4775613" cy="523220"/>
          </a:xfrm>
          <a:prstGeom prst="rect">
            <a:avLst/>
          </a:prstGeom>
          <a:noFill/>
        </p:spPr>
        <p:txBody>
          <a:bodyPr wrap="square" rtlCol="0">
            <a:spAutoFit/>
          </a:bodyPr>
          <a:lstStyle/>
          <a:p>
            <a:r>
              <a:rPr kumimoji="1" lang="en-US" altLang="ja-JP" sz="2800" dirty="0">
                <a:solidFill>
                  <a:srgbClr val="F29552"/>
                </a:solidFill>
              </a:rPr>
              <a:t>P4</a:t>
            </a:r>
            <a:r>
              <a:rPr kumimoji="1" lang="en-US" altLang="ja-JP" sz="2000" dirty="0">
                <a:solidFill>
                  <a:srgbClr val="F29552"/>
                </a:solidFill>
              </a:rPr>
              <a:t>(3):</a:t>
            </a:r>
            <a:r>
              <a:rPr kumimoji="1" lang="ja-JP" altLang="en-US" sz="2800">
                <a:solidFill>
                  <a:srgbClr val="F29552"/>
                </a:solidFill>
              </a:rPr>
              <a:t>活動頻度・承諾率が低い</a:t>
            </a:r>
          </a:p>
        </p:txBody>
      </p:sp>
      <p:sp>
        <p:nvSpPr>
          <p:cNvPr id="46" name="正方形/長方形 45">
            <a:extLst>
              <a:ext uri="{FF2B5EF4-FFF2-40B4-BE49-F238E27FC236}">
                <a16:creationId xmlns:a16="http://schemas.microsoft.com/office/drawing/2014/main" id="{6557BB0C-8CA5-2AF7-8C4E-BB3FD3361751}"/>
              </a:ext>
            </a:extLst>
          </p:cNvPr>
          <p:cNvSpPr/>
          <p:nvPr/>
        </p:nvSpPr>
        <p:spPr>
          <a:xfrm>
            <a:off x="7436925" y="43717"/>
            <a:ext cx="9886275" cy="5227387"/>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12EEA6C2-86C7-C514-4867-A69B91971B28}"/>
              </a:ext>
            </a:extLst>
          </p:cNvPr>
          <p:cNvSpPr txBox="1"/>
          <p:nvPr/>
        </p:nvSpPr>
        <p:spPr>
          <a:xfrm>
            <a:off x="2775857" y="539569"/>
            <a:ext cx="1557029" cy="461665"/>
          </a:xfrm>
          <a:prstGeom prst="rect">
            <a:avLst/>
          </a:prstGeom>
          <a:noFill/>
        </p:spPr>
        <p:txBody>
          <a:bodyPr wrap="none" rtlCol="0">
            <a:spAutoFit/>
          </a:bodyPr>
          <a:lstStyle/>
          <a:p>
            <a:r>
              <a:rPr kumimoji="1" lang="en-US" altLang="ja-JP" sz="2400" b="1" dirty="0"/>
              <a:t>OpenStack</a:t>
            </a:r>
            <a:endParaRPr kumimoji="1" lang="ja-JP" altLang="en-US" sz="2400" b="1"/>
          </a:p>
        </p:txBody>
      </p:sp>
      <p:sp>
        <p:nvSpPr>
          <p:cNvPr id="50" name="テキスト ボックス 49">
            <a:extLst>
              <a:ext uri="{FF2B5EF4-FFF2-40B4-BE49-F238E27FC236}">
                <a16:creationId xmlns:a16="http://schemas.microsoft.com/office/drawing/2014/main" id="{0D197201-FBC8-34A3-548D-4CB8D120FCF5}"/>
              </a:ext>
            </a:extLst>
          </p:cNvPr>
          <p:cNvSpPr txBox="1"/>
          <p:nvPr/>
        </p:nvSpPr>
        <p:spPr>
          <a:xfrm>
            <a:off x="3112294" y="5557671"/>
            <a:ext cx="884153" cy="461665"/>
          </a:xfrm>
          <a:prstGeom prst="rect">
            <a:avLst/>
          </a:prstGeom>
          <a:noFill/>
        </p:spPr>
        <p:txBody>
          <a:bodyPr wrap="none" rtlCol="0">
            <a:spAutoFit/>
          </a:bodyPr>
          <a:lstStyle/>
          <a:p>
            <a:r>
              <a:rPr kumimoji="1" lang="en-US" altLang="ja-JP" sz="2400" b="1" dirty="0"/>
              <a:t>AOSP</a:t>
            </a:r>
            <a:endParaRPr kumimoji="1" lang="ja-JP" altLang="en-US" sz="2400" b="1"/>
          </a:p>
        </p:txBody>
      </p:sp>
      <p:sp>
        <p:nvSpPr>
          <p:cNvPr id="51" name="テキスト ボックス 50">
            <a:extLst>
              <a:ext uri="{FF2B5EF4-FFF2-40B4-BE49-F238E27FC236}">
                <a16:creationId xmlns:a16="http://schemas.microsoft.com/office/drawing/2014/main" id="{CDEBE826-5604-BD62-3FF1-342A629348C0}"/>
              </a:ext>
            </a:extLst>
          </p:cNvPr>
          <p:cNvSpPr txBox="1"/>
          <p:nvPr/>
        </p:nvSpPr>
        <p:spPr>
          <a:xfrm>
            <a:off x="4575245" y="9383058"/>
            <a:ext cx="4837213" cy="400110"/>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r>
              <a:rPr kumimoji="1" lang="en-US" altLang="ja-JP" sz="2000" dirty="0">
                <a:solidFill>
                  <a:srgbClr val="35B3A0"/>
                </a:solidFill>
              </a:rPr>
              <a:t>(n =8,923)</a:t>
            </a:r>
            <a:endParaRPr kumimoji="1" lang="ja-JP" altLang="en-US" sz="2000">
              <a:solidFill>
                <a:srgbClr val="35B3A0"/>
              </a:solidFill>
            </a:endParaRPr>
          </a:p>
        </p:txBody>
      </p:sp>
    </p:spTree>
    <p:extLst>
      <p:ext uri="{BB962C8B-B14F-4D97-AF65-F5344CB8AC3E}">
        <p14:creationId xmlns:p14="http://schemas.microsoft.com/office/powerpoint/2010/main" val="1082691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726BF-35AE-9E2F-629C-F4EE027259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30F3A3-9ED9-8398-1A37-476DD2991C4F}"/>
              </a:ext>
            </a:extLst>
          </p:cNvPr>
          <p:cNvSpPr>
            <a:spLocks noGrp="1"/>
          </p:cNvSpPr>
          <p:nvPr>
            <p:ph type="title"/>
          </p:nvPr>
        </p:nvSpPr>
        <p:spPr/>
        <p:txBody>
          <a:bodyPr/>
          <a:lstStyle/>
          <a:p>
            <a:r>
              <a:rPr kumimoji="1" lang="ja-JP" altLang="en-US"/>
              <a:t>追加実験：アンサンブル</a:t>
            </a:r>
            <a:endParaRPr kumimoji="1" lang="ja-JP" altLang="en-US" sz="4400"/>
          </a:p>
        </p:txBody>
      </p:sp>
      <p:sp>
        <p:nvSpPr>
          <p:cNvPr id="3" name="スライド番号プレースホルダー 2">
            <a:extLst>
              <a:ext uri="{FF2B5EF4-FFF2-40B4-BE49-F238E27FC236}">
                <a16:creationId xmlns:a16="http://schemas.microsoft.com/office/drawing/2014/main" id="{3E55C095-31C7-805F-D6C6-A74C3E12E8EB}"/>
              </a:ext>
            </a:extLst>
          </p:cNvPr>
          <p:cNvSpPr>
            <a:spLocks noGrp="1"/>
          </p:cNvSpPr>
          <p:nvPr>
            <p:ph type="sldNum" sz="quarter" idx="12"/>
          </p:nvPr>
        </p:nvSpPr>
        <p:spPr/>
        <p:txBody>
          <a:bodyPr/>
          <a:lstStyle/>
          <a:p>
            <a:fld id="{85D74467-FFC2-5C49-A08A-98A9FE9BCA53}" type="slidenum">
              <a:rPr kumimoji="1" lang="ja-JP" altLang="en-US" smtClean="0"/>
              <a:pPr/>
              <a:t>23</a:t>
            </a:fld>
            <a:endParaRPr kumimoji="1" lang="ja-JP" altLang="en-US"/>
          </a:p>
        </p:txBody>
      </p:sp>
      <p:sp>
        <p:nvSpPr>
          <p:cNvPr id="7" name="テキスト プレースホルダー 6">
            <a:extLst>
              <a:ext uri="{FF2B5EF4-FFF2-40B4-BE49-F238E27FC236}">
                <a16:creationId xmlns:a16="http://schemas.microsoft.com/office/drawing/2014/main" id="{53E0B8A7-6B35-E14D-A316-DD290FA5D52D}"/>
              </a:ext>
            </a:extLst>
          </p:cNvPr>
          <p:cNvSpPr>
            <a:spLocks noGrp="1"/>
          </p:cNvSpPr>
          <p:nvPr>
            <p:ph type="body" sz="quarter" idx="13"/>
          </p:nvPr>
        </p:nvSpPr>
        <p:spPr>
          <a:xfrm>
            <a:off x="735176" y="3632473"/>
            <a:ext cx="16185600" cy="1934889"/>
          </a:xfrm>
        </p:spPr>
        <p:txBody>
          <a:bodyPr/>
          <a:lstStyle/>
          <a:p>
            <a:r>
              <a:rPr kumimoji="1" lang="en-US" altLang="ja-JP" dirty="0"/>
              <a:t>IRL</a:t>
            </a:r>
            <a:r>
              <a:rPr kumimoji="1" lang="ja-JP" altLang="en-US"/>
              <a:t>と</a:t>
            </a:r>
            <a:r>
              <a:rPr kumimoji="1" lang="en-US" altLang="ja-JP" dirty="0"/>
              <a:t>RF</a:t>
            </a:r>
            <a:r>
              <a:rPr lang="ja-JP" altLang="en-US"/>
              <a:t>が出力する確率を単純平均し予測値として評価</a:t>
            </a:r>
            <a:endParaRPr lang="en-US" altLang="ja-JP" dirty="0"/>
          </a:p>
          <a:p>
            <a:pPr lvl="1"/>
            <a:r>
              <a:rPr kumimoji="1" lang="ja-JP" altLang="en-US"/>
              <a:t>互いの誤りを相殺し，精度が向上させることが</a:t>
            </a:r>
            <a:r>
              <a:rPr lang="ja-JP" altLang="en-US"/>
              <a:t>目的</a:t>
            </a:r>
            <a:endParaRPr lang="en-US" altLang="ja-JP" dirty="0"/>
          </a:p>
          <a:p>
            <a:pPr lvl="1"/>
            <a:endParaRPr lang="ja-JP" altLang="en-US"/>
          </a:p>
        </p:txBody>
      </p:sp>
      <p:graphicFrame>
        <p:nvGraphicFramePr>
          <p:cNvPr id="50" name="Chart 0">
            <a:extLst>
              <a:ext uri="{FF2B5EF4-FFF2-40B4-BE49-F238E27FC236}">
                <a16:creationId xmlns:a16="http://schemas.microsoft.com/office/drawing/2014/main" id="{343737F8-6AD7-EB30-DD14-C9284DBFFFF6}"/>
              </a:ext>
            </a:extLst>
          </p:cNvPr>
          <p:cNvGraphicFramePr/>
          <p:nvPr>
            <p:extLst>
              <p:ext uri="{D42A27DB-BD31-4B8C-83A1-F6EECF244321}">
                <p14:modId xmlns:p14="http://schemas.microsoft.com/office/powerpoint/2010/main" val="3106360675"/>
              </p:ext>
            </p:extLst>
          </p:nvPr>
        </p:nvGraphicFramePr>
        <p:xfrm>
          <a:off x="575488" y="5083454"/>
          <a:ext cx="7927586" cy="42886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1" name="Chart 1">
            <a:extLst>
              <a:ext uri="{FF2B5EF4-FFF2-40B4-BE49-F238E27FC236}">
                <a16:creationId xmlns:a16="http://schemas.microsoft.com/office/drawing/2014/main" id="{3DBD070D-FE42-9647-8B54-401D57F0FBA0}"/>
              </a:ext>
            </a:extLst>
          </p:cNvPr>
          <p:cNvGraphicFramePr/>
          <p:nvPr>
            <p:extLst>
              <p:ext uri="{D42A27DB-BD31-4B8C-83A1-F6EECF244321}">
                <p14:modId xmlns:p14="http://schemas.microsoft.com/office/powerpoint/2010/main" val="2005057879"/>
              </p:ext>
            </p:extLst>
          </p:nvPr>
        </p:nvGraphicFramePr>
        <p:xfrm>
          <a:off x="8827976" y="5083454"/>
          <a:ext cx="7927586" cy="4288694"/>
        </p:xfrm>
        <a:graphic>
          <a:graphicData uri="http://schemas.openxmlformats.org/drawingml/2006/chart">
            <c:chart xmlns:c="http://schemas.openxmlformats.org/drawingml/2006/chart" xmlns:r="http://schemas.openxmlformats.org/officeDocument/2006/relationships" r:id="rId4"/>
          </a:graphicData>
        </a:graphic>
      </p:graphicFrame>
      <p:cxnSp>
        <p:nvCxnSpPr>
          <p:cNvPr id="9" name="直線矢印コネクタ 8">
            <a:extLst>
              <a:ext uri="{FF2B5EF4-FFF2-40B4-BE49-F238E27FC236}">
                <a16:creationId xmlns:a16="http://schemas.microsoft.com/office/drawing/2014/main" id="{C2F3A41B-2CB9-EFBC-AE04-4461BA0D7936}"/>
              </a:ext>
            </a:extLst>
          </p:cNvPr>
          <p:cNvCxnSpPr>
            <a:cxnSpLocks/>
          </p:cNvCxnSpPr>
          <p:nvPr/>
        </p:nvCxnSpPr>
        <p:spPr>
          <a:xfrm flipV="1">
            <a:off x="1514277" y="6524297"/>
            <a:ext cx="936772" cy="201936"/>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9A441F10-EA94-4B01-9DA1-E6B649406B2F}"/>
              </a:ext>
            </a:extLst>
          </p:cNvPr>
          <p:cNvCxnSpPr>
            <a:cxnSpLocks/>
          </p:cNvCxnSpPr>
          <p:nvPr/>
        </p:nvCxnSpPr>
        <p:spPr>
          <a:xfrm flipV="1">
            <a:off x="2905402" y="6524297"/>
            <a:ext cx="883894" cy="364181"/>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F8468E26-788C-CED6-11B1-6E011C0BA8EC}"/>
              </a:ext>
            </a:extLst>
          </p:cNvPr>
          <p:cNvCxnSpPr>
            <a:cxnSpLocks/>
          </p:cNvCxnSpPr>
          <p:nvPr/>
        </p:nvCxnSpPr>
        <p:spPr>
          <a:xfrm flipV="1">
            <a:off x="4751143" y="6888479"/>
            <a:ext cx="586695" cy="263905"/>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14CC7C55-F273-AA93-56FC-CB3BB267B752}"/>
              </a:ext>
            </a:extLst>
          </p:cNvPr>
          <p:cNvCxnSpPr>
            <a:cxnSpLocks/>
          </p:cNvCxnSpPr>
          <p:nvPr/>
        </p:nvCxnSpPr>
        <p:spPr>
          <a:xfrm flipV="1">
            <a:off x="6176563" y="6888479"/>
            <a:ext cx="652464" cy="79502"/>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C558F977-A883-C541-D990-9FDA246652BF}"/>
              </a:ext>
            </a:extLst>
          </p:cNvPr>
          <p:cNvCxnSpPr>
            <a:cxnSpLocks/>
          </p:cNvCxnSpPr>
          <p:nvPr/>
        </p:nvCxnSpPr>
        <p:spPr>
          <a:xfrm flipV="1">
            <a:off x="7585850" y="6726233"/>
            <a:ext cx="599070" cy="281498"/>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BCE84C83-7486-6671-AEF3-0F0E6B6ABF10}"/>
              </a:ext>
            </a:extLst>
          </p:cNvPr>
          <p:cNvCxnSpPr>
            <a:cxnSpLocks/>
          </p:cNvCxnSpPr>
          <p:nvPr/>
        </p:nvCxnSpPr>
        <p:spPr>
          <a:xfrm flipV="1">
            <a:off x="9763612" y="7088855"/>
            <a:ext cx="936772" cy="201936"/>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96E8744B-BDEA-903E-96EB-D0CA33980A9C}"/>
              </a:ext>
            </a:extLst>
          </p:cNvPr>
          <p:cNvCxnSpPr>
            <a:cxnSpLocks/>
          </p:cNvCxnSpPr>
          <p:nvPr/>
        </p:nvCxnSpPr>
        <p:spPr>
          <a:xfrm>
            <a:off x="11627598" y="7403462"/>
            <a:ext cx="592651" cy="122468"/>
          </a:xfrm>
          <a:prstGeom prst="straightConnector1">
            <a:avLst/>
          </a:prstGeom>
          <a:ln w="762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7668DAC0-EF35-8570-AF25-EEE748B14F68}"/>
              </a:ext>
            </a:extLst>
          </p:cNvPr>
          <p:cNvCxnSpPr>
            <a:cxnSpLocks/>
          </p:cNvCxnSpPr>
          <p:nvPr/>
        </p:nvCxnSpPr>
        <p:spPr>
          <a:xfrm flipV="1">
            <a:off x="12984554" y="7278608"/>
            <a:ext cx="515452" cy="214119"/>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7701B97C-D211-1CC3-BFE0-40A438F82DFD}"/>
              </a:ext>
            </a:extLst>
          </p:cNvPr>
          <p:cNvCxnSpPr>
            <a:cxnSpLocks/>
          </p:cNvCxnSpPr>
          <p:nvPr/>
        </p:nvCxnSpPr>
        <p:spPr>
          <a:xfrm>
            <a:off x="14504420" y="7403462"/>
            <a:ext cx="515452" cy="61233"/>
          </a:xfrm>
          <a:prstGeom prst="straightConnector1">
            <a:avLst/>
          </a:prstGeom>
          <a:ln w="762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036CDBBF-9D9C-E353-28EE-72D3736AB027}"/>
              </a:ext>
            </a:extLst>
          </p:cNvPr>
          <p:cNvCxnSpPr>
            <a:cxnSpLocks/>
          </p:cNvCxnSpPr>
          <p:nvPr/>
        </p:nvCxnSpPr>
        <p:spPr>
          <a:xfrm flipV="1">
            <a:off x="15861376" y="7272516"/>
            <a:ext cx="515452" cy="214119"/>
          </a:xfrm>
          <a:prstGeom prst="straightConnector1">
            <a:avLst/>
          </a:prstGeom>
          <a:ln w="762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角丸四角形 33">
            <a:extLst>
              <a:ext uri="{FF2B5EF4-FFF2-40B4-BE49-F238E27FC236}">
                <a16:creationId xmlns:a16="http://schemas.microsoft.com/office/drawing/2014/main" id="{AA27C4F5-0654-ADD8-1D42-1E79834CD703}"/>
              </a:ext>
            </a:extLst>
          </p:cNvPr>
          <p:cNvSpPr/>
          <p:nvPr/>
        </p:nvSpPr>
        <p:spPr>
          <a:xfrm>
            <a:off x="569963" y="2160000"/>
            <a:ext cx="16185599" cy="1048251"/>
          </a:xfrm>
          <a:prstGeom prst="roundRect">
            <a:avLst/>
          </a:prstGeom>
          <a:solidFill>
            <a:schemeClr val="tx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600">
                <a:solidFill>
                  <a:schemeClr val="tx1"/>
                </a:solidFill>
              </a:rPr>
              <a:t>両エコシステムで予測精度改善：</a:t>
            </a:r>
            <a:r>
              <a:rPr kumimoji="1" lang="en-US" altLang="ja-JP" sz="3600" dirty="0">
                <a:solidFill>
                  <a:schemeClr val="tx1"/>
                </a:solidFill>
              </a:rPr>
              <a:t> OpenStack +2.3 [+1.7, +2.8], AOSP +0.7 [+0.5, +1.0]</a:t>
            </a:r>
          </a:p>
        </p:txBody>
      </p:sp>
      <p:sp>
        <p:nvSpPr>
          <p:cNvPr id="35" name="テキスト ボックス 34">
            <a:extLst>
              <a:ext uri="{FF2B5EF4-FFF2-40B4-BE49-F238E27FC236}">
                <a16:creationId xmlns:a16="http://schemas.microsoft.com/office/drawing/2014/main" id="{F7145D2A-EF3D-E208-D4AB-63BF8B8E2F71}"/>
              </a:ext>
            </a:extLst>
          </p:cNvPr>
          <p:cNvSpPr txBox="1"/>
          <p:nvPr/>
        </p:nvSpPr>
        <p:spPr>
          <a:xfrm>
            <a:off x="1513276" y="5939522"/>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1.2</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36" name="テキスト ボックス 35">
            <a:extLst>
              <a:ext uri="{FF2B5EF4-FFF2-40B4-BE49-F238E27FC236}">
                <a16:creationId xmlns:a16="http://schemas.microsoft.com/office/drawing/2014/main" id="{E8C02BE8-5F53-3585-FFF2-56073BEAC279}"/>
              </a:ext>
            </a:extLst>
          </p:cNvPr>
          <p:cNvSpPr txBox="1"/>
          <p:nvPr/>
        </p:nvSpPr>
        <p:spPr>
          <a:xfrm>
            <a:off x="2775951" y="6040835"/>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2.9</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37" name="テキスト ボックス 36">
            <a:extLst>
              <a:ext uri="{FF2B5EF4-FFF2-40B4-BE49-F238E27FC236}">
                <a16:creationId xmlns:a16="http://schemas.microsoft.com/office/drawing/2014/main" id="{7ABD8BFD-D174-72A0-B44D-5B7D53CAD8D8}"/>
              </a:ext>
            </a:extLst>
          </p:cNvPr>
          <p:cNvSpPr txBox="1"/>
          <p:nvPr/>
        </p:nvSpPr>
        <p:spPr>
          <a:xfrm>
            <a:off x="4255640" y="6358487"/>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0.6</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38" name="テキスト ボックス 37">
            <a:extLst>
              <a:ext uri="{FF2B5EF4-FFF2-40B4-BE49-F238E27FC236}">
                <a16:creationId xmlns:a16="http://schemas.microsoft.com/office/drawing/2014/main" id="{A0A08212-311C-5F6F-2046-7FBE513B0988}"/>
              </a:ext>
            </a:extLst>
          </p:cNvPr>
          <p:cNvSpPr txBox="1"/>
          <p:nvPr/>
        </p:nvSpPr>
        <p:spPr>
          <a:xfrm>
            <a:off x="5709864" y="6303703"/>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0.2</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39" name="テキスト ボックス 38">
            <a:extLst>
              <a:ext uri="{FF2B5EF4-FFF2-40B4-BE49-F238E27FC236}">
                <a16:creationId xmlns:a16="http://schemas.microsoft.com/office/drawing/2014/main" id="{9185A4CC-B9B6-1C10-0BF9-CA6F22C91C4E}"/>
              </a:ext>
            </a:extLst>
          </p:cNvPr>
          <p:cNvSpPr txBox="1"/>
          <p:nvPr/>
        </p:nvSpPr>
        <p:spPr>
          <a:xfrm>
            <a:off x="7127456" y="6231909"/>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2.3</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40" name="テキスト ボックス 39">
            <a:extLst>
              <a:ext uri="{FF2B5EF4-FFF2-40B4-BE49-F238E27FC236}">
                <a16:creationId xmlns:a16="http://schemas.microsoft.com/office/drawing/2014/main" id="{27D7F8B5-B047-2C65-2659-E79592C35E69}"/>
              </a:ext>
            </a:extLst>
          </p:cNvPr>
          <p:cNvSpPr txBox="1"/>
          <p:nvPr/>
        </p:nvSpPr>
        <p:spPr>
          <a:xfrm>
            <a:off x="9706556" y="6518025"/>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2.0</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41" name="テキスト ボックス 40">
            <a:extLst>
              <a:ext uri="{FF2B5EF4-FFF2-40B4-BE49-F238E27FC236}">
                <a16:creationId xmlns:a16="http://schemas.microsoft.com/office/drawing/2014/main" id="{1C1A165D-44CB-2858-CF18-E08191617E4F}"/>
              </a:ext>
            </a:extLst>
          </p:cNvPr>
          <p:cNvSpPr txBox="1"/>
          <p:nvPr/>
        </p:nvSpPr>
        <p:spPr>
          <a:xfrm>
            <a:off x="12550344" y="6660908"/>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1.6</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42" name="テキスト ボックス 41">
            <a:extLst>
              <a:ext uri="{FF2B5EF4-FFF2-40B4-BE49-F238E27FC236}">
                <a16:creationId xmlns:a16="http://schemas.microsoft.com/office/drawing/2014/main" id="{E1808CB2-82EB-D369-9BAE-9E9E68D6CC0A}"/>
              </a:ext>
            </a:extLst>
          </p:cNvPr>
          <p:cNvSpPr txBox="1"/>
          <p:nvPr/>
        </p:nvSpPr>
        <p:spPr>
          <a:xfrm>
            <a:off x="15371690" y="6736576"/>
            <a:ext cx="1383872" cy="584775"/>
          </a:xfrm>
          <a:prstGeom prst="rect">
            <a:avLst/>
          </a:prstGeom>
          <a:noFill/>
        </p:spPr>
        <p:txBody>
          <a:bodyPr wrap="square" rtlCol="0">
            <a:spAutoFit/>
          </a:bodyPr>
          <a:lstStyle/>
          <a:p>
            <a:r>
              <a:rPr kumimoji="1" lang="en-US" altLang="ja-JP" sz="3200" dirty="0">
                <a:solidFill>
                  <a:schemeClr val="accent3">
                    <a:lumMod val="75000"/>
                  </a:schemeClr>
                </a:solidFill>
              </a:rPr>
              <a:t>+</a:t>
            </a:r>
            <a:r>
              <a:rPr kumimoji="1" lang="en-US" altLang="ja-JP" sz="2800" dirty="0">
                <a:solidFill>
                  <a:schemeClr val="accent3">
                    <a:lumMod val="75000"/>
                  </a:schemeClr>
                </a:solidFill>
              </a:rPr>
              <a:t>0.7</a:t>
            </a:r>
            <a:r>
              <a:rPr kumimoji="1" lang="en-US" altLang="ja-JP" sz="2400" dirty="0">
                <a:solidFill>
                  <a:schemeClr val="accent3">
                    <a:lumMod val="75000"/>
                  </a:schemeClr>
                </a:solidFill>
              </a:rPr>
              <a:t>pp</a:t>
            </a:r>
            <a:endParaRPr kumimoji="1" lang="ja-JP" altLang="en-US" sz="3200">
              <a:solidFill>
                <a:schemeClr val="accent3">
                  <a:lumMod val="75000"/>
                </a:schemeClr>
              </a:solidFill>
            </a:endParaRPr>
          </a:p>
        </p:txBody>
      </p:sp>
      <p:sp>
        <p:nvSpPr>
          <p:cNvPr id="44" name="テキスト ボックス 43">
            <a:extLst>
              <a:ext uri="{FF2B5EF4-FFF2-40B4-BE49-F238E27FC236}">
                <a16:creationId xmlns:a16="http://schemas.microsoft.com/office/drawing/2014/main" id="{01FE5874-D779-DBCE-95FF-FD599E348C36}"/>
              </a:ext>
            </a:extLst>
          </p:cNvPr>
          <p:cNvSpPr txBox="1"/>
          <p:nvPr/>
        </p:nvSpPr>
        <p:spPr>
          <a:xfrm>
            <a:off x="14056752" y="6776028"/>
            <a:ext cx="1383872" cy="584775"/>
          </a:xfrm>
          <a:prstGeom prst="rect">
            <a:avLst/>
          </a:prstGeom>
          <a:noFill/>
        </p:spPr>
        <p:txBody>
          <a:bodyPr wrap="square" rtlCol="0">
            <a:spAutoFit/>
          </a:bodyPr>
          <a:lstStyle/>
          <a:p>
            <a:r>
              <a:rPr kumimoji="1" lang="en-US" altLang="ja-JP" sz="3200" dirty="0">
                <a:solidFill>
                  <a:schemeClr val="accent6">
                    <a:lumMod val="75000"/>
                  </a:schemeClr>
                </a:solidFill>
              </a:rPr>
              <a:t>-</a:t>
            </a:r>
            <a:r>
              <a:rPr kumimoji="1" lang="en-US" altLang="ja-JP" sz="2800" dirty="0">
                <a:solidFill>
                  <a:schemeClr val="accent6">
                    <a:lumMod val="75000"/>
                  </a:schemeClr>
                </a:solidFill>
              </a:rPr>
              <a:t>0.1</a:t>
            </a:r>
            <a:r>
              <a:rPr kumimoji="1" lang="en-US" altLang="ja-JP" sz="2400" dirty="0">
                <a:solidFill>
                  <a:schemeClr val="accent6">
                    <a:lumMod val="75000"/>
                  </a:schemeClr>
                </a:solidFill>
              </a:rPr>
              <a:t>pp</a:t>
            </a:r>
            <a:endParaRPr kumimoji="1" lang="ja-JP" altLang="en-US" sz="3200">
              <a:solidFill>
                <a:schemeClr val="accent6">
                  <a:lumMod val="75000"/>
                </a:schemeClr>
              </a:solidFill>
            </a:endParaRPr>
          </a:p>
        </p:txBody>
      </p:sp>
      <p:sp>
        <p:nvSpPr>
          <p:cNvPr id="45" name="テキスト ボックス 44">
            <a:extLst>
              <a:ext uri="{FF2B5EF4-FFF2-40B4-BE49-F238E27FC236}">
                <a16:creationId xmlns:a16="http://schemas.microsoft.com/office/drawing/2014/main" id="{2F84911E-E348-0E56-A0F7-C6C523835498}"/>
              </a:ext>
            </a:extLst>
          </p:cNvPr>
          <p:cNvSpPr txBox="1"/>
          <p:nvPr/>
        </p:nvSpPr>
        <p:spPr>
          <a:xfrm>
            <a:off x="11212964" y="6863591"/>
            <a:ext cx="1383872" cy="584775"/>
          </a:xfrm>
          <a:prstGeom prst="rect">
            <a:avLst/>
          </a:prstGeom>
          <a:noFill/>
        </p:spPr>
        <p:txBody>
          <a:bodyPr wrap="square" rtlCol="0">
            <a:spAutoFit/>
          </a:bodyPr>
          <a:lstStyle/>
          <a:p>
            <a:r>
              <a:rPr kumimoji="1" lang="en-US" altLang="ja-JP" sz="3200" dirty="0">
                <a:solidFill>
                  <a:schemeClr val="accent6">
                    <a:lumMod val="75000"/>
                  </a:schemeClr>
                </a:solidFill>
              </a:rPr>
              <a:t>-</a:t>
            </a:r>
            <a:r>
              <a:rPr kumimoji="1" lang="en-US" altLang="ja-JP" sz="2800" dirty="0">
                <a:solidFill>
                  <a:schemeClr val="accent6">
                    <a:lumMod val="75000"/>
                  </a:schemeClr>
                </a:solidFill>
              </a:rPr>
              <a:t>0.6</a:t>
            </a:r>
            <a:r>
              <a:rPr kumimoji="1" lang="en-US" altLang="ja-JP" sz="2400" dirty="0">
                <a:solidFill>
                  <a:schemeClr val="accent6">
                    <a:lumMod val="75000"/>
                  </a:schemeClr>
                </a:solidFill>
              </a:rPr>
              <a:t>pp</a:t>
            </a:r>
            <a:endParaRPr kumimoji="1" lang="ja-JP" altLang="en-US" sz="3200">
              <a:solidFill>
                <a:schemeClr val="accent6">
                  <a:lumMod val="75000"/>
                </a:schemeClr>
              </a:solidFill>
            </a:endParaRPr>
          </a:p>
        </p:txBody>
      </p:sp>
    </p:spTree>
    <p:extLst>
      <p:ext uri="{BB962C8B-B14F-4D97-AF65-F5344CB8AC3E}">
        <p14:creationId xmlns:p14="http://schemas.microsoft.com/office/powerpoint/2010/main" val="1089235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933CA4-197D-DD8C-4A7D-AA262F915F0B}"/>
              </a:ext>
            </a:extLst>
          </p:cNvPr>
          <p:cNvSpPr>
            <a:spLocks noGrp="1"/>
          </p:cNvSpPr>
          <p:nvPr>
            <p:ph type="title"/>
          </p:nvPr>
        </p:nvSpPr>
        <p:spPr/>
        <p:txBody>
          <a:bodyPr/>
          <a:lstStyle/>
          <a:p>
            <a:r>
              <a:rPr kumimoji="1" lang="ja-JP" altLang="en-US"/>
              <a:t>まとめ・今後の展望</a:t>
            </a:r>
          </a:p>
        </p:txBody>
      </p:sp>
      <p:sp>
        <p:nvSpPr>
          <p:cNvPr id="3" name="スライド番号プレースホルダー 2">
            <a:extLst>
              <a:ext uri="{FF2B5EF4-FFF2-40B4-BE49-F238E27FC236}">
                <a16:creationId xmlns:a16="http://schemas.microsoft.com/office/drawing/2014/main" id="{15340C1F-D7BC-AECC-625F-016594A95A1B}"/>
              </a:ext>
            </a:extLst>
          </p:cNvPr>
          <p:cNvSpPr>
            <a:spLocks noGrp="1"/>
          </p:cNvSpPr>
          <p:nvPr>
            <p:ph type="sldNum" sz="quarter" idx="12"/>
          </p:nvPr>
        </p:nvSpPr>
        <p:spPr/>
        <p:txBody>
          <a:bodyPr/>
          <a:lstStyle/>
          <a:p>
            <a:fld id="{85D74467-FFC2-5C49-A08A-98A9FE9BCA53}" type="slidenum">
              <a:rPr kumimoji="1" lang="ja-JP" altLang="en-US" smtClean="0"/>
              <a:pPr/>
              <a:t>24</a:t>
            </a:fld>
            <a:endParaRPr kumimoji="1" lang="ja-JP" altLang="en-US"/>
          </a:p>
        </p:txBody>
      </p:sp>
      <mc:AlternateContent xmlns:mc="http://schemas.openxmlformats.org/markup-compatibility/2006" xmlns:a14="http://schemas.microsoft.com/office/drawing/2010/main">
        <mc:Choice Requires="a14">
          <p:sp>
            <p:nvSpPr>
              <p:cNvPr id="4" name="テキスト プレースホルダー 3">
                <a:extLst>
                  <a:ext uri="{FF2B5EF4-FFF2-40B4-BE49-F238E27FC236}">
                    <a16:creationId xmlns:a16="http://schemas.microsoft.com/office/drawing/2014/main" id="{09C89D97-2053-45F2-4C8F-A42A0B01B9DA}"/>
                  </a:ext>
                </a:extLst>
              </p:cNvPr>
              <p:cNvSpPr>
                <a:spLocks noGrp="1"/>
              </p:cNvSpPr>
              <p:nvPr>
                <p:ph type="body" sz="quarter" idx="13"/>
              </p:nvPr>
            </p:nvSpPr>
            <p:spPr>
              <a:xfrm>
                <a:off x="576000" y="2160000"/>
                <a:ext cx="16185600" cy="5970865"/>
              </a:xfrm>
            </p:spPr>
            <p:txBody>
              <a:bodyPr/>
              <a:lstStyle/>
              <a:p>
                <a:r>
                  <a:rPr kumimoji="1" lang="ja-JP" altLang="en-US"/>
                  <a:t>まとめ</a:t>
                </a:r>
                <a:endParaRPr kumimoji="1" lang="en-US" altLang="ja-JP" dirty="0"/>
              </a:p>
              <a:p>
                <a:pPr lvl="1"/>
                <a:r>
                  <a:rPr lang="ja-JP" altLang="en-US"/>
                  <a:t>開発者</a:t>
                </a:r>
                <a14:m>
                  <m:oMath xmlns:m="http://schemas.openxmlformats.org/officeDocument/2006/math">
                    <m:r>
                      <a:rPr lang="en-US" altLang="ja-JP" i="1" smtClean="0">
                        <a:latin typeface="Cambria Math" panose="02040503050406030204" pitchFamily="18" charset="0"/>
                        <a:ea typeface="Cambria Math" panose="02040503050406030204" pitchFamily="18" charset="0"/>
                      </a:rPr>
                      <m:t>×</m:t>
                    </m:r>
                  </m:oMath>
                </a14:m>
                <a:r>
                  <a:rPr lang="ja-JP" altLang="en-US"/>
                  <a:t>ディレクトリのペアに対して，レビュー貢献を連続的に予測する</a:t>
                </a:r>
                <a:r>
                  <a:rPr lang="en-US" altLang="ja-JP" dirty="0"/>
                  <a:t>IRL</a:t>
                </a:r>
                <a:r>
                  <a:rPr lang="ja-JP" altLang="en-US"/>
                  <a:t>モデルを構築</a:t>
                </a:r>
                <a:endParaRPr lang="en-US" altLang="ja-JP" dirty="0"/>
              </a:p>
              <a:p>
                <a:pPr lvl="1"/>
                <a:r>
                  <a:rPr lang="en-US" altLang="ja-JP" dirty="0"/>
                  <a:t>RF</a:t>
                </a:r>
                <a:r>
                  <a:rPr lang="ja-JP" altLang="en-US"/>
                  <a:t>と</a:t>
                </a:r>
                <a:r>
                  <a:rPr lang="en-US" altLang="ja-JP" dirty="0"/>
                  <a:t>IRL</a:t>
                </a:r>
                <a:r>
                  <a:rPr lang="ja-JP" altLang="en-US"/>
                  <a:t>を比較したところ予測精度は同程度であった</a:t>
                </a:r>
                <a:endParaRPr lang="en-US" altLang="ja-JP" dirty="0"/>
              </a:p>
              <a:p>
                <a:pPr lvl="2"/>
                <a:r>
                  <a:rPr lang="ja-JP" altLang="en-US"/>
                  <a:t>原型分析により，予測が得意な開発者のタイプが異なる可能性を示し，両モデルの予測確率を単純平均するアンサンブルモデルにより精度が向上した</a:t>
                </a:r>
                <a:endParaRPr lang="en-US" altLang="ja-JP" dirty="0"/>
              </a:p>
              <a:p>
                <a:r>
                  <a:rPr kumimoji="1" lang="ja-JP" altLang="en-US"/>
                  <a:t>今後の展望</a:t>
                </a:r>
                <a:endParaRPr lang="en-US" altLang="ja-JP" dirty="0"/>
              </a:p>
              <a:p>
                <a:pPr lvl="1"/>
                <a:r>
                  <a:rPr lang="ja-JP" altLang="en-US"/>
                  <a:t>推定した報酬関数を環境のフィードバックとして組み込み，開発者の継続確率を考慮したレビュー依頼の推薦方策の設計・評価</a:t>
                </a:r>
                <a:endParaRPr lang="en-US" altLang="ja-JP" dirty="0"/>
              </a:p>
              <a:p>
                <a:pPr lvl="1"/>
                <a:r>
                  <a:rPr kumimoji="1" lang="ja-JP" altLang="en-US"/>
                  <a:t>原型や評価期間に応じて</a:t>
                </a:r>
                <a:r>
                  <a:rPr lang="en-US" altLang="ja-JP" dirty="0"/>
                  <a:t>IRL/RF</a:t>
                </a:r>
                <a:r>
                  <a:rPr lang="ja-JP" altLang="en-US"/>
                  <a:t>を選択的に採用することによる精度改善</a:t>
                </a:r>
                <a:endParaRPr lang="en-US" altLang="ja-JP" dirty="0"/>
              </a:p>
            </p:txBody>
          </p:sp>
        </mc:Choice>
        <mc:Fallback xmlns="">
          <p:sp>
            <p:nvSpPr>
              <p:cNvPr id="4" name="テキスト プレースホルダー 3">
                <a:extLst>
                  <a:ext uri="{FF2B5EF4-FFF2-40B4-BE49-F238E27FC236}">
                    <a16:creationId xmlns:a16="http://schemas.microsoft.com/office/drawing/2014/main" id="{09C89D97-2053-45F2-4C8F-A42A0B01B9DA}"/>
                  </a:ext>
                </a:extLst>
              </p:cNvPr>
              <p:cNvSpPr>
                <a:spLocks noGrp="1" noRot="1" noChangeAspect="1" noMove="1" noResize="1" noEditPoints="1" noAdjustHandles="1" noChangeArrowheads="1" noChangeShapeType="1" noTextEdit="1"/>
              </p:cNvSpPr>
              <p:nvPr>
                <p:ph type="body" sz="quarter" idx="13"/>
              </p:nvPr>
            </p:nvSpPr>
            <p:spPr>
              <a:xfrm>
                <a:off x="576000" y="2160000"/>
                <a:ext cx="16185600" cy="5970865"/>
              </a:xfrm>
              <a:blipFill>
                <a:blip r:embed="rId3"/>
                <a:stretch>
                  <a:fillRect l="-2431" t="-5297" b="-296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03031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6AAA-8C38-DEDE-F5F5-9883A9C748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963B2C-70B9-7AA8-A806-C710153A0C96}"/>
              </a:ext>
            </a:extLst>
          </p:cNvPr>
          <p:cNvSpPr>
            <a:spLocks noGrp="1"/>
          </p:cNvSpPr>
          <p:nvPr>
            <p:ph type="ctrTitle"/>
          </p:nvPr>
        </p:nvSpPr>
        <p:spPr/>
        <p:txBody>
          <a:bodyPr/>
          <a:lstStyle/>
          <a:p>
            <a:r>
              <a:rPr kumimoji="1" lang="ja-JP" altLang="en-US" sz="5400"/>
              <a:t>補足資料</a:t>
            </a:r>
          </a:p>
        </p:txBody>
      </p:sp>
    </p:spTree>
    <p:extLst>
      <p:ext uri="{BB962C8B-B14F-4D97-AF65-F5344CB8AC3E}">
        <p14:creationId xmlns:p14="http://schemas.microsoft.com/office/powerpoint/2010/main" val="1100643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F09CAD-6781-C267-108A-8FF88FD716F9}"/>
              </a:ext>
            </a:extLst>
          </p:cNvPr>
          <p:cNvSpPr>
            <a:spLocks noGrp="1"/>
          </p:cNvSpPr>
          <p:nvPr>
            <p:ph type="title"/>
          </p:nvPr>
        </p:nvSpPr>
        <p:spPr/>
        <p:txBody>
          <a:bodyPr/>
          <a:lstStyle/>
          <a:p>
            <a:r>
              <a:rPr lang="en-US" altLang="ja-JP" sz="3600" dirty="0"/>
              <a:t>AOSP: </a:t>
            </a:r>
            <a:r>
              <a:rPr lang="ja-JP" altLang="en-US" sz="3600"/>
              <a:t>原型分析における特徴的な特徴量</a:t>
            </a:r>
            <a:r>
              <a:rPr lang="ja-JP" altLang="en-US" sz="3200"/>
              <a:t>（対象原型の特徴量</a:t>
            </a:r>
            <a:r>
              <a:rPr lang="en-US" altLang="ja-JP" sz="3200" dirty="0"/>
              <a:t> -- </a:t>
            </a:r>
            <a:r>
              <a:rPr lang="ja-JP" altLang="en-US" sz="3200"/>
              <a:t>他の原型の平均）</a:t>
            </a:r>
            <a:endParaRPr kumimoji="1" lang="ja-JP" altLang="en-US"/>
          </a:p>
        </p:txBody>
      </p:sp>
      <p:sp>
        <p:nvSpPr>
          <p:cNvPr id="3" name="スライド番号プレースホルダー 2">
            <a:extLst>
              <a:ext uri="{FF2B5EF4-FFF2-40B4-BE49-F238E27FC236}">
                <a16:creationId xmlns:a16="http://schemas.microsoft.com/office/drawing/2014/main" id="{C63D93A2-A26F-B8B2-2A45-A72E4AAAF5A1}"/>
              </a:ext>
            </a:extLst>
          </p:cNvPr>
          <p:cNvSpPr>
            <a:spLocks noGrp="1"/>
          </p:cNvSpPr>
          <p:nvPr>
            <p:ph type="sldNum" sz="quarter" idx="12"/>
          </p:nvPr>
        </p:nvSpPr>
        <p:spPr/>
        <p:txBody>
          <a:bodyPr/>
          <a:lstStyle/>
          <a:p>
            <a:fld id="{85D74467-FFC2-5C49-A08A-98A9FE9BCA53}" type="slidenum">
              <a:rPr kumimoji="1" lang="ja-JP" altLang="en-US" smtClean="0"/>
              <a:pPr/>
              <a:t>26</a:t>
            </a:fld>
            <a:endParaRPr kumimoji="1" lang="ja-JP" altLang="en-US"/>
          </a:p>
        </p:txBody>
      </p:sp>
      <p:pic>
        <p:nvPicPr>
          <p:cNvPr id="5" name="図 4">
            <a:extLst>
              <a:ext uri="{FF2B5EF4-FFF2-40B4-BE49-F238E27FC236}">
                <a16:creationId xmlns:a16="http://schemas.microsoft.com/office/drawing/2014/main" id="{E39A71A4-D660-A726-2888-0507692D2CD1}"/>
              </a:ext>
            </a:extLst>
          </p:cNvPr>
          <p:cNvPicPr>
            <a:picLocks noChangeAspect="1"/>
          </p:cNvPicPr>
          <p:nvPr/>
        </p:nvPicPr>
        <p:blipFill>
          <a:blip r:embed="rId2"/>
          <a:stretch>
            <a:fillRect/>
          </a:stretch>
        </p:blipFill>
        <p:spPr>
          <a:xfrm>
            <a:off x="1352640" y="1872000"/>
            <a:ext cx="14257653" cy="7662065"/>
          </a:xfrm>
          <a:prstGeom prst="rect">
            <a:avLst/>
          </a:prstGeom>
        </p:spPr>
      </p:pic>
    </p:spTree>
    <p:extLst>
      <p:ext uri="{BB962C8B-B14F-4D97-AF65-F5344CB8AC3E}">
        <p14:creationId xmlns:p14="http://schemas.microsoft.com/office/powerpoint/2010/main" val="2593315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CE037-C73D-617B-5F21-9C14BBBC59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DE0716-80BC-2E8A-8D75-9B84A3B18B2E}"/>
              </a:ext>
            </a:extLst>
          </p:cNvPr>
          <p:cNvSpPr>
            <a:spLocks noGrp="1"/>
          </p:cNvSpPr>
          <p:nvPr>
            <p:ph type="title"/>
          </p:nvPr>
        </p:nvSpPr>
        <p:spPr/>
        <p:txBody>
          <a:bodyPr/>
          <a:lstStyle/>
          <a:p>
            <a:r>
              <a:rPr lang="en-US" altLang="ja-JP" sz="3600" dirty="0"/>
              <a:t>OpenStack: </a:t>
            </a:r>
            <a:r>
              <a:rPr lang="ja-JP" altLang="en-US" sz="3600"/>
              <a:t>原型分析における特徴的な特徴量</a:t>
            </a:r>
            <a:r>
              <a:rPr lang="ja-JP" altLang="en-US" sz="3200"/>
              <a:t>（対象原型の特徴量</a:t>
            </a:r>
            <a:r>
              <a:rPr lang="en-US" altLang="ja-JP" sz="3200" dirty="0"/>
              <a:t> -- </a:t>
            </a:r>
            <a:r>
              <a:rPr lang="ja-JP" altLang="en-US" sz="3200"/>
              <a:t>他の原型の平均）</a:t>
            </a:r>
            <a:endParaRPr kumimoji="1" lang="ja-JP" altLang="en-US"/>
          </a:p>
        </p:txBody>
      </p:sp>
      <p:sp>
        <p:nvSpPr>
          <p:cNvPr id="3" name="スライド番号プレースホルダー 2">
            <a:extLst>
              <a:ext uri="{FF2B5EF4-FFF2-40B4-BE49-F238E27FC236}">
                <a16:creationId xmlns:a16="http://schemas.microsoft.com/office/drawing/2014/main" id="{D3A5E909-F1B3-0855-9032-DC92F8E4D266}"/>
              </a:ext>
            </a:extLst>
          </p:cNvPr>
          <p:cNvSpPr>
            <a:spLocks noGrp="1"/>
          </p:cNvSpPr>
          <p:nvPr>
            <p:ph type="sldNum" sz="quarter" idx="12"/>
          </p:nvPr>
        </p:nvSpPr>
        <p:spPr/>
        <p:txBody>
          <a:bodyPr/>
          <a:lstStyle/>
          <a:p>
            <a:fld id="{85D74467-FFC2-5C49-A08A-98A9FE9BCA53}" type="slidenum">
              <a:rPr kumimoji="1" lang="ja-JP" altLang="en-US" smtClean="0"/>
              <a:pPr/>
              <a:t>27</a:t>
            </a:fld>
            <a:endParaRPr kumimoji="1" lang="ja-JP" altLang="en-US"/>
          </a:p>
        </p:txBody>
      </p:sp>
      <p:pic>
        <p:nvPicPr>
          <p:cNvPr id="4" name="Image 1" descr="fig4.png">
            <a:extLst>
              <a:ext uri="{FF2B5EF4-FFF2-40B4-BE49-F238E27FC236}">
                <a16:creationId xmlns:a16="http://schemas.microsoft.com/office/drawing/2014/main" id="{95CD59AB-3D1C-A9D8-8E8E-D6A75E75BFCE}"/>
              </a:ext>
            </a:extLst>
          </p:cNvPr>
          <p:cNvPicPr>
            <a:picLocks noChangeAspect="1"/>
          </p:cNvPicPr>
          <p:nvPr/>
        </p:nvPicPr>
        <p:blipFill>
          <a:blip r:embed="rId2"/>
          <a:stretch>
            <a:fillRect/>
          </a:stretch>
        </p:blipFill>
        <p:spPr>
          <a:xfrm>
            <a:off x="1468717" y="2115059"/>
            <a:ext cx="14109333" cy="7482985"/>
          </a:xfrm>
          <a:prstGeom prst="rect">
            <a:avLst/>
          </a:prstGeom>
        </p:spPr>
      </p:pic>
    </p:spTree>
    <p:extLst>
      <p:ext uri="{BB962C8B-B14F-4D97-AF65-F5344CB8AC3E}">
        <p14:creationId xmlns:p14="http://schemas.microsoft.com/office/powerpoint/2010/main" val="3950862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0281" y="3803285"/>
            <a:ext cx="14736524" cy="1267761"/>
          </a:xfrm>
          <a:prstGeom prst="rect">
            <a:avLst/>
          </a:prstGeom>
          <a:noFill/>
        </p:spPr>
        <p:txBody>
          <a:bodyPr wrap="square">
            <a:spAutoFit/>
          </a:bodyPr>
          <a:lstStyle/>
          <a:p>
            <a:r>
              <a:rPr sz="4834" b="1">
                <a:solidFill>
                  <a:srgbClr val="E64B35"/>
                </a:solidFill>
                <a:latin typeface="Hiragino Sans"/>
                <a:ea typeface="Hiragino Sans"/>
                <a:cs typeface="Hiragino Sans"/>
              </a:rPr>
              <a:t>A. 特徴量カタログ</a:t>
            </a:r>
          </a:p>
        </p:txBody>
      </p:sp>
      <p:sp>
        <p:nvSpPr>
          <p:cNvPr id="3" name="TextBox 2"/>
          <p:cNvSpPr txBox="1"/>
          <p:nvPr/>
        </p:nvSpPr>
        <p:spPr>
          <a:xfrm>
            <a:off x="1300281" y="5168566"/>
            <a:ext cx="14736524" cy="1072721"/>
          </a:xfrm>
          <a:prstGeom prst="rect">
            <a:avLst/>
          </a:prstGeom>
          <a:noFill/>
        </p:spPr>
        <p:txBody>
          <a:bodyPr wrap="square">
            <a:spAutoFit/>
          </a:bodyPr>
          <a:lstStyle/>
          <a:p>
            <a:r>
              <a:rPr sz="2417" b="0">
                <a:solidFill>
                  <a:srgbClr val="777777"/>
                </a:solidFill>
                <a:latin typeface="Hiragino Sans"/>
                <a:ea typeface="Hiragino Sans"/>
                <a:cs typeface="Hiragino Sans"/>
              </a:rPr>
              <a:t>予測にも原型分析にも使う 37 次元の定義・単位・正規化</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S-A2　開発者状態 26次元 ①（在籍・量／直近活動）</a:t>
            </a:r>
          </a:p>
        </p:txBody>
      </p:sp>
      <p:sp>
        <p:nvSpPr>
          <p:cNvPr id="3" name="TextBox 2"/>
          <p:cNvSpPr txBox="1"/>
          <p:nvPr/>
        </p:nvSpPr>
        <p:spPr>
          <a:xfrm>
            <a:off x="589460" y="1140985"/>
            <a:ext cx="16123491" cy="780161"/>
          </a:xfrm>
          <a:prstGeom prst="rect">
            <a:avLst/>
          </a:prstGeom>
          <a:noFill/>
        </p:spPr>
        <p:txBody>
          <a:bodyPr wrap="square">
            <a:spAutoFit/>
          </a:bodyPr>
          <a:lstStyle/>
          <a:p>
            <a:r>
              <a:rPr sz="1848" b="0">
                <a:solidFill>
                  <a:srgbClr val="777777"/>
                </a:solidFill>
                <a:latin typeface="Hiragino Sans"/>
                <a:ea typeface="Hiragino Sans"/>
                <a:cs typeface="Hiragino Sans"/>
              </a:rPr>
              <a:t>レビュー履歴の長さ・量と、直近の活動リズムを表す12次元。</a:t>
            </a:r>
          </a:p>
        </p:txBody>
      </p:sp>
      <p:graphicFrame>
        <p:nvGraphicFramePr>
          <p:cNvPr id="5" name="Table 4"/>
          <p:cNvGraphicFramePr>
            <a:graphicFrameLocks noGrp="1"/>
          </p:cNvGraphicFramePr>
          <p:nvPr/>
        </p:nvGraphicFramePr>
        <p:xfrm>
          <a:off x="589460" y="2018666"/>
          <a:ext cx="16123489" cy="5659632"/>
        </p:xfrm>
        <a:graphic>
          <a:graphicData uri="http://schemas.openxmlformats.org/drawingml/2006/table">
            <a:tbl>
              <a:tblPr firstRow="1" bandRow="1">
                <a:tableStyleId>{5C22544A-7EE6-4342-B048-85BDC9FD1C3A}</a:tableStyleId>
              </a:tblPr>
              <a:tblGrid>
                <a:gridCol w="1889471">
                  <a:extLst>
                    <a:ext uri="{9D8B030D-6E8A-4147-A177-3AD203B41FA5}">
                      <a16:colId xmlns:a16="http://schemas.microsoft.com/office/drawing/2014/main" val="20000"/>
                    </a:ext>
                  </a:extLst>
                </a:gridCol>
                <a:gridCol w="3778943">
                  <a:extLst>
                    <a:ext uri="{9D8B030D-6E8A-4147-A177-3AD203B41FA5}">
                      <a16:colId xmlns:a16="http://schemas.microsoft.com/office/drawing/2014/main" val="20001"/>
                    </a:ext>
                  </a:extLst>
                </a:gridCol>
                <a:gridCol w="7054027">
                  <a:extLst>
                    <a:ext uri="{9D8B030D-6E8A-4147-A177-3AD203B41FA5}">
                      <a16:colId xmlns:a16="http://schemas.microsoft.com/office/drawing/2014/main" val="20002"/>
                    </a:ext>
                  </a:extLst>
                </a:gridCol>
                <a:gridCol w="3401048">
                  <a:extLst>
                    <a:ext uri="{9D8B030D-6E8A-4147-A177-3AD203B41FA5}">
                      <a16:colId xmlns:a16="http://schemas.microsoft.com/office/drawing/2014/main" val="20003"/>
                    </a:ext>
                  </a:extLst>
                </a:gridCol>
              </a:tblGrid>
              <a:tr h="419336">
                <a:tc>
                  <a:txBody>
                    <a:bodyPr/>
                    <a:lstStyle/>
                    <a:p>
                      <a:r>
                        <a:rPr sz="2000" b="1">
                          <a:solidFill>
                            <a:srgbClr val="222222"/>
                          </a:solidFill>
                          <a:latin typeface="Hiragino Sans"/>
                          <a:ea typeface="Hiragino Sans"/>
                          <a:cs typeface="Hiragino Sans"/>
                        </a:rPr>
                        <a:t>グループ</a:t>
                      </a:r>
                    </a:p>
                  </a:txBody>
                  <a:tcPr/>
                </a:tc>
                <a:tc>
                  <a:txBody>
                    <a:bodyPr/>
                    <a:lstStyle/>
                    <a:p>
                      <a:r>
                        <a:rPr sz="2000" b="1">
                          <a:solidFill>
                            <a:srgbClr val="222222"/>
                          </a:solidFill>
                          <a:latin typeface="Hiragino Sans"/>
                          <a:ea typeface="Hiragino Sans"/>
                          <a:cs typeface="Hiragino Sans"/>
                        </a:rPr>
                        <a:t>特徴量</a:t>
                      </a:r>
                    </a:p>
                  </a:txBody>
                  <a:tcPr/>
                </a:tc>
                <a:tc>
                  <a:txBody>
                    <a:bodyPr/>
                    <a:lstStyle/>
                    <a:p>
                      <a:r>
                        <a:rPr sz="2000" b="1">
                          <a:solidFill>
                            <a:srgbClr val="222222"/>
                          </a:solidFill>
                          <a:latin typeface="Hiragino Sans"/>
                          <a:ea typeface="Hiragino Sans"/>
                          <a:cs typeface="Hiragino Sans"/>
                        </a:rPr>
                        <a:t>定義</a:t>
                      </a:r>
                    </a:p>
                  </a:txBody>
                  <a:tcPr/>
                </a:tc>
                <a:tc>
                  <a:txBody>
                    <a:bodyPr/>
                    <a:lstStyle/>
                    <a:p>
                      <a:r>
                        <a:rPr sz="2000" b="1">
                          <a:solidFill>
                            <a:srgbClr val="222222"/>
                          </a:solidFill>
                          <a:latin typeface="Hiragino Sans"/>
                          <a:ea typeface="Hiragino Sans"/>
                          <a:cs typeface="Hiragino Sans"/>
                        </a:rPr>
                        <a:t>正規化</a:t>
                      </a:r>
                    </a:p>
                  </a:txBody>
                  <a:tcPr/>
                </a:tc>
                <a:extLst>
                  <a:ext uri="{0D108BD9-81ED-4DB2-BD59-A6C34878D82A}">
                    <a16:rowId xmlns:a16="http://schemas.microsoft.com/office/drawing/2014/main" val="10000"/>
                  </a:ext>
                </a:extLst>
              </a:tr>
              <a:tr h="419336">
                <a:tc>
                  <a:txBody>
                    <a:bodyPr/>
                    <a:lstStyle/>
                    <a:p>
                      <a:r>
                        <a:rPr sz="2000" b="0">
                          <a:solidFill>
                            <a:srgbClr val="222222"/>
                          </a:solidFill>
                          <a:latin typeface="Hiragino Sans"/>
                          <a:ea typeface="Hiragino Sans"/>
                          <a:cs typeface="Hiragino Sans"/>
                        </a:rPr>
                        <a:t>在籍・量</a:t>
                      </a:r>
                    </a:p>
                  </a:txBody>
                  <a:tcPr marT="9000" marB="9000"/>
                </a:tc>
                <a:tc>
                  <a:txBody>
                    <a:bodyPr/>
                    <a:lstStyle/>
                    <a:p>
                      <a:r>
                        <a:rPr sz="2000" b="0">
                          <a:solidFill>
                            <a:srgbClr val="222222"/>
                          </a:solidFill>
                          <a:latin typeface="Hiragino Sans"/>
                          <a:ea typeface="Hiragino Sans"/>
                          <a:cs typeface="Hiragino Sans"/>
                        </a:rPr>
                        <a:t>window_tenure_days</a:t>
                      </a:r>
                    </a:p>
                  </a:txBody>
                  <a:tcPr marT="9000" marB="9000"/>
                </a:tc>
                <a:tc>
                  <a:txBody>
                    <a:bodyPr/>
                    <a:lstStyle/>
                    <a:p>
                      <a:r>
                        <a:rPr sz="2000" b="0">
                          <a:solidFill>
                            <a:srgbClr val="222222"/>
                          </a:solidFill>
                          <a:latin typeface="Hiragino Sans"/>
                          <a:ea typeface="Hiragino Sans"/>
                          <a:cs typeface="Hiragino Sans"/>
                        </a:rPr>
                        <a:t>特徴量窓の中での初回活動日から窓終端までの日数</a:t>
                      </a:r>
                    </a:p>
                  </a:txBody>
                  <a:tcPr marT="9000" marB="9000"/>
                </a:tc>
                <a:tc>
                  <a:txBody>
                    <a:bodyPr/>
                    <a:lstStyle/>
                    <a:p>
                      <a:r>
                        <a:rPr sz="2000" b="0">
                          <a:solidFill>
                            <a:srgbClr val="222222"/>
                          </a:solidFill>
                          <a:latin typeface="Hiragino Sans"/>
                          <a:ea typeface="Hiragino Sans"/>
                          <a:cs typeface="Hiragino Sans"/>
                        </a:rPr>
                        <a:t>180 で除算しクリップ</a:t>
                      </a:r>
                    </a:p>
                  </a:txBody>
                  <a:tcPr marT="9000" marB="9000"/>
                </a:tc>
                <a:extLst>
                  <a:ext uri="{0D108BD9-81ED-4DB2-BD59-A6C34878D82A}">
                    <a16:rowId xmlns:a16="http://schemas.microsoft.com/office/drawing/2014/main" val="10001"/>
                  </a:ext>
                </a:extLst>
              </a:tr>
              <a:tr h="419336">
                <a:tc>
                  <a:txBody>
                    <a:bodyPr/>
                    <a:lstStyle/>
                    <a:p>
                      <a:r>
                        <a:rPr sz="2000" b="0">
                          <a:solidFill>
                            <a:srgbClr val="222222"/>
                          </a:solidFill>
                          <a:latin typeface="Hiragino Sans"/>
                          <a:ea typeface="Hiragino Sans"/>
                          <a:cs typeface="Hiragino Sans"/>
                        </a:rPr>
                        <a:t>在籍・量</a:t>
                      </a:r>
                    </a:p>
                  </a:txBody>
                  <a:tcPr marT="9000" marB="9000"/>
                </a:tc>
                <a:tc>
                  <a:txBody>
                    <a:bodyPr/>
                    <a:lstStyle/>
                    <a:p>
                      <a:r>
                        <a:rPr sz="2000" b="0" dirty="0" err="1">
                          <a:solidFill>
                            <a:srgbClr val="222222"/>
                          </a:solidFill>
                          <a:latin typeface="Hiragino Sans"/>
                          <a:ea typeface="Hiragino Sans"/>
                          <a:cs typeface="Hiragino Sans"/>
                        </a:rPr>
                        <a:t>total_changes</a:t>
                      </a:r>
                      <a:endParaRPr sz="2000" b="0" dirty="0">
                        <a:solidFill>
                          <a:srgbClr val="222222"/>
                        </a:solidFill>
                        <a:latin typeface="Hiragino Sans"/>
                        <a:ea typeface="Hiragino Sans"/>
                        <a:cs typeface="Hiragino Sans"/>
                      </a:endParaRPr>
                    </a:p>
                  </a:txBody>
                  <a:tcPr marT="9000" marB="9000"/>
                </a:tc>
                <a:tc>
                  <a:txBody>
                    <a:bodyPr/>
                    <a:lstStyle/>
                    <a:p>
                      <a:r>
                        <a:rPr sz="2000" b="0">
                          <a:solidFill>
                            <a:srgbClr val="222222"/>
                          </a:solidFill>
                          <a:latin typeface="Hiragino Sans"/>
                          <a:ea typeface="Hiragino Sans"/>
                          <a:cs typeface="Hiragino Sans"/>
                        </a:rPr>
                        <a:t>窓内に自分が投稿した変更 (owner) の件数</a:t>
                      </a:r>
                    </a:p>
                  </a:txBody>
                  <a:tcPr marT="9000" marB="9000"/>
                </a:tc>
                <a:tc>
                  <a:txBody>
                    <a:bodyPr/>
                    <a:lstStyle/>
                    <a:p>
                      <a:r>
                        <a:rPr sz="2000" b="0">
                          <a:solidFill>
                            <a:srgbClr val="222222"/>
                          </a:solidFill>
                          <a:latin typeface="Hiragino Sans"/>
                          <a:ea typeface="Hiragino Sans"/>
                          <a:cs typeface="Hiragino Sans"/>
                        </a:rPr>
                        <a:t>log1p / log1p(500)</a:t>
                      </a:r>
                    </a:p>
                  </a:txBody>
                  <a:tcPr marT="9000" marB="9000"/>
                </a:tc>
                <a:extLst>
                  <a:ext uri="{0D108BD9-81ED-4DB2-BD59-A6C34878D82A}">
                    <a16:rowId xmlns:a16="http://schemas.microsoft.com/office/drawing/2014/main" val="10002"/>
                  </a:ext>
                </a:extLst>
              </a:tr>
              <a:tr h="419336">
                <a:tc>
                  <a:txBody>
                    <a:bodyPr/>
                    <a:lstStyle/>
                    <a:p>
                      <a:r>
                        <a:rPr sz="2000" b="0">
                          <a:solidFill>
                            <a:srgbClr val="222222"/>
                          </a:solidFill>
                          <a:latin typeface="Hiragino Sans"/>
                          <a:ea typeface="Hiragino Sans"/>
                          <a:cs typeface="Hiragino Sans"/>
                        </a:rPr>
                        <a:t>在籍・量</a:t>
                      </a:r>
                    </a:p>
                  </a:txBody>
                  <a:tcPr marT="9000" marB="9000"/>
                </a:tc>
                <a:tc>
                  <a:txBody>
                    <a:bodyPr/>
                    <a:lstStyle/>
                    <a:p>
                      <a:r>
                        <a:rPr sz="2000" b="0">
                          <a:solidFill>
                            <a:srgbClr val="222222"/>
                          </a:solidFill>
                          <a:latin typeface="Hiragino Sans"/>
                          <a:ea typeface="Hiragino Sans"/>
                          <a:cs typeface="Hiragino Sans"/>
                        </a:rPr>
                        <a:t>total_reviews</a:t>
                      </a:r>
                    </a:p>
                  </a:txBody>
                  <a:tcPr marT="9000" marB="9000"/>
                </a:tc>
                <a:tc>
                  <a:txBody>
                    <a:bodyPr/>
                    <a:lstStyle/>
                    <a:p>
                      <a:r>
                        <a:rPr sz="2000" b="0">
                          <a:solidFill>
                            <a:srgbClr val="222222"/>
                          </a:solidFill>
                          <a:latin typeface="Hiragino Sans"/>
                          <a:ea typeface="Hiragino Sans"/>
                          <a:cs typeface="Hiragino Sans"/>
                        </a:rPr>
                        <a:t>窓内に自分が受けたレビュー依頼 (reviewer) の件数</a:t>
                      </a:r>
                    </a:p>
                  </a:txBody>
                  <a:tcPr marT="9000" marB="9000"/>
                </a:tc>
                <a:tc>
                  <a:txBody>
                    <a:bodyPr/>
                    <a:lstStyle/>
                    <a:p>
                      <a:r>
                        <a:rPr sz="2000" b="0">
                          <a:solidFill>
                            <a:srgbClr val="222222"/>
                          </a:solidFill>
                          <a:latin typeface="Hiragino Sans"/>
                          <a:ea typeface="Hiragino Sans"/>
                          <a:cs typeface="Hiragino Sans"/>
                        </a:rPr>
                        <a:t>log1p / log1p(500)</a:t>
                      </a:r>
                    </a:p>
                  </a:txBody>
                  <a:tcPr marT="9000" marB="9000"/>
                </a:tc>
                <a:extLst>
                  <a:ext uri="{0D108BD9-81ED-4DB2-BD59-A6C34878D82A}">
                    <a16:rowId xmlns:a16="http://schemas.microsoft.com/office/drawing/2014/main" val="10003"/>
                  </a:ext>
                </a:extLst>
              </a:tr>
              <a:tr h="419336">
                <a:tc>
                  <a:txBody>
                    <a:bodyPr/>
                    <a:lstStyle/>
                    <a:p>
                      <a:r>
                        <a:rPr sz="2000" b="0">
                          <a:solidFill>
                            <a:srgbClr val="222222"/>
                          </a:solidFill>
                          <a:latin typeface="Hiragino Sans"/>
                          <a:ea typeface="Hiragino Sans"/>
                          <a:cs typeface="Hiragino Sans"/>
                        </a:rPr>
                        <a:t>在籍・量</a:t>
                      </a:r>
                    </a:p>
                  </a:txBody>
                  <a:tcPr marT="9000" marB="9000"/>
                </a:tc>
                <a:tc>
                  <a:txBody>
                    <a:bodyPr/>
                    <a:lstStyle/>
                    <a:p>
                      <a:r>
                        <a:rPr sz="2000" b="0">
                          <a:solidFill>
                            <a:srgbClr val="222222"/>
                          </a:solidFill>
                          <a:latin typeface="Hiragino Sans"/>
                          <a:ea typeface="Hiragino Sans"/>
                          <a:cs typeface="Hiragino Sans"/>
                        </a:rPr>
                        <a:t>active_months_ratio</a:t>
                      </a:r>
                    </a:p>
                  </a:txBody>
                  <a:tcPr marT="9000" marB="9000"/>
                </a:tc>
                <a:tc>
                  <a:txBody>
                    <a:bodyPr/>
                    <a:lstStyle/>
                    <a:p>
                      <a:r>
                        <a:rPr sz="2000" b="0">
                          <a:solidFill>
                            <a:srgbClr val="222222"/>
                          </a:solidFill>
                          <a:latin typeface="Hiragino Sans"/>
                          <a:ea typeface="Hiragino Sans"/>
                          <a:cs typeface="Hiragino Sans"/>
                        </a:rPr>
                        <a:t>活動があった月数 ÷ 窓の月数</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4"/>
                  </a:ext>
                </a:extLst>
              </a:tr>
              <a:tr h="419336">
                <a:tc>
                  <a:txBody>
                    <a:bodyPr/>
                    <a:lstStyle/>
                    <a:p>
                      <a:r>
                        <a:rPr sz="2000" b="0">
                          <a:solidFill>
                            <a:srgbClr val="222222"/>
                          </a:solidFill>
                          <a:latin typeface="Hiragino Sans"/>
                          <a:ea typeface="Hiragino Sans"/>
                          <a:cs typeface="Hiragino Sans"/>
                        </a:rPr>
                        <a:t>在籍・量</a:t>
                      </a:r>
                    </a:p>
                  </a:txBody>
                  <a:tcPr marT="9000" marB="9000"/>
                </a:tc>
                <a:tc>
                  <a:txBody>
                    <a:bodyPr/>
                    <a:lstStyle/>
                    <a:p>
                      <a:r>
                        <a:rPr sz="2000" b="0">
                          <a:solidFill>
                            <a:srgbClr val="222222"/>
                          </a:solidFill>
                          <a:latin typeface="Hiragino Sans"/>
                          <a:ea typeface="Hiragino Sans"/>
                          <a:cs typeface="Hiragino Sans"/>
                        </a:rPr>
                        <a:t>n_projects</a:t>
                      </a:r>
                    </a:p>
                  </a:txBody>
                  <a:tcPr marT="9000" marB="9000"/>
                </a:tc>
                <a:tc>
                  <a:txBody>
                    <a:bodyPr/>
                    <a:lstStyle/>
                    <a:p>
                      <a:r>
                        <a:rPr sz="2000" b="0">
                          <a:solidFill>
                            <a:srgbClr val="222222"/>
                          </a:solidFill>
                          <a:latin typeface="Hiragino Sans"/>
                          <a:ea typeface="Hiragino Sans"/>
                          <a:cs typeface="Hiragino Sans"/>
                        </a:rPr>
                        <a:t>窓内に活動したユニークな project 数</a:t>
                      </a:r>
                    </a:p>
                  </a:txBody>
                  <a:tcPr marT="9000" marB="9000"/>
                </a:tc>
                <a:tc>
                  <a:txBody>
                    <a:bodyPr/>
                    <a:lstStyle/>
                    <a:p>
                      <a:r>
                        <a:rPr sz="2000" b="0">
                          <a:solidFill>
                            <a:srgbClr val="222222"/>
                          </a:solidFill>
                          <a:latin typeface="Hiragino Sans"/>
                          <a:ea typeface="Hiragino Sans"/>
                          <a:cs typeface="Hiragino Sans"/>
                        </a:rPr>
                        <a:t>5 で除算しクリップ</a:t>
                      </a:r>
                    </a:p>
                  </a:txBody>
                  <a:tcPr marT="9000" marB="9000"/>
                </a:tc>
                <a:extLst>
                  <a:ext uri="{0D108BD9-81ED-4DB2-BD59-A6C34878D82A}">
                    <a16:rowId xmlns:a16="http://schemas.microsoft.com/office/drawing/2014/main" val="10005"/>
                  </a:ext>
                </a:extLst>
              </a:tr>
              <a:tr h="419336">
                <a:tc>
                  <a:txBody>
                    <a:bodyPr/>
                    <a:lstStyle/>
                    <a:p>
                      <a:r>
                        <a:rPr sz="2000" b="0">
                          <a:solidFill>
                            <a:srgbClr val="222222"/>
                          </a:solidFill>
                          <a:latin typeface="Hiragino Sans"/>
                          <a:ea typeface="Hiragino Sans"/>
                          <a:cs typeface="Hiragino Sans"/>
                        </a:rPr>
                        <a:t>直近活動</a:t>
                      </a:r>
                    </a:p>
                  </a:txBody>
                  <a:tcPr marT="9000" marB="9000"/>
                </a:tc>
                <a:tc>
                  <a:txBody>
                    <a:bodyPr/>
                    <a:lstStyle/>
                    <a:p>
                      <a:r>
                        <a:rPr sz="2000" b="0" dirty="0" err="1">
                          <a:solidFill>
                            <a:srgbClr val="222222"/>
                          </a:solidFill>
                          <a:latin typeface="Hiragino Sans"/>
                          <a:ea typeface="Hiragino Sans"/>
                          <a:cs typeface="Hiragino Sans"/>
                        </a:rPr>
                        <a:t>recent_activity_frequency</a:t>
                      </a:r>
                      <a:endParaRPr sz="2000" b="0" dirty="0">
                        <a:solidFill>
                          <a:srgbClr val="222222"/>
                        </a:solidFill>
                        <a:latin typeface="Hiragino Sans"/>
                        <a:ea typeface="Hiragino Sans"/>
                        <a:cs typeface="Hiragino Sans"/>
                      </a:endParaRPr>
                    </a:p>
                  </a:txBody>
                  <a:tcPr marT="9000" marB="9000"/>
                </a:tc>
                <a:tc>
                  <a:txBody>
                    <a:bodyPr/>
                    <a:lstStyle/>
                    <a:p>
                      <a:r>
                        <a:rPr sz="2000" b="0">
                          <a:solidFill>
                            <a:srgbClr val="222222"/>
                          </a:solidFill>
                          <a:latin typeface="Hiragino Sans"/>
                          <a:ea typeface="Hiragino Sans"/>
                          <a:cs typeface="Hiragino Sans"/>
                        </a:rPr>
                        <a:t>直近30日の活動件数 ÷ 30（1日あたり件数）</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6"/>
                  </a:ext>
                </a:extLst>
              </a:tr>
              <a:tr h="419336">
                <a:tc>
                  <a:txBody>
                    <a:bodyPr/>
                    <a:lstStyle/>
                    <a:p>
                      <a:r>
                        <a:rPr sz="2000" b="0">
                          <a:solidFill>
                            <a:srgbClr val="222222"/>
                          </a:solidFill>
                          <a:latin typeface="Hiragino Sans"/>
                          <a:ea typeface="Hiragino Sans"/>
                          <a:cs typeface="Hiragino Sans"/>
                        </a:rPr>
                        <a:t>直近活動</a:t>
                      </a:r>
                    </a:p>
                  </a:txBody>
                  <a:tcPr marT="9000" marB="9000"/>
                </a:tc>
                <a:tc>
                  <a:txBody>
                    <a:bodyPr/>
                    <a:lstStyle/>
                    <a:p>
                      <a:r>
                        <a:rPr sz="2000" b="0">
                          <a:solidFill>
                            <a:srgbClr val="222222"/>
                          </a:solidFill>
                          <a:latin typeface="Hiragino Sans"/>
                          <a:ea typeface="Hiragino Sans"/>
                          <a:cs typeface="Hiragino Sans"/>
                        </a:rPr>
                        <a:t>avg_activity_gap</a:t>
                      </a:r>
                    </a:p>
                  </a:txBody>
                  <a:tcPr marT="9000" marB="9000"/>
                </a:tc>
                <a:tc>
                  <a:txBody>
                    <a:bodyPr/>
                    <a:lstStyle/>
                    <a:p>
                      <a:r>
                        <a:rPr sz="2000" b="0">
                          <a:solidFill>
                            <a:srgbClr val="222222"/>
                          </a:solidFill>
                          <a:latin typeface="Hiragino Sans"/>
                          <a:ea typeface="Hiragino Sans"/>
                          <a:cs typeface="Hiragino Sans"/>
                        </a:rPr>
                        <a:t>活動と活動の間隔の中央値（日）</a:t>
                      </a:r>
                    </a:p>
                  </a:txBody>
                  <a:tcPr marT="9000" marB="9000"/>
                </a:tc>
                <a:tc>
                  <a:txBody>
                    <a:bodyPr/>
                    <a:lstStyle/>
                    <a:p>
                      <a:r>
                        <a:rPr sz="2000" b="0">
                          <a:solidFill>
                            <a:srgbClr val="222222"/>
                          </a:solidFill>
                          <a:latin typeface="Hiragino Sans"/>
                          <a:ea typeface="Hiragino Sans"/>
                          <a:cs typeface="Hiragino Sans"/>
                        </a:rPr>
                        <a:t>log1p / log1p(120)</a:t>
                      </a:r>
                    </a:p>
                  </a:txBody>
                  <a:tcPr marT="9000" marB="9000"/>
                </a:tc>
                <a:extLst>
                  <a:ext uri="{0D108BD9-81ED-4DB2-BD59-A6C34878D82A}">
                    <a16:rowId xmlns:a16="http://schemas.microsoft.com/office/drawing/2014/main" val="10007"/>
                  </a:ext>
                </a:extLst>
              </a:tr>
              <a:tr h="419336">
                <a:tc>
                  <a:txBody>
                    <a:bodyPr/>
                    <a:lstStyle/>
                    <a:p>
                      <a:r>
                        <a:rPr sz="2000" b="0">
                          <a:solidFill>
                            <a:srgbClr val="222222"/>
                          </a:solidFill>
                          <a:latin typeface="Hiragino Sans"/>
                          <a:ea typeface="Hiragino Sans"/>
                          <a:cs typeface="Hiragino Sans"/>
                        </a:rPr>
                        <a:t>直近活動</a:t>
                      </a:r>
                    </a:p>
                  </a:txBody>
                  <a:tcPr marT="9000" marB="9000"/>
                </a:tc>
                <a:tc>
                  <a:txBody>
                    <a:bodyPr/>
                    <a:lstStyle/>
                    <a:p>
                      <a:r>
                        <a:rPr sz="2000" b="0">
                          <a:solidFill>
                            <a:srgbClr val="222222"/>
                          </a:solidFill>
                          <a:latin typeface="Hiragino Sans"/>
                          <a:ea typeface="Hiragino Sans"/>
                          <a:cs typeface="Hiragino Sans"/>
                        </a:rPr>
                        <a:t>days_since_last_activity</a:t>
                      </a:r>
                    </a:p>
                  </a:txBody>
                  <a:tcPr marT="9000" marB="9000"/>
                </a:tc>
                <a:tc>
                  <a:txBody>
                    <a:bodyPr/>
                    <a:lstStyle/>
                    <a:p>
                      <a:r>
                        <a:rPr sz="2000" b="0">
                          <a:solidFill>
                            <a:srgbClr val="222222"/>
                          </a:solidFill>
                          <a:latin typeface="Hiragino Sans"/>
                          <a:ea typeface="Hiragino Sans"/>
                          <a:cs typeface="Hiragino Sans"/>
                        </a:rPr>
                        <a:t>最終活動からの経過日数</a:t>
                      </a:r>
                    </a:p>
                  </a:txBody>
                  <a:tcPr marT="9000" marB="9000"/>
                </a:tc>
                <a:tc>
                  <a:txBody>
                    <a:bodyPr/>
                    <a:lstStyle/>
                    <a:p>
                      <a:r>
                        <a:rPr sz="2000" b="0">
                          <a:solidFill>
                            <a:srgbClr val="222222"/>
                          </a:solidFill>
                          <a:latin typeface="Hiragino Sans"/>
                          <a:ea typeface="Hiragino Sans"/>
                          <a:cs typeface="Hiragino Sans"/>
                        </a:rPr>
                        <a:t>log1p / log1p(730)</a:t>
                      </a:r>
                    </a:p>
                  </a:txBody>
                  <a:tcPr marT="9000" marB="9000"/>
                </a:tc>
                <a:extLst>
                  <a:ext uri="{0D108BD9-81ED-4DB2-BD59-A6C34878D82A}">
                    <a16:rowId xmlns:a16="http://schemas.microsoft.com/office/drawing/2014/main" val="10008"/>
                  </a:ext>
                </a:extLst>
              </a:tr>
              <a:tr h="419336">
                <a:tc>
                  <a:txBody>
                    <a:bodyPr/>
                    <a:lstStyle/>
                    <a:p>
                      <a:r>
                        <a:rPr sz="2000" b="0" dirty="0" err="1">
                          <a:solidFill>
                            <a:srgbClr val="222222"/>
                          </a:solidFill>
                          <a:latin typeface="Hiragino Sans"/>
                          <a:ea typeface="Hiragino Sans"/>
                          <a:cs typeface="Hiragino Sans"/>
                        </a:rPr>
                        <a:t>直近活動</a:t>
                      </a:r>
                      <a:endParaRPr sz="2000" b="0" dirty="0">
                        <a:solidFill>
                          <a:srgbClr val="222222"/>
                        </a:solidFill>
                        <a:latin typeface="Hiragino Sans"/>
                        <a:ea typeface="Hiragino Sans"/>
                        <a:cs typeface="Hiragino Sans"/>
                      </a:endParaRPr>
                    </a:p>
                  </a:txBody>
                  <a:tcPr marT="9000" marB="9000"/>
                </a:tc>
                <a:tc>
                  <a:txBody>
                    <a:bodyPr/>
                    <a:lstStyle/>
                    <a:p>
                      <a:r>
                        <a:rPr sz="2000" b="0">
                          <a:solidFill>
                            <a:srgbClr val="222222"/>
                          </a:solidFill>
                          <a:latin typeface="Hiragino Sans"/>
                          <a:ea typeface="Hiragino Sans"/>
                          <a:cs typeface="Hiragino Sans"/>
                        </a:rPr>
                        <a:t>recent_load_ratio_30d_all</a:t>
                      </a:r>
                    </a:p>
                  </a:txBody>
                  <a:tcPr marT="9000" marB="9000"/>
                </a:tc>
                <a:tc>
                  <a:txBody>
                    <a:bodyPr/>
                    <a:lstStyle/>
                    <a:p>
                      <a:r>
                        <a:rPr sz="2000" b="0">
                          <a:solidFill>
                            <a:srgbClr val="222222"/>
                          </a:solidFill>
                          <a:latin typeface="Hiragino Sans"/>
                          <a:ea typeface="Hiragino Sans"/>
                          <a:cs typeface="Hiragino Sans"/>
                        </a:rPr>
                        <a:t>直近30日の件数 ÷ 窓全体の30日あたり平均件数</a:t>
                      </a:r>
                    </a:p>
                  </a:txBody>
                  <a:tcPr marT="9000" marB="9000"/>
                </a:tc>
                <a:tc>
                  <a:txBody>
                    <a:bodyPr/>
                    <a:lstStyle/>
                    <a:p>
                      <a:r>
                        <a:rPr sz="2000" b="0">
                          <a:solidFill>
                            <a:srgbClr val="222222"/>
                          </a:solidFill>
                          <a:latin typeface="Hiragino Sans"/>
                          <a:ea typeface="Hiragino Sans"/>
                          <a:cs typeface="Hiragino Sans"/>
                        </a:rPr>
                        <a:t>3 で除算しクリップ</a:t>
                      </a:r>
                    </a:p>
                  </a:txBody>
                  <a:tcPr marT="9000" marB="9000"/>
                </a:tc>
                <a:extLst>
                  <a:ext uri="{0D108BD9-81ED-4DB2-BD59-A6C34878D82A}">
                    <a16:rowId xmlns:a16="http://schemas.microsoft.com/office/drawing/2014/main" val="10009"/>
                  </a:ext>
                </a:extLst>
              </a:tr>
              <a:tr h="419336">
                <a:tc>
                  <a:txBody>
                    <a:bodyPr/>
                    <a:lstStyle/>
                    <a:p>
                      <a:r>
                        <a:rPr sz="2000" b="0">
                          <a:solidFill>
                            <a:srgbClr val="222222"/>
                          </a:solidFill>
                          <a:latin typeface="Hiragino Sans"/>
                          <a:ea typeface="Hiragino Sans"/>
                          <a:cs typeface="Hiragino Sans"/>
                        </a:rPr>
                        <a:t>直近活動</a:t>
                      </a:r>
                    </a:p>
                  </a:txBody>
                  <a:tcPr marT="9000" marB="9000"/>
                </a:tc>
                <a:tc>
                  <a:txBody>
                    <a:bodyPr/>
                    <a:lstStyle/>
                    <a:p>
                      <a:r>
                        <a:rPr sz="2000" b="0">
                          <a:solidFill>
                            <a:srgbClr val="222222"/>
                          </a:solidFill>
                          <a:latin typeface="Hiragino Sans"/>
                          <a:ea typeface="Hiragino Sans"/>
                          <a:cs typeface="Hiragino Sans"/>
                        </a:rPr>
                        <a:t>recent_load_ratio_7d_30d</a:t>
                      </a:r>
                    </a:p>
                  </a:txBody>
                  <a:tcPr marT="9000" marB="9000"/>
                </a:tc>
                <a:tc>
                  <a:txBody>
                    <a:bodyPr/>
                    <a:lstStyle/>
                    <a:p>
                      <a:r>
                        <a:rPr sz="2000" b="0">
                          <a:solidFill>
                            <a:srgbClr val="222222"/>
                          </a:solidFill>
                          <a:latin typeface="Hiragino Sans"/>
                          <a:ea typeface="Hiragino Sans"/>
                          <a:cs typeface="Hiragino Sans"/>
                        </a:rPr>
                        <a:t>直近7日の1日あたり件数 ÷ 直近30日の1日あたり件数</a:t>
                      </a:r>
                    </a:p>
                  </a:txBody>
                  <a:tcPr marT="9000" marB="9000"/>
                </a:tc>
                <a:tc>
                  <a:txBody>
                    <a:bodyPr/>
                    <a:lstStyle/>
                    <a:p>
                      <a:r>
                        <a:rPr sz="2000" b="0">
                          <a:solidFill>
                            <a:srgbClr val="222222"/>
                          </a:solidFill>
                          <a:latin typeface="Hiragino Sans"/>
                          <a:ea typeface="Hiragino Sans"/>
                          <a:cs typeface="Hiragino Sans"/>
                        </a:rPr>
                        <a:t>3 で除算しクリップ</a:t>
                      </a:r>
                    </a:p>
                  </a:txBody>
                  <a:tcPr marT="9000" marB="9000"/>
                </a:tc>
                <a:extLst>
                  <a:ext uri="{0D108BD9-81ED-4DB2-BD59-A6C34878D82A}">
                    <a16:rowId xmlns:a16="http://schemas.microsoft.com/office/drawing/2014/main" val="10010"/>
                  </a:ext>
                </a:extLst>
              </a:tr>
              <a:tr h="419336">
                <a:tc>
                  <a:txBody>
                    <a:bodyPr/>
                    <a:lstStyle/>
                    <a:p>
                      <a:r>
                        <a:rPr sz="2000" b="0">
                          <a:solidFill>
                            <a:srgbClr val="222222"/>
                          </a:solidFill>
                          <a:latin typeface="Hiragino Sans"/>
                          <a:ea typeface="Hiragino Sans"/>
                          <a:cs typeface="Hiragino Sans"/>
                        </a:rPr>
                        <a:t>直近活動</a:t>
                      </a:r>
                    </a:p>
                  </a:txBody>
                  <a:tcPr marT="9000" marB="9000"/>
                </a:tc>
                <a:tc>
                  <a:txBody>
                    <a:bodyPr/>
                    <a:lstStyle/>
                    <a:p>
                      <a:r>
                        <a:rPr sz="2000" b="0">
                          <a:solidFill>
                            <a:srgbClr val="222222"/>
                          </a:solidFill>
                          <a:latin typeface="Hiragino Sans"/>
                          <a:ea typeface="Hiragino Sans"/>
                          <a:cs typeface="Hiragino Sans"/>
                        </a:rPr>
                        <a:t>concurrent_open_reviews_7d</a:t>
                      </a:r>
                    </a:p>
                  </a:txBody>
                  <a:tcPr marT="9000" marB="9000"/>
                </a:tc>
                <a:tc>
                  <a:txBody>
                    <a:bodyPr/>
                    <a:lstStyle/>
                    <a:p>
                      <a:r>
                        <a:rPr sz="2000" b="0">
                          <a:solidFill>
                            <a:srgbClr val="222222"/>
                          </a:solidFill>
                          <a:latin typeface="Hiragino Sans"/>
                          <a:ea typeface="Hiragino Sans"/>
                          <a:cs typeface="Hiragino Sans"/>
                        </a:rPr>
                        <a:t>直近7日に受けた依頼のうち未応答の件数（瞬間負荷）</a:t>
                      </a:r>
                    </a:p>
                  </a:txBody>
                  <a:tcPr marT="9000" marB="9000"/>
                </a:tc>
                <a:tc>
                  <a:txBody>
                    <a:bodyPr/>
                    <a:lstStyle/>
                    <a:p>
                      <a:r>
                        <a:rPr sz="2000" b="0">
                          <a:solidFill>
                            <a:srgbClr val="222222"/>
                          </a:solidFill>
                          <a:latin typeface="Hiragino Sans"/>
                          <a:ea typeface="Hiragino Sans"/>
                          <a:cs typeface="Hiragino Sans"/>
                        </a:rPr>
                        <a:t>20 で除算しクリップ</a:t>
                      </a:r>
                    </a:p>
                  </a:txBody>
                  <a:tcPr marT="9000" marB="9000"/>
                </a:tc>
                <a:extLst>
                  <a:ext uri="{0D108BD9-81ED-4DB2-BD59-A6C34878D82A}">
                    <a16:rowId xmlns:a16="http://schemas.microsoft.com/office/drawing/2014/main" val="10011"/>
                  </a:ext>
                </a:extLst>
              </a:tr>
              <a:tr h="419336">
                <a:tc>
                  <a:txBody>
                    <a:bodyPr/>
                    <a:lstStyle/>
                    <a:p>
                      <a:r>
                        <a:rPr sz="2000" b="0">
                          <a:solidFill>
                            <a:srgbClr val="222222"/>
                          </a:solidFill>
                          <a:latin typeface="Hiragino Sans"/>
                          <a:ea typeface="Hiragino Sans"/>
                          <a:cs typeface="Hiragino Sans"/>
                        </a:rPr>
                        <a:t>直近活動</a:t>
                      </a:r>
                    </a:p>
                  </a:txBody>
                  <a:tcPr marT="9000" marB="9000"/>
                </a:tc>
                <a:tc>
                  <a:txBody>
                    <a:bodyPr/>
                    <a:lstStyle/>
                    <a:p>
                      <a:r>
                        <a:rPr sz="2000" b="0">
                          <a:solidFill>
                            <a:srgbClr val="222222"/>
                          </a:solidFill>
                          <a:latin typeface="Hiragino Sans"/>
                          <a:ea typeface="Hiragino Sans"/>
                          <a:cs typeface="Hiragino Sans"/>
                        </a:rPr>
                        <a:t>activity_trend</a:t>
                      </a:r>
                    </a:p>
                  </a:txBody>
                  <a:tcPr marT="9000" marB="9000"/>
                </a:tc>
                <a:tc>
                  <a:txBody>
                    <a:bodyPr/>
                    <a:lstStyle/>
                    <a:p>
                      <a:r>
                        <a:rPr sz="2000" b="0">
                          <a:solidFill>
                            <a:srgbClr val="222222"/>
                          </a:solidFill>
                          <a:latin typeface="Hiragino Sans"/>
                          <a:ea typeface="Hiragino Sans"/>
                          <a:cs typeface="Hiragino Sans"/>
                        </a:rPr>
                        <a:t>窓を時間で前半／後半に二分したときの活動量の増減</a:t>
                      </a:r>
                    </a:p>
                  </a:txBody>
                  <a:tcPr marT="9000" marB="9000"/>
                </a:tc>
                <a:tc>
                  <a:txBody>
                    <a:bodyPr/>
                    <a:lstStyle/>
                    <a:p>
                      <a:r>
                        <a:rPr sz="2000" b="0" dirty="0">
                          <a:solidFill>
                            <a:srgbClr val="222222"/>
                          </a:solidFill>
                          <a:latin typeface="Hiragino Sans"/>
                          <a:ea typeface="Hiragino Sans"/>
                          <a:cs typeface="Hiragino Sans"/>
                        </a:rPr>
                        <a:t>[-1, +1]（</a:t>
                      </a:r>
                      <a:r>
                        <a:rPr sz="2000" b="0" dirty="0" err="1">
                          <a:solidFill>
                            <a:srgbClr val="222222"/>
                          </a:solidFill>
                          <a:latin typeface="Hiragino Sans"/>
                          <a:ea typeface="Hiragino Sans"/>
                          <a:cs typeface="Hiragino Sans"/>
                        </a:rPr>
                        <a:t>正規化の対象外</a:t>
                      </a:r>
                      <a:r>
                        <a:rPr sz="2000" b="0" dirty="0">
                          <a:solidFill>
                            <a:srgbClr val="222222"/>
                          </a:solidFill>
                          <a:latin typeface="Hiragino Sans"/>
                          <a:ea typeface="Hiragino Sans"/>
                          <a:cs typeface="Hiragino Sans"/>
                        </a:rPr>
                        <a:t>）</a:t>
                      </a:r>
                    </a:p>
                  </a:txBody>
                  <a:tcPr marT="9000" marB="9000"/>
                </a:tc>
                <a:extLst>
                  <a:ext uri="{0D108BD9-81ED-4DB2-BD59-A6C34878D82A}">
                    <a16:rowId xmlns:a16="http://schemas.microsoft.com/office/drawing/2014/main" val="1001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S-A3　開発者状態 26次元 ②（承諾傾向／役割・ネットワーク）</a:t>
            </a:r>
          </a:p>
        </p:txBody>
      </p:sp>
      <p:sp>
        <p:nvSpPr>
          <p:cNvPr id="3" name="TextBox 2"/>
          <p:cNvSpPr txBox="1"/>
          <p:nvPr/>
        </p:nvSpPr>
        <p:spPr>
          <a:xfrm>
            <a:off x="589460" y="1140985"/>
            <a:ext cx="16123491" cy="780161"/>
          </a:xfrm>
          <a:prstGeom prst="rect">
            <a:avLst/>
          </a:prstGeom>
          <a:noFill/>
        </p:spPr>
        <p:txBody>
          <a:bodyPr wrap="square">
            <a:spAutoFit/>
          </a:bodyPr>
          <a:lstStyle/>
          <a:p>
            <a:r>
              <a:rPr sz="1848" b="0">
                <a:solidFill>
                  <a:srgbClr val="777777"/>
                </a:solidFill>
                <a:latin typeface="Hiragino Sans"/>
                <a:ea typeface="Hiragino Sans"/>
                <a:cs typeface="Hiragino Sans"/>
              </a:rPr>
              <a:t>承諾するかどうかの傾向と、プロジェクト内での役割・つながりを表す14次元。</a:t>
            </a:r>
          </a:p>
        </p:txBody>
      </p:sp>
      <p:graphicFrame>
        <p:nvGraphicFramePr>
          <p:cNvPr id="5" name="Table 4"/>
          <p:cNvGraphicFramePr>
            <a:graphicFrameLocks noGrp="1"/>
          </p:cNvGraphicFramePr>
          <p:nvPr/>
        </p:nvGraphicFramePr>
        <p:xfrm>
          <a:off x="152400" y="1630783"/>
          <a:ext cx="16712948" cy="7747888"/>
        </p:xfrm>
        <a:graphic>
          <a:graphicData uri="http://schemas.openxmlformats.org/drawingml/2006/table">
            <a:tbl>
              <a:tblPr firstRow="1" bandRow="1">
                <a:tableStyleId>{5C22544A-7EE6-4342-B048-85BDC9FD1C3A}</a:tableStyleId>
              </a:tblPr>
              <a:tblGrid>
                <a:gridCol w="2350258">
                  <a:extLst>
                    <a:ext uri="{9D8B030D-6E8A-4147-A177-3AD203B41FA5}">
                      <a16:colId xmlns:a16="http://schemas.microsoft.com/office/drawing/2014/main" val="20000"/>
                    </a:ext>
                  </a:extLst>
                </a:gridCol>
                <a:gridCol w="3917098">
                  <a:extLst>
                    <a:ext uri="{9D8B030D-6E8A-4147-A177-3AD203B41FA5}">
                      <a16:colId xmlns:a16="http://schemas.microsoft.com/office/drawing/2014/main" val="20001"/>
                    </a:ext>
                  </a:extLst>
                </a:gridCol>
                <a:gridCol w="6920205">
                  <a:extLst>
                    <a:ext uri="{9D8B030D-6E8A-4147-A177-3AD203B41FA5}">
                      <a16:colId xmlns:a16="http://schemas.microsoft.com/office/drawing/2014/main" val="20002"/>
                    </a:ext>
                  </a:extLst>
                </a:gridCol>
                <a:gridCol w="3525387">
                  <a:extLst>
                    <a:ext uri="{9D8B030D-6E8A-4147-A177-3AD203B41FA5}">
                      <a16:colId xmlns:a16="http://schemas.microsoft.com/office/drawing/2014/main" val="20003"/>
                    </a:ext>
                  </a:extLst>
                </a:gridCol>
              </a:tblGrid>
              <a:tr h="419336">
                <a:tc>
                  <a:txBody>
                    <a:bodyPr/>
                    <a:lstStyle/>
                    <a:p>
                      <a:r>
                        <a:rPr sz="2000" b="1">
                          <a:solidFill>
                            <a:srgbClr val="222222"/>
                          </a:solidFill>
                          <a:latin typeface="Hiragino Sans"/>
                          <a:ea typeface="Hiragino Sans"/>
                          <a:cs typeface="Hiragino Sans"/>
                        </a:rPr>
                        <a:t>グループ</a:t>
                      </a:r>
                    </a:p>
                  </a:txBody>
                  <a:tcPr/>
                </a:tc>
                <a:tc>
                  <a:txBody>
                    <a:bodyPr/>
                    <a:lstStyle/>
                    <a:p>
                      <a:r>
                        <a:rPr sz="2000" b="1">
                          <a:solidFill>
                            <a:srgbClr val="222222"/>
                          </a:solidFill>
                          <a:latin typeface="Hiragino Sans"/>
                          <a:ea typeface="Hiragino Sans"/>
                          <a:cs typeface="Hiragino Sans"/>
                        </a:rPr>
                        <a:t>特徴量</a:t>
                      </a:r>
                    </a:p>
                  </a:txBody>
                  <a:tcPr/>
                </a:tc>
                <a:tc>
                  <a:txBody>
                    <a:bodyPr/>
                    <a:lstStyle/>
                    <a:p>
                      <a:r>
                        <a:rPr sz="2000" b="1">
                          <a:solidFill>
                            <a:srgbClr val="222222"/>
                          </a:solidFill>
                          <a:latin typeface="Hiragino Sans"/>
                          <a:ea typeface="Hiragino Sans"/>
                          <a:cs typeface="Hiragino Sans"/>
                        </a:rPr>
                        <a:t>定義</a:t>
                      </a:r>
                    </a:p>
                  </a:txBody>
                  <a:tcPr/>
                </a:tc>
                <a:tc>
                  <a:txBody>
                    <a:bodyPr/>
                    <a:lstStyle/>
                    <a:p>
                      <a:r>
                        <a:rPr sz="2000" b="1">
                          <a:solidFill>
                            <a:srgbClr val="222222"/>
                          </a:solidFill>
                          <a:latin typeface="Hiragino Sans"/>
                          <a:ea typeface="Hiragino Sans"/>
                          <a:cs typeface="Hiragino Sans"/>
                        </a:rPr>
                        <a:t>正規化</a:t>
                      </a:r>
                    </a:p>
                  </a:txBody>
                  <a:tcPr/>
                </a:tc>
                <a:extLst>
                  <a:ext uri="{0D108BD9-81ED-4DB2-BD59-A6C34878D82A}">
                    <a16:rowId xmlns:a16="http://schemas.microsoft.com/office/drawing/2014/main" val="10000"/>
                  </a:ext>
                </a:extLst>
              </a:tr>
              <a:tr h="419336">
                <a:tc>
                  <a:txBody>
                    <a:bodyPr/>
                    <a:lstStyle/>
                    <a:p>
                      <a:r>
                        <a:rPr sz="2000" b="0">
                          <a:solidFill>
                            <a:srgbClr val="222222"/>
                          </a:solidFill>
                          <a:latin typeface="Hiragino Sans"/>
                          <a:ea typeface="Hiragino Sans"/>
                          <a:cs typeface="Hiragino Sans"/>
                        </a:rPr>
                        <a:t>承諾傾向</a:t>
                      </a:r>
                    </a:p>
                  </a:txBody>
                  <a:tcPr marT="9000" marB="9000"/>
                </a:tc>
                <a:tc>
                  <a:txBody>
                    <a:bodyPr/>
                    <a:lstStyle/>
                    <a:p>
                      <a:r>
                        <a:rPr sz="2000" b="0">
                          <a:solidFill>
                            <a:srgbClr val="222222"/>
                          </a:solidFill>
                          <a:latin typeface="Hiragino Sans"/>
                          <a:ea typeface="Hiragino Sans"/>
                          <a:cs typeface="Hiragino Sans"/>
                        </a:rPr>
                        <a:t>overall_acceptance_rate</a:t>
                      </a:r>
                    </a:p>
                  </a:txBody>
                  <a:tcPr marT="9000" marB="9000"/>
                </a:tc>
                <a:tc>
                  <a:txBody>
                    <a:bodyPr/>
                    <a:lstStyle/>
                    <a:p>
                      <a:r>
                        <a:rPr sz="2000" b="0">
                          <a:solidFill>
                            <a:srgbClr val="222222"/>
                          </a:solidFill>
                          <a:latin typeface="Hiragino Sans"/>
                          <a:ea typeface="Hiragino Sans"/>
                          <a:cs typeface="Hiragino Sans"/>
                        </a:rPr>
                        <a:t>窓内の全依頼に対する承諾（label=1）の割合</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1"/>
                  </a:ext>
                </a:extLst>
              </a:tr>
              <a:tr h="419336">
                <a:tc>
                  <a:txBody>
                    <a:bodyPr/>
                    <a:lstStyle/>
                    <a:p>
                      <a:r>
                        <a:rPr sz="2000" b="0">
                          <a:solidFill>
                            <a:srgbClr val="222222"/>
                          </a:solidFill>
                          <a:latin typeface="Hiragino Sans"/>
                          <a:ea typeface="Hiragino Sans"/>
                          <a:cs typeface="Hiragino Sans"/>
                        </a:rPr>
                        <a:t>承諾傾向</a:t>
                      </a:r>
                    </a:p>
                  </a:txBody>
                  <a:tcPr marT="9000" marB="9000"/>
                </a:tc>
                <a:tc>
                  <a:txBody>
                    <a:bodyPr/>
                    <a:lstStyle/>
                    <a:p>
                      <a:r>
                        <a:rPr sz="2000" b="0">
                          <a:solidFill>
                            <a:srgbClr val="222222"/>
                          </a:solidFill>
                          <a:latin typeface="Hiragino Sans"/>
                          <a:ea typeface="Hiragino Sans"/>
                          <a:cs typeface="Hiragino Sans"/>
                        </a:rPr>
                        <a:t>recent_acceptance_rate</a:t>
                      </a:r>
                    </a:p>
                  </a:txBody>
                  <a:tcPr marT="9000" marB="9000"/>
                </a:tc>
                <a:tc>
                  <a:txBody>
                    <a:bodyPr/>
                    <a:lstStyle/>
                    <a:p>
                      <a:r>
                        <a:rPr sz="2000" b="0">
                          <a:solidFill>
                            <a:srgbClr val="222222"/>
                          </a:solidFill>
                          <a:latin typeface="Hiragino Sans"/>
                          <a:ea typeface="Hiragino Sans"/>
                          <a:cs typeface="Hiragino Sans"/>
                        </a:rPr>
                        <a:t>直近30日の依頼に対する承諾の割合</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2"/>
                  </a:ext>
                </a:extLst>
              </a:tr>
              <a:tr h="419336">
                <a:tc>
                  <a:txBody>
                    <a:bodyPr/>
                    <a:lstStyle/>
                    <a:p>
                      <a:r>
                        <a:rPr sz="2000" b="0">
                          <a:solidFill>
                            <a:srgbClr val="222222"/>
                          </a:solidFill>
                          <a:latin typeface="Hiragino Sans"/>
                          <a:ea typeface="Hiragino Sans"/>
                          <a:cs typeface="Hiragino Sans"/>
                        </a:rPr>
                        <a:t>承諾傾向</a:t>
                      </a:r>
                    </a:p>
                  </a:txBody>
                  <a:tcPr marT="9000" marB="9000"/>
                </a:tc>
                <a:tc>
                  <a:txBody>
                    <a:bodyPr/>
                    <a:lstStyle/>
                    <a:p>
                      <a:r>
                        <a:rPr sz="2000" b="0">
                          <a:solidFill>
                            <a:srgbClr val="222222"/>
                          </a:solidFill>
                          <a:latin typeface="Hiragino Sans"/>
                          <a:ea typeface="Hiragino Sans"/>
                          <a:cs typeface="Hiragino Sans"/>
                        </a:rPr>
                        <a:t>acceptance_rate_last10</a:t>
                      </a:r>
                    </a:p>
                  </a:txBody>
                  <a:tcPr marT="9000" marB="9000"/>
                </a:tc>
                <a:tc>
                  <a:txBody>
                    <a:bodyPr/>
                    <a:lstStyle/>
                    <a:p>
                      <a:r>
                        <a:rPr sz="2000" b="0">
                          <a:solidFill>
                            <a:srgbClr val="222222"/>
                          </a:solidFill>
                          <a:latin typeface="Hiragino Sans"/>
                          <a:ea typeface="Hiragino Sans"/>
                          <a:cs typeface="Hiragino Sans"/>
                        </a:rPr>
                        <a:t>直近10件の依頼における承諾の割合</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3"/>
                  </a:ext>
                </a:extLst>
              </a:tr>
              <a:tr h="419336">
                <a:tc>
                  <a:txBody>
                    <a:bodyPr/>
                    <a:lstStyle/>
                    <a:p>
                      <a:r>
                        <a:rPr sz="2000" b="0">
                          <a:solidFill>
                            <a:srgbClr val="222222"/>
                          </a:solidFill>
                          <a:latin typeface="Hiragino Sans"/>
                          <a:ea typeface="Hiragino Sans"/>
                          <a:cs typeface="Hiragino Sans"/>
                        </a:rPr>
                        <a:t>承諾傾向</a:t>
                      </a:r>
                    </a:p>
                  </a:txBody>
                  <a:tcPr marT="9000" marB="9000"/>
                </a:tc>
                <a:tc>
                  <a:txBody>
                    <a:bodyPr/>
                    <a:lstStyle/>
                    <a:p>
                      <a:r>
                        <a:rPr sz="2000" b="0">
                          <a:solidFill>
                            <a:srgbClr val="222222"/>
                          </a:solidFill>
                          <a:latin typeface="Hiragino Sans"/>
                          <a:ea typeface="Hiragino Sans"/>
                          <a:cs typeface="Hiragino Sans"/>
                        </a:rPr>
                        <a:t>accept_rate_drift_30d</a:t>
                      </a:r>
                    </a:p>
                  </a:txBody>
                  <a:tcPr marT="9000" marB="9000"/>
                </a:tc>
                <a:tc>
                  <a:txBody>
                    <a:bodyPr/>
                    <a:lstStyle/>
                    <a:p>
                      <a:r>
                        <a:rPr sz="2000" b="0">
                          <a:solidFill>
                            <a:srgbClr val="222222"/>
                          </a:solidFill>
                          <a:latin typeface="Hiragino Sans"/>
                          <a:ea typeface="Hiragino Sans"/>
                          <a:cs typeface="Hiragino Sans"/>
                        </a:rPr>
                        <a:t>直近30日の承諾率 − 窓全体の承諾率</a:t>
                      </a:r>
                    </a:p>
                  </a:txBody>
                  <a:tcPr marT="9000" marB="9000"/>
                </a:tc>
                <a:tc>
                  <a:txBody>
                    <a:bodyPr/>
                    <a:lstStyle/>
                    <a:p>
                      <a:r>
                        <a:rPr sz="2000" b="0">
                          <a:solidFill>
                            <a:srgbClr val="222222"/>
                          </a:solidFill>
                          <a:latin typeface="Hiragino Sans"/>
                          <a:ea typeface="Hiragino Sans"/>
                          <a:cs typeface="Hiragino Sans"/>
                        </a:rPr>
                        <a:t>[-1, +1]（正規化の対象外）</a:t>
                      </a:r>
                    </a:p>
                  </a:txBody>
                  <a:tcPr marT="9000" marB="9000"/>
                </a:tc>
                <a:extLst>
                  <a:ext uri="{0D108BD9-81ED-4DB2-BD59-A6C34878D82A}">
                    <a16:rowId xmlns:a16="http://schemas.microsoft.com/office/drawing/2014/main" val="10004"/>
                  </a:ext>
                </a:extLst>
              </a:tr>
              <a:tr h="419336">
                <a:tc>
                  <a:txBody>
                    <a:bodyPr/>
                    <a:lstStyle/>
                    <a:p>
                      <a:r>
                        <a:rPr sz="2000" b="0">
                          <a:solidFill>
                            <a:srgbClr val="222222"/>
                          </a:solidFill>
                          <a:latin typeface="Hiragino Sans"/>
                          <a:ea typeface="Hiragino Sans"/>
                          <a:cs typeface="Hiragino Sans"/>
                        </a:rPr>
                        <a:t>承諾傾向</a:t>
                      </a:r>
                    </a:p>
                  </a:txBody>
                  <a:tcPr marT="9000" marB="9000"/>
                </a:tc>
                <a:tc>
                  <a:txBody>
                    <a:bodyPr/>
                    <a:lstStyle/>
                    <a:p>
                      <a:r>
                        <a:rPr sz="2000" b="0">
                          <a:solidFill>
                            <a:srgbClr val="222222"/>
                          </a:solidFill>
                          <a:latin typeface="Hiragino Sans"/>
                          <a:ea typeface="Hiragino Sans"/>
                          <a:cs typeface="Hiragino Sans"/>
                        </a:rPr>
                        <a:t>time_since_last_accept</a:t>
                      </a:r>
                    </a:p>
                  </a:txBody>
                  <a:tcPr marT="9000" marB="9000"/>
                </a:tc>
                <a:tc>
                  <a:txBody>
                    <a:bodyPr/>
                    <a:lstStyle/>
                    <a:p>
                      <a:r>
                        <a:rPr sz="2000" b="0">
                          <a:solidFill>
                            <a:srgbClr val="222222"/>
                          </a:solidFill>
                          <a:latin typeface="Hiragino Sans"/>
                          <a:ea typeface="Hiragino Sans"/>
                          <a:cs typeface="Hiragino Sans"/>
                        </a:rPr>
                        <a:t>最後に承諾（label=1）してからの経過日数</a:t>
                      </a:r>
                    </a:p>
                  </a:txBody>
                  <a:tcPr marT="9000" marB="9000"/>
                </a:tc>
                <a:tc>
                  <a:txBody>
                    <a:bodyPr/>
                    <a:lstStyle/>
                    <a:p>
                      <a:r>
                        <a:rPr sz="2000" b="0">
                          <a:solidFill>
                            <a:srgbClr val="222222"/>
                          </a:solidFill>
                          <a:latin typeface="Hiragino Sans"/>
                          <a:ea typeface="Hiragino Sans"/>
                          <a:cs typeface="Hiragino Sans"/>
                        </a:rPr>
                        <a:t>log1p / log1p(730)</a:t>
                      </a:r>
                    </a:p>
                  </a:txBody>
                  <a:tcPr marT="9000" marB="9000"/>
                </a:tc>
                <a:extLst>
                  <a:ext uri="{0D108BD9-81ED-4DB2-BD59-A6C34878D82A}">
                    <a16:rowId xmlns:a16="http://schemas.microsoft.com/office/drawing/2014/main" val="10005"/>
                  </a:ext>
                </a:extLst>
              </a:tr>
              <a:tr h="419336">
                <a:tc>
                  <a:txBody>
                    <a:bodyPr/>
                    <a:lstStyle/>
                    <a:p>
                      <a:r>
                        <a:rPr sz="2000" b="0">
                          <a:solidFill>
                            <a:srgbClr val="222222"/>
                          </a:solidFill>
                          <a:latin typeface="Hiragino Sans"/>
                          <a:ea typeface="Hiragino Sans"/>
                          <a:cs typeface="Hiragino Sans"/>
                        </a:rPr>
                        <a:t>承諾傾向</a:t>
                      </a:r>
                    </a:p>
                  </a:txBody>
                  <a:tcPr marT="9000" marB="9000"/>
                </a:tc>
                <a:tc>
                  <a:txBody>
                    <a:bodyPr/>
                    <a:lstStyle/>
                    <a:p>
                      <a:r>
                        <a:rPr sz="2000" b="0">
                          <a:solidFill>
                            <a:srgbClr val="222222"/>
                          </a:solidFill>
                          <a:latin typeface="Hiragino Sans"/>
                          <a:ea typeface="Hiragino Sans"/>
                          <a:cs typeface="Hiragino Sans"/>
                        </a:rPr>
                        <a:t>time_since_last_reject</a:t>
                      </a:r>
                    </a:p>
                  </a:txBody>
                  <a:tcPr marT="9000" marB="9000"/>
                </a:tc>
                <a:tc>
                  <a:txBody>
                    <a:bodyPr/>
                    <a:lstStyle/>
                    <a:p>
                      <a:r>
                        <a:rPr sz="2000" b="0">
                          <a:solidFill>
                            <a:srgbClr val="222222"/>
                          </a:solidFill>
                          <a:latin typeface="Hiragino Sans"/>
                          <a:ea typeface="Hiragino Sans"/>
                          <a:cs typeface="Hiragino Sans"/>
                        </a:rPr>
                        <a:t>最後に拒否（label=0）してからの経過日数</a:t>
                      </a:r>
                    </a:p>
                  </a:txBody>
                  <a:tcPr marT="9000" marB="9000"/>
                </a:tc>
                <a:tc>
                  <a:txBody>
                    <a:bodyPr/>
                    <a:lstStyle/>
                    <a:p>
                      <a:r>
                        <a:rPr sz="2000" b="0">
                          <a:solidFill>
                            <a:srgbClr val="222222"/>
                          </a:solidFill>
                          <a:latin typeface="Hiragino Sans"/>
                          <a:ea typeface="Hiragino Sans"/>
                          <a:cs typeface="Hiragino Sans"/>
                        </a:rPr>
                        <a:t>log1p / log1p(730)</a:t>
                      </a:r>
                    </a:p>
                  </a:txBody>
                  <a:tcPr marT="9000" marB="9000"/>
                </a:tc>
                <a:extLst>
                  <a:ext uri="{0D108BD9-81ED-4DB2-BD59-A6C34878D82A}">
                    <a16:rowId xmlns:a16="http://schemas.microsoft.com/office/drawing/2014/main" val="10006"/>
                  </a:ext>
                </a:extLst>
              </a:tr>
              <a:tr h="419336">
                <a:tc>
                  <a:txBody>
                    <a:bodyPr/>
                    <a:lstStyle/>
                    <a:p>
                      <a:r>
                        <a:rPr sz="2000" b="0">
                          <a:solidFill>
                            <a:srgbClr val="222222"/>
                          </a:solidFill>
                          <a:latin typeface="Hiragino Sans"/>
                          <a:ea typeface="Hiragino Sans"/>
                          <a:cs typeface="Hiragino Sans"/>
                        </a:rPr>
                        <a:t>承諾傾向</a:t>
                      </a:r>
                    </a:p>
                  </a:txBody>
                  <a:tcPr marT="9000" marB="9000"/>
                </a:tc>
                <a:tc>
                  <a:txBody>
                    <a:bodyPr/>
                    <a:lstStyle/>
                    <a:p>
                      <a:r>
                        <a:rPr sz="2000" b="0">
                          <a:solidFill>
                            <a:srgbClr val="222222"/>
                          </a:solidFill>
                          <a:latin typeface="Hiragino Sans"/>
                          <a:ea typeface="Hiragino Sans"/>
                          <a:cs typeface="Hiragino Sans"/>
                        </a:rPr>
                        <a:t>recent_switch_rate</a:t>
                      </a:r>
                    </a:p>
                  </a:txBody>
                  <a:tcPr marT="9000" marB="9000"/>
                </a:tc>
                <a:tc>
                  <a:txBody>
                    <a:bodyPr/>
                    <a:lstStyle/>
                    <a:p>
                      <a:r>
                        <a:rPr sz="2000" b="0">
                          <a:solidFill>
                            <a:srgbClr val="222222"/>
                          </a:solidFill>
                          <a:latin typeface="Hiragino Sans"/>
                          <a:ea typeface="Hiragino Sans"/>
                          <a:cs typeface="Hiragino Sans"/>
                        </a:rPr>
                        <a:t>直近10件での承諾⇄拒否の切り替わり率（変動の大きさ）</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7"/>
                  </a:ext>
                </a:extLst>
              </a:tr>
              <a:tr h="419336">
                <a:tc>
                  <a:txBody>
                    <a:bodyPr/>
                    <a:lstStyle/>
                    <a:p>
                      <a:r>
                        <a:rPr sz="2000" b="0">
                          <a:solidFill>
                            <a:srgbClr val="222222"/>
                          </a:solidFill>
                          <a:latin typeface="Hiragino Sans"/>
                          <a:ea typeface="Hiragino Sans"/>
                          <a:cs typeface="Hiragino Sans"/>
                        </a:rPr>
                        <a:t>役割・ネットワーク</a:t>
                      </a:r>
                    </a:p>
                  </a:txBody>
                  <a:tcPr marT="9000" marB="9000"/>
                </a:tc>
                <a:tc>
                  <a:txBody>
                    <a:bodyPr/>
                    <a:lstStyle/>
                    <a:p>
                      <a:r>
                        <a:rPr sz="2000" b="0">
                          <a:solidFill>
                            <a:srgbClr val="222222"/>
                          </a:solidFill>
                          <a:latin typeface="Hiragino Sans"/>
                          <a:ea typeface="Hiragino Sans"/>
                          <a:cs typeface="Hiragino Sans"/>
                        </a:rPr>
                        <a:t>reviewer_owner_ratio</a:t>
                      </a:r>
                    </a:p>
                  </a:txBody>
                  <a:tcPr marT="9000" marB="9000"/>
                </a:tc>
                <a:tc>
                  <a:txBody>
                    <a:bodyPr/>
                    <a:lstStyle/>
                    <a:p>
                      <a:r>
                        <a:rPr sz="2000" b="0">
                          <a:solidFill>
                            <a:srgbClr val="222222"/>
                          </a:solidFill>
                          <a:latin typeface="Hiragino Sans"/>
                          <a:ea typeface="Hiragino Sans"/>
                          <a:cs typeface="Hiragino Sans"/>
                        </a:rPr>
                        <a:t>レビュー件数 ÷（レビュー件数＋投稿件数）＝役割バランス</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8"/>
                  </a:ext>
                </a:extLst>
              </a:tr>
              <a:tr h="419336">
                <a:tc>
                  <a:txBody>
                    <a:bodyPr/>
                    <a:lstStyle/>
                    <a:p>
                      <a:r>
                        <a:rPr sz="2000" b="0">
                          <a:solidFill>
                            <a:srgbClr val="222222"/>
                          </a:solidFill>
                          <a:latin typeface="Hiragino Sans"/>
                          <a:ea typeface="Hiragino Sans"/>
                          <a:cs typeface="Hiragino Sans"/>
                        </a:rPr>
                        <a:t>役割・ネットワーク</a:t>
                      </a:r>
                    </a:p>
                  </a:txBody>
                  <a:tcPr marT="9000" marB="9000"/>
                </a:tc>
                <a:tc>
                  <a:txBody>
                    <a:bodyPr/>
                    <a:lstStyle/>
                    <a:p>
                      <a:r>
                        <a:rPr sz="2000" b="0">
                          <a:solidFill>
                            <a:srgbClr val="222222"/>
                          </a:solidFill>
                          <a:latin typeface="Hiragino Sans"/>
                          <a:ea typeface="Hiragino Sans"/>
                          <a:cs typeface="Hiragino Sans"/>
                        </a:rPr>
                        <a:t>core_reviewer_ratio</a:t>
                      </a:r>
                    </a:p>
                  </a:txBody>
                  <a:tcPr marT="9000" marB="9000"/>
                </a:tc>
                <a:tc>
                  <a:txBody>
                    <a:bodyPr/>
                    <a:lstStyle/>
                    <a:p>
                      <a:r>
                        <a:rPr sz="2000" b="0">
                          <a:solidFill>
                            <a:srgbClr val="222222"/>
                          </a:solidFill>
                          <a:latin typeface="Hiragino Sans"/>
                          <a:ea typeface="Hiragino Sans"/>
                          <a:cs typeface="Hiragino Sans"/>
                        </a:rPr>
                        <a:t>自分のレビュー件数 ÷ プロジェクト全体の依頼件数</a:t>
                      </a:r>
                    </a:p>
                  </a:txBody>
                  <a:tcPr marT="9000" marB="9000"/>
                </a:tc>
                <a:tc>
                  <a:txBody>
                    <a:bodyPr/>
                    <a:lstStyle/>
                    <a:p>
                      <a:r>
                        <a:rPr sz="2000" b="0">
                          <a:solidFill>
                            <a:srgbClr val="222222"/>
                          </a:solidFill>
                          <a:latin typeface="Hiragino Sans"/>
                          <a:ea typeface="Hiragino Sans"/>
                          <a:cs typeface="Hiragino Sans"/>
                        </a:rPr>
                        <a:t>0.2 で除算しクリップ</a:t>
                      </a:r>
                    </a:p>
                  </a:txBody>
                  <a:tcPr marT="9000" marB="9000"/>
                </a:tc>
                <a:extLst>
                  <a:ext uri="{0D108BD9-81ED-4DB2-BD59-A6C34878D82A}">
                    <a16:rowId xmlns:a16="http://schemas.microsoft.com/office/drawing/2014/main" val="10009"/>
                  </a:ext>
                </a:extLst>
              </a:tr>
              <a:tr h="419336">
                <a:tc>
                  <a:txBody>
                    <a:bodyPr/>
                    <a:lstStyle/>
                    <a:p>
                      <a:r>
                        <a:rPr sz="2000" b="0">
                          <a:solidFill>
                            <a:srgbClr val="222222"/>
                          </a:solidFill>
                          <a:latin typeface="Hiragino Sans"/>
                          <a:ea typeface="Hiragino Sans"/>
                          <a:cs typeface="Hiragino Sans"/>
                        </a:rPr>
                        <a:t>役割・ネットワーク</a:t>
                      </a:r>
                    </a:p>
                  </a:txBody>
                  <a:tcPr marT="9000" marB="9000"/>
                </a:tc>
                <a:tc>
                  <a:txBody>
                    <a:bodyPr/>
                    <a:lstStyle/>
                    <a:p>
                      <a:r>
                        <a:rPr sz="2000" b="0">
                          <a:solidFill>
                            <a:srgbClr val="222222"/>
                          </a:solidFill>
                          <a:latin typeface="Hiragino Sans"/>
                          <a:ea typeface="Hiragino Sans"/>
                          <a:cs typeface="Hiragino Sans"/>
                        </a:rPr>
                        <a:t>unique_collaborator_count</a:t>
                      </a:r>
                    </a:p>
                  </a:txBody>
                  <a:tcPr marT="9000" marB="9000"/>
                </a:tc>
                <a:tc>
                  <a:txBody>
                    <a:bodyPr/>
                    <a:lstStyle/>
                    <a:p>
                      <a:r>
                        <a:rPr sz="2000" b="0">
                          <a:solidFill>
                            <a:srgbClr val="222222"/>
                          </a:solidFill>
                          <a:latin typeface="Hiragino Sans"/>
                          <a:ea typeface="Hiragino Sans"/>
                          <a:cs typeface="Hiragino Sans"/>
                        </a:rPr>
                        <a:t>窓内に関わったユニークな owner 数のスコア</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10"/>
                  </a:ext>
                </a:extLst>
              </a:tr>
              <a:tr h="419336">
                <a:tc>
                  <a:txBody>
                    <a:bodyPr/>
                    <a:lstStyle/>
                    <a:p>
                      <a:r>
                        <a:rPr sz="2000" b="0">
                          <a:solidFill>
                            <a:srgbClr val="222222"/>
                          </a:solidFill>
                          <a:latin typeface="Hiragino Sans"/>
                          <a:ea typeface="Hiragino Sans"/>
                          <a:cs typeface="Hiragino Sans"/>
                        </a:rPr>
                        <a:t>役割・ネットワーク</a:t>
                      </a:r>
                    </a:p>
                  </a:txBody>
                  <a:tcPr marT="9000" marB="9000"/>
                </a:tc>
                <a:tc>
                  <a:txBody>
                    <a:bodyPr/>
                    <a:lstStyle/>
                    <a:p>
                      <a:r>
                        <a:rPr sz="2000" b="0" dirty="0" err="1">
                          <a:solidFill>
                            <a:srgbClr val="222222"/>
                          </a:solidFill>
                          <a:latin typeface="Hiragino Sans"/>
                          <a:ea typeface="Hiragino Sans"/>
                          <a:cs typeface="Hiragino Sans"/>
                        </a:rPr>
                        <a:t>reciprocity_score</a:t>
                      </a:r>
                      <a:endParaRPr sz="2000" b="0" dirty="0">
                        <a:solidFill>
                          <a:srgbClr val="222222"/>
                        </a:solidFill>
                        <a:latin typeface="Hiragino Sans"/>
                        <a:ea typeface="Hiragino Sans"/>
                        <a:cs typeface="Hiragino Sans"/>
                      </a:endParaRPr>
                    </a:p>
                  </a:txBody>
                  <a:tcPr marT="9000" marB="9000"/>
                </a:tc>
                <a:tc>
                  <a:txBody>
                    <a:bodyPr/>
                    <a:lstStyle/>
                    <a:p>
                      <a:r>
                        <a:rPr sz="2000" b="0">
                          <a:solidFill>
                            <a:srgbClr val="222222"/>
                          </a:solidFill>
                          <a:latin typeface="Hiragino Sans"/>
                          <a:ea typeface="Hiragino Sans"/>
                          <a:cs typeface="Hiragino Sans"/>
                        </a:rPr>
                        <a:t>自分がレビューした owner のうち、自分の変更もレビューした人の割合</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11"/>
                  </a:ext>
                </a:extLst>
              </a:tr>
              <a:tr h="419336">
                <a:tc>
                  <a:txBody>
                    <a:bodyPr/>
                    <a:lstStyle/>
                    <a:p>
                      <a:r>
                        <a:rPr sz="2000" b="0">
                          <a:solidFill>
                            <a:srgbClr val="222222"/>
                          </a:solidFill>
                          <a:latin typeface="Hiragino Sans"/>
                          <a:ea typeface="Hiragino Sans"/>
                          <a:cs typeface="Hiragino Sans"/>
                        </a:rPr>
                        <a:t>役割・ネットワーク</a:t>
                      </a:r>
                    </a:p>
                  </a:txBody>
                  <a:tcPr marT="9000" marB="9000"/>
                </a:tc>
                <a:tc>
                  <a:txBody>
                    <a:bodyPr/>
                    <a:lstStyle/>
                    <a:p>
                      <a:r>
                        <a:rPr sz="2000" b="0" dirty="0" err="1">
                          <a:solidFill>
                            <a:srgbClr val="222222"/>
                          </a:solidFill>
                          <a:latin typeface="Hiragino Sans"/>
                          <a:ea typeface="Hiragino Sans"/>
                          <a:cs typeface="Hiragino Sans"/>
                        </a:rPr>
                        <a:t>cross_project_review_share</a:t>
                      </a:r>
                      <a:endParaRPr sz="2000" b="0" dirty="0">
                        <a:solidFill>
                          <a:srgbClr val="222222"/>
                        </a:solidFill>
                        <a:latin typeface="Hiragino Sans"/>
                        <a:ea typeface="Hiragino Sans"/>
                        <a:cs typeface="Hiragino Sans"/>
                      </a:endParaRPr>
                    </a:p>
                  </a:txBody>
                  <a:tcPr marT="9000" marB="9000"/>
                </a:tc>
                <a:tc>
                  <a:txBody>
                    <a:bodyPr/>
                    <a:lstStyle/>
                    <a:p>
                      <a:r>
                        <a:rPr sz="2000" b="0">
                          <a:solidFill>
                            <a:srgbClr val="222222"/>
                          </a:solidFill>
                          <a:latin typeface="Hiragino Sans"/>
                          <a:ea typeface="Hiragino Sans"/>
                          <a:cs typeface="Hiragino Sans"/>
                        </a:rPr>
                        <a:t>ホームプロジェクト以外でのレビュー比率</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12"/>
                  </a:ext>
                </a:extLst>
              </a:tr>
              <a:tr h="419336">
                <a:tc>
                  <a:txBody>
                    <a:bodyPr/>
                    <a:lstStyle/>
                    <a:p>
                      <a:r>
                        <a:rPr sz="2000" b="0">
                          <a:solidFill>
                            <a:srgbClr val="222222"/>
                          </a:solidFill>
                          <a:latin typeface="Hiragino Sans"/>
                          <a:ea typeface="Hiragino Sans"/>
                          <a:cs typeface="Hiragino Sans"/>
                        </a:rPr>
                        <a:t>役割・ネットワーク</a:t>
                      </a:r>
                    </a:p>
                  </a:txBody>
                  <a:tcPr marT="9000" marB="9000"/>
                </a:tc>
                <a:tc>
                  <a:txBody>
                    <a:bodyPr/>
                    <a:lstStyle/>
                    <a:p>
                      <a:r>
                        <a:rPr sz="2000" b="0" dirty="0" err="1">
                          <a:solidFill>
                            <a:srgbClr val="222222"/>
                          </a:solidFill>
                          <a:latin typeface="Hiragino Sans"/>
                          <a:ea typeface="Hiragino Sans"/>
                          <a:cs typeface="Hiragino Sans"/>
                        </a:rPr>
                        <a:t>same_domain_share</a:t>
                      </a:r>
                      <a:endParaRPr sz="2000" b="0" dirty="0">
                        <a:solidFill>
                          <a:srgbClr val="222222"/>
                        </a:solidFill>
                        <a:latin typeface="Hiragino Sans"/>
                        <a:ea typeface="Hiragino Sans"/>
                        <a:cs typeface="Hiragino Sans"/>
                      </a:endParaRPr>
                    </a:p>
                  </a:txBody>
                  <a:tcPr marT="9000" marB="9000"/>
                </a:tc>
                <a:tc>
                  <a:txBody>
                    <a:bodyPr/>
                    <a:lstStyle/>
                    <a:p>
                      <a:r>
                        <a:rPr sz="2000" b="0">
                          <a:solidFill>
                            <a:srgbClr val="222222"/>
                          </a:solidFill>
                          <a:latin typeface="Hiragino Sans"/>
                          <a:ea typeface="Hiragino Sans"/>
                          <a:cs typeface="Hiragino Sans"/>
                        </a:rPr>
                        <a:t>owner と email ドメインが一致する依頼の比率</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13"/>
                  </a:ext>
                </a:extLst>
              </a:tr>
              <a:tr h="419336">
                <a:tc>
                  <a:txBody>
                    <a:bodyPr/>
                    <a:lstStyle/>
                    <a:p>
                      <a:r>
                        <a:rPr sz="2000" b="0">
                          <a:solidFill>
                            <a:srgbClr val="222222"/>
                          </a:solidFill>
                          <a:latin typeface="Hiragino Sans"/>
                          <a:ea typeface="Hiragino Sans"/>
                          <a:cs typeface="Hiragino Sans"/>
                        </a:rPr>
                        <a:t>役割・ネットワーク</a:t>
                      </a:r>
                    </a:p>
                  </a:txBody>
                  <a:tcPr marT="9000" marB="9000"/>
                </a:tc>
                <a:tc>
                  <a:txBody>
                    <a:bodyPr/>
                    <a:lstStyle/>
                    <a:p>
                      <a:r>
                        <a:rPr sz="2000" b="0">
                          <a:solidFill>
                            <a:srgbClr val="222222"/>
                          </a:solidFill>
                          <a:latin typeface="Hiragino Sans"/>
                          <a:ea typeface="Hiragino Sans"/>
                          <a:cs typeface="Hiragino Sans"/>
                        </a:rPr>
                        <a:t>response_time_trend</a:t>
                      </a:r>
                    </a:p>
                  </a:txBody>
                  <a:tcPr marT="9000" marB="9000"/>
                </a:tc>
                <a:tc>
                  <a:txBody>
                    <a:bodyPr/>
                    <a:lstStyle/>
                    <a:p>
                      <a:r>
                        <a:rPr sz="2000" b="0">
                          <a:solidFill>
                            <a:srgbClr val="222222"/>
                          </a:solidFill>
                          <a:latin typeface="Hiragino Sans"/>
                          <a:ea typeface="Hiragino Sans"/>
                          <a:cs typeface="Hiragino Sans"/>
                        </a:rPr>
                        <a:t>直近30日の応答速度 − 窓全体の応答速度（速度=1/(1+日数/3)）</a:t>
                      </a:r>
                    </a:p>
                  </a:txBody>
                  <a:tcPr marT="9000" marB="9000"/>
                </a:tc>
                <a:tc>
                  <a:txBody>
                    <a:bodyPr/>
                    <a:lstStyle/>
                    <a:p>
                      <a:r>
                        <a:rPr sz="2000" b="0" dirty="0">
                          <a:solidFill>
                            <a:srgbClr val="222222"/>
                          </a:solidFill>
                          <a:latin typeface="Hiragino Sans"/>
                          <a:ea typeface="Hiragino Sans"/>
                          <a:cs typeface="Hiragino Sans"/>
                        </a:rPr>
                        <a:t>[-1, +1]（</a:t>
                      </a:r>
                      <a:r>
                        <a:rPr sz="2000" b="0" dirty="0" err="1">
                          <a:solidFill>
                            <a:srgbClr val="222222"/>
                          </a:solidFill>
                          <a:latin typeface="Hiragino Sans"/>
                          <a:ea typeface="Hiragino Sans"/>
                          <a:cs typeface="Hiragino Sans"/>
                        </a:rPr>
                        <a:t>正規化の対象外</a:t>
                      </a:r>
                      <a:r>
                        <a:rPr sz="2000" b="0" dirty="0">
                          <a:solidFill>
                            <a:srgbClr val="222222"/>
                          </a:solidFill>
                          <a:latin typeface="Hiragino Sans"/>
                          <a:ea typeface="Hiragino Sans"/>
                          <a:cs typeface="Hiragino Sans"/>
                        </a:rPr>
                        <a:t>）</a:t>
                      </a:r>
                    </a:p>
                  </a:txBody>
                  <a:tcPr marT="9000" marB="9000"/>
                </a:tc>
                <a:extLst>
                  <a:ext uri="{0D108BD9-81ED-4DB2-BD59-A6C34878D82A}">
                    <a16:rowId xmlns:a16="http://schemas.microsoft.com/office/drawing/2014/main" val="1001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S-A4　ディレクトリ親和度 6次元 ＋ 活動特徴 5次元</a:t>
            </a:r>
          </a:p>
        </p:txBody>
      </p:sp>
      <p:sp>
        <p:nvSpPr>
          <p:cNvPr id="3" name="TextBox 2"/>
          <p:cNvSpPr txBox="1"/>
          <p:nvPr/>
        </p:nvSpPr>
        <p:spPr>
          <a:xfrm>
            <a:off x="589460" y="1140985"/>
            <a:ext cx="16123491" cy="780161"/>
          </a:xfrm>
          <a:prstGeom prst="rect">
            <a:avLst/>
          </a:prstGeom>
          <a:noFill/>
        </p:spPr>
        <p:txBody>
          <a:bodyPr wrap="square">
            <a:spAutoFit/>
          </a:bodyPr>
          <a:lstStyle/>
          <a:p>
            <a:r>
              <a:rPr sz="1848" b="0">
                <a:solidFill>
                  <a:srgbClr val="777777"/>
                </a:solidFill>
                <a:latin typeface="Hiragino Sans"/>
                <a:ea typeface="Hiragino Sans"/>
                <a:cs typeface="Hiragino Sans"/>
              </a:rPr>
              <a:t>ディレクトリ親和度がモジュール単位予測の中核。活動特徴5次元はRFのみが使う。</a:t>
            </a:r>
          </a:p>
        </p:txBody>
      </p:sp>
      <p:sp>
        <p:nvSpPr>
          <p:cNvPr id="4" name="TextBox 3"/>
          <p:cNvSpPr txBox="1"/>
          <p:nvPr/>
        </p:nvSpPr>
        <p:spPr>
          <a:xfrm>
            <a:off x="589460" y="9040116"/>
            <a:ext cx="16123491" cy="487600"/>
          </a:xfrm>
          <a:prstGeom prst="rect">
            <a:avLst/>
          </a:prstGeom>
          <a:noFill/>
        </p:spPr>
        <p:txBody>
          <a:bodyPr wrap="square">
            <a:spAutoFit/>
          </a:bodyPr>
          <a:lstStyle/>
          <a:p>
            <a:r>
              <a:rPr sz="1279" b="0">
                <a:solidFill>
                  <a:srgbClr val="777777"/>
                </a:solidFill>
                <a:latin typeface="Hiragino Sans"/>
                <a:ea typeface="Hiragino Sans"/>
                <a:cs typeface="Hiragino Sans"/>
              </a:rPr>
              <a:t>出所: src/review_predictor/IRL/features/path_features.py:81-88 / src/review_predictor/IRL/features/common_features.py:145-151</a:t>
            </a:r>
          </a:p>
        </p:txBody>
      </p:sp>
      <p:graphicFrame>
        <p:nvGraphicFramePr>
          <p:cNvPr id="5" name="Table 4"/>
          <p:cNvGraphicFramePr>
            <a:graphicFrameLocks noGrp="1"/>
          </p:cNvGraphicFramePr>
          <p:nvPr/>
        </p:nvGraphicFramePr>
        <p:xfrm>
          <a:off x="589460" y="2018666"/>
          <a:ext cx="16123489" cy="6682952"/>
        </p:xfrm>
        <a:graphic>
          <a:graphicData uri="http://schemas.openxmlformats.org/drawingml/2006/table">
            <a:tbl>
              <a:tblPr firstRow="1" bandRow="1">
                <a:tableStyleId>{5C22544A-7EE6-4342-B048-85BDC9FD1C3A}</a:tableStyleId>
              </a:tblPr>
              <a:tblGrid>
                <a:gridCol w="2519295">
                  <a:extLst>
                    <a:ext uri="{9D8B030D-6E8A-4147-A177-3AD203B41FA5}">
                      <a16:colId xmlns:a16="http://schemas.microsoft.com/office/drawing/2014/main" val="20000"/>
                    </a:ext>
                  </a:extLst>
                </a:gridCol>
                <a:gridCol w="3778943">
                  <a:extLst>
                    <a:ext uri="{9D8B030D-6E8A-4147-A177-3AD203B41FA5}">
                      <a16:colId xmlns:a16="http://schemas.microsoft.com/office/drawing/2014/main" val="20001"/>
                    </a:ext>
                  </a:extLst>
                </a:gridCol>
                <a:gridCol w="6676132">
                  <a:extLst>
                    <a:ext uri="{9D8B030D-6E8A-4147-A177-3AD203B41FA5}">
                      <a16:colId xmlns:a16="http://schemas.microsoft.com/office/drawing/2014/main" val="20002"/>
                    </a:ext>
                  </a:extLst>
                </a:gridCol>
                <a:gridCol w="3149119">
                  <a:extLst>
                    <a:ext uri="{9D8B030D-6E8A-4147-A177-3AD203B41FA5}">
                      <a16:colId xmlns:a16="http://schemas.microsoft.com/office/drawing/2014/main" val="20003"/>
                    </a:ext>
                  </a:extLst>
                </a:gridCol>
              </a:tblGrid>
              <a:tr h="419336">
                <a:tc>
                  <a:txBody>
                    <a:bodyPr/>
                    <a:lstStyle/>
                    <a:p>
                      <a:r>
                        <a:rPr sz="2000" b="1">
                          <a:solidFill>
                            <a:srgbClr val="222222"/>
                          </a:solidFill>
                          <a:latin typeface="Hiragino Sans"/>
                          <a:ea typeface="Hiragino Sans"/>
                          <a:cs typeface="Hiragino Sans"/>
                        </a:rPr>
                        <a:t>カテゴリ</a:t>
                      </a:r>
                    </a:p>
                  </a:txBody>
                  <a:tcPr/>
                </a:tc>
                <a:tc>
                  <a:txBody>
                    <a:bodyPr/>
                    <a:lstStyle/>
                    <a:p>
                      <a:r>
                        <a:rPr sz="2000" b="1">
                          <a:solidFill>
                            <a:srgbClr val="222222"/>
                          </a:solidFill>
                          <a:latin typeface="Hiragino Sans"/>
                          <a:ea typeface="Hiragino Sans"/>
                          <a:cs typeface="Hiragino Sans"/>
                        </a:rPr>
                        <a:t>特徴量</a:t>
                      </a:r>
                    </a:p>
                  </a:txBody>
                  <a:tcPr/>
                </a:tc>
                <a:tc>
                  <a:txBody>
                    <a:bodyPr/>
                    <a:lstStyle/>
                    <a:p>
                      <a:r>
                        <a:rPr sz="2000" b="1">
                          <a:solidFill>
                            <a:srgbClr val="222222"/>
                          </a:solidFill>
                          <a:latin typeface="Hiragino Sans"/>
                          <a:ea typeface="Hiragino Sans"/>
                          <a:cs typeface="Hiragino Sans"/>
                        </a:rPr>
                        <a:t>定義</a:t>
                      </a:r>
                    </a:p>
                  </a:txBody>
                  <a:tcPr/>
                </a:tc>
                <a:tc>
                  <a:txBody>
                    <a:bodyPr/>
                    <a:lstStyle/>
                    <a:p>
                      <a:r>
                        <a:rPr sz="2000" b="1">
                          <a:solidFill>
                            <a:srgbClr val="222222"/>
                          </a:solidFill>
                          <a:latin typeface="Hiragino Sans"/>
                          <a:ea typeface="Hiragino Sans"/>
                          <a:cs typeface="Hiragino Sans"/>
                        </a:rPr>
                        <a:t>正規化</a:t>
                      </a:r>
                    </a:p>
                  </a:txBody>
                  <a:tcPr/>
                </a:tc>
                <a:extLst>
                  <a:ext uri="{0D108BD9-81ED-4DB2-BD59-A6C34878D82A}">
                    <a16:rowId xmlns:a16="http://schemas.microsoft.com/office/drawing/2014/main" val="10000"/>
                  </a:ext>
                </a:extLst>
              </a:tr>
              <a:tr h="419336">
                <a:tc>
                  <a:txBody>
                    <a:bodyPr/>
                    <a:lstStyle/>
                    <a:p>
                      <a:r>
                        <a:rPr sz="2000" b="0">
                          <a:solidFill>
                            <a:srgbClr val="222222"/>
                          </a:solidFill>
                          <a:latin typeface="Hiragino Sans"/>
                          <a:ea typeface="Hiragino Sans"/>
                          <a:cs typeface="Hiragino Sans"/>
                        </a:rPr>
                        <a:t>ディレクトリ親和度</a:t>
                      </a:r>
                    </a:p>
                  </a:txBody>
                  <a:tcPr marT="9000" marB="9000"/>
                </a:tc>
                <a:tc>
                  <a:txBody>
                    <a:bodyPr/>
                    <a:lstStyle/>
                    <a:p>
                      <a:r>
                        <a:rPr sz="2000" b="0">
                          <a:solidFill>
                            <a:srgbClr val="222222"/>
                          </a:solidFill>
                          <a:latin typeface="Hiragino Sans"/>
                          <a:ea typeface="Hiragino Sans"/>
                          <a:cs typeface="Hiragino Sans"/>
                        </a:rPr>
                        <a:t>path_review_count</a:t>
                      </a:r>
                    </a:p>
                  </a:txBody>
                  <a:tcPr marT="9000" marB="9000"/>
                </a:tc>
                <a:tc>
                  <a:txBody>
                    <a:bodyPr/>
                    <a:lstStyle/>
                    <a:p>
                      <a:r>
                        <a:rPr sz="2000" b="0">
                          <a:solidFill>
                            <a:srgbClr val="222222"/>
                          </a:solidFill>
                          <a:latin typeface="Hiragino Sans"/>
                          <a:ea typeface="Hiragino Sans"/>
                          <a:cs typeface="Hiragino Sans"/>
                        </a:rPr>
                        <a:t>対象ディレクトリと交差する過去のレビュー件数</a:t>
                      </a:r>
                    </a:p>
                  </a:txBody>
                  <a:tcPr marT="9000" marB="9000"/>
                </a:tc>
                <a:tc>
                  <a:txBody>
                    <a:bodyPr/>
                    <a:lstStyle/>
                    <a:p>
                      <a:r>
                        <a:rPr sz="2000" b="0">
                          <a:solidFill>
                            <a:srgbClr val="222222"/>
                          </a:solidFill>
                          <a:latin typeface="Hiragino Sans"/>
                          <a:ea typeface="Hiragino Sans"/>
                          <a:cs typeface="Hiragino Sans"/>
                        </a:rPr>
                        <a:t>log1p / log1p(100)（path_features 内で正規化）</a:t>
                      </a:r>
                    </a:p>
                  </a:txBody>
                  <a:tcPr marT="9000" marB="9000"/>
                </a:tc>
                <a:extLst>
                  <a:ext uri="{0D108BD9-81ED-4DB2-BD59-A6C34878D82A}">
                    <a16:rowId xmlns:a16="http://schemas.microsoft.com/office/drawing/2014/main" val="10001"/>
                  </a:ext>
                </a:extLst>
              </a:tr>
              <a:tr h="419336">
                <a:tc>
                  <a:txBody>
                    <a:bodyPr/>
                    <a:lstStyle/>
                    <a:p>
                      <a:r>
                        <a:rPr sz="2000" b="0">
                          <a:solidFill>
                            <a:srgbClr val="222222"/>
                          </a:solidFill>
                          <a:latin typeface="Hiragino Sans"/>
                          <a:ea typeface="Hiragino Sans"/>
                          <a:cs typeface="Hiragino Sans"/>
                        </a:rPr>
                        <a:t>ディレクトリ親和度</a:t>
                      </a:r>
                    </a:p>
                  </a:txBody>
                  <a:tcPr marT="9000" marB="9000"/>
                </a:tc>
                <a:tc>
                  <a:txBody>
                    <a:bodyPr/>
                    <a:lstStyle/>
                    <a:p>
                      <a:r>
                        <a:rPr sz="2000" b="0">
                          <a:solidFill>
                            <a:srgbClr val="222222"/>
                          </a:solidFill>
                          <a:latin typeface="Hiragino Sans"/>
                          <a:ea typeface="Hiragino Sans"/>
                          <a:cs typeface="Hiragino Sans"/>
                        </a:rPr>
                        <a:t>path_recency</a:t>
                      </a:r>
                    </a:p>
                  </a:txBody>
                  <a:tcPr marT="9000" marB="9000"/>
                </a:tc>
                <a:tc>
                  <a:txBody>
                    <a:bodyPr/>
                    <a:lstStyle/>
                    <a:p>
                      <a:r>
                        <a:rPr sz="2000" b="0">
                          <a:solidFill>
                            <a:srgbClr val="222222"/>
                          </a:solidFill>
                          <a:latin typeface="Hiragino Sans"/>
                          <a:ea typeface="Hiragino Sans"/>
                          <a:cs typeface="Hiragino Sans"/>
                        </a:rPr>
                        <a:t>対象ディレクトリを最後に触ってからの経過日数（近いほど1に近い）</a:t>
                      </a:r>
                    </a:p>
                  </a:txBody>
                  <a:tcPr marT="9000" marB="9000"/>
                </a:tc>
                <a:tc>
                  <a:txBody>
                    <a:bodyPr/>
                    <a:lstStyle/>
                    <a:p>
                      <a:r>
                        <a:rPr sz="2000" b="0">
                          <a:solidFill>
                            <a:srgbClr val="222222"/>
                          </a:solidFill>
                          <a:latin typeface="Hiragino Sans"/>
                          <a:ea typeface="Hiragino Sans"/>
                          <a:cs typeface="Hiragino Sans"/>
                        </a:rPr>
                        <a:t>0–1（定義上そのまま）</a:t>
                      </a:r>
                    </a:p>
                  </a:txBody>
                  <a:tcPr marT="9000" marB="9000"/>
                </a:tc>
                <a:extLst>
                  <a:ext uri="{0D108BD9-81ED-4DB2-BD59-A6C34878D82A}">
                    <a16:rowId xmlns:a16="http://schemas.microsoft.com/office/drawing/2014/main" val="10002"/>
                  </a:ext>
                </a:extLst>
              </a:tr>
              <a:tr h="419336">
                <a:tc>
                  <a:txBody>
                    <a:bodyPr/>
                    <a:lstStyle/>
                    <a:p>
                      <a:r>
                        <a:rPr sz="2000" b="0">
                          <a:solidFill>
                            <a:srgbClr val="222222"/>
                          </a:solidFill>
                          <a:latin typeface="Hiragino Sans"/>
                          <a:ea typeface="Hiragino Sans"/>
                          <a:cs typeface="Hiragino Sans"/>
                        </a:rPr>
                        <a:t>ディレクトリ親和度</a:t>
                      </a:r>
                    </a:p>
                  </a:txBody>
                  <a:tcPr marT="9000" marB="9000"/>
                </a:tc>
                <a:tc>
                  <a:txBody>
                    <a:bodyPr/>
                    <a:lstStyle/>
                    <a:p>
                      <a:r>
                        <a:rPr sz="2000" b="0">
                          <a:solidFill>
                            <a:srgbClr val="222222"/>
                          </a:solidFill>
                          <a:latin typeface="Hiragino Sans"/>
                          <a:ea typeface="Hiragino Sans"/>
                          <a:cs typeface="Hiragino Sans"/>
                        </a:rPr>
                        <a:t>path_acceptance_rate</a:t>
                      </a:r>
                    </a:p>
                  </a:txBody>
                  <a:tcPr marT="9000" marB="9000"/>
                </a:tc>
                <a:tc>
                  <a:txBody>
                    <a:bodyPr/>
                    <a:lstStyle/>
                    <a:p>
                      <a:r>
                        <a:rPr sz="2000" b="0">
                          <a:solidFill>
                            <a:srgbClr val="222222"/>
                          </a:solidFill>
                          <a:latin typeface="Hiragino Sans"/>
                          <a:ea typeface="Hiragino Sans"/>
                          <a:cs typeface="Hiragino Sans"/>
                        </a:rPr>
                        <a:t>対象ディレクトリでの過去の承諾率</a:t>
                      </a:r>
                    </a:p>
                  </a:txBody>
                  <a:tcPr marT="9000" marB="9000"/>
                </a:tc>
                <a:tc>
                  <a:txBody>
                    <a:bodyPr/>
                    <a:lstStyle/>
                    <a:p>
                      <a:r>
                        <a:rPr sz="2000" b="0">
                          <a:solidFill>
                            <a:srgbClr val="222222"/>
                          </a:solidFill>
                          <a:latin typeface="Hiragino Sans"/>
                          <a:ea typeface="Hiragino Sans"/>
                          <a:cs typeface="Hiragino Sans"/>
                        </a:rPr>
                        <a:t>0–1（定義上そのまま）</a:t>
                      </a:r>
                    </a:p>
                  </a:txBody>
                  <a:tcPr marT="9000" marB="9000"/>
                </a:tc>
                <a:extLst>
                  <a:ext uri="{0D108BD9-81ED-4DB2-BD59-A6C34878D82A}">
                    <a16:rowId xmlns:a16="http://schemas.microsoft.com/office/drawing/2014/main" val="10003"/>
                  </a:ext>
                </a:extLst>
              </a:tr>
              <a:tr h="419336">
                <a:tc>
                  <a:txBody>
                    <a:bodyPr/>
                    <a:lstStyle/>
                    <a:p>
                      <a:r>
                        <a:rPr sz="2000" b="0">
                          <a:solidFill>
                            <a:srgbClr val="222222"/>
                          </a:solidFill>
                          <a:latin typeface="Hiragino Sans"/>
                          <a:ea typeface="Hiragino Sans"/>
                          <a:cs typeface="Hiragino Sans"/>
                        </a:rPr>
                        <a:t>ディレクトリ親和度</a:t>
                      </a:r>
                    </a:p>
                  </a:txBody>
                  <a:tcPr marT="9000" marB="9000"/>
                </a:tc>
                <a:tc>
                  <a:txBody>
                    <a:bodyPr/>
                    <a:lstStyle/>
                    <a:p>
                      <a:r>
                        <a:rPr sz="2000" b="0">
                          <a:solidFill>
                            <a:srgbClr val="222222"/>
                          </a:solidFill>
                          <a:latin typeface="Hiragino Sans"/>
                          <a:ea typeface="Hiragino Sans"/>
                          <a:cs typeface="Hiragino Sans"/>
                        </a:rPr>
                        <a:t>path_owner_overlap</a:t>
                      </a:r>
                    </a:p>
                  </a:txBody>
                  <a:tcPr marT="9000" marB="9000"/>
                </a:tc>
                <a:tc>
                  <a:txBody>
                    <a:bodyPr/>
                    <a:lstStyle/>
                    <a:p>
                      <a:r>
                        <a:rPr sz="2000" b="0">
                          <a:solidFill>
                            <a:srgbClr val="222222"/>
                          </a:solidFill>
                          <a:latin typeface="Hiragino Sans"/>
                          <a:ea typeface="Hiragino Sans"/>
                          <a:cs typeface="Hiragino Sans"/>
                        </a:rPr>
                        <a:t>対象ディレクトリの過去 owner 集合と自分の協働相手の Jaccard 係数</a:t>
                      </a:r>
                    </a:p>
                  </a:txBody>
                  <a:tcPr marT="9000" marB="9000"/>
                </a:tc>
                <a:tc>
                  <a:txBody>
                    <a:bodyPr/>
                    <a:lstStyle/>
                    <a:p>
                      <a:r>
                        <a:rPr sz="2000" b="0">
                          <a:solidFill>
                            <a:srgbClr val="222222"/>
                          </a:solidFill>
                          <a:latin typeface="Hiragino Sans"/>
                          <a:ea typeface="Hiragino Sans"/>
                          <a:cs typeface="Hiragino Sans"/>
                        </a:rPr>
                        <a:t>0–1（定義上そのまま）</a:t>
                      </a:r>
                    </a:p>
                  </a:txBody>
                  <a:tcPr marT="9000" marB="9000"/>
                </a:tc>
                <a:extLst>
                  <a:ext uri="{0D108BD9-81ED-4DB2-BD59-A6C34878D82A}">
                    <a16:rowId xmlns:a16="http://schemas.microsoft.com/office/drawing/2014/main" val="10004"/>
                  </a:ext>
                </a:extLst>
              </a:tr>
              <a:tr h="419336">
                <a:tc>
                  <a:txBody>
                    <a:bodyPr/>
                    <a:lstStyle/>
                    <a:p>
                      <a:r>
                        <a:rPr sz="2000" b="0">
                          <a:solidFill>
                            <a:srgbClr val="222222"/>
                          </a:solidFill>
                          <a:latin typeface="Hiragino Sans"/>
                          <a:ea typeface="Hiragino Sans"/>
                          <a:cs typeface="Hiragino Sans"/>
                        </a:rPr>
                        <a:t>ディレクトリ親和度</a:t>
                      </a:r>
                    </a:p>
                  </a:txBody>
                  <a:tcPr marT="9000" marB="9000"/>
                </a:tc>
                <a:tc>
                  <a:txBody>
                    <a:bodyPr/>
                    <a:lstStyle/>
                    <a:p>
                      <a:r>
                        <a:rPr sz="2000" b="0">
                          <a:solidFill>
                            <a:srgbClr val="222222"/>
                          </a:solidFill>
                          <a:latin typeface="Hiragino Sans"/>
                          <a:ea typeface="Hiragino Sans"/>
                          <a:cs typeface="Hiragino Sans"/>
                        </a:rPr>
                        <a:t>path_hub_score</a:t>
                      </a:r>
                    </a:p>
                  </a:txBody>
                  <a:tcPr marT="9000" marB="9000"/>
                </a:tc>
                <a:tc>
                  <a:txBody>
                    <a:bodyPr/>
                    <a:lstStyle/>
                    <a:p>
                      <a:r>
                        <a:rPr sz="2000" b="0">
                          <a:solidFill>
                            <a:srgbClr val="222222"/>
                          </a:solidFill>
                          <a:latin typeface="Hiragino Sans"/>
                          <a:ea typeface="Hiragino Sans"/>
                          <a:cs typeface="Hiragino Sans"/>
                        </a:rPr>
                        <a:t>対象ディレクトリの co-change ネットワークにおける hub スコアの最大値</a:t>
                      </a:r>
                    </a:p>
                  </a:txBody>
                  <a:tcPr marT="9000" marB="9000"/>
                </a:tc>
                <a:tc>
                  <a:txBody>
                    <a:bodyPr/>
                    <a:lstStyle/>
                    <a:p>
                      <a:r>
                        <a:rPr sz="2000" b="0">
                          <a:solidFill>
                            <a:srgbClr val="222222"/>
                          </a:solidFill>
                          <a:latin typeface="Hiragino Sans"/>
                          <a:ea typeface="Hiragino Sans"/>
                          <a:cs typeface="Hiragino Sans"/>
                        </a:rPr>
                        <a:t>64 で除算（path_features 内で正規化）</a:t>
                      </a:r>
                    </a:p>
                  </a:txBody>
                  <a:tcPr marT="9000" marB="9000"/>
                </a:tc>
                <a:extLst>
                  <a:ext uri="{0D108BD9-81ED-4DB2-BD59-A6C34878D82A}">
                    <a16:rowId xmlns:a16="http://schemas.microsoft.com/office/drawing/2014/main" val="10005"/>
                  </a:ext>
                </a:extLst>
              </a:tr>
              <a:tr h="419336">
                <a:tc>
                  <a:txBody>
                    <a:bodyPr/>
                    <a:lstStyle/>
                    <a:p>
                      <a:r>
                        <a:rPr sz="2000" b="0">
                          <a:solidFill>
                            <a:srgbClr val="222222"/>
                          </a:solidFill>
                          <a:latin typeface="Hiragino Sans"/>
                          <a:ea typeface="Hiragino Sans"/>
                          <a:cs typeface="Hiragino Sans"/>
                        </a:rPr>
                        <a:t>ディレクトリ親和度</a:t>
                      </a:r>
                    </a:p>
                  </a:txBody>
                  <a:tcPr marT="9000" marB="9000"/>
                </a:tc>
                <a:tc>
                  <a:txBody>
                    <a:bodyPr/>
                    <a:lstStyle/>
                    <a:p>
                      <a:r>
                        <a:rPr sz="2000" b="0">
                          <a:solidFill>
                            <a:srgbClr val="222222"/>
                          </a:solidFill>
                          <a:latin typeface="Hiragino Sans"/>
                          <a:ea typeface="Hiragino Sans"/>
                          <a:cs typeface="Hiragino Sans"/>
                        </a:rPr>
                        <a:t>path_neighbor_coverage</a:t>
                      </a:r>
                    </a:p>
                  </a:txBody>
                  <a:tcPr marT="9000" marB="9000"/>
                </a:tc>
                <a:tc>
                  <a:txBody>
                    <a:bodyPr/>
                    <a:lstStyle/>
                    <a:p>
                      <a:r>
                        <a:rPr sz="2000" b="0">
                          <a:solidFill>
                            <a:srgbClr val="222222"/>
                          </a:solidFill>
                          <a:latin typeface="Hiragino Sans"/>
                          <a:ea typeface="Hiragino Sans"/>
                          <a:cs typeface="Hiragino Sans"/>
                        </a:rPr>
                        <a:t>co-change 近傍ディレクトリのうち自分が担当している割合</a:t>
                      </a:r>
                    </a:p>
                  </a:txBody>
                  <a:tcPr marT="9000" marB="9000"/>
                </a:tc>
                <a:tc>
                  <a:txBody>
                    <a:bodyPr/>
                    <a:lstStyle/>
                    <a:p>
                      <a:r>
                        <a:rPr sz="2000" b="0">
                          <a:solidFill>
                            <a:srgbClr val="222222"/>
                          </a:solidFill>
                          <a:latin typeface="Hiragino Sans"/>
                          <a:ea typeface="Hiragino Sans"/>
                          <a:cs typeface="Hiragino Sans"/>
                        </a:rPr>
                        <a:t>0–1（定義上そのまま）</a:t>
                      </a:r>
                    </a:p>
                  </a:txBody>
                  <a:tcPr marT="9000" marB="9000"/>
                </a:tc>
                <a:extLst>
                  <a:ext uri="{0D108BD9-81ED-4DB2-BD59-A6C34878D82A}">
                    <a16:rowId xmlns:a16="http://schemas.microsoft.com/office/drawing/2014/main" val="10006"/>
                  </a:ext>
                </a:extLst>
              </a:tr>
              <a:tr h="419336">
                <a:tc>
                  <a:txBody>
                    <a:bodyPr/>
                    <a:lstStyle/>
                    <a:p>
                      <a:r>
                        <a:rPr sz="2000" b="0">
                          <a:solidFill>
                            <a:srgbClr val="222222"/>
                          </a:solidFill>
                          <a:latin typeface="Hiragino Sans"/>
                          <a:ea typeface="Hiragino Sans"/>
                          <a:cs typeface="Hiragino Sans"/>
                        </a:rPr>
                        <a:t>活動特徴</a:t>
                      </a:r>
                    </a:p>
                  </a:txBody>
                  <a:tcPr marT="9000" marB="9000"/>
                </a:tc>
                <a:tc>
                  <a:txBody>
                    <a:bodyPr/>
                    <a:lstStyle/>
                    <a:p>
                      <a:r>
                        <a:rPr sz="2000" b="0">
                          <a:solidFill>
                            <a:srgbClr val="222222"/>
                          </a:solidFill>
                          <a:latin typeface="Hiragino Sans"/>
                          <a:ea typeface="Hiragino Sans"/>
                          <a:cs typeface="Hiragino Sans"/>
                        </a:rPr>
                        <a:t>avg_action_intensity</a:t>
                      </a:r>
                    </a:p>
                  </a:txBody>
                  <a:tcPr marT="9000" marB="9000"/>
                </a:tc>
                <a:tc>
                  <a:txBody>
                    <a:bodyPr/>
                    <a:lstStyle/>
                    <a:p>
                      <a:r>
                        <a:rPr sz="2000" b="0">
                          <a:solidFill>
                            <a:srgbClr val="222222"/>
                          </a:solidFill>
                          <a:latin typeface="Hiragino Sans"/>
                          <a:ea typeface="Hiragino Sans"/>
                          <a:cs typeface="Hiragino Sans"/>
                        </a:rPr>
                        <a:t>1件あたりの変更ファイル数と変更行数の幾何平均</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7"/>
                  </a:ext>
                </a:extLst>
              </a:tr>
              <a:tr h="419336">
                <a:tc>
                  <a:txBody>
                    <a:bodyPr/>
                    <a:lstStyle/>
                    <a:p>
                      <a:r>
                        <a:rPr sz="2000" b="0">
                          <a:solidFill>
                            <a:srgbClr val="222222"/>
                          </a:solidFill>
                          <a:latin typeface="Hiragino Sans"/>
                          <a:ea typeface="Hiragino Sans"/>
                          <a:cs typeface="Hiragino Sans"/>
                        </a:rPr>
                        <a:t>活動特徴</a:t>
                      </a:r>
                    </a:p>
                  </a:txBody>
                  <a:tcPr marT="9000" marB="9000"/>
                </a:tc>
                <a:tc>
                  <a:txBody>
                    <a:bodyPr/>
                    <a:lstStyle/>
                    <a:p>
                      <a:r>
                        <a:rPr sz="2000" b="0">
                          <a:solidFill>
                            <a:srgbClr val="222222"/>
                          </a:solidFill>
                          <a:latin typeface="Hiragino Sans"/>
                          <a:ea typeface="Hiragino Sans"/>
                          <a:cs typeface="Hiragino Sans"/>
                        </a:rPr>
                        <a:t>avg_change_lines</a:t>
                      </a:r>
                    </a:p>
                  </a:txBody>
                  <a:tcPr marT="9000" marB="9000"/>
                </a:tc>
                <a:tc>
                  <a:txBody>
                    <a:bodyPr/>
                    <a:lstStyle/>
                    <a:p>
                      <a:r>
                        <a:rPr sz="2000" b="0">
                          <a:solidFill>
                            <a:srgbClr val="222222"/>
                          </a:solidFill>
                          <a:latin typeface="Hiragino Sans"/>
                          <a:ea typeface="Hiragino Sans"/>
                          <a:cs typeface="Hiragino Sans"/>
                        </a:rPr>
                        <a:t>1件あたりの変更行数（追加＋削除）の平均</a:t>
                      </a:r>
                    </a:p>
                  </a:txBody>
                  <a:tcPr marT="9000" marB="9000"/>
                </a:tc>
                <a:tc>
                  <a:txBody>
                    <a:bodyPr/>
                    <a:lstStyle/>
                    <a:p>
                      <a:r>
                        <a:rPr sz="2000" b="0">
                          <a:solidFill>
                            <a:srgbClr val="222222"/>
                          </a:solidFill>
                          <a:latin typeface="Hiragino Sans"/>
                          <a:ea typeface="Hiragino Sans"/>
                          <a:cs typeface="Hiragino Sans"/>
                        </a:rPr>
                        <a:t>log1p / log1p(2000)</a:t>
                      </a:r>
                    </a:p>
                  </a:txBody>
                  <a:tcPr marT="9000" marB="9000"/>
                </a:tc>
                <a:extLst>
                  <a:ext uri="{0D108BD9-81ED-4DB2-BD59-A6C34878D82A}">
                    <a16:rowId xmlns:a16="http://schemas.microsoft.com/office/drawing/2014/main" val="10008"/>
                  </a:ext>
                </a:extLst>
              </a:tr>
              <a:tr h="419336">
                <a:tc>
                  <a:txBody>
                    <a:bodyPr/>
                    <a:lstStyle/>
                    <a:p>
                      <a:r>
                        <a:rPr sz="2000" b="0">
                          <a:solidFill>
                            <a:srgbClr val="222222"/>
                          </a:solidFill>
                          <a:latin typeface="Hiragino Sans"/>
                          <a:ea typeface="Hiragino Sans"/>
                          <a:cs typeface="Hiragino Sans"/>
                        </a:rPr>
                        <a:t>活動特徴</a:t>
                      </a:r>
                    </a:p>
                  </a:txBody>
                  <a:tcPr marT="9000" marB="9000"/>
                </a:tc>
                <a:tc>
                  <a:txBody>
                    <a:bodyPr/>
                    <a:lstStyle/>
                    <a:p>
                      <a:r>
                        <a:rPr sz="2000" b="0" dirty="0" err="1">
                          <a:solidFill>
                            <a:srgbClr val="222222"/>
                          </a:solidFill>
                          <a:latin typeface="Hiragino Sans"/>
                          <a:ea typeface="Hiragino Sans"/>
                          <a:cs typeface="Hiragino Sans"/>
                        </a:rPr>
                        <a:t>avg_response_time</a:t>
                      </a:r>
                      <a:endParaRPr sz="2000" b="0" dirty="0">
                        <a:solidFill>
                          <a:srgbClr val="222222"/>
                        </a:solidFill>
                        <a:latin typeface="Hiragino Sans"/>
                        <a:ea typeface="Hiragino Sans"/>
                        <a:cs typeface="Hiragino Sans"/>
                      </a:endParaRPr>
                    </a:p>
                  </a:txBody>
                  <a:tcPr marT="9000" marB="9000"/>
                </a:tc>
                <a:tc>
                  <a:txBody>
                    <a:bodyPr/>
                    <a:lstStyle/>
                    <a:p>
                      <a:r>
                        <a:rPr sz="2000" b="0">
                          <a:solidFill>
                            <a:srgbClr val="222222"/>
                          </a:solidFill>
                          <a:latin typeface="Hiragino Sans"/>
                          <a:ea typeface="Hiragino Sans"/>
                          <a:cs typeface="Hiragino Sans"/>
                        </a:rPr>
                        <a:t>平均応答日数を速度に変換した値（1/(1+日数/3)）</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09"/>
                  </a:ext>
                </a:extLst>
              </a:tr>
              <a:tr h="419336">
                <a:tc>
                  <a:txBody>
                    <a:bodyPr/>
                    <a:lstStyle/>
                    <a:p>
                      <a:r>
                        <a:rPr sz="2000" b="0">
                          <a:solidFill>
                            <a:srgbClr val="222222"/>
                          </a:solidFill>
                          <a:latin typeface="Hiragino Sans"/>
                          <a:ea typeface="Hiragino Sans"/>
                          <a:cs typeface="Hiragino Sans"/>
                        </a:rPr>
                        <a:t>活動特徴</a:t>
                      </a:r>
                    </a:p>
                  </a:txBody>
                  <a:tcPr marT="9000" marB="9000"/>
                </a:tc>
                <a:tc>
                  <a:txBody>
                    <a:bodyPr/>
                    <a:lstStyle/>
                    <a:p>
                      <a:r>
                        <a:rPr sz="2000" b="0">
                          <a:solidFill>
                            <a:srgbClr val="222222"/>
                          </a:solidFill>
                          <a:latin typeface="Hiragino Sans"/>
                          <a:ea typeface="Hiragino Sans"/>
                          <a:cs typeface="Hiragino Sans"/>
                        </a:rPr>
                        <a:t>avg_review_size</a:t>
                      </a:r>
                    </a:p>
                  </a:txBody>
                  <a:tcPr marT="9000" marB="9000"/>
                </a:tc>
                <a:tc>
                  <a:txBody>
                    <a:bodyPr/>
                    <a:lstStyle/>
                    <a:p>
                      <a:r>
                        <a:rPr sz="2000" b="0">
                          <a:solidFill>
                            <a:srgbClr val="222222"/>
                          </a:solidFill>
                          <a:latin typeface="Hiragino Sans"/>
                          <a:ea typeface="Hiragino Sans"/>
                          <a:cs typeface="Hiragino Sans"/>
                        </a:rPr>
                        <a:t>1件あたりの平均ファイル数（10ファイルで1.0）</a:t>
                      </a:r>
                    </a:p>
                  </a:txBody>
                  <a:tcPr marT="9000" marB="9000"/>
                </a:tc>
                <a:tc>
                  <a:txBody>
                    <a:bodyPr/>
                    <a:lstStyle/>
                    <a:p>
                      <a:r>
                        <a:rPr sz="2000" b="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10"/>
                  </a:ext>
                </a:extLst>
              </a:tr>
              <a:tr h="419336">
                <a:tc>
                  <a:txBody>
                    <a:bodyPr/>
                    <a:lstStyle/>
                    <a:p>
                      <a:r>
                        <a:rPr sz="2000" b="0">
                          <a:solidFill>
                            <a:srgbClr val="222222"/>
                          </a:solidFill>
                          <a:latin typeface="Hiragino Sans"/>
                          <a:ea typeface="Hiragino Sans"/>
                          <a:cs typeface="Hiragino Sans"/>
                        </a:rPr>
                        <a:t>活動特徴</a:t>
                      </a:r>
                    </a:p>
                  </a:txBody>
                  <a:tcPr marT="9000" marB="9000"/>
                </a:tc>
                <a:tc>
                  <a:txBody>
                    <a:bodyPr/>
                    <a:lstStyle/>
                    <a:p>
                      <a:r>
                        <a:rPr sz="2000" b="0">
                          <a:solidFill>
                            <a:srgbClr val="222222"/>
                          </a:solidFill>
                          <a:latin typeface="Hiragino Sans"/>
                          <a:ea typeface="Hiragino Sans"/>
                          <a:cs typeface="Hiragino Sans"/>
                        </a:rPr>
                        <a:t>repeat_collaboration_rate</a:t>
                      </a:r>
                    </a:p>
                  </a:txBody>
                  <a:tcPr marT="9000" marB="9000"/>
                </a:tc>
                <a:tc>
                  <a:txBody>
                    <a:bodyPr/>
                    <a:lstStyle/>
                    <a:p>
                      <a:r>
                        <a:rPr sz="2000" b="0">
                          <a:solidFill>
                            <a:srgbClr val="222222"/>
                          </a:solidFill>
                          <a:latin typeface="Hiragino Sans"/>
                          <a:ea typeface="Hiragino Sans"/>
                          <a:cs typeface="Hiragino Sans"/>
                        </a:rPr>
                        <a:t>複数回依頼してきた owner の割合（協働の反復率）</a:t>
                      </a:r>
                    </a:p>
                  </a:txBody>
                  <a:tcPr marT="9000" marB="9000"/>
                </a:tc>
                <a:tc>
                  <a:txBody>
                    <a:bodyPr/>
                    <a:lstStyle/>
                    <a:p>
                      <a:r>
                        <a:rPr sz="2000" b="0" dirty="0">
                          <a:solidFill>
                            <a:srgbClr val="222222"/>
                          </a:solidFill>
                          <a:latin typeface="Hiragino Sans"/>
                          <a:ea typeface="Hiragino Sans"/>
                          <a:cs typeface="Hiragino Sans"/>
                        </a:rPr>
                        <a:t>0–1（計算時点で 0–1）</a:t>
                      </a:r>
                    </a:p>
                  </a:txBody>
                  <a:tcPr marT="9000" marB="9000"/>
                </a:tc>
                <a:extLst>
                  <a:ext uri="{0D108BD9-81ED-4DB2-BD59-A6C34878D82A}">
                    <a16:rowId xmlns:a16="http://schemas.microsoft.com/office/drawing/2014/main" val="1001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0281" y="3803285"/>
            <a:ext cx="14736524" cy="1267761"/>
          </a:xfrm>
          <a:prstGeom prst="rect">
            <a:avLst/>
          </a:prstGeom>
          <a:noFill/>
        </p:spPr>
        <p:txBody>
          <a:bodyPr wrap="square">
            <a:spAutoFit/>
          </a:bodyPr>
          <a:lstStyle/>
          <a:p>
            <a:r>
              <a:rPr sz="4834" b="1">
                <a:solidFill>
                  <a:srgbClr val="E64B35"/>
                </a:solidFill>
                <a:latin typeface="Hiragino Sans"/>
                <a:ea typeface="Hiragino Sans"/>
                <a:cs typeface="Hiragino Sans"/>
              </a:rPr>
              <a:t>B. 原型分析の深掘り（ペア単位）</a:t>
            </a:r>
          </a:p>
        </p:txBody>
      </p:sp>
      <p:sp>
        <p:nvSpPr>
          <p:cNvPr id="3" name="TextBox 2"/>
          <p:cNvSpPr txBox="1"/>
          <p:nvPr/>
        </p:nvSpPr>
        <p:spPr>
          <a:xfrm>
            <a:off x="1300281" y="5168566"/>
            <a:ext cx="14736524" cy="1072721"/>
          </a:xfrm>
          <a:prstGeom prst="rect">
            <a:avLst/>
          </a:prstGeom>
          <a:noFill/>
        </p:spPr>
        <p:txBody>
          <a:bodyPr wrap="square">
            <a:spAutoFit/>
          </a:bodyPr>
          <a:lstStyle/>
          <a:p>
            <a:r>
              <a:rPr sz="2417" b="0">
                <a:solidFill>
                  <a:srgbClr val="777777"/>
                </a:solidFill>
                <a:latin typeface="Hiragino Sans"/>
                <a:ea typeface="Hiragino Sans"/>
                <a:cs typeface="Hiragino Sans"/>
              </a:rPr>
              <a:t>定式化と K の決め方、開発者×ディレクトリのペアで見た 4 原型（K の決定・頑健性の図は dev/pair 両方を 1 枚に載せている）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S-B3　全特徴量シグネチャ（OpenStack・ペア単位）</a:t>
            </a:r>
          </a:p>
        </p:txBody>
      </p:sp>
      <p:pic>
        <p:nvPicPr>
          <p:cNvPr id="5" name="Picture 4" descr="S-B3.png"/>
          <p:cNvPicPr>
            <a:picLocks noChangeAspect="1"/>
          </p:cNvPicPr>
          <p:nvPr/>
        </p:nvPicPr>
        <p:blipFill>
          <a:blip r:embed="rId2"/>
          <a:stretch>
            <a:fillRect/>
          </a:stretch>
        </p:blipFill>
        <p:spPr>
          <a:xfrm>
            <a:off x="2814681" y="1062970"/>
            <a:ext cx="11413877" cy="901067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S-B4　全特徴量シグネチャ（AOSP・ペア単位）</a:t>
            </a:r>
          </a:p>
        </p:txBody>
      </p:sp>
      <p:pic>
        <p:nvPicPr>
          <p:cNvPr id="5" name="Picture 4" descr="S-B4.png"/>
          <p:cNvPicPr>
            <a:picLocks noChangeAspect="1"/>
          </p:cNvPicPr>
          <p:nvPr/>
        </p:nvPicPr>
        <p:blipFill>
          <a:blip r:embed="rId2"/>
          <a:stretch>
            <a:fillRect/>
          </a:stretch>
        </p:blipFill>
        <p:spPr>
          <a:xfrm>
            <a:off x="3107658" y="1062969"/>
            <a:ext cx="10858511" cy="899543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S-B5　原型別の全特徴量プロファイル（OpenStack・ペア単位）</a:t>
            </a:r>
          </a:p>
        </p:txBody>
      </p:sp>
      <p:pic>
        <p:nvPicPr>
          <p:cNvPr id="5" name="Picture 4" descr="S-B7.png"/>
          <p:cNvPicPr>
            <a:picLocks noChangeAspect="1"/>
          </p:cNvPicPr>
          <p:nvPr/>
        </p:nvPicPr>
        <p:blipFill>
          <a:blip r:embed="rId2"/>
          <a:stretch>
            <a:fillRect/>
          </a:stretch>
        </p:blipFill>
        <p:spPr>
          <a:xfrm>
            <a:off x="789236" y="1062969"/>
            <a:ext cx="15399756" cy="899543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S-B6　原型別の全特徴量プロファイル（AOSP・ペア単位）</a:t>
            </a:r>
          </a:p>
        </p:txBody>
      </p:sp>
      <p:pic>
        <p:nvPicPr>
          <p:cNvPr id="5" name="Picture 4" descr="S-B8.png"/>
          <p:cNvPicPr>
            <a:picLocks noChangeAspect="1"/>
          </p:cNvPicPr>
          <p:nvPr/>
        </p:nvPicPr>
        <p:blipFill>
          <a:blip r:embed="rId2"/>
          <a:stretch>
            <a:fillRect/>
          </a:stretch>
        </p:blipFill>
        <p:spPr>
          <a:xfrm>
            <a:off x="896555" y="1062969"/>
            <a:ext cx="15289560" cy="893447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0281" y="3803285"/>
            <a:ext cx="14736524" cy="1267761"/>
          </a:xfrm>
          <a:prstGeom prst="rect">
            <a:avLst/>
          </a:prstGeom>
          <a:noFill/>
        </p:spPr>
        <p:txBody>
          <a:bodyPr wrap="square">
            <a:spAutoFit/>
          </a:bodyPr>
          <a:lstStyle/>
          <a:p>
            <a:r>
              <a:rPr sz="4834" b="1">
                <a:solidFill>
                  <a:srgbClr val="E64B35"/>
                </a:solidFill>
                <a:latin typeface="Hiragino Sans"/>
                <a:ea typeface="Hiragino Sans"/>
                <a:cs typeface="Hiragino Sans"/>
              </a:rPr>
              <a:t>C. 原型分析の深掘り（開発者単位）</a:t>
            </a:r>
          </a:p>
        </p:txBody>
      </p:sp>
      <p:sp>
        <p:nvSpPr>
          <p:cNvPr id="3" name="TextBox 2"/>
          <p:cNvSpPr txBox="1"/>
          <p:nvPr/>
        </p:nvSpPr>
        <p:spPr>
          <a:xfrm>
            <a:off x="1300281" y="5168566"/>
            <a:ext cx="14736524" cy="1072721"/>
          </a:xfrm>
          <a:prstGeom prst="rect">
            <a:avLst/>
          </a:prstGeom>
          <a:noFill/>
        </p:spPr>
        <p:txBody>
          <a:bodyPr wrap="square">
            <a:spAutoFit/>
          </a:bodyPr>
          <a:lstStyle/>
          <a:p>
            <a:r>
              <a:rPr sz="2417" b="0">
                <a:solidFill>
                  <a:srgbClr val="777777"/>
                </a:solidFill>
                <a:latin typeface="Hiragino Sans"/>
                <a:ea typeface="Hiragino Sans"/>
                <a:cs typeface="Hiragino Sans"/>
              </a:rPr>
              <a:t>開発者だけを単位にした 4 原型と、ペア単位の原型との対応</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S-C1　全特徴量シグネチャ（OpenStack・開発者単位）</a:t>
            </a:r>
          </a:p>
        </p:txBody>
      </p:sp>
      <p:pic>
        <p:nvPicPr>
          <p:cNvPr id="5" name="Picture 4" descr="S-B5.png"/>
          <p:cNvPicPr>
            <a:picLocks noChangeAspect="1"/>
          </p:cNvPicPr>
          <p:nvPr/>
        </p:nvPicPr>
        <p:blipFill>
          <a:blip r:embed="rId2"/>
          <a:stretch>
            <a:fillRect/>
          </a:stretch>
        </p:blipFill>
        <p:spPr>
          <a:xfrm>
            <a:off x="1885025" y="1062969"/>
            <a:ext cx="13168379" cy="905639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S-C2　全特徴量シグネチャ（AOSP・開発者単位）</a:t>
            </a:r>
          </a:p>
        </p:txBody>
      </p:sp>
      <p:pic>
        <p:nvPicPr>
          <p:cNvPr id="5" name="Picture 4" descr="S-B6.png"/>
          <p:cNvPicPr>
            <a:picLocks noChangeAspect="1"/>
          </p:cNvPicPr>
          <p:nvPr/>
        </p:nvPicPr>
        <p:blipFill>
          <a:blip r:embed="rId2"/>
          <a:stretch>
            <a:fillRect/>
          </a:stretch>
        </p:blipFill>
        <p:spPr>
          <a:xfrm>
            <a:off x="2069146" y="914400"/>
            <a:ext cx="13149236" cy="91135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S-C3　原型別の全特徴量プロファイル（OpenStack・開発者単位）</a:t>
            </a:r>
          </a:p>
        </p:txBody>
      </p:sp>
      <p:pic>
        <p:nvPicPr>
          <p:cNvPr id="5" name="Picture 4" descr="S-B9.png"/>
          <p:cNvPicPr>
            <a:picLocks noChangeAspect="1"/>
          </p:cNvPicPr>
          <p:nvPr/>
        </p:nvPicPr>
        <p:blipFill>
          <a:blip r:embed="rId2"/>
          <a:stretch>
            <a:fillRect/>
          </a:stretch>
        </p:blipFill>
        <p:spPr>
          <a:xfrm>
            <a:off x="589460" y="1385052"/>
            <a:ext cx="16426027" cy="821614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S-C4　原型別の全特徴量プロファイル（AOSP・開発者単位）</a:t>
            </a:r>
          </a:p>
        </p:txBody>
      </p:sp>
      <p:pic>
        <p:nvPicPr>
          <p:cNvPr id="5" name="Picture 4" descr="S-B10.png"/>
          <p:cNvPicPr>
            <a:picLocks noChangeAspect="1"/>
          </p:cNvPicPr>
          <p:nvPr/>
        </p:nvPicPr>
        <p:blipFill>
          <a:blip r:embed="rId2"/>
          <a:stretch>
            <a:fillRect/>
          </a:stretch>
        </p:blipFill>
        <p:spPr>
          <a:xfrm>
            <a:off x="543559" y="1341120"/>
            <a:ext cx="16249969" cy="812808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0281" y="3803285"/>
            <a:ext cx="14736524" cy="1267761"/>
          </a:xfrm>
          <a:prstGeom prst="rect">
            <a:avLst/>
          </a:prstGeom>
          <a:noFill/>
        </p:spPr>
        <p:txBody>
          <a:bodyPr wrap="square">
            <a:spAutoFit/>
          </a:bodyPr>
          <a:lstStyle/>
          <a:p>
            <a:r>
              <a:rPr sz="4834" b="1">
                <a:solidFill>
                  <a:srgbClr val="E64B35"/>
                </a:solidFill>
                <a:latin typeface="Hiragino Sans"/>
                <a:ea typeface="Hiragino Sans"/>
                <a:cs typeface="Hiragino Sans"/>
              </a:rPr>
              <a:t>D. 予測の深掘り</a:t>
            </a:r>
          </a:p>
        </p:txBody>
      </p:sp>
      <p:sp>
        <p:nvSpPr>
          <p:cNvPr id="3" name="TextBox 2"/>
          <p:cNvSpPr txBox="1"/>
          <p:nvPr/>
        </p:nvSpPr>
        <p:spPr>
          <a:xfrm>
            <a:off x="1300281" y="5168566"/>
            <a:ext cx="14736524" cy="1072721"/>
          </a:xfrm>
          <a:prstGeom prst="rect">
            <a:avLst/>
          </a:prstGeom>
          <a:noFill/>
        </p:spPr>
        <p:txBody>
          <a:bodyPr wrap="square">
            <a:spAutoFit/>
          </a:bodyPr>
          <a:lstStyle/>
          <a:p>
            <a:r>
              <a:rPr sz="2417" b="0">
                <a:solidFill>
                  <a:srgbClr val="777777"/>
                </a:solidFill>
                <a:latin typeface="Hiragino Sans"/>
                <a:ea typeface="Hiragino Sans"/>
                <a:cs typeface="Hiragino Sans"/>
              </a:rPr>
              <a:t>原型別・期間別の AUC、有意差検定、アブレーションとアンサンブル</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S-D1　原型×期間の Δ(IRL−RF)（ペア単位）</a:t>
            </a:r>
          </a:p>
        </p:txBody>
      </p:sp>
      <p:sp>
        <p:nvSpPr>
          <p:cNvPr id="3" name="TextBox 2"/>
          <p:cNvSpPr txBox="1"/>
          <p:nvPr/>
        </p:nvSpPr>
        <p:spPr>
          <a:xfrm>
            <a:off x="589460" y="1140985"/>
            <a:ext cx="16123491" cy="780161"/>
          </a:xfrm>
          <a:prstGeom prst="rect">
            <a:avLst/>
          </a:prstGeom>
          <a:noFill/>
        </p:spPr>
        <p:txBody>
          <a:bodyPr wrap="square">
            <a:spAutoFit/>
          </a:bodyPr>
          <a:lstStyle/>
          <a:p>
            <a:r>
              <a:rPr sz="1848" b="0">
                <a:solidFill>
                  <a:srgbClr val="777777"/>
                </a:solidFill>
                <a:latin typeface="Hiragino Sans"/>
                <a:ea typeface="Hiragino Sans"/>
                <a:cs typeface="Hiragino Sans"/>
              </a:rPr>
              <a:t>発表スライドでは P1 と P3/P4 の2行だけを見せている。ここでは全原型×全期間。</a:t>
            </a:r>
          </a:p>
        </p:txBody>
      </p:sp>
      <p:sp>
        <p:nvSpPr>
          <p:cNvPr id="4" name="TextBox 3"/>
          <p:cNvSpPr txBox="1"/>
          <p:nvPr/>
        </p:nvSpPr>
        <p:spPr>
          <a:xfrm>
            <a:off x="589460" y="9040116"/>
            <a:ext cx="16123491" cy="487600"/>
          </a:xfrm>
          <a:prstGeom prst="rect">
            <a:avLst/>
          </a:prstGeom>
          <a:noFill/>
        </p:spPr>
        <p:txBody>
          <a:bodyPr wrap="square">
            <a:spAutoFit/>
          </a:bodyPr>
          <a:lstStyle/>
          <a:p>
            <a:r>
              <a:rPr sz="1279" b="0">
                <a:solidFill>
                  <a:srgbClr val="777777"/>
                </a:solidFill>
                <a:latin typeface="Hiragino Sans"/>
                <a:ea typeface="Hiragino Sans"/>
                <a:cs typeface="Hiragino Sans"/>
              </a:rPr>
              <a:t>出所: outputs/analysis/ses_supplement/tab/period_auc_openstack_pair.csv（pooled_pairs_blabel_t0_20230101.csv から今回算出） ／ outputs/aosp32/archetype/pair/k4_period_auc.csv</a:t>
            </a:r>
          </a:p>
        </p:txBody>
      </p:sp>
      <p:pic>
        <p:nvPicPr>
          <p:cNvPr id="5" name="Picture 4" descr="S-C1.png"/>
          <p:cNvPicPr>
            <a:picLocks noChangeAspect="1"/>
          </p:cNvPicPr>
          <p:nvPr/>
        </p:nvPicPr>
        <p:blipFill>
          <a:blip r:embed="rId2"/>
          <a:stretch>
            <a:fillRect/>
          </a:stretch>
        </p:blipFill>
        <p:spPr>
          <a:xfrm>
            <a:off x="2083845" y="2018666"/>
            <a:ext cx="13134721" cy="689467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S-D2　原型×期間の Δ(IRL−RF)（開発者単位）</a:t>
            </a:r>
          </a:p>
        </p:txBody>
      </p:sp>
      <p:sp>
        <p:nvSpPr>
          <p:cNvPr id="3" name="TextBox 2"/>
          <p:cNvSpPr txBox="1"/>
          <p:nvPr/>
        </p:nvSpPr>
        <p:spPr>
          <a:xfrm>
            <a:off x="589460" y="1140985"/>
            <a:ext cx="16123491" cy="780161"/>
          </a:xfrm>
          <a:prstGeom prst="rect">
            <a:avLst/>
          </a:prstGeom>
          <a:noFill/>
        </p:spPr>
        <p:txBody>
          <a:bodyPr wrap="square">
            <a:spAutoFit/>
          </a:bodyPr>
          <a:lstStyle/>
          <a:p>
            <a:r>
              <a:rPr sz="1848" b="0">
                <a:solidFill>
                  <a:srgbClr val="777777"/>
                </a:solidFill>
                <a:latin typeface="Hiragino Sans"/>
                <a:ea typeface="Hiragino Sans"/>
                <a:cs typeface="Hiragino Sans"/>
              </a:rPr>
              <a:t>発表スライドでは P1 と P3/P4 の2行だけを見せている。ここでは全原型×全期間。</a:t>
            </a:r>
          </a:p>
        </p:txBody>
      </p:sp>
      <p:sp>
        <p:nvSpPr>
          <p:cNvPr id="4" name="TextBox 3"/>
          <p:cNvSpPr txBox="1"/>
          <p:nvPr/>
        </p:nvSpPr>
        <p:spPr>
          <a:xfrm>
            <a:off x="589460" y="9040116"/>
            <a:ext cx="16123491" cy="487600"/>
          </a:xfrm>
          <a:prstGeom prst="rect">
            <a:avLst/>
          </a:prstGeom>
          <a:noFill/>
        </p:spPr>
        <p:txBody>
          <a:bodyPr wrap="square">
            <a:spAutoFit/>
          </a:bodyPr>
          <a:lstStyle/>
          <a:p>
            <a:r>
              <a:rPr sz="1279" b="0">
                <a:solidFill>
                  <a:srgbClr val="777777"/>
                </a:solidFill>
                <a:latin typeface="Hiragino Sans"/>
                <a:ea typeface="Hiragino Sans"/>
                <a:cs typeface="Hiragino Sans"/>
              </a:rPr>
              <a:t>出所: outputs/analysis/ses_supplement/tab/period_auc_openstack_dev.csv（pooled_pairs_blabel_t0_20230101.csv から今回算出） ／ outputs/aosp32/archetype/dev/k4_period_auc.csv</a:t>
            </a:r>
          </a:p>
        </p:txBody>
      </p:sp>
      <p:pic>
        <p:nvPicPr>
          <p:cNvPr id="5" name="Picture 4" descr="S-C2.png"/>
          <p:cNvPicPr>
            <a:picLocks noChangeAspect="1"/>
          </p:cNvPicPr>
          <p:nvPr/>
        </p:nvPicPr>
        <p:blipFill>
          <a:blip r:embed="rId2"/>
          <a:stretch>
            <a:fillRect/>
          </a:stretch>
        </p:blipFill>
        <p:spPr>
          <a:xfrm>
            <a:off x="2078812" y="2018666"/>
            <a:ext cx="13144786" cy="68946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S-D3　アンサンブルはどこで効いたか（OpenStack）</a:t>
            </a:r>
          </a:p>
        </p:txBody>
      </p:sp>
      <p:sp>
        <p:nvSpPr>
          <p:cNvPr id="3" name="TextBox 2"/>
          <p:cNvSpPr txBox="1"/>
          <p:nvPr/>
        </p:nvSpPr>
        <p:spPr>
          <a:xfrm>
            <a:off x="589460" y="1140985"/>
            <a:ext cx="16123491" cy="780161"/>
          </a:xfrm>
          <a:prstGeom prst="rect">
            <a:avLst/>
          </a:prstGeom>
          <a:noFill/>
        </p:spPr>
        <p:txBody>
          <a:bodyPr wrap="square">
            <a:spAutoFit/>
          </a:bodyPr>
          <a:lstStyle/>
          <a:p>
            <a:r>
              <a:rPr sz="1848" b="0">
                <a:solidFill>
                  <a:srgbClr val="777777"/>
                </a:solidFill>
                <a:latin typeface="Hiragino Sans"/>
                <a:ea typeface="Hiragino Sans"/>
                <a:cs typeface="Hiragino Sans"/>
              </a:rPr>
              <a:t>IRLとRFの優劣が入れ替わる原型ほど平均の効果が大きい。負の原型では単体の方が良い。</a:t>
            </a:r>
          </a:p>
        </p:txBody>
      </p:sp>
      <p:sp>
        <p:nvSpPr>
          <p:cNvPr id="4" name="TextBox 3"/>
          <p:cNvSpPr txBox="1"/>
          <p:nvPr/>
        </p:nvSpPr>
        <p:spPr>
          <a:xfrm>
            <a:off x="589460" y="9040116"/>
            <a:ext cx="16123491" cy="487600"/>
          </a:xfrm>
          <a:prstGeom prst="rect">
            <a:avLst/>
          </a:prstGeom>
          <a:noFill/>
        </p:spPr>
        <p:txBody>
          <a:bodyPr wrap="square">
            <a:spAutoFit/>
          </a:bodyPr>
          <a:lstStyle/>
          <a:p>
            <a:r>
              <a:rPr sz="1279" b="0">
                <a:solidFill>
                  <a:srgbClr val="777777"/>
                </a:solidFill>
                <a:latin typeface="Hiragino Sans"/>
                <a:ea typeface="Hiragino Sans"/>
                <a:cs typeface="Hiragino Sans"/>
              </a:rPr>
              <a:t>出所: outputs/analysis/ses_supplement/tab/period_auc_openstack_{pair,dev}.csv（AOSP はラベル定義が既存CSVと異なるため未算出）</a:t>
            </a:r>
          </a:p>
        </p:txBody>
      </p:sp>
      <p:pic>
        <p:nvPicPr>
          <p:cNvPr id="5" name="Picture 4" descr="S-C3.png"/>
          <p:cNvPicPr>
            <a:picLocks noChangeAspect="1"/>
          </p:cNvPicPr>
          <p:nvPr/>
        </p:nvPicPr>
        <p:blipFill>
          <a:blip r:embed="rId2"/>
          <a:stretch>
            <a:fillRect/>
          </a:stretch>
        </p:blipFill>
        <p:spPr>
          <a:xfrm>
            <a:off x="2162262" y="2018666"/>
            <a:ext cx="12977887" cy="68946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460" y="282808"/>
            <a:ext cx="16123491" cy="780161"/>
          </a:xfrm>
          <a:prstGeom prst="rect">
            <a:avLst/>
          </a:prstGeom>
          <a:noFill/>
        </p:spPr>
        <p:txBody>
          <a:bodyPr wrap="square">
            <a:spAutoFit/>
          </a:bodyPr>
          <a:lstStyle/>
          <a:p>
            <a:r>
              <a:rPr sz="3412" b="1">
                <a:solidFill>
                  <a:srgbClr val="222222"/>
                </a:solidFill>
                <a:latin typeface="Hiragino Sans"/>
                <a:ea typeface="Hiragino Sans"/>
                <a:cs typeface="Hiragino Sans"/>
              </a:rPr>
              <a:t>S-D8　アブレーション：LSTM と IRL の比較</a:t>
            </a:r>
          </a:p>
        </p:txBody>
      </p:sp>
      <p:sp>
        <p:nvSpPr>
          <p:cNvPr id="3" name="TextBox 2"/>
          <p:cNvSpPr txBox="1"/>
          <p:nvPr/>
        </p:nvSpPr>
        <p:spPr>
          <a:xfrm>
            <a:off x="589460" y="1140985"/>
            <a:ext cx="16123491" cy="780161"/>
          </a:xfrm>
          <a:prstGeom prst="rect">
            <a:avLst/>
          </a:prstGeom>
          <a:noFill/>
        </p:spPr>
        <p:txBody>
          <a:bodyPr wrap="square">
            <a:spAutoFit/>
          </a:bodyPr>
          <a:lstStyle/>
          <a:p>
            <a:r>
              <a:rPr sz="1848" b="0">
                <a:solidFill>
                  <a:srgbClr val="777777"/>
                </a:solidFill>
                <a:latin typeface="Hiragino Sans"/>
                <a:ea typeface="Hiragino Sans"/>
                <a:cs typeface="Hiragino Sans"/>
              </a:rPr>
              <a:t>OpenStack は報酬関数化で +3.8pp。AOSP は逆に LSTM 単体が最も高く、補完効果はエコシステム依存。</a:t>
            </a:r>
          </a:p>
        </p:txBody>
      </p:sp>
      <p:sp>
        <p:nvSpPr>
          <p:cNvPr id="4" name="TextBox 3"/>
          <p:cNvSpPr txBox="1"/>
          <p:nvPr/>
        </p:nvSpPr>
        <p:spPr>
          <a:xfrm>
            <a:off x="589460" y="9040116"/>
            <a:ext cx="16123491" cy="487600"/>
          </a:xfrm>
          <a:prstGeom prst="rect">
            <a:avLst/>
          </a:prstGeom>
          <a:noFill/>
        </p:spPr>
        <p:txBody>
          <a:bodyPr wrap="square">
            <a:spAutoFit/>
          </a:bodyPr>
          <a:lstStyle/>
          <a:p>
            <a:r>
              <a:rPr sz="1279" b="0">
                <a:solidFill>
                  <a:srgbClr val="777777"/>
                </a:solidFill>
                <a:latin typeface="Hiragino Sans"/>
                <a:ea typeface="Hiragino Sans"/>
                <a:cs typeface="Hiragino Sans"/>
              </a:rPr>
              <a:t>出所: outputs/ses_review/b3_ablation/headline_blabel_*.csv ／ docs/SES発表用_アブレーション.xlsx（AOSP）</a:t>
            </a:r>
          </a:p>
        </p:txBody>
      </p:sp>
      <p:pic>
        <p:nvPicPr>
          <p:cNvPr id="5" name="Picture 4" descr="S-C8.png"/>
          <p:cNvPicPr>
            <a:picLocks noChangeAspect="1"/>
          </p:cNvPicPr>
          <p:nvPr/>
        </p:nvPicPr>
        <p:blipFill>
          <a:blip r:embed="rId2"/>
          <a:stretch>
            <a:fillRect/>
          </a:stretch>
        </p:blipFill>
        <p:spPr>
          <a:xfrm>
            <a:off x="1728089" y="2018666"/>
            <a:ext cx="13846232" cy="6894673"/>
          </a:xfrm>
          <a:prstGeom prst="rect">
            <a:avLst/>
          </a:prstGeom>
        </p:spPr>
      </p:pic>
    </p:spTree>
  </p:cSld>
  <p:clrMapOvr>
    <a:masterClrMapping/>
  </p:clrMapOvr>
</p:sld>
</file>

<file path=ppt/theme/theme1.xml><?xml version="1.0" encoding="utf-8"?>
<a:theme xmlns:a="http://schemas.openxmlformats.org/drawingml/2006/main" name="Wakayama Univ">
  <a:themeElements>
    <a:clrScheme name="SocSEL">
      <a:dk1>
        <a:srgbClr val="26272A"/>
      </a:dk1>
      <a:lt1>
        <a:srgbClr val="FFFFFF"/>
      </a:lt1>
      <a:dk2>
        <a:srgbClr val="575860"/>
      </a:dk2>
      <a:lt2>
        <a:srgbClr val="E9E9EB"/>
      </a:lt2>
      <a:accent1>
        <a:srgbClr val="5E64BA"/>
      </a:accent1>
      <a:accent2>
        <a:srgbClr val="4C90B2"/>
      </a:accent2>
      <a:accent3>
        <a:srgbClr val="44A088"/>
      </a:accent3>
      <a:accent4>
        <a:srgbClr val="D1A347"/>
      </a:accent4>
      <a:accent5>
        <a:srgbClr val="CB6E4D"/>
      </a:accent5>
      <a:accent6>
        <a:srgbClr val="C55159"/>
      </a:accent6>
      <a:hlink>
        <a:srgbClr val="0563C1"/>
      </a:hlink>
      <a:folHlink>
        <a:srgbClr val="954F72"/>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_template_16-9_wu" id="{15CAAEE6-7872-FA49-BE0C-F40A6F959A7B}" vid="{222D81FC-2846-BD4F-9384-8FB45616FC9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Wakayama Univ</Template>
  <TotalTime>10926</TotalTime>
  <Words>7603</Words>
  <Application>Microsoft Macintosh PowerPoint</Application>
  <PresentationFormat>ユーザー設定</PresentationFormat>
  <Paragraphs>885</Paragraphs>
  <Slides>46</Slides>
  <Notes>24</Notes>
  <HiddenSlides>1</HiddenSlides>
  <MMClips>0</MMClips>
  <ScaleCrop>false</ScaleCrop>
  <HeadingPairs>
    <vt:vector size="6" baseType="variant">
      <vt:variant>
        <vt:lpstr>使用されているフォント</vt:lpstr>
      </vt:variant>
      <vt:variant>
        <vt:i4>14</vt:i4>
      </vt:variant>
      <vt:variant>
        <vt:lpstr>テーマ</vt:lpstr>
      </vt:variant>
      <vt:variant>
        <vt:i4>1</vt:i4>
      </vt:variant>
      <vt:variant>
        <vt:lpstr>スライド タイトル</vt:lpstr>
      </vt:variant>
      <vt:variant>
        <vt:i4>46</vt:i4>
      </vt:variant>
    </vt:vector>
  </HeadingPairs>
  <TitlesOfParts>
    <vt:vector size="61" baseType="lpstr">
      <vt:lpstr>HGPGothicE</vt:lpstr>
      <vt:lpstr>Hiragino Sans</vt:lpstr>
      <vt:lpstr>Hiragino Sans W4</vt:lpstr>
      <vt:lpstr>MS PGothic</vt:lpstr>
      <vt:lpstr>Urbanist</vt:lpstr>
      <vt:lpstr>システムフォント（レギュラー）</vt:lpstr>
      <vt:lpstr>Meiryo</vt:lpstr>
      <vt:lpstr>Yu Gothic</vt:lpstr>
      <vt:lpstr>Yu Gothic</vt:lpstr>
      <vt:lpstr>Arial</vt:lpstr>
      <vt:lpstr>Calibri</vt:lpstr>
      <vt:lpstr>Cambria Math</vt:lpstr>
      <vt:lpstr>Times New Roman</vt:lpstr>
      <vt:lpstr>Wingdings</vt:lpstr>
      <vt:lpstr>Wakayama Univ</vt:lpstr>
      <vt:lpstr>OpenStackとAOSPプロジェクトを対象に  逆強化学習を用いたモジュール別レビュー動態予測</vt:lpstr>
      <vt:lpstr>背景：オープンソースソフトウェア (OSS) 開発の形態</vt:lpstr>
      <vt:lpstr>プロジェクトの持続可能性について</vt:lpstr>
      <vt:lpstr>プロジェクトの持続可能性について</vt:lpstr>
      <vt:lpstr>従来研究と本研究の予測する期間の違い</vt:lpstr>
      <vt:lpstr>従来研究との予測する対象の粒度の違い</vt:lpstr>
      <vt:lpstr>目的・キーアイデア</vt:lpstr>
      <vt:lpstr>目的・キーアイデア</vt:lpstr>
      <vt:lpstr>アプローチ モデルの全体像</vt:lpstr>
      <vt:lpstr>アプローチ モデルの全体像</vt:lpstr>
      <vt:lpstr>アプローチ 学習方法・予測について（4-6mの例）</vt:lpstr>
      <vt:lpstr>アプローチ 学習方法・予測について（4-6mの例）</vt:lpstr>
      <vt:lpstr>アプローチ 学習方法・予測について（4-6mの例）</vt:lpstr>
      <vt:lpstr>アプローチ 学習方法・予測について（4-6mの例）</vt:lpstr>
      <vt:lpstr>評価方法と比較手法</vt:lpstr>
      <vt:lpstr>ケーススタディ</vt:lpstr>
      <vt:lpstr>結果</vt:lpstr>
      <vt:lpstr>アプローチ：比較手法との補完性の検証 原型分析[1]</vt:lpstr>
      <vt:lpstr>PowerPoint プレゼンテーション</vt:lpstr>
      <vt:lpstr>PowerPoint プレゼンテーション</vt:lpstr>
      <vt:lpstr>PowerPoint プレゼンテーション</vt:lpstr>
      <vt:lpstr>PowerPoint プレゼンテーション</vt:lpstr>
      <vt:lpstr>追加実験：アンサンブル</vt:lpstr>
      <vt:lpstr>まとめ・今後の展望</vt:lpstr>
      <vt:lpstr>補足資料</vt:lpstr>
      <vt:lpstr>AOSP: 原型分析における特徴的な特徴量（対象原型の特徴量 -- 他の原型の平均）</vt:lpstr>
      <vt:lpstr>OpenStack: 原型分析における特徴的な特徴量（対象原型の特徴量 -- 他の原型の平均）</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橋本　一輝</dc:creator>
  <cp:lastModifiedBy>橋本　一輝</cp:lastModifiedBy>
  <cp:revision>18</cp:revision>
  <dcterms:created xsi:type="dcterms:W3CDTF">2026-08-17T00:53:36Z</dcterms:created>
  <dcterms:modified xsi:type="dcterms:W3CDTF">2026-09-11T06:01:19Z</dcterms:modified>
</cp:coreProperties>
</file>