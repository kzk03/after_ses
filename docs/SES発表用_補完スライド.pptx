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プロジェクトの持続可能性について</a:t>
            </a:r>
          </a:p>
        </p:txBody>
      </p:sp>
      <p:sp>
        <p:nvSpPr>
          <p:cNvPr id="3" name="TextBox 2"/>
          <p:cNvSpPr txBox="1"/>
          <p:nvPr/>
        </p:nvSpPr>
        <p:spPr>
          <a:xfrm>
            <a:off x="365760" y="1143000"/>
            <a:ext cx="5486400" cy="365760"/>
          </a:xfrm>
          <a:prstGeom prst="rect">
            <a:avLst/>
          </a:prstGeom>
          <a:noFill/>
        </p:spPr>
        <p:txBody>
          <a:bodyPr wrap="square">
            <a:spAutoFit/>
          </a:bodyPr>
          <a:lstStyle/>
          <a:p>
            <a:pPr algn="l">
              <a:spcAft>
                <a:spcPts val="600"/>
              </a:spcAft>
              <a:defRPr sz="2000" b="1">
                <a:solidFill>
                  <a:srgbClr val="202020"/>
                </a:solidFill>
                <a:latin typeface="Hiragino Sans"/>
              </a:defRPr>
            </a:pPr>
            <a:r>
              <a:t>課題</a:t>
            </a:r>
          </a:p>
        </p:txBody>
      </p:sp>
      <p:sp>
        <p:nvSpPr>
          <p:cNvPr id="4" name="TextBox 3"/>
          <p:cNvSpPr txBox="1"/>
          <p:nvPr/>
        </p:nvSpPr>
        <p:spPr>
          <a:xfrm>
            <a:off x="548640" y="1600200"/>
            <a:ext cx="5303520" cy="2011680"/>
          </a:xfrm>
          <a:prstGeom prst="rect">
            <a:avLst/>
          </a:prstGeom>
          <a:noFill/>
        </p:spPr>
        <p:txBody>
          <a:bodyPr wrap="square">
            <a:spAutoFit/>
          </a:bodyPr>
          <a:lstStyle/>
          <a:p>
            <a:pPr algn="l">
              <a:spcAft>
                <a:spcPts val="600"/>
              </a:spcAft>
              <a:defRPr sz="1500" b="0">
                <a:solidFill>
                  <a:srgbClr val="202020"/>
                </a:solidFill>
                <a:latin typeface="Hiragino Sans"/>
              </a:defRPr>
            </a:pPr>
            <a:r>
              <a:t>・ 貢献するタイミングや量が見積りにくい</a:t>
            </a:r>
          </a:p>
          <a:p>
            <a:pPr algn="l">
              <a:spcAft>
                <a:spcPts val="600"/>
              </a:spcAft>
              <a:defRPr sz="1500" b="0">
                <a:solidFill>
                  <a:srgbClr val="202020"/>
                </a:solidFill>
                <a:latin typeface="Hiragino Sans"/>
              </a:defRPr>
            </a:pPr>
            <a:r>
              <a:t>・ 開発者の流動性が高い</a:t>
            </a:r>
          </a:p>
          <a:p>
            <a:pPr algn="l">
              <a:spcAft>
                <a:spcPts val="600"/>
              </a:spcAft>
              <a:defRPr sz="1500" b="0">
                <a:solidFill>
                  <a:srgbClr val="202020"/>
                </a:solidFill>
                <a:latin typeface="Hiragino Sans"/>
              </a:defRPr>
            </a:pPr>
            <a:r>
              <a:t>    - 多くの開発者は一度の貢献で離脱 [3]</a:t>
            </a:r>
          </a:p>
        </p:txBody>
      </p:sp>
      <p:sp>
        <p:nvSpPr>
          <p:cNvPr id="5" name="Rounded Rectangle 4"/>
          <p:cNvSpPr/>
          <p:nvPr/>
        </p:nvSpPr>
        <p:spPr>
          <a:xfrm>
            <a:off x="457200" y="2880360"/>
            <a:ext cx="5120640" cy="502920"/>
          </a:xfrm>
          <a:prstGeom prst="roundRect">
            <a:avLst/>
          </a:prstGeom>
          <a:solidFill>
            <a:srgbClr val="FBE4E8"/>
          </a:solidFill>
          <a:ln>
            <a:solidFill>
              <a:srgbClr val="E08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020"/>
                </a:solidFill>
                <a:latin typeface="Hiragino Sans"/>
              </a:defRPr>
            </a:pPr>
            <a:r>
              <a:t>開発者の離脱により保守運用ができなくなる</a:t>
            </a:r>
          </a:p>
        </p:txBody>
      </p:sp>
      <p:sp>
        <p:nvSpPr>
          <p:cNvPr id="6" name="TextBox 5"/>
          <p:cNvSpPr txBox="1"/>
          <p:nvPr/>
        </p:nvSpPr>
        <p:spPr>
          <a:xfrm>
            <a:off x="6126480" y="1051560"/>
            <a:ext cx="5669280" cy="365760"/>
          </a:xfrm>
          <a:prstGeom prst="rect">
            <a:avLst/>
          </a:prstGeom>
          <a:noFill/>
        </p:spPr>
        <p:txBody>
          <a:bodyPr wrap="square">
            <a:spAutoFit/>
          </a:bodyPr>
          <a:lstStyle/>
          <a:p>
            <a:pPr algn="ctr">
              <a:spcAft>
                <a:spcPts val="600"/>
              </a:spcAft>
              <a:defRPr sz="2200" b="1">
                <a:solidFill>
                  <a:srgbClr val="202020"/>
                </a:solidFill>
                <a:latin typeface="Hiragino Sans"/>
              </a:defRPr>
            </a:pPr>
            <a:r>
              <a:t>従来研究</a:t>
            </a:r>
          </a:p>
        </p:txBody>
      </p:sp>
      <p:sp>
        <p:nvSpPr>
          <p:cNvPr id="7" name="Rounded Rectangle 6"/>
          <p:cNvSpPr/>
          <p:nvPr/>
        </p:nvSpPr>
        <p:spPr>
          <a:xfrm>
            <a:off x="6309360" y="1554480"/>
            <a:ext cx="5486400" cy="1554480"/>
          </a:xfrm>
          <a:prstGeom prst="roundRect">
            <a:avLst/>
          </a:prstGeom>
          <a:solidFill>
            <a:srgbClr val="FFFFFF"/>
          </a:solidFill>
          <a:ln w="19050">
            <a:solidFill>
              <a:srgbClr val="3F518C"/>
            </a:solidFill>
          </a:ln>
        </p:spPr>
        <p:style>
          <a:lnRef idx="1">
            <a:schemeClr val="accent1"/>
          </a:lnRef>
          <a:fillRef idx="3">
            <a:schemeClr val="accent1"/>
          </a:fillRef>
          <a:effectRef idx="2">
            <a:schemeClr val="accent1"/>
          </a:effectRef>
          <a:fontRef idx="minor">
            <a:schemeClr val="lt1"/>
          </a:fontRef>
        </p:style>
        <p:txBody>
          <a:bodyPr rtlCol="0" anchor="t" wrap="square" lIns="228600" tIns="137160"/>
          <a:lstStyle/>
          <a:p>
            <a:pPr algn="ctr">
              <a:defRPr sz="1600" b="1">
                <a:solidFill>
                  <a:srgbClr val="202020"/>
                </a:solidFill>
                <a:latin typeface="Hiragino Sans"/>
              </a:defRPr>
            </a:pPr>
            <a:r>
              <a:t>開発者の継続・離脱要因について</a:t>
            </a:r>
          </a:p>
          <a:p>
            <a:pPr>
              <a:spcBef>
                <a:spcPts val="800"/>
              </a:spcBef>
              <a:defRPr sz="1300">
                <a:solidFill>
                  <a:srgbClr val="555555"/>
                </a:solidFill>
                <a:latin typeface="Hiragino Sans"/>
              </a:defRPr>
            </a:pPr>
            <a:r>
              <a:t>私生活の出来事・興味喪失(個人要因)や貢献者間対立・方針変化(組織要因)により活動停止 [1]．早期参加・コーディング中心の活動ほど継続期間が長い</a:t>
            </a:r>
          </a:p>
        </p:txBody>
      </p:sp>
      <p:sp>
        <p:nvSpPr>
          <p:cNvPr id="8" name="Rounded Rectangle 7"/>
          <p:cNvSpPr/>
          <p:nvPr/>
        </p:nvSpPr>
        <p:spPr>
          <a:xfrm>
            <a:off x="6309360" y="3246120"/>
            <a:ext cx="5486400" cy="3063240"/>
          </a:xfrm>
          <a:prstGeom prst="roundRect">
            <a:avLst/>
          </a:prstGeom>
          <a:solidFill>
            <a:srgbClr val="FFFFFF"/>
          </a:solidFill>
          <a:ln w="19050">
            <a:solidFill>
              <a:srgbClr val="3F518C"/>
            </a:solidFill>
          </a:ln>
        </p:spPr>
        <p:style>
          <a:lnRef idx="1">
            <a:schemeClr val="accent1"/>
          </a:lnRef>
          <a:fillRef idx="3">
            <a:schemeClr val="accent1"/>
          </a:fillRef>
          <a:effectRef idx="2">
            <a:schemeClr val="accent1"/>
          </a:effectRef>
          <a:fontRef idx="minor">
            <a:schemeClr val="lt1"/>
          </a:fontRef>
        </p:style>
        <p:txBody>
          <a:bodyPr rtlCol="0" anchor="t" wrap="square" lIns="228600" tIns="137160"/>
          <a:lstStyle/>
          <a:p>
            <a:pPr algn="ctr">
              <a:defRPr sz="1550" b="1">
                <a:solidFill>
                  <a:srgbClr val="202020"/>
                </a:solidFill>
                <a:latin typeface="Hiragino Sans"/>
              </a:defRPr>
            </a:pPr>
            <a:r>
              <a:t>活動予測</a:t>
            </a:r>
          </a:p>
          <a:p>
            <a:pPr>
              <a:spcBef>
                <a:spcPts val="800"/>
              </a:spcBef>
              <a:defRPr sz="1300" b="1">
                <a:solidFill>
                  <a:srgbClr val="3F518C"/>
                </a:solidFill>
                <a:latin typeface="Hiragino Sans"/>
              </a:defRPr>
            </a:pPr>
            <a:r>
              <a:t>単一時点以降の継続予測</a:t>
            </a:r>
          </a:p>
          <a:p>
            <a:pPr>
              <a:spcBef>
                <a:spcPts val="300"/>
              </a:spcBef>
              <a:defRPr sz="1200">
                <a:solidFill>
                  <a:srgbClr val="555555"/>
                </a:solidFill>
                <a:latin typeface="Hiragino Sans"/>
              </a:defRPr>
            </a:pPr>
            <a:r>
              <a:t>参加後1か月の累積活動量から1年後の継続を予測．早期の丁寧な参加行動(態度)が最も強い予測因子 [2]</a:t>
            </a:r>
          </a:p>
          <a:p>
            <a:pPr>
              <a:spcBef>
                <a:spcPts val="400"/>
              </a:spcBef>
              <a:defRPr sz="1200">
                <a:solidFill>
                  <a:srgbClr val="555555"/>
                </a:solidFill>
                <a:latin typeface="Hiragino Sans"/>
              </a:defRPr>
            </a:pPr>
            <a:r>
              <a:t>GitHubで1〜3年後の同一プロジェクトへの貢献を予測．参加時点のフォロワー数が最も強く影響 [3]</a:t>
            </a:r>
          </a:p>
          <a:p>
            <a:pPr>
              <a:spcBef>
                <a:spcPts val="900"/>
              </a:spcBef>
              <a:defRPr sz="1300" b="1">
                <a:solidFill>
                  <a:srgbClr val="3F518C"/>
                </a:solidFill>
                <a:latin typeface="Hiragino Sans"/>
              </a:defRPr>
            </a:pPr>
            <a:r>
              <a:t>特定時点のタスク予測</a:t>
            </a:r>
          </a:p>
          <a:p>
            <a:pPr>
              <a:spcBef>
                <a:spcPts val="300"/>
              </a:spcBef>
              <a:defRPr sz="1200">
                <a:solidFill>
                  <a:srgbClr val="555555"/>
                </a:solidFill>
                <a:latin typeface="Hiragino Sans"/>
              </a:defRPr>
            </a:pPr>
            <a:r>
              <a:t>ある特定時点のレビュー依頼に対して，開発者が貢献するか否かを予測．レビュアー自身の過去の参加率が最も強く影響 [4]</a:t>
            </a:r>
          </a:p>
        </p:txBody>
      </p:sp>
      <p:sp>
        <p:nvSpPr>
          <p:cNvPr id="9" name="TextBox 8"/>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キーアイデア：逆強化学習</a:t>
            </a:r>
          </a:p>
        </p:txBody>
      </p:sp>
      <p:sp>
        <p:nvSpPr>
          <p:cNvPr id="3" name="TextBox 2"/>
          <p:cNvSpPr txBox="1"/>
          <p:nvPr/>
        </p:nvSpPr>
        <p:spPr>
          <a:xfrm>
            <a:off x="365760" y="1051560"/>
            <a:ext cx="11430000" cy="457200"/>
          </a:xfrm>
          <a:prstGeom prst="rect">
            <a:avLst/>
          </a:prstGeom>
          <a:noFill/>
        </p:spPr>
        <p:txBody>
          <a:bodyPr wrap="square">
            <a:spAutoFit/>
          </a:bodyPr>
          <a:lstStyle/>
          <a:p>
            <a:pPr algn="l">
              <a:spcAft>
                <a:spcPts val="600"/>
              </a:spcAft>
              <a:defRPr sz="1800" b="1">
                <a:solidFill>
                  <a:srgbClr val="202020"/>
                </a:solidFill>
                <a:latin typeface="Hiragino Sans"/>
              </a:defRPr>
            </a:pPr>
            <a:r>
              <a:t>開発者を「レビュー依頼に対して 承諾／拒否 を選ぶ主体」として捉える</a:t>
            </a:r>
          </a:p>
        </p:txBody>
      </p:sp>
      <p:sp>
        <p:nvSpPr>
          <p:cNvPr id="4" name="Rounded Rectangle 3"/>
          <p:cNvSpPr/>
          <p:nvPr/>
        </p:nvSpPr>
        <p:spPr>
          <a:xfrm>
            <a:off x="365760" y="1691640"/>
            <a:ext cx="5303520" cy="3749039"/>
          </a:xfrm>
          <a:prstGeom prst="roundRect">
            <a:avLst/>
          </a:prstGeom>
          <a:solidFill>
            <a:srgbClr val="EFEFF2"/>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tIns="137160" lIns="182880"/>
          <a:lstStyle/>
          <a:p>
            <a:pPr algn="ctr">
              <a:defRPr sz="1700" b="1">
                <a:solidFill>
                  <a:srgbClr val="555555"/>
                </a:solidFill>
                <a:latin typeface="Hiragino Sans"/>
              </a:defRPr>
            </a:pPr>
            <a:r>
              <a:t>従来：累積統計量</a:t>
            </a:r>
          </a:p>
        </p:txBody>
      </p:sp>
      <p:sp>
        <p:nvSpPr>
          <p:cNvPr id="5" name="TextBox 4"/>
          <p:cNvSpPr txBox="1"/>
          <p:nvPr/>
        </p:nvSpPr>
        <p:spPr>
          <a:xfrm>
            <a:off x="640080" y="2331720"/>
            <a:ext cx="4754880" cy="365760"/>
          </a:xfrm>
          <a:prstGeom prst="rect">
            <a:avLst/>
          </a:prstGeom>
          <a:noFill/>
        </p:spPr>
        <p:txBody>
          <a:bodyPr wrap="square">
            <a:spAutoFit/>
          </a:bodyPr>
          <a:lstStyle/>
          <a:p>
            <a:pPr algn="l">
              <a:spcAft>
                <a:spcPts val="600"/>
              </a:spcAft>
              <a:defRPr sz="1300" b="0">
                <a:solidFill>
                  <a:srgbClr val="555555"/>
                </a:solidFill>
                <a:latin typeface="Hiragino Sans"/>
              </a:defRPr>
            </a:pPr>
            <a:r>
              <a:t>月次の承諾(1)／非承諾(0)</a:t>
            </a:r>
          </a:p>
        </p:txBody>
      </p:sp>
      <p:sp>
        <p:nvSpPr>
          <p:cNvPr id="6" name="Rectangle 5"/>
          <p:cNvSpPr/>
          <p:nvPr/>
        </p:nvSpPr>
        <p:spPr>
          <a:xfrm>
            <a:off x="731520" y="2743200"/>
            <a:ext cx="566928" cy="566928"/>
          </a:xfrm>
          <a:prstGeom prst="rect">
            <a:avLst/>
          </a:prstGeom>
          <a:solidFill>
            <a:srgbClr val="4DB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Hiragino Sans"/>
              </a:defRPr>
            </a:pPr>
            <a:r>
              <a:t>1</a:t>
            </a:r>
          </a:p>
        </p:txBody>
      </p:sp>
      <p:sp>
        <p:nvSpPr>
          <p:cNvPr id="7" name="Rectangle 6"/>
          <p:cNvSpPr/>
          <p:nvPr/>
        </p:nvSpPr>
        <p:spPr>
          <a:xfrm>
            <a:off x="1408176" y="2743200"/>
            <a:ext cx="566928" cy="566928"/>
          </a:xfrm>
          <a:prstGeom prst="rect">
            <a:avLst/>
          </a:prstGeom>
          <a:solidFill>
            <a:srgbClr val="4DB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Hiragino Sans"/>
              </a:defRPr>
            </a:pPr>
            <a:r>
              <a:t>1</a:t>
            </a:r>
          </a:p>
        </p:txBody>
      </p:sp>
      <p:sp>
        <p:nvSpPr>
          <p:cNvPr id="8" name="Rectangle 7"/>
          <p:cNvSpPr/>
          <p:nvPr/>
        </p:nvSpPr>
        <p:spPr>
          <a:xfrm>
            <a:off x="2084832" y="2743200"/>
            <a:ext cx="566928" cy="566928"/>
          </a:xfrm>
          <a:prstGeom prst="rect">
            <a:avLst/>
          </a:prstGeom>
          <a:solidFill>
            <a:srgbClr val="C9C9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Hiragino Sans"/>
              </a:defRPr>
            </a:pPr>
            <a:r>
              <a:t>0</a:t>
            </a:r>
          </a:p>
        </p:txBody>
      </p:sp>
      <p:sp>
        <p:nvSpPr>
          <p:cNvPr id="9" name="Rectangle 8"/>
          <p:cNvSpPr/>
          <p:nvPr/>
        </p:nvSpPr>
        <p:spPr>
          <a:xfrm>
            <a:off x="2761488" y="2743200"/>
            <a:ext cx="566928" cy="566928"/>
          </a:xfrm>
          <a:prstGeom prst="rect">
            <a:avLst/>
          </a:prstGeom>
          <a:solidFill>
            <a:srgbClr val="C9C9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Hiragino Sans"/>
              </a:defRPr>
            </a:pPr>
            <a:r>
              <a:t>0</a:t>
            </a:r>
          </a:p>
        </p:txBody>
      </p:sp>
      <p:sp>
        <p:nvSpPr>
          <p:cNvPr id="10" name="Rectangle 9"/>
          <p:cNvSpPr/>
          <p:nvPr/>
        </p:nvSpPr>
        <p:spPr>
          <a:xfrm>
            <a:off x="3438144" y="2743200"/>
            <a:ext cx="566928" cy="566928"/>
          </a:xfrm>
          <a:prstGeom prst="rect">
            <a:avLst/>
          </a:prstGeom>
          <a:solidFill>
            <a:srgbClr val="C9C9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Hiragino Sans"/>
              </a:defRPr>
            </a:pPr>
            <a:r>
              <a:t>0</a:t>
            </a:r>
          </a:p>
        </p:txBody>
      </p:sp>
      <p:sp>
        <p:nvSpPr>
          <p:cNvPr id="11" name="Rectangle 10"/>
          <p:cNvSpPr/>
          <p:nvPr/>
        </p:nvSpPr>
        <p:spPr>
          <a:xfrm>
            <a:off x="4114800" y="2743200"/>
            <a:ext cx="566928" cy="566928"/>
          </a:xfrm>
          <a:prstGeom prst="rect">
            <a:avLst/>
          </a:prstGeom>
          <a:solidFill>
            <a:srgbClr val="4DBBD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Hiragino Sans"/>
              </a:defRPr>
            </a:pPr>
            <a:r>
              <a:t>1</a:t>
            </a:r>
          </a:p>
        </p:txBody>
      </p:sp>
      <p:sp>
        <p:nvSpPr>
          <p:cNvPr id="12" name="TextBox 11"/>
          <p:cNvSpPr txBox="1"/>
          <p:nvPr/>
        </p:nvSpPr>
        <p:spPr>
          <a:xfrm>
            <a:off x="731520" y="3520440"/>
            <a:ext cx="2743200" cy="457200"/>
          </a:xfrm>
          <a:prstGeom prst="rect">
            <a:avLst/>
          </a:prstGeom>
          <a:noFill/>
        </p:spPr>
        <p:txBody>
          <a:bodyPr wrap="square">
            <a:spAutoFit/>
          </a:bodyPr>
          <a:lstStyle/>
          <a:p>
            <a:pPr algn="l">
              <a:spcAft>
                <a:spcPts val="600"/>
              </a:spcAft>
              <a:defRPr sz="1800" b="1">
                <a:solidFill>
                  <a:srgbClr val="202020"/>
                </a:solidFill>
                <a:latin typeface="Hiragino Sans"/>
              </a:defRPr>
            </a:pPr>
            <a:r>
              <a:t>承諾率 = 0.50</a:t>
            </a:r>
          </a:p>
        </p:txBody>
      </p:sp>
      <p:sp>
        <p:nvSpPr>
          <p:cNvPr id="13" name="Rounded Rectangle 12"/>
          <p:cNvSpPr/>
          <p:nvPr/>
        </p:nvSpPr>
        <p:spPr>
          <a:xfrm>
            <a:off x="640080" y="4114800"/>
            <a:ext cx="4846320" cy="548640"/>
          </a:xfrm>
          <a:prstGeom prst="roundRect">
            <a:avLst/>
          </a:prstGeom>
          <a:solidFill>
            <a:srgbClr val="FBE4E8"/>
          </a:solidFill>
          <a:ln>
            <a:solidFill>
              <a:srgbClr val="E08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C03030"/>
                </a:solidFill>
                <a:latin typeface="Hiragino Sans"/>
              </a:defRPr>
            </a:pPr>
            <a:r>
              <a:t>いつ止まったかは平均に埋もれる</a:t>
            </a:r>
          </a:p>
        </p:txBody>
      </p:sp>
      <p:sp>
        <p:nvSpPr>
          <p:cNvPr id="14" name="TextBox 13"/>
          <p:cNvSpPr txBox="1"/>
          <p:nvPr/>
        </p:nvSpPr>
        <p:spPr>
          <a:xfrm>
            <a:off x="640080" y="4892040"/>
            <a:ext cx="4846320" cy="457200"/>
          </a:xfrm>
          <a:prstGeom prst="rect">
            <a:avLst/>
          </a:prstGeom>
          <a:noFill/>
        </p:spPr>
        <p:txBody>
          <a:bodyPr wrap="square">
            <a:spAutoFit/>
          </a:bodyPr>
          <a:lstStyle/>
          <a:p>
            <a:pPr algn="l">
              <a:spcAft>
                <a:spcPts val="600"/>
              </a:spcAft>
              <a:defRPr sz="1300" b="0">
                <a:solidFill>
                  <a:srgbClr val="555555"/>
                </a:solidFill>
                <a:latin typeface="Hiragino Sans"/>
              </a:defRPr>
            </a:pPr>
            <a:r>
              <a:t>→ 時系列の中の「変化」を表現できない</a:t>
            </a:r>
          </a:p>
        </p:txBody>
      </p:sp>
      <p:sp>
        <p:nvSpPr>
          <p:cNvPr id="15" name="Rounded Rectangle 14"/>
          <p:cNvSpPr/>
          <p:nvPr/>
        </p:nvSpPr>
        <p:spPr>
          <a:xfrm>
            <a:off x="5943600" y="1691640"/>
            <a:ext cx="5852160" cy="3749039"/>
          </a:xfrm>
          <a:prstGeom prst="roundRect">
            <a:avLst/>
          </a:prstGeom>
          <a:solidFill>
            <a:srgbClr val="EAF3F9"/>
          </a:solidFill>
          <a:ln>
            <a:solidFill>
              <a:srgbClr val="9CC9E0"/>
            </a:solidFill>
          </a:ln>
        </p:spPr>
        <p:style>
          <a:lnRef idx="1">
            <a:schemeClr val="accent1"/>
          </a:lnRef>
          <a:fillRef idx="3">
            <a:schemeClr val="accent1"/>
          </a:fillRef>
          <a:effectRef idx="2">
            <a:schemeClr val="accent1"/>
          </a:effectRef>
          <a:fontRef idx="minor">
            <a:schemeClr val="lt1"/>
          </a:fontRef>
        </p:style>
        <p:txBody>
          <a:bodyPr rtlCol="0" anchor="t" tIns="137160" lIns="182880"/>
          <a:lstStyle/>
          <a:p>
            <a:pPr algn="ctr">
              <a:defRPr sz="1700" b="1">
                <a:solidFill>
                  <a:srgbClr val="1F6F9C"/>
                </a:solidFill>
                <a:latin typeface="Hiragino Sans"/>
              </a:defRPr>
            </a:pPr>
            <a:r>
              <a:t>提案：状態遷移として学習（IRL）</a:t>
            </a:r>
          </a:p>
        </p:txBody>
      </p:sp>
      <p:cxnSp>
        <p:nvCxnSpPr>
          <p:cNvPr id="16" name="Connector 15"/>
          <p:cNvCxnSpPr/>
          <p:nvPr/>
        </p:nvCxnSpPr>
        <p:spPr>
          <a:xfrm flipV="1">
            <a:off x="7315200" y="2743200"/>
            <a:ext cx="960120" cy="50292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3246120"/>
            <a:ext cx="960120" cy="50292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15200" y="3246120"/>
            <a:ext cx="960120" cy="0"/>
          </a:xfrm>
          <a:prstGeom prst="line">
            <a:avLst/>
          </a:prstGeom>
          <a:ln w="31750">
            <a:solidFill>
              <a:srgbClr val="1F6F9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0" y="2788920"/>
            <a:ext cx="960120" cy="274320"/>
          </a:xfrm>
          <a:prstGeom prst="rect">
            <a:avLst/>
          </a:prstGeom>
          <a:noFill/>
        </p:spPr>
        <p:txBody>
          <a:bodyPr wrap="square">
            <a:spAutoFit/>
          </a:bodyPr>
          <a:lstStyle/>
          <a:p>
            <a:pPr algn="ctr">
              <a:spcAft>
                <a:spcPts val="600"/>
              </a:spcAft>
              <a:defRPr sz="1000" b="0">
                <a:solidFill>
                  <a:srgbClr val="1F6F9C"/>
                </a:solidFill>
                <a:latin typeface="Hiragino Sans"/>
              </a:defRPr>
            </a:pPr>
            <a:r>
              <a:t>a(承諾/拒否)</a:t>
            </a:r>
          </a:p>
        </p:txBody>
      </p:sp>
      <p:cxnSp>
        <p:nvCxnSpPr>
          <p:cNvPr id="20" name="Connector 19"/>
          <p:cNvCxnSpPr/>
          <p:nvPr/>
        </p:nvCxnSpPr>
        <p:spPr>
          <a:xfrm flipV="1">
            <a:off x="9052560" y="2743200"/>
            <a:ext cx="960120" cy="50292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052560" y="3246120"/>
            <a:ext cx="960120" cy="50292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052560" y="3246120"/>
            <a:ext cx="960120" cy="0"/>
          </a:xfrm>
          <a:prstGeom prst="line">
            <a:avLst/>
          </a:prstGeom>
          <a:ln w="31750">
            <a:solidFill>
              <a:srgbClr val="1F6F9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052560" y="2788920"/>
            <a:ext cx="960120" cy="274320"/>
          </a:xfrm>
          <a:prstGeom prst="rect">
            <a:avLst/>
          </a:prstGeom>
          <a:noFill/>
        </p:spPr>
        <p:txBody>
          <a:bodyPr wrap="square">
            <a:spAutoFit/>
          </a:bodyPr>
          <a:lstStyle/>
          <a:p>
            <a:pPr algn="ctr">
              <a:spcAft>
                <a:spcPts val="600"/>
              </a:spcAft>
              <a:defRPr sz="1000" b="0">
                <a:solidFill>
                  <a:srgbClr val="1F6F9C"/>
                </a:solidFill>
                <a:latin typeface="Hiragino Sans"/>
              </a:defRPr>
            </a:pPr>
            <a:r>
              <a:t>a(承諾/拒否)</a:t>
            </a:r>
          </a:p>
        </p:txBody>
      </p:sp>
      <p:sp>
        <p:nvSpPr>
          <p:cNvPr id="24" name="Oval 23"/>
          <p:cNvSpPr/>
          <p:nvPr/>
        </p:nvSpPr>
        <p:spPr>
          <a:xfrm>
            <a:off x="6537960" y="2857500"/>
            <a:ext cx="777240" cy="777240"/>
          </a:xfrm>
          <a:prstGeom prst="ellipse">
            <a:avLst/>
          </a:prstGeom>
          <a:solidFill>
            <a:srgbClr val="FFFFFF"/>
          </a:solidFill>
          <a:ln w="22225">
            <a:solidFill>
              <a:srgbClr val="1F6F9C"/>
            </a:solid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defRPr sz="1200" b="1">
                <a:solidFill>
                  <a:srgbClr val="1F6F9C"/>
                </a:solidFill>
                <a:latin typeface="Hiragino Sans"/>
              </a:defRPr>
            </a:pPr>
            <a:r>
              <a:t>s_t</a:t>
            </a:r>
          </a:p>
        </p:txBody>
      </p:sp>
      <p:sp>
        <p:nvSpPr>
          <p:cNvPr id="25" name="Oval 24"/>
          <p:cNvSpPr/>
          <p:nvPr/>
        </p:nvSpPr>
        <p:spPr>
          <a:xfrm>
            <a:off x="8275320" y="2857500"/>
            <a:ext cx="777240" cy="777240"/>
          </a:xfrm>
          <a:prstGeom prst="ellipse">
            <a:avLst/>
          </a:prstGeom>
          <a:solidFill>
            <a:srgbClr val="FFFFFF"/>
          </a:solidFill>
          <a:ln w="22225">
            <a:solidFill>
              <a:srgbClr val="1F6F9C"/>
            </a:solid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defRPr sz="1200" b="1">
                <a:solidFill>
                  <a:srgbClr val="1F6F9C"/>
                </a:solidFill>
                <a:latin typeface="Hiragino Sans"/>
              </a:defRPr>
            </a:pPr>
            <a:r>
              <a:t>s_t+1</a:t>
            </a:r>
          </a:p>
        </p:txBody>
      </p:sp>
      <p:sp>
        <p:nvSpPr>
          <p:cNvPr id="26" name="Oval 25"/>
          <p:cNvSpPr/>
          <p:nvPr/>
        </p:nvSpPr>
        <p:spPr>
          <a:xfrm>
            <a:off x="10012680" y="2857500"/>
            <a:ext cx="777240" cy="777240"/>
          </a:xfrm>
          <a:prstGeom prst="ellipse">
            <a:avLst/>
          </a:prstGeom>
          <a:solidFill>
            <a:srgbClr val="FFFFFF"/>
          </a:solidFill>
          <a:ln w="22225">
            <a:solidFill>
              <a:srgbClr val="1F6F9C"/>
            </a:solid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defRPr sz="1200" b="1">
                <a:solidFill>
                  <a:srgbClr val="1F6F9C"/>
                </a:solidFill>
                <a:latin typeface="Hiragino Sans"/>
              </a:defRPr>
            </a:pPr>
            <a:r>
              <a:t>s_t+2</a:t>
            </a:r>
          </a:p>
        </p:txBody>
      </p:sp>
      <p:sp>
        <p:nvSpPr>
          <p:cNvPr id="27" name="TextBox 26"/>
          <p:cNvSpPr txBox="1"/>
          <p:nvPr/>
        </p:nvSpPr>
        <p:spPr>
          <a:xfrm>
            <a:off x="6217920" y="4434840"/>
            <a:ext cx="5486400" cy="731520"/>
          </a:xfrm>
          <a:prstGeom prst="rect">
            <a:avLst/>
          </a:prstGeom>
          <a:noFill/>
        </p:spPr>
        <p:txBody>
          <a:bodyPr wrap="square">
            <a:spAutoFit/>
          </a:bodyPr>
          <a:lstStyle/>
          <a:p>
            <a:pPr algn="l">
              <a:spcAft>
                <a:spcPts val="600"/>
              </a:spcAft>
              <a:defRPr sz="1300" b="0">
                <a:solidFill>
                  <a:srgbClr val="202020"/>
                </a:solidFill>
                <a:latin typeface="Hiragino Sans"/>
              </a:defRPr>
            </a:pPr>
            <a:r>
              <a:t>各時点で他の選択肢もあった中で，実際にどれを</a:t>
            </a:r>
          </a:p>
          <a:p>
            <a:pPr algn="l">
              <a:spcAft>
                <a:spcPts val="600"/>
              </a:spcAft>
              <a:defRPr sz="1300" b="0">
                <a:solidFill>
                  <a:srgbClr val="202020"/>
                </a:solidFill>
                <a:latin typeface="Hiragino Sans"/>
              </a:defRPr>
            </a:pPr>
            <a:r>
              <a:t>選んだかを軌跡として学習する</a:t>
            </a:r>
          </a:p>
        </p:txBody>
      </p:sp>
      <p:sp>
        <p:nvSpPr>
          <p:cNvPr id="28" name="Rounded Rectangle 27"/>
          <p:cNvSpPr/>
          <p:nvPr/>
        </p:nvSpPr>
        <p:spPr>
          <a:xfrm>
            <a:off x="365760" y="5577840"/>
            <a:ext cx="11430000" cy="594360"/>
          </a:xfrm>
          <a:prstGeom prst="round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Hiragino Sans"/>
              </a:defRPr>
            </a:pPr>
            <a:r>
              <a:t>他の選択肢もあった中である選択が繰り返された → 判断基準 rθ(s, a) を逆算できる</a:t>
            </a:r>
          </a:p>
        </p:txBody>
      </p:sp>
      <p:sp>
        <p:nvSpPr>
          <p:cNvPr id="29" name="TextBox 28"/>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【補足】開発者の状態 s_t を表現する特徴量</a:t>
            </a:r>
          </a:p>
        </p:txBody>
      </p:sp>
      <p:sp>
        <p:nvSpPr>
          <p:cNvPr id="3" name="TextBox 2"/>
          <p:cNvSpPr txBox="1"/>
          <p:nvPr/>
        </p:nvSpPr>
        <p:spPr>
          <a:xfrm>
            <a:off x="365760" y="1097280"/>
            <a:ext cx="11430000" cy="365760"/>
          </a:xfrm>
          <a:prstGeom prst="rect">
            <a:avLst/>
          </a:prstGeom>
          <a:noFill/>
        </p:spPr>
        <p:txBody>
          <a:bodyPr wrap="square">
            <a:spAutoFit/>
          </a:bodyPr>
          <a:lstStyle/>
          <a:p>
            <a:pPr algn="l">
              <a:spcAft>
                <a:spcPts val="600"/>
              </a:spcAft>
              <a:defRPr sz="1700" b="1">
                <a:solidFill>
                  <a:srgbClr val="202020"/>
                </a:solidFill>
                <a:latin typeface="Hiragino Sans"/>
              </a:defRPr>
            </a:pPr>
            <a:r>
              <a:t>3つのカテゴリ計37次元の特徴量を用いる</a:t>
            </a:r>
          </a:p>
        </p:txBody>
      </p:sp>
      <p:graphicFrame>
        <p:nvGraphicFramePr>
          <p:cNvPr id="4" name="Table 3"/>
          <p:cNvGraphicFramePr>
            <a:graphicFrameLocks noGrp="1"/>
          </p:cNvGraphicFramePr>
          <p:nvPr/>
        </p:nvGraphicFramePr>
        <p:xfrm>
          <a:off x="457200" y="1645920"/>
          <a:ext cx="11247120" cy="1828800"/>
        </p:xfrm>
        <a:graphic>
          <a:graphicData uri="http://schemas.openxmlformats.org/drawingml/2006/table">
            <a:tbl>
              <a:tblPr firstRow="1" bandRow="1">
                <a:tableStyleId>{5C22544A-7EE6-4342-B048-85BDC9FD1C3A}</a:tableStyleId>
              </a:tblPr>
              <a:tblGrid>
                <a:gridCol w="2743200"/>
                <a:gridCol w="1371600"/>
                <a:gridCol w="7132320"/>
              </a:tblGrid>
              <a:tr h="457200">
                <a:tc>
                  <a:txBody>
                    <a:bodyPr/>
                    <a:lstStyle/>
                    <a:p>
                      <a:pPr>
                        <a:defRPr sz="1400" b="1">
                          <a:solidFill>
                            <a:srgbClr val="FFFFFF"/>
                          </a:solidFill>
                          <a:latin typeface="Hiragino Sans"/>
                        </a:defRPr>
                      </a:pPr>
                      <a:r>
                        <a:t>カテゴリ</a:t>
                      </a:r>
                    </a:p>
                  </a:txBody>
                  <a:tcPr>
                    <a:solidFill>
                      <a:srgbClr val="5A5A66"/>
                    </a:solidFill>
                  </a:tcPr>
                </a:tc>
                <a:tc>
                  <a:txBody>
                    <a:bodyPr/>
                    <a:lstStyle/>
                    <a:p>
                      <a:pPr>
                        <a:defRPr sz="1400" b="1">
                          <a:solidFill>
                            <a:srgbClr val="FFFFFF"/>
                          </a:solidFill>
                          <a:latin typeface="Hiragino Sans"/>
                        </a:defRPr>
                      </a:pPr>
                      <a:r>
                        <a:t>次元数</a:t>
                      </a:r>
                    </a:p>
                  </a:txBody>
                  <a:tcPr>
                    <a:solidFill>
                      <a:srgbClr val="5A5A66"/>
                    </a:solidFill>
                  </a:tcPr>
                </a:tc>
                <a:tc>
                  <a:txBody>
                    <a:bodyPr/>
                    <a:lstStyle/>
                    <a:p>
                      <a:pPr>
                        <a:defRPr sz="1400" b="1">
                          <a:solidFill>
                            <a:srgbClr val="FFFFFF"/>
                          </a:solidFill>
                          <a:latin typeface="Hiragino Sans"/>
                        </a:defRPr>
                      </a:pPr>
                      <a:r>
                        <a:t>特徴量（抜粋）</a:t>
                      </a:r>
                    </a:p>
                  </a:txBody>
                  <a:tcPr>
                    <a:solidFill>
                      <a:srgbClr val="5A5A66"/>
                    </a:solidFill>
                  </a:tcPr>
                </a:tc>
              </a:tr>
              <a:tr h="457200">
                <a:tc>
                  <a:txBody>
                    <a:bodyPr/>
                    <a:lstStyle/>
                    <a:p>
                      <a:pPr>
                        <a:defRPr sz="1400">
                          <a:latin typeface="Hiragino Sans"/>
                        </a:defRPr>
                      </a:pPr>
                      <a:r>
                        <a:t>開発者状態</a:t>
                      </a:r>
                    </a:p>
                  </a:txBody>
                  <a:tcPr/>
                </a:tc>
                <a:tc>
                  <a:txBody>
                    <a:bodyPr/>
                    <a:lstStyle/>
                    <a:p>
                      <a:pPr>
                        <a:defRPr sz="1400">
                          <a:latin typeface="Hiragino Sans"/>
                        </a:defRPr>
                      </a:pPr>
                      <a:r>
                        <a:t>26</a:t>
                      </a:r>
                    </a:p>
                  </a:txBody>
                  <a:tcPr/>
                </a:tc>
                <a:tc>
                  <a:txBody>
                    <a:bodyPr/>
                    <a:lstStyle/>
                    <a:p>
                      <a:pPr>
                        <a:defRPr sz="1400">
                          <a:latin typeface="Hiragino Sans"/>
                        </a:defRPr>
                      </a:pPr>
                      <a:r>
                        <a:t>累積レビュー数・受諾率・直近性・レビュー承諾/非承諾の変動回数 等</a:t>
                      </a:r>
                    </a:p>
                  </a:txBody>
                  <a:tcPr/>
                </a:tc>
              </a:tr>
              <a:tr h="457200">
                <a:tc>
                  <a:txBody>
                    <a:bodyPr/>
                    <a:lstStyle/>
                    <a:p>
                      <a:pPr>
                        <a:defRPr sz="1400">
                          <a:latin typeface="Hiragino Sans"/>
                        </a:defRPr>
                      </a:pPr>
                      <a:r>
                        <a:t>ディレクトリ親和度</a:t>
                      </a:r>
                    </a:p>
                  </a:txBody>
                  <a:tcPr/>
                </a:tc>
                <a:tc>
                  <a:txBody>
                    <a:bodyPr/>
                    <a:lstStyle/>
                    <a:p>
                      <a:pPr>
                        <a:defRPr sz="1400">
                          <a:latin typeface="Hiragino Sans"/>
                        </a:defRPr>
                      </a:pPr>
                      <a:r>
                        <a:t>6</a:t>
                      </a:r>
                    </a:p>
                  </a:txBody>
                  <a:tcPr/>
                </a:tc>
                <a:tc>
                  <a:txBody>
                    <a:bodyPr/>
                    <a:lstStyle/>
                    <a:p>
                      <a:pPr>
                        <a:defRPr sz="1400">
                          <a:latin typeface="Hiragino Sans"/>
                        </a:defRPr>
                      </a:pPr>
                      <a:r>
                        <a:t>過去レビュー数・直近性・受諾率・所有者重なり 等</a:t>
                      </a:r>
                    </a:p>
                  </a:txBody>
                  <a:tcPr/>
                </a:tc>
              </a:tr>
              <a:tr h="457200">
                <a:tc>
                  <a:txBody>
                    <a:bodyPr/>
                    <a:lstStyle/>
                    <a:p>
                      <a:pPr>
                        <a:defRPr sz="1400">
                          <a:latin typeface="Hiragino Sans"/>
                        </a:defRPr>
                      </a:pPr>
                      <a:r>
                        <a:t>活動特徴</a:t>
                      </a:r>
                    </a:p>
                  </a:txBody>
                  <a:tcPr/>
                </a:tc>
                <a:tc>
                  <a:txBody>
                    <a:bodyPr/>
                    <a:lstStyle/>
                    <a:p>
                      <a:pPr>
                        <a:defRPr sz="1400">
                          <a:latin typeface="Hiragino Sans"/>
                        </a:defRPr>
                      </a:pPr>
                      <a:r>
                        <a:t>5</a:t>
                      </a:r>
                    </a:p>
                  </a:txBody>
                  <a:tcPr/>
                </a:tc>
                <a:tc>
                  <a:txBody>
                    <a:bodyPr/>
                    <a:lstStyle/>
                    <a:p>
                      <a:pPr>
                        <a:defRPr sz="1400">
                          <a:latin typeface="Hiragino Sans"/>
                        </a:defRPr>
                      </a:pPr>
                      <a:r>
                        <a:t>行動強度・変更行数・レビュー規模・応答時間・協働の反復率</a:t>
                      </a:r>
                    </a:p>
                  </a:txBody>
                  <a:tcPr/>
                </a:tc>
              </a:tr>
            </a:tbl>
          </a:graphicData>
        </a:graphic>
      </p:graphicFrame>
      <p:sp>
        <p:nvSpPr>
          <p:cNvPr id="5" name="TextBox 4"/>
          <p:cNvSpPr txBox="1"/>
          <p:nvPr/>
        </p:nvSpPr>
        <p:spPr>
          <a:xfrm>
            <a:off x="457200" y="3749039"/>
            <a:ext cx="11247120" cy="1828800"/>
          </a:xfrm>
          <a:prstGeom prst="rect">
            <a:avLst/>
          </a:prstGeom>
          <a:noFill/>
        </p:spPr>
        <p:txBody>
          <a:bodyPr wrap="square">
            <a:spAutoFit/>
          </a:bodyPr>
          <a:lstStyle/>
          <a:p>
            <a:pPr algn="l">
              <a:spcAft>
                <a:spcPts val="600"/>
              </a:spcAft>
              <a:defRPr sz="1400" b="0">
                <a:solidFill>
                  <a:srgbClr val="202020"/>
                </a:solidFill>
                <a:latin typeface="Hiragino Sans"/>
              </a:defRPr>
            </a:pPr>
            <a:r>
              <a:t>・ 従来研究では，評価対象プロジェクト内の貢献のみを特徴量とすることが多い</a:t>
            </a:r>
          </a:p>
          <a:p>
            <a:pPr algn="l">
              <a:spcAft>
                <a:spcPts val="600"/>
              </a:spcAft>
              <a:defRPr sz="1400" b="0">
                <a:solidFill>
                  <a:srgbClr val="202020"/>
                </a:solidFill>
                <a:latin typeface="Hiragino Sans"/>
              </a:defRPr>
            </a:pPr>
            <a:r>
              <a:t>・ 本研究では，他のプロジェクトへの活動も計測対象に含めることで，</a:t>
            </a:r>
          </a:p>
          <a:p>
            <a:pPr algn="l">
              <a:spcAft>
                <a:spcPts val="600"/>
              </a:spcAft>
              <a:defRPr sz="1400" b="0">
                <a:solidFill>
                  <a:srgbClr val="202020"/>
                </a:solidFill>
                <a:latin typeface="Hiragino Sans"/>
              </a:defRPr>
            </a:pPr>
            <a:r>
              <a:t>  「他プロジェクトでの多忙により一時的に不活発」「開発活動そのものを停止」といった，</a:t>
            </a:r>
          </a:p>
          <a:p>
            <a:pPr algn="l">
              <a:spcAft>
                <a:spcPts val="600"/>
              </a:spcAft>
              <a:defRPr sz="1400" b="0">
                <a:solidFill>
                  <a:srgbClr val="202020"/>
                </a:solidFill>
                <a:latin typeface="Hiragino Sans"/>
              </a:defRPr>
            </a:pPr>
            <a:r>
              <a:t>  プロジェクト内の履歴のみでは区別できない状況の把握を可能にする</a:t>
            </a:r>
          </a:p>
        </p:txBody>
      </p:sp>
      <p:sp>
        <p:nvSpPr>
          <p:cNvPr id="6" name="TextBox 5"/>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開発者タイプごとに、当たるモデルが異なる（OpenStack・ペア単位）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3976755"/>
          </a:xfrm>
          <a:prstGeom prst="rect">
            <a:avLst/>
          </a:prstGeom>
        </p:spPr>
      </p:pic>
      <p:sp>
        <p:nvSpPr>
          <p:cNvPr id="4" name="TextBox 3"/>
          <p:cNvSpPr txBox="1"/>
          <p:nvPr/>
        </p:nvSpPr>
        <p:spPr>
          <a:xfrm>
            <a:off x="274320" y="4872867"/>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5165475"/>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+9.0</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−5.4</a:t>
                      </a:r>
                    </a:p>
                  </a:txBody>
                  <a:tcPr marT="25400" marB="25400"/>
                </a:tc>
                <a:tc>
                  <a:txBody>
                    <a:bodyPr/>
                    <a:lstStyle/>
                    <a:p>
                      <a:pPr algn="ctr">
                        <a:defRPr sz="1200">
                          <a:latin typeface="Hiragino Sans"/>
                        </a:defRPr>
                      </a:pPr>
                      <a:r>
                        <a:t>+11.7</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+2.0</a:t>
                      </a:r>
                    </a:p>
                  </a:txBody>
                  <a:tcPr marT="25400" marB="25400"/>
                </a:tc>
                <a:tc>
                  <a:txBody>
                    <a:bodyPr/>
                    <a:lstStyle/>
                    <a:p>
                      <a:pPr algn="ctr">
                        <a:defRPr sz="1200">
                          <a:latin typeface="Hiragino Sans"/>
                        </a:defRPr>
                      </a:pPr>
                      <a:r>
                        <a:t>−1.5</a:t>
                      </a:r>
                    </a:p>
                  </a:txBody>
                  <a:tcPr marT="25400" marB="25400"/>
                </a:tc>
                <a:tc>
                  <a:txBody>
                    <a:bodyPr/>
                    <a:lstStyle/>
                    <a:p>
                      <a:pPr algn="ctr">
                        <a:defRPr sz="1200">
                          <a:latin typeface="Hiragino Sans"/>
                        </a:defRPr>
                      </a:pPr>
                      <a:r>
                        <a:t>−0.1</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−3.8</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+5.8</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−7.0</a:t>
                      </a:r>
                    </a:p>
                  </a:txBody>
                  <a:tcPr marT="25400" marB="25400"/>
                </a:tc>
                <a:tc>
                  <a:txBody>
                    <a:bodyPr/>
                    <a:lstStyle/>
                    <a:p>
                      <a:pPr algn="ctr">
                        <a:defRPr sz="1200">
                          <a:latin typeface="Hiragino Sans"/>
                        </a:defRPr>
                      </a:pPr>
                      <a:r>
                        <a:t>−0.7</a:t>
                      </a:r>
                    </a:p>
                  </a:txBody>
                  <a:tcPr marT="25400" marB="25400"/>
                </a:tc>
                <a:tc>
                  <a:txBody>
                    <a:bodyPr/>
                    <a:lstStyle/>
                    <a:p>
                      <a:pPr algn="ctr">
                        <a:defRPr sz="1200">
                          <a:latin typeface="Hiragino Sans"/>
                        </a:defRPr>
                      </a:pPr>
                      <a:r>
                        <a:t>−4.2</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−8.7</a:t>
                      </a:r>
                    </a:p>
                  </a:txBody>
                  <a:tcPr marT="25400" marB="25400"/>
                </a:tc>
                <a:tc>
                  <a:txBody>
                    <a:bodyPr/>
                    <a:lstStyle/>
                    <a:p>
                      <a:pPr algn="ctr">
                        <a:defRPr sz="1200">
                          <a:latin typeface="Hiragino Sans"/>
                        </a:defRPr>
                      </a:pPr>
                      <a:r>
                        <a:t>−5.9</a:t>
                      </a:r>
                    </a:p>
                  </a:txBody>
                  <a:tcPr marT="25400" marB="25400"/>
                </a:tc>
                <a:tc>
                  <a:txBody>
                    <a:bodyPr/>
                    <a:lstStyle/>
                    <a:p>
                      <a:pPr algn="ctr">
                        <a:defRPr sz="1200">
                          <a:latin typeface="Hiragino Sans"/>
                        </a:defRPr>
                      </a:pPr>
                      <a:r>
                        <a:t>−15.5</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E64B35"/>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E64B35"/>
                </a:solidFill>
                <a:latin typeface="Hiragino Sans"/>
              </a:defRPr>
            </a:pPr>
            <a:r>
              <a:t>P1：他プロジェクト経験者</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対象ディレクトリでの過去レビュー数(path_n_rev)・直近性(path_recency)はほぼ皆無だが，他プロジェクトでのレビュー比率(cross_proj)・協力者数(n_collab)・活動月数(active_mo)は高い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+9.0pp／4–6m +3.9pp／7–9m +4.2pp／10–12m −5.4pp（Σ=+11.7）</a:t>
            </a:r>
          </a:p>
          <a:p>
            <a:pPr>
              <a:spcBef>
                <a:spcPts val="400"/>
              </a:spcBef>
              <a:defRPr sz="1200">
                <a:solidFill>
                  <a:srgbClr val="202020"/>
                </a:solidFill>
                <a:latin typeface="Hiragino Sans"/>
              </a:defRPr>
            </a:pPr>
            <a:r>
              <a:t>・ 4期間中3期間でIRLが優位(10–12mのみRFが逆転)</a:t>
            </a:r>
          </a:p>
          <a:p>
            <a:pPr>
              <a:spcBef>
                <a:spcPts val="400"/>
              </a:spcBef>
              <a:defRPr sz="1200">
                <a:solidFill>
                  <a:srgbClr val="202020"/>
                </a:solidFill>
                <a:latin typeface="Hiragino Sans"/>
              </a:defRPr>
            </a:pPr>
            <a:r>
              <a:t>・ 4原型中最多のn=1,284を占めるペアでIRLが優位 → 提案手法の実用上の価値を示す</a:t>
            </a:r>
          </a:p>
          <a:p>
            <a:pPr>
              <a:spcBef>
                <a:spcPts val="400"/>
              </a:spcBef>
              <a:defRPr sz="1200">
                <a:solidFill>
                  <a:srgbClr val="202020"/>
                </a:solidFill>
                <a:latin typeface="Hiragino Sans"/>
              </a:defRPr>
            </a:pPr>
            <a:r>
              <a:t>・ ディレクトリでの累積統計量がほぼゼロのペアであり，累積統計に頼れないためIRLの時系列情報が効いていると解釈できる</a:t>
            </a:r>
          </a:p>
          <a:p>
            <a:pPr>
              <a:spcBef>
                <a:spcPts val="400"/>
              </a:spcBef>
              <a:defRPr sz="1200">
                <a:solidFill>
                  <a:srgbClr val="202020"/>
                </a:solidFill>
                <a:latin typeface="Hiragino Sans"/>
              </a:defRPr>
            </a:pPr>
            <a:r>
              <a:t>・ 長期(10–12m)だけRFが逆転しており，長期になるほどIRLの優位性が薄れる可能性がある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27-1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開発者タイプごとに、当たるモデルが異なる（OpenStack・ペア単位）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3976755"/>
          </a:xfrm>
          <a:prstGeom prst="rect">
            <a:avLst/>
          </a:prstGeom>
        </p:spPr>
      </p:pic>
      <p:sp>
        <p:nvSpPr>
          <p:cNvPr id="4" name="TextBox 3"/>
          <p:cNvSpPr txBox="1"/>
          <p:nvPr/>
        </p:nvSpPr>
        <p:spPr>
          <a:xfrm>
            <a:off x="274320" y="4872867"/>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5165475"/>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+9.0</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−5.4</a:t>
                      </a:r>
                    </a:p>
                  </a:txBody>
                  <a:tcPr marT="25400" marB="25400"/>
                </a:tc>
                <a:tc>
                  <a:txBody>
                    <a:bodyPr/>
                    <a:lstStyle/>
                    <a:p>
                      <a:pPr algn="ctr">
                        <a:defRPr sz="1200">
                          <a:latin typeface="Hiragino Sans"/>
                        </a:defRPr>
                      </a:pPr>
                      <a:r>
                        <a:t>+11.7</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+2.0</a:t>
                      </a:r>
                    </a:p>
                  </a:txBody>
                  <a:tcPr marT="25400" marB="25400"/>
                </a:tc>
                <a:tc>
                  <a:txBody>
                    <a:bodyPr/>
                    <a:lstStyle/>
                    <a:p>
                      <a:pPr algn="ctr">
                        <a:defRPr sz="1200">
                          <a:latin typeface="Hiragino Sans"/>
                        </a:defRPr>
                      </a:pPr>
                      <a:r>
                        <a:t>−1.5</a:t>
                      </a:r>
                    </a:p>
                  </a:txBody>
                  <a:tcPr marT="25400" marB="25400"/>
                </a:tc>
                <a:tc>
                  <a:txBody>
                    <a:bodyPr/>
                    <a:lstStyle/>
                    <a:p>
                      <a:pPr algn="ctr">
                        <a:defRPr sz="1200">
                          <a:latin typeface="Hiragino Sans"/>
                        </a:defRPr>
                      </a:pPr>
                      <a:r>
                        <a:t>−0.1</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−3.8</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+5.8</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−7.0</a:t>
                      </a:r>
                    </a:p>
                  </a:txBody>
                  <a:tcPr marT="25400" marB="25400"/>
                </a:tc>
                <a:tc>
                  <a:txBody>
                    <a:bodyPr/>
                    <a:lstStyle/>
                    <a:p>
                      <a:pPr algn="ctr">
                        <a:defRPr sz="1200">
                          <a:latin typeface="Hiragino Sans"/>
                        </a:defRPr>
                      </a:pPr>
                      <a:r>
                        <a:t>−0.7</a:t>
                      </a:r>
                    </a:p>
                  </a:txBody>
                  <a:tcPr marT="25400" marB="25400"/>
                </a:tc>
                <a:tc>
                  <a:txBody>
                    <a:bodyPr/>
                    <a:lstStyle/>
                    <a:p>
                      <a:pPr algn="ctr">
                        <a:defRPr sz="1200">
                          <a:latin typeface="Hiragino Sans"/>
                        </a:defRPr>
                      </a:pPr>
                      <a:r>
                        <a:t>−4.2</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−8.7</a:t>
                      </a:r>
                    </a:p>
                  </a:txBody>
                  <a:tcPr marT="25400" marB="25400"/>
                </a:tc>
                <a:tc>
                  <a:txBody>
                    <a:bodyPr/>
                    <a:lstStyle/>
                    <a:p>
                      <a:pPr algn="ctr">
                        <a:defRPr sz="1200">
                          <a:latin typeface="Hiragino Sans"/>
                        </a:defRPr>
                      </a:pPr>
                      <a:r>
                        <a:t>−5.9</a:t>
                      </a:r>
                    </a:p>
                  </a:txBody>
                  <a:tcPr marT="25400" marB="25400"/>
                </a:tc>
                <a:tc>
                  <a:txBody>
                    <a:bodyPr/>
                    <a:lstStyle/>
                    <a:p>
                      <a:pPr algn="ctr">
                        <a:defRPr sz="1200">
                          <a:latin typeface="Hiragino Sans"/>
                        </a:defRPr>
                      </a:pPr>
                      <a:r>
                        <a:t>−15.5</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4DBBD5"/>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4DBBD5"/>
                </a:solidFill>
                <a:latin typeface="Hiragino Sans"/>
              </a:defRPr>
            </a:pPr>
            <a:r>
              <a:t>P2：関与低下型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対象ディレクトリでの直近性(path_recency)は高い(過去には活動)一方，直近承諾率(accept_rate_rec)・ディレクトリでの承諾率(path_acc_rate)・直近10件の承諾率(accept_last10)・全体承諾率(accept_rate_all)は軒並み低い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+2.0pp／4–6m −1.5pp／7–9m −0.1pp／10–12m −4.2pp（Σ=−3.8）</a:t>
            </a:r>
          </a:p>
          <a:p>
            <a:pPr>
              <a:spcBef>
                <a:spcPts val="400"/>
              </a:spcBef>
              <a:defRPr sz="1200">
                <a:solidFill>
                  <a:srgbClr val="202020"/>
                </a:solidFill>
                <a:latin typeface="Hiragino Sans"/>
              </a:defRPr>
            </a:pPr>
            <a:r>
              <a:t>・ 短期(1–3m)のみIRLがやや優位，中長期はRFが優位</a:t>
            </a:r>
          </a:p>
          <a:p>
            <a:pPr>
              <a:spcBef>
                <a:spcPts val="400"/>
              </a:spcBef>
              <a:defRPr sz="1200">
                <a:solidFill>
                  <a:srgbClr val="202020"/>
                </a:solidFill>
                <a:latin typeface="Hiragino Sans"/>
              </a:defRPr>
            </a:pPr>
            <a:r>
              <a:t>・ 期間が進むほどRF優位が単調に拡大していく(+2.0→−1.5→−0.1→−4.2)</a:t>
            </a:r>
          </a:p>
          <a:p>
            <a:pPr>
              <a:spcBef>
                <a:spcPts val="400"/>
              </a:spcBef>
              <a:defRPr sz="1200">
                <a:solidFill>
                  <a:srgbClr val="202020"/>
                </a:solidFill>
                <a:latin typeface="Hiragino Sans"/>
              </a:defRPr>
            </a:pPr>
            <a:r>
              <a:t>・ 関与低下の初期段階における活動パターンの変化を時系列モデルが捉えられたと考えられる</a:t>
            </a:r>
          </a:p>
          <a:p>
            <a:pPr>
              <a:spcBef>
                <a:spcPts val="400"/>
              </a:spcBef>
              <a:defRPr sz="1200">
                <a:solidFill>
                  <a:srgbClr val="202020"/>
                </a:solidFill>
                <a:latin typeface="Hiragino Sans"/>
              </a:defRPr>
            </a:pPr>
            <a:r>
              <a:t>・ ディレクトリへの貢献経験自体は有するペアであり，中長期になるとRFの累積統計量が効いてくる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27-2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開発者タイプごとに、当たるモデルが異なる（OpenStack・ペア単位）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3976755"/>
          </a:xfrm>
          <a:prstGeom prst="rect">
            <a:avLst/>
          </a:prstGeom>
        </p:spPr>
      </p:pic>
      <p:sp>
        <p:nvSpPr>
          <p:cNvPr id="4" name="TextBox 3"/>
          <p:cNvSpPr txBox="1"/>
          <p:nvPr/>
        </p:nvSpPr>
        <p:spPr>
          <a:xfrm>
            <a:off x="274320" y="4872867"/>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5165475"/>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+9.0</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−5.4</a:t>
                      </a:r>
                    </a:p>
                  </a:txBody>
                  <a:tcPr marT="25400" marB="25400"/>
                </a:tc>
                <a:tc>
                  <a:txBody>
                    <a:bodyPr/>
                    <a:lstStyle/>
                    <a:p>
                      <a:pPr algn="ctr">
                        <a:defRPr sz="1200">
                          <a:latin typeface="Hiragino Sans"/>
                        </a:defRPr>
                      </a:pPr>
                      <a:r>
                        <a:t>+11.7</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+2.0</a:t>
                      </a:r>
                    </a:p>
                  </a:txBody>
                  <a:tcPr marT="25400" marB="25400"/>
                </a:tc>
                <a:tc>
                  <a:txBody>
                    <a:bodyPr/>
                    <a:lstStyle/>
                    <a:p>
                      <a:pPr algn="ctr">
                        <a:defRPr sz="1200">
                          <a:latin typeface="Hiragino Sans"/>
                        </a:defRPr>
                      </a:pPr>
                      <a:r>
                        <a:t>−1.5</a:t>
                      </a:r>
                    </a:p>
                  </a:txBody>
                  <a:tcPr marT="25400" marB="25400"/>
                </a:tc>
                <a:tc>
                  <a:txBody>
                    <a:bodyPr/>
                    <a:lstStyle/>
                    <a:p>
                      <a:pPr algn="ctr">
                        <a:defRPr sz="1200">
                          <a:latin typeface="Hiragino Sans"/>
                        </a:defRPr>
                      </a:pPr>
                      <a:r>
                        <a:t>−0.1</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−3.8</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+5.8</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−7.0</a:t>
                      </a:r>
                    </a:p>
                  </a:txBody>
                  <a:tcPr marT="25400" marB="25400"/>
                </a:tc>
                <a:tc>
                  <a:txBody>
                    <a:bodyPr/>
                    <a:lstStyle/>
                    <a:p>
                      <a:pPr algn="ctr">
                        <a:defRPr sz="1200">
                          <a:latin typeface="Hiragino Sans"/>
                        </a:defRPr>
                      </a:pPr>
                      <a:r>
                        <a:t>−0.7</a:t>
                      </a:r>
                    </a:p>
                  </a:txBody>
                  <a:tcPr marT="25400" marB="25400"/>
                </a:tc>
                <a:tc>
                  <a:txBody>
                    <a:bodyPr/>
                    <a:lstStyle/>
                    <a:p>
                      <a:pPr algn="ctr">
                        <a:defRPr sz="1200">
                          <a:latin typeface="Hiragino Sans"/>
                        </a:defRPr>
                      </a:pPr>
                      <a:r>
                        <a:t>−4.2</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−8.7</a:t>
                      </a:r>
                    </a:p>
                  </a:txBody>
                  <a:tcPr marT="25400" marB="25400"/>
                </a:tc>
                <a:tc>
                  <a:txBody>
                    <a:bodyPr/>
                    <a:lstStyle/>
                    <a:p>
                      <a:pPr algn="ctr">
                        <a:defRPr sz="1200">
                          <a:latin typeface="Hiragino Sans"/>
                        </a:defRPr>
                      </a:pPr>
                      <a:r>
                        <a:t>−5.9</a:t>
                      </a:r>
                    </a:p>
                  </a:txBody>
                  <a:tcPr marT="25400" marB="25400"/>
                </a:tc>
                <a:tc>
                  <a:txBody>
                    <a:bodyPr/>
                    <a:lstStyle/>
                    <a:p>
                      <a:pPr algn="ctr">
                        <a:defRPr sz="1200">
                          <a:latin typeface="Hiragino Sans"/>
                        </a:defRPr>
                      </a:pPr>
                      <a:r>
                        <a:t>−15.5</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F39B7F"/>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F39B7F"/>
                </a:solidFill>
                <a:latin typeface="Hiragino Sans"/>
              </a:defRPr>
            </a:pPr>
            <a:r>
              <a:t>P3：高承諾型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直近10件の承諾率(accept_last10)・全体承諾率(accept_rate_all)・ディレクトリでの承諾率(path_acc_rate)・活動頻度(act_freq)がいずれも高い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+5.8pp／4–6m −2.3pp／7–9m −7.0pp／10–12m −0.7pp（Σ=−4.2）</a:t>
            </a:r>
          </a:p>
          <a:p>
            <a:pPr>
              <a:spcBef>
                <a:spcPts val="400"/>
              </a:spcBef>
              <a:defRPr sz="1200">
                <a:solidFill>
                  <a:srgbClr val="202020"/>
                </a:solidFill>
                <a:latin typeface="Hiragino Sans"/>
              </a:defRPr>
            </a:pPr>
            <a:r>
              <a:t>・ 短期を除き概ねRFが優位</a:t>
            </a:r>
          </a:p>
          <a:p>
            <a:pPr>
              <a:spcBef>
                <a:spcPts val="400"/>
              </a:spcBef>
              <a:defRPr sz="1200">
                <a:solidFill>
                  <a:srgbClr val="202020"/>
                </a:solidFill>
                <a:latin typeface="Hiragino Sans"/>
              </a:defRPr>
            </a:pPr>
            <a:r>
              <a:t>・ 7–9mで4期間中最大の−7.0ppの差がつく</a:t>
            </a:r>
          </a:p>
          <a:p>
            <a:pPr>
              <a:spcBef>
                <a:spcPts val="400"/>
              </a:spcBef>
              <a:defRPr sz="1200">
                <a:solidFill>
                  <a:srgbClr val="202020"/>
                </a:solidFill>
                <a:latin typeface="Hiragino Sans"/>
              </a:defRPr>
            </a:pPr>
            <a:r>
              <a:t>・ 4原型中最少のn=539で，他の原型よりサンプルサイズが小さい</a:t>
            </a:r>
          </a:p>
          <a:p>
            <a:pPr>
              <a:spcBef>
                <a:spcPts val="400"/>
              </a:spcBef>
              <a:defRPr sz="1200">
                <a:solidFill>
                  <a:srgbClr val="202020"/>
                </a:solidFill>
                <a:latin typeface="Hiragino Sans"/>
              </a:defRPr>
            </a:pPr>
            <a:r>
              <a:t>・ 承諾率が高く行動が安定しているペアでは，累積統計量だけで十分説明できる可能性がある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28-1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開発者タイプごとに、当たるモデルが異なる（OpenStack・ペア単位）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3976755"/>
          </a:xfrm>
          <a:prstGeom prst="rect">
            <a:avLst/>
          </a:prstGeom>
        </p:spPr>
      </p:pic>
      <p:sp>
        <p:nvSpPr>
          <p:cNvPr id="4" name="TextBox 3"/>
          <p:cNvSpPr txBox="1"/>
          <p:nvPr/>
        </p:nvSpPr>
        <p:spPr>
          <a:xfrm>
            <a:off x="274320" y="4872867"/>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5165475"/>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+9.0</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−5.4</a:t>
                      </a:r>
                    </a:p>
                  </a:txBody>
                  <a:tcPr marT="25400" marB="25400"/>
                </a:tc>
                <a:tc>
                  <a:txBody>
                    <a:bodyPr/>
                    <a:lstStyle/>
                    <a:p>
                      <a:pPr algn="ctr">
                        <a:defRPr sz="1200">
                          <a:latin typeface="Hiragino Sans"/>
                        </a:defRPr>
                      </a:pPr>
                      <a:r>
                        <a:t>+11.7</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+2.0</a:t>
                      </a:r>
                    </a:p>
                  </a:txBody>
                  <a:tcPr marT="25400" marB="25400"/>
                </a:tc>
                <a:tc>
                  <a:txBody>
                    <a:bodyPr/>
                    <a:lstStyle/>
                    <a:p>
                      <a:pPr algn="ctr">
                        <a:defRPr sz="1200">
                          <a:latin typeface="Hiragino Sans"/>
                        </a:defRPr>
                      </a:pPr>
                      <a:r>
                        <a:t>−1.5</a:t>
                      </a:r>
                    </a:p>
                  </a:txBody>
                  <a:tcPr marT="25400" marB="25400"/>
                </a:tc>
                <a:tc>
                  <a:txBody>
                    <a:bodyPr/>
                    <a:lstStyle/>
                    <a:p>
                      <a:pPr algn="ctr">
                        <a:defRPr sz="1200">
                          <a:latin typeface="Hiragino Sans"/>
                        </a:defRPr>
                      </a:pPr>
                      <a:r>
                        <a:t>−0.1</a:t>
                      </a:r>
                    </a:p>
                  </a:txBody>
                  <a:tcPr marT="25400" marB="25400"/>
                </a:tc>
                <a:tc>
                  <a:txBody>
                    <a:bodyPr/>
                    <a:lstStyle/>
                    <a:p>
                      <a:pPr algn="ctr">
                        <a:defRPr sz="1200">
                          <a:latin typeface="Hiragino Sans"/>
                        </a:defRPr>
                      </a:pPr>
                      <a:r>
                        <a:t>−4.2</a:t>
                      </a:r>
                    </a:p>
                  </a:txBody>
                  <a:tcPr marT="25400" marB="25400"/>
                </a:tc>
                <a:tc>
                  <a:txBody>
                    <a:bodyPr/>
                    <a:lstStyle/>
                    <a:p>
                      <a:pPr algn="ctr">
                        <a:defRPr sz="1200">
                          <a:latin typeface="Hiragino Sans"/>
                        </a:defRPr>
                      </a:pPr>
                      <a:r>
                        <a:t>−3.8</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+5.8</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−7.0</a:t>
                      </a:r>
                    </a:p>
                  </a:txBody>
                  <a:tcPr marT="25400" marB="25400"/>
                </a:tc>
                <a:tc>
                  <a:txBody>
                    <a:bodyPr/>
                    <a:lstStyle/>
                    <a:p>
                      <a:pPr algn="ctr">
                        <a:defRPr sz="1200">
                          <a:latin typeface="Hiragino Sans"/>
                        </a:defRPr>
                      </a:pPr>
                      <a:r>
                        <a:t>−0.7</a:t>
                      </a:r>
                    </a:p>
                  </a:txBody>
                  <a:tcPr marT="25400" marB="25400"/>
                </a:tc>
                <a:tc>
                  <a:txBody>
                    <a:bodyPr/>
                    <a:lstStyle/>
                    <a:p>
                      <a:pPr algn="ctr">
                        <a:defRPr sz="1200">
                          <a:latin typeface="Hiragino Sans"/>
                        </a:defRPr>
                      </a:pPr>
                      <a:r>
                        <a:t>−4.2</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−8.7</a:t>
                      </a:r>
                    </a:p>
                  </a:txBody>
                  <a:tcPr marT="25400" marB="25400"/>
                </a:tc>
                <a:tc>
                  <a:txBody>
                    <a:bodyPr/>
                    <a:lstStyle/>
                    <a:p>
                      <a:pPr algn="ctr">
                        <a:defRPr sz="1200">
                          <a:latin typeface="Hiragino Sans"/>
                        </a:defRPr>
                      </a:pPr>
                      <a:r>
                        <a:t>−5.9</a:t>
                      </a:r>
                    </a:p>
                  </a:txBody>
                  <a:tcPr marT="25400" marB="25400"/>
                </a:tc>
                <a:tc>
                  <a:txBody>
                    <a:bodyPr/>
                    <a:lstStyle/>
                    <a:p>
                      <a:pPr algn="ctr">
                        <a:defRPr sz="1200">
                          <a:latin typeface="Hiragino Sans"/>
                        </a:defRPr>
                      </a:pPr>
                      <a:r>
                        <a:t>−15.5</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00A087"/>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00A087"/>
                </a:solidFill>
                <a:latin typeface="Hiragino Sans"/>
              </a:defRPr>
            </a:pPr>
            <a:r>
              <a:t>P4：低活動・低承諾型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協力者数(n_collab)・活動月数(active_mo)・対象ディレクトリでの直近性(path_recency)・活動頻度(act_freq)・全体承諾率(accept_rate_all)がいずれも低い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−0.4pp／4–6m −0.5pp／7–9m −8.7pp／10–12m −5.9pp（Σ=−15.5）</a:t>
            </a:r>
          </a:p>
          <a:p>
            <a:pPr>
              <a:spcBef>
                <a:spcPts val="400"/>
              </a:spcBef>
              <a:defRPr sz="1200">
                <a:solidFill>
                  <a:srgbClr val="202020"/>
                </a:solidFill>
                <a:latin typeface="Hiragino Sans"/>
              </a:defRPr>
            </a:pPr>
            <a:r>
              <a:t>・ 全期間にわたって一貫してRFが優位</a:t>
            </a:r>
          </a:p>
          <a:p>
            <a:pPr>
              <a:spcBef>
                <a:spcPts val="400"/>
              </a:spcBef>
              <a:defRPr sz="1200">
                <a:solidFill>
                  <a:srgbClr val="202020"/>
                </a:solidFill>
                <a:latin typeface="Hiragino Sans"/>
              </a:defRPr>
            </a:pPr>
            <a:r>
              <a:t>・ 4原型中もっともRFとの差が大きい(Σ=−15.5)</a:t>
            </a:r>
          </a:p>
          <a:p>
            <a:pPr>
              <a:spcBef>
                <a:spcPts val="400"/>
              </a:spcBef>
              <a:defRPr sz="1200">
                <a:solidFill>
                  <a:srgbClr val="202020"/>
                </a:solidFill>
                <a:latin typeface="Hiragino Sans"/>
              </a:defRPr>
            </a:pPr>
            <a:r>
              <a:t>・ 1–3m,4–6mはほぼ差がない(−0.4,−0.5)が，7–9m以降で急激に差が拡大(−8.7,−5.9)</a:t>
            </a:r>
          </a:p>
          <a:p>
            <a:pPr>
              <a:spcBef>
                <a:spcPts val="400"/>
              </a:spcBef>
              <a:defRPr sz="1200">
                <a:solidFill>
                  <a:srgbClr val="202020"/>
                </a:solidFill>
                <a:latin typeface="Hiragino Sans"/>
              </a:defRPr>
            </a:pPr>
            <a:r>
              <a:t>・ 活動が疎なペアではIRLの学習に十分な行動軌跡が得られないと考えられる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28-2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開発者タイプごとに、当たるモデルが異なる（AOSP・ペア単位）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2432989"/>
          </a:xfrm>
          <a:prstGeom prst="rect">
            <a:avLst/>
          </a:prstGeom>
        </p:spPr>
      </p:pic>
      <p:sp>
        <p:nvSpPr>
          <p:cNvPr id="4" name="TextBox 3"/>
          <p:cNvSpPr txBox="1"/>
          <p:nvPr/>
        </p:nvSpPr>
        <p:spPr>
          <a:xfrm>
            <a:off x="274320" y="3329101"/>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3621709"/>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−3.3</a:t>
                      </a:r>
                    </a:p>
                  </a:txBody>
                  <a:tcPr marT="25400" marB="25400"/>
                </a:tc>
                <a:tc>
                  <a:txBody>
                    <a:bodyPr/>
                    <a:lstStyle/>
                    <a:p>
                      <a:pPr algn="ctr">
                        <a:defRPr sz="1200">
                          <a:latin typeface="Hiragino Sans"/>
                        </a:defRPr>
                      </a:pPr>
                      <a:r>
                        <a:t>−0.2</a:t>
                      </a:r>
                    </a:p>
                  </a:txBody>
                  <a:tcPr marT="25400" marB="25400"/>
                </a:tc>
                <a:tc>
                  <a:txBody>
                    <a:bodyPr/>
                    <a:lstStyle/>
                    <a:p>
                      <a:pPr algn="ctr">
                        <a:defRPr sz="1200">
                          <a:latin typeface="Hiragino Sans"/>
                        </a:defRPr>
                      </a:pPr>
                      <a:r>
                        <a:t>−8.6</a:t>
                      </a:r>
                    </a:p>
                  </a:txBody>
                  <a:tcPr marT="25400" marB="25400"/>
                </a:tc>
                <a:tc>
                  <a:txBody>
                    <a:bodyPr/>
                    <a:lstStyle/>
                    <a:p>
                      <a:pPr algn="ctr">
                        <a:defRPr sz="1200">
                          <a:latin typeface="Hiragino Sans"/>
                        </a:defRPr>
                      </a:pPr>
                      <a:r>
                        <a:t>−11.6</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−4.4</a:t>
                      </a:r>
                    </a:p>
                  </a:txBody>
                  <a:tcPr marT="25400" marB="25400"/>
                </a:tc>
                <a:tc>
                  <a:txBody>
                    <a:bodyPr/>
                    <a:lstStyle/>
                    <a:p>
                      <a:pPr algn="ctr">
                        <a:defRPr sz="1200">
                          <a:latin typeface="Hiragino Sans"/>
                        </a:defRPr>
                      </a:pPr>
                      <a:r>
                        <a:t>−11.4</a:t>
                      </a:r>
                    </a:p>
                  </a:txBody>
                  <a:tcPr marT="25400" marB="25400"/>
                </a:tc>
                <a:tc>
                  <a:txBody>
                    <a:bodyPr/>
                    <a:lstStyle/>
                    <a:p>
                      <a:pPr algn="ctr">
                        <a:defRPr sz="1200">
                          <a:latin typeface="Hiragino Sans"/>
                        </a:defRPr>
                      </a:pPr>
                      <a:r>
                        <a:t>−9.8</a:t>
                      </a:r>
                    </a:p>
                  </a:txBody>
                  <a:tcPr marT="25400" marB="25400"/>
                </a:tc>
                <a:tc>
                  <a:txBody>
                    <a:bodyPr/>
                    <a:lstStyle/>
                    <a:p>
                      <a:pPr algn="ctr">
                        <a:defRPr sz="1200">
                          <a:latin typeface="Hiragino Sans"/>
                        </a:defRPr>
                      </a:pPr>
                      <a:r>
                        <a:t>−12.4</a:t>
                      </a:r>
                    </a:p>
                  </a:txBody>
                  <a:tcPr marT="25400" marB="25400"/>
                </a:tc>
                <a:tc>
                  <a:txBody>
                    <a:bodyPr/>
                    <a:lstStyle/>
                    <a:p>
                      <a:pPr algn="ctr">
                        <a:defRPr sz="1200">
                          <a:latin typeface="Hiragino Sans"/>
                        </a:defRPr>
                      </a:pPr>
                      <a:r>
                        <a:t>−38.0</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+1.5</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−2.9</a:t>
                      </a:r>
                    </a:p>
                  </a:txBody>
                  <a:tcPr marT="25400" marB="25400"/>
                </a:tc>
                <a:tc>
                  <a:txBody>
                    <a:bodyPr/>
                    <a:lstStyle/>
                    <a:p>
                      <a:pPr algn="ctr">
                        <a:defRPr sz="1200">
                          <a:latin typeface="Hiragino Sans"/>
                        </a:defRPr>
                      </a:pPr>
                      <a:r>
                        <a:t>−2.6</a:t>
                      </a:r>
                    </a:p>
                  </a:txBody>
                  <a:tcPr marT="25400" marB="25400"/>
                </a:tc>
                <a:tc>
                  <a:txBody>
                    <a:bodyPr/>
                    <a:lstStyle/>
                    <a:p>
                      <a:pPr algn="ctr">
                        <a:defRPr sz="1200">
                          <a:latin typeface="Hiragino Sans"/>
                        </a:defRPr>
                      </a:pPr>
                      <a:r>
                        <a:t>−4.6</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+4.6</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+3.5</a:t>
                      </a:r>
                    </a:p>
                  </a:txBody>
                  <a:tcPr marT="25400" marB="25400"/>
                </a:tc>
                <a:tc>
                  <a:txBody>
                    <a:bodyPr/>
                    <a:lstStyle/>
                    <a:p>
                      <a:pPr algn="ctr">
                        <a:defRPr sz="1200">
                          <a:latin typeface="Hiragino Sans"/>
                        </a:defRPr>
                      </a:pPr>
                      <a:r>
                        <a:t>+14.3</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E64B35"/>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E64B35"/>
                </a:solidFill>
                <a:latin typeface="Hiragino Sans"/>
              </a:defRPr>
            </a:pPr>
            <a:r>
              <a:t>P1：高活動・ディレクトリ未経験型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対象ディレクトリでのハブ度(path_hub)・直近性(path_recency)はほぼ皆無だが，活動頻度(act_freq)・他プロジェクトでのレビュー比率(cross_proj)・協力者数(n_collab)は高い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+0.4pp／4–6m −3.3pp／7–9m −0.2pp／10–12m −8.6pp（Σ=−11.6）</a:t>
            </a:r>
          </a:p>
          <a:p>
            <a:pPr>
              <a:spcBef>
                <a:spcPts val="400"/>
              </a:spcBef>
              <a:defRPr sz="1200">
                <a:solidFill>
                  <a:srgbClr val="202020"/>
                </a:solidFill>
                <a:latin typeface="Hiragino Sans"/>
              </a:defRPr>
            </a:pPr>
            <a:r>
              <a:t>・ 短期のみIRLが僅かに優位，以降はRFが優位に転じる</a:t>
            </a:r>
          </a:p>
          <a:p>
            <a:pPr>
              <a:spcBef>
                <a:spcPts val="400"/>
              </a:spcBef>
              <a:defRPr sz="1200">
                <a:solidFill>
                  <a:srgbClr val="202020"/>
                </a:solidFill>
                <a:latin typeface="Hiragino Sans"/>
              </a:defRPr>
            </a:pPr>
            <a:r>
              <a:t>・ 10–12mで最大の差(−8.6pp)．長期になるほどRF優位が拡大</a:t>
            </a:r>
          </a:p>
          <a:p>
            <a:pPr>
              <a:spcBef>
                <a:spcPts val="400"/>
              </a:spcBef>
              <a:defRPr sz="1200">
                <a:solidFill>
                  <a:srgbClr val="202020"/>
                </a:solidFill>
                <a:latin typeface="Hiragino Sans"/>
              </a:defRPr>
            </a:pPr>
            <a:r>
              <a:t>・ OpenStackの同名カテゴリ(他プロジェクト経験者)ではIRLが4期間中3期間で優位だった点と対照的</a:t>
            </a:r>
          </a:p>
          <a:p>
            <a:pPr>
              <a:spcBef>
                <a:spcPts val="400"/>
              </a:spcBef>
              <a:defRPr sz="1200">
                <a:solidFill>
                  <a:srgbClr val="202020"/>
                </a:solidFill>
                <a:latin typeface="Hiragino Sans"/>
              </a:defRPr>
            </a:pPr>
            <a:r>
              <a:t>・ AOSPの規模の大きさ(開発者8,901人・依頼57万件)により，1ディレクトリに関与する開発者が多様化し，行動軌跡から一貫した判断基準を推定しにくくなっている可能性</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30-1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開発者タイプごとに、当たるモデルが異なる（AOSP・ペア単位）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2432989"/>
          </a:xfrm>
          <a:prstGeom prst="rect">
            <a:avLst/>
          </a:prstGeom>
        </p:spPr>
      </p:pic>
      <p:sp>
        <p:nvSpPr>
          <p:cNvPr id="4" name="TextBox 3"/>
          <p:cNvSpPr txBox="1"/>
          <p:nvPr/>
        </p:nvSpPr>
        <p:spPr>
          <a:xfrm>
            <a:off x="274320" y="3329101"/>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3621709"/>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−3.3</a:t>
                      </a:r>
                    </a:p>
                  </a:txBody>
                  <a:tcPr marT="25400" marB="25400"/>
                </a:tc>
                <a:tc>
                  <a:txBody>
                    <a:bodyPr/>
                    <a:lstStyle/>
                    <a:p>
                      <a:pPr algn="ctr">
                        <a:defRPr sz="1200">
                          <a:latin typeface="Hiragino Sans"/>
                        </a:defRPr>
                      </a:pPr>
                      <a:r>
                        <a:t>−0.2</a:t>
                      </a:r>
                    </a:p>
                  </a:txBody>
                  <a:tcPr marT="25400" marB="25400"/>
                </a:tc>
                <a:tc>
                  <a:txBody>
                    <a:bodyPr/>
                    <a:lstStyle/>
                    <a:p>
                      <a:pPr algn="ctr">
                        <a:defRPr sz="1200">
                          <a:latin typeface="Hiragino Sans"/>
                        </a:defRPr>
                      </a:pPr>
                      <a:r>
                        <a:t>−8.6</a:t>
                      </a:r>
                    </a:p>
                  </a:txBody>
                  <a:tcPr marT="25400" marB="25400"/>
                </a:tc>
                <a:tc>
                  <a:txBody>
                    <a:bodyPr/>
                    <a:lstStyle/>
                    <a:p>
                      <a:pPr algn="ctr">
                        <a:defRPr sz="1200">
                          <a:latin typeface="Hiragino Sans"/>
                        </a:defRPr>
                      </a:pPr>
                      <a:r>
                        <a:t>−11.6</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−4.4</a:t>
                      </a:r>
                    </a:p>
                  </a:txBody>
                  <a:tcPr marT="25400" marB="25400"/>
                </a:tc>
                <a:tc>
                  <a:txBody>
                    <a:bodyPr/>
                    <a:lstStyle/>
                    <a:p>
                      <a:pPr algn="ctr">
                        <a:defRPr sz="1200">
                          <a:latin typeface="Hiragino Sans"/>
                        </a:defRPr>
                      </a:pPr>
                      <a:r>
                        <a:t>−11.4</a:t>
                      </a:r>
                    </a:p>
                  </a:txBody>
                  <a:tcPr marT="25400" marB="25400"/>
                </a:tc>
                <a:tc>
                  <a:txBody>
                    <a:bodyPr/>
                    <a:lstStyle/>
                    <a:p>
                      <a:pPr algn="ctr">
                        <a:defRPr sz="1200">
                          <a:latin typeface="Hiragino Sans"/>
                        </a:defRPr>
                      </a:pPr>
                      <a:r>
                        <a:t>−9.8</a:t>
                      </a:r>
                    </a:p>
                  </a:txBody>
                  <a:tcPr marT="25400" marB="25400"/>
                </a:tc>
                <a:tc>
                  <a:txBody>
                    <a:bodyPr/>
                    <a:lstStyle/>
                    <a:p>
                      <a:pPr algn="ctr">
                        <a:defRPr sz="1200">
                          <a:latin typeface="Hiragino Sans"/>
                        </a:defRPr>
                      </a:pPr>
                      <a:r>
                        <a:t>−12.4</a:t>
                      </a:r>
                    </a:p>
                  </a:txBody>
                  <a:tcPr marT="25400" marB="25400"/>
                </a:tc>
                <a:tc>
                  <a:txBody>
                    <a:bodyPr/>
                    <a:lstStyle/>
                    <a:p>
                      <a:pPr algn="ctr">
                        <a:defRPr sz="1200">
                          <a:latin typeface="Hiragino Sans"/>
                        </a:defRPr>
                      </a:pPr>
                      <a:r>
                        <a:t>−38.0</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+1.5</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−2.9</a:t>
                      </a:r>
                    </a:p>
                  </a:txBody>
                  <a:tcPr marT="25400" marB="25400"/>
                </a:tc>
                <a:tc>
                  <a:txBody>
                    <a:bodyPr/>
                    <a:lstStyle/>
                    <a:p>
                      <a:pPr algn="ctr">
                        <a:defRPr sz="1200">
                          <a:latin typeface="Hiragino Sans"/>
                        </a:defRPr>
                      </a:pPr>
                      <a:r>
                        <a:t>−2.6</a:t>
                      </a:r>
                    </a:p>
                  </a:txBody>
                  <a:tcPr marT="25400" marB="25400"/>
                </a:tc>
                <a:tc>
                  <a:txBody>
                    <a:bodyPr/>
                    <a:lstStyle/>
                    <a:p>
                      <a:pPr algn="ctr">
                        <a:defRPr sz="1200">
                          <a:latin typeface="Hiragino Sans"/>
                        </a:defRPr>
                      </a:pPr>
                      <a:r>
                        <a:t>−4.6</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+4.6</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+3.5</a:t>
                      </a:r>
                    </a:p>
                  </a:txBody>
                  <a:tcPr marT="25400" marB="25400"/>
                </a:tc>
                <a:tc>
                  <a:txBody>
                    <a:bodyPr/>
                    <a:lstStyle/>
                    <a:p>
                      <a:pPr algn="ctr">
                        <a:defRPr sz="1200">
                          <a:latin typeface="Hiragino Sans"/>
                        </a:defRPr>
                      </a:pPr>
                      <a:r>
                        <a:t>+14.3</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4DBBD5"/>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4DBBD5"/>
                </a:solidFill>
                <a:latin typeface="Hiragino Sans"/>
              </a:defRPr>
            </a:pPr>
            <a:r>
              <a:t>P2：ディレクトリ経験者・高関与型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対象ディレクトリでの直近性(path_recency)・活動頻度(act_freq)・近傍カバレッジ(path_neigh)・過去レビュー数(path_n_rev)・協力者数(n_collab)がいずれも高い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−4.4pp／4–6m −11.4pp／7–9m −9.8pp／10–12m −12.4pp（Σ=−38.0）</a:t>
            </a:r>
          </a:p>
          <a:p>
            <a:pPr>
              <a:spcBef>
                <a:spcPts val="400"/>
              </a:spcBef>
              <a:defRPr sz="1200">
                <a:solidFill>
                  <a:srgbClr val="202020"/>
                </a:solidFill>
                <a:latin typeface="Hiragino Sans"/>
              </a:defRPr>
            </a:pPr>
            <a:r>
              <a:t>・ 全期間で一貫してRFが優位，4原型中もっとも差が大きい</a:t>
            </a:r>
          </a:p>
          <a:p>
            <a:pPr>
              <a:spcBef>
                <a:spcPts val="400"/>
              </a:spcBef>
              <a:defRPr sz="1200">
                <a:solidFill>
                  <a:srgbClr val="202020"/>
                </a:solidFill>
                <a:latin typeface="Hiragino Sans"/>
              </a:defRPr>
            </a:pPr>
            <a:r>
              <a:t>・ 1–3mから4–6mで差が2倍以上に拡大し，以降も大差が続く</a:t>
            </a:r>
          </a:p>
          <a:p>
            <a:pPr>
              <a:spcBef>
                <a:spcPts val="400"/>
              </a:spcBef>
              <a:defRPr sz="1200">
                <a:solidFill>
                  <a:srgbClr val="202020"/>
                </a:solidFill>
                <a:latin typeface="Hiragino Sans"/>
              </a:defRPr>
            </a:pPr>
            <a:r>
              <a:t>・ 関与が深く行動履歴が長いペアほど軌跡が複雑になり，IRLの学習が難しくなっている可能性</a:t>
            </a:r>
          </a:p>
          <a:p>
            <a:pPr>
              <a:spcBef>
                <a:spcPts val="400"/>
              </a:spcBef>
              <a:defRPr sz="1200">
                <a:solidFill>
                  <a:srgbClr val="202020"/>
                </a:solidFill>
                <a:latin typeface="Hiragino Sans"/>
              </a:defRPr>
            </a:pPr>
            <a:r>
              <a:t>・ OpenStackのP2(関与低下型)とは意味的に対照的なタイプだが，いずれもRF優位という点は共通</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30-2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開発者タイプごとに、当たるモデルが異なる（AOSP・ペア単位）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2432989"/>
          </a:xfrm>
          <a:prstGeom prst="rect">
            <a:avLst/>
          </a:prstGeom>
        </p:spPr>
      </p:pic>
      <p:sp>
        <p:nvSpPr>
          <p:cNvPr id="4" name="TextBox 3"/>
          <p:cNvSpPr txBox="1"/>
          <p:nvPr/>
        </p:nvSpPr>
        <p:spPr>
          <a:xfrm>
            <a:off x="274320" y="3329101"/>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3621709"/>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−3.3</a:t>
                      </a:r>
                    </a:p>
                  </a:txBody>
                  <a:tcPr marT="25400" marB="25400"/>
                </a:tc>
                <a:tc>
                  <a:txBody>
                    <a:bodyPr/>
                    <a:lstStyle/>
                    <a:p>
                      <a:pPr algn="ctr">
                        <a:defRPr sz="1200">
                          <a:latin typeface="Hiragino Sans"/>
                        </a:defRPr>
                      </a:pPr>
                      <a:r>
                        <a:t>−0.2</a:t>
                      </a:r>
                    </a:p>
                  </a:txBody>
                  <a:tcPr marT="25400" marB="25400"/>
                </a:tc>
                <a:tc>
                  <a:txBody>
                    <a:bodyPr/>
                    <a:lstStyle/>
                    <a:p>
                      <a:pPr algn="ctr">
                        <a:defRPr sz="1200">
                          <a:latin typeface="Hiragino Sans"/>
                        </a:defRPr>
                      </a:pPr>
                      <a:r>
                        <a:t>−8.6</a:t>
                      </a:r>
                    </a:p>
                  </a:txBody>
                  <a:tcPr marT="25400" marB="25400"/>
                </a:tc>
                <a:tc>
                  <a:txBody>
                    <a:bodyPr/>
                    <a:lstStyle/>
                    <a:p>
                      <a:pPr algn="ctr">
                        <a:defRPr sz="1200">
                          <a:latin typeface="Hiragino Sans"/>
                        </a:defRPr>
                      </a:pPr>
                      <a:r>
                        <a:t>−11.6</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−4.4</a:t>
                      </a:r>
                    </a:p>
                  </a:txBody>
                  <a:tcPr marT="25400" marB="25400"/>
                </a:tc>
                <a:tc>
                  <a:txBody>
                    <a:bodyPr/>
                    <a:lstStyle/>
                    <a:p>
                      <a:pPr algn="ctr">
                        <a:defRPr sz="1200">
                          <a:latin typeface="Hiragino Sans"/>
                        </a:defRPr>
                      </a:pPr>
                      <a:r>
                        <a:t>−11.4</a:t>
                      </a:r>
                    </a:p>
                  </a:txBody>
                  <a:tcPr marT="25400" marB="25400"/>
                </a:tc>
                <a:tc>
                  <a:txBody>
                    <a:bodyPr/>
                    <a:lstStyle/>
                    <a:p>
                      <a:pPr algn="ctr">
                        <a:defRPr sz="1200">
                          <a:latin typeface="Hiragino Sans"/>
                        </a:defRPr>
                      </a:pPr>
                      <a:r>
                        <a:t>−9.8</a:t>
                      </a:r>
                    </a:p>
                  </a:txBody>
                  <a:tcPr marT="25400" marB="25400"/>
                </a:tc>
                <a:tc>
                  <a:txBody>
                    <a:bodyPr/>
                    <a:lstStyle/>
                    <a:p>
                      <a:pPr algn="ctr">
                        <a:defRPr sz="1200">
                          <a:latin typeface="Hiragino Sans"/>
                        </a:defRPr>
                      </a:pPr>
                      <a:r>
                        <a:t>−12.4</a:t>
                      </a:r>
                    </a:p>
                  </a:txBody>
                  <a:tcPr marT="25400" marB="25400"/>
                </a:tc>
                <a:tc>
                  <a:txBody>
                    <a:bodyPr/>
                    <a:lstStyle/>
                    <a:p>
                      <a:pPr algn="ctr">
                        <a:defRPr sz="1200">
                          <a:latin typeface="Hiragino Sans"/>
                        </a:defRPr>
                      </a:pPr>
                      <a:r>
                        <a:t>−38.0</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+1.5</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−2.9</a:t>
                      </a:r>
                    </a:p>
                  </a:txBody>
                  <a:tcPr marT="25400" marB="25400"/>
                </a:tc>
                <a:tc>
                  <a:txBody>
                    <a:bodyPr/>
                    <a:lstStyle/>
                    <a:p>
                      <a:pPr algn="ctr">
                        <a:defRPr sz="1200">
                          <a:latin typeface="Hiragino Sans"/>
                        </a:defRPr>
                      </a:pPr>
                      <a:r>
                        <a:t>−2.6</a:t>
                      </a:r>
                    </a:p>
                  </a:txBody>
                  <a:tcPr marT="25400" marB="25400"/>
                </a:tc>
                <a:tc>
                  <a:txBody>
                    <a:bodyPr/>
                    <a:lstStyle/>
                    <a:p>
                      <a:pPr algn="ctr">
                        <a:defRPr sz="1200">
                          <a:latin typeface="Hiragino Sans"/>
                        </a:defRPr>
                      </a:pPr>
                      <a:r>
                        <a:t>−4.6</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+4.6</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+3.5</a:t>
                      </a:r>
                    </a:p>
                  </a:txBody>
                  <a:tcPr marT="25400" marB="25400"/>
                </a:tc>
                <a:tc>
                  <a:txBody>
                    <a:bodyPr/>
                    <a:lstStyle/>
                    <a:p>
                      <a:pPr algn="ctr">
                        <a:defRPr sz="1200">
                          <a:latin typeface="Hiragino Sans"/>
                        </a:defRPr>
                      </a:pPr>
                      <a:r>
                        <a:t>+14.3</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F39B7F"/>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F39B7F"/>
                </a:solidFill>
                <a:latin typeface="Hiragino Sans"/>
              </a:defRPr>
            </a:pPr>
            <a:r>
              <a:t>P3：低承諾型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協力者数(n_collab)・活動月数(active_mo)・全体承諾率(accept_rate_all)・直近承諾率(accept_rate_rec, accept_last10)がいずれも低い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+1.5pp／4–6m −0.5pp／7–9m −2.9pp／10–12m −2.6pp（Σ=−4.6）</a:t>
            </a:r>
          </a:p>
          <a:p>
            <a:pPr>
              <a:spcBef>
                <a:spcPts val="400"/>
              </a:spcBef>
              <a:defRPr sz="1200">
                <a:solidFill>
                  <a:srgbClr val="202020"/>
                </a:solidFill>
                <a:latin typeface="Hiragino Sans"/>
              </a:defRPr>
            </a:pPr>
            <a:r>
              <a:t>・ 短期のみIRLが僅かに優位，それ以降はRFが優位(差は僅差)</a:t>
            </a:r>
          </a:p>
          <a:p>
            <a:pPr>
              <a:spcBef>
                <a:spcPts val="400"/>
              </a:spcBef>
              <a:defRPr sz="1200">
                <a:solidFill>
                  <a:srgbClr val="202020"/>
                </a:solidFill>
                <a:latin typeface="Hiragino Sans"/>
              </a:defRPr>
            </a:pPr>
            <a:r>
              <a:t>・ 4原型中もっとも差が小さい(絶対値ベースで最も安定)</a:t>
            </a:r>
          </a:p>
          <a:p>
            <a:pPr>
              <a:spcBef>
                <a:spcPts val="400"/>
              </a:spcBef>
              <a:defRPr sz="1200">
                <a:solidFill>
                  <a:srgbClr val="202020"/>
                </a:solidFill>
                <a:latin typeface="Hiragino Sans"/>
              </a:defRPr>
            </a:pPr>
            <a:r>
              <a:t>・ 短期の行動変化はIRLが捉えるが，中長期は低活動量自体がRFの予測材料になっていると考えられる</a:t>
            </a:r>
          </a:p>
          <a:p>
            <a:pPr>
              <a:spcBef>
                <a:spcPts val="400"/>
              </a:spcBef>
              <a:defRPr sz="1200">
                <a:solidFill>
                  <a:srgbClr val="202020"/>
                </a:solidFill>
                <a:latin typeface="Hiragino Sans"/>
              </a:defRPr>
            </a:pPr>
            <a:r>
              <a:t>・ OpenStackのP4(低活動・低承諾型)と似た性質を持ち，同じくRF優位という傾向が一致する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31-1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開発者タイプごとに、当たるモデルが異なる（AOSP・ペア単位）</a:t>
            </a:r>
          </a:p>
        </p:txBody>
      </p:sp>
      <p:pic>
        <p:nvPicPr>
          <p:cNvPr id="3" name="Picture 2" descr="fig_pair_square_scatter.png"/>
          <p:cNvPicPr>
            <a:picLocks noChangeAspect="1"/>
          </p:cNvPicPr>
          <p:nvPr/>
        </p:nvPicPr>
        <p:blipFill>
          <a:blip r:embed="rId2"/>
          <a:stretch>
            <a:fillRect/>
          </a:stretch>
        </p:blipFill>
        <p:spPr>
          <a:xfrm>
            <a:off x="274320" y="1051560"/>
            <a:ext cx="6583680" cy="2432989"/>
          </a:xfrm>
          <a:prstGeom prst="rect">
            <a:avLst/>
          </a:prstGeom>
        </p:spPr>
      </p:pic>
      <p:sp>
        <p:nvSpPr>
          <p:cNvPr id="4" name="TextBox 3"/>
          <p:cNvSpPr txBox="1"/>
          <p:nvPr/>
        </p:nvSpPr>
        <p:spPr>
          <a:xfrm>
            <a:off x="274320" y="3329101"/>
            <a:ext cx="3657600" cy="274320"/>
          </a:xfrm>
          <a:prstGeom prst="rect">
            <a:avLst/>
          </a:prstGeom>
          <a:noFill/>
        </p:spPr>
        <p:txBody>
          <a:bodyPr wrap="square">
            <a:spAutoFit/>
          </a:bodyPr>
          <a:lstStyle/>
          <a:p>
            <a:pPr algn="l">
              <a:spcAft>
                <a:spcPts val="600"/>
              </a:spcAft>
              <a:defRPr sz="1200" b="1">
                <a:solidFill>
                  <a:srgbClr val="202020"/>
                </a:solidFill>
                <a:latin typeface="Hiragino Sans"/>
              </a:defRPr>
            </a:pPr>
            <a:r>
              <a:t>評価期間別 Δ = IRL − RF（pp）</a:t>
            </a:r>
          </a:p>
        </p:txBody>
      </p:sp>
      <p:graphicFrame>
        <p:nvGraphicFramePr>
          <p:cNvPr id="5" name="Table 4"/>
          <p:cNvGraphicFramePr>
            <a:graphicFrameLocks noGrp="1"/>
          </p:cNvGraphicFramePr>
          <p:nvPr/>
        </p:nvGraphicFramePr>
        <p:xfrm>
          <a:off x="274320" y="3621709"/>
          <a:ext cx="6583680" cy="1463040"/>
        </p:xfrm>
        <a:graphic>
          <a:graphicData uri="http://schemas.openxmlformats.org/drawingml/2006/table">
            <a:tbl>
              <a:tblPr firstRow="1" bandRow="1">
                <a:tableStyleId>{5C22544A-7EE6-4342-B048-85BDC9FD1C3A}</a:tableStyleId>
              </a:tblPr>
              <a:tblGrid>
                <a:gridCol w="822960"/>
                <a:gridCol w="1152144"/>
                <a:gridCol w="1152144"/>
                <a:gridCol w="1152144"/>
                <a:gridCol w="1152144"/>
                <a:gridCol w="1152144"/>
              </a:tblGrid>
              <a:tr h="292608">
                <a:tc>
                  <a:txBody>
                    <a:bodyPr/>
                    <a:lstStyle/>
                    <a:p>
                      <a:pPr algn="ctr">
                        <a:defRPr sz="1200">
                          <a:solidFill>
                            <a:srgbClr val="FFFFFF"/>
                          </a:solidFill>
                          <a:latin typeface="Hiragino Sans"/>
                        </a:defRPr>
                      </a:pPr>
                    </a:p>
                  </a:txBody>
                  <a:tcPr marT="25400" marB="25400">
                    <a:solidFill>
                      <a:srgbClr val="5A5A66"/>
                    </a:solidFill>
                  </a:tcPr>
                </a:tc>
                <a:tc>
                  <a:txBody>
                    <a:bodyPr/>
                    <a:lstStyle/>
                    <a:p>
                      <a:pPr algn="ctr">
                        <a:defRPr sz="1200">
                          <a:solidFill>
                            <a:srgbClr val="FFFFFF"/>
                          </a:solidFill>
                          <a:latin typeface="Hiragino Sans"/>
                        </a:defRPr>
                      </a:pPr>
                      <a:r>
                        <a:t>1–3m</a:t>
                      </a:r>
                    </a:p>
                  </a:txBody>
                  <a:tcPr marT="25400" marB="25400">
                    <a:solidFill>
                      <a:srgbClr val="5A5A66"/>
                    </a:solidFill>
                  </a:tcPr>
                </a:tc>
                <a:tc>
                  <a:txBody>
                    <a:bodyPr/>
                    <a:lstStyle/>
                    <a:p>
                      <a:pPr algn="ctr">
                        <a:defRPr sz="1200">
                          <a:solidFill>
                            <a:srgbClr val="FFFFFF"/>
                          </a:solidFill>
                          <a:latin typeface="Hiragino Sans"/>
                        </a:defRPr>
                      </a:pPr>
                      <a:r>
                        <a:t>4–6m</a:t>
                      </a:r>
                    </a:p>
                  </a:txBody>
                  <a:tcPr marT="25400" marB="25400">
                    <a:solidFill>
                      <a:srgbClr val="5A5A66"/>
                    </a:solidFill>
                  </a:tcPr>
                </a:tc>
                <a:tc>
                  <a:txBody>
                    <a:bodyPr/>
                    <a:lstStyle/>
                    <a:p>
                      <a:pPr algn="ctr">
                        <a:defRPr sz="1200">
                          <a:solidFill>
                            <a:srgbClr val="FFFFFF"/>
                          </a:solidFill>
                          <a:latin typeface="Hiragino Sans"/>
                        </a:defRPr>
                      </a:pPr>
                      <a:r>
                        <a:t>7–9m</a:t>
                      </a:r>
                    </a:p>
                  </a:txBody>
                  <a:tcPr marT="25400" marB="25400">
                    <a:solidFill>
                      <a:srgbClr val="5A5A66"/>
                    </a:solidFill>
                  </a:tcPr>
                </a:tc>
                <a:tc>
                  <a:txBody>
                    <a:bodyPr/>
                    <a:lstStyle/>
                    <a:p>
                      <a:pPr algn="ctr">
                        <a:defRPr sz="1200">
                          <a:solidFill>
                            <a:srgbClr val="FFFFFF"/>
                          </a:solidFill>
                          <a:latin typeface="Hiragino Sans"/>
                        </a:defRPr>
                      </a:pPr>
                      <a:r>
                        <a:t>10–12m</a:t>
                      </a:r>
                    </a:p>
                  </a:txBody>
                  <a:tcPr marT="25400" marB="25400">
                    <a:solidFill>
                      <a:srgbClr val="5A5A66"/>
                    </a:solidFill>
                  </a:tcPr>
                </a:tc>
                <a:tc>
                  <a:txBody>
                    <a:bodyPr/>
                    <a:lstStyle/>
                    <a:p>
                      <a:pPr algn="ctr">
                        <a:defRPr sz="1200">
                          <a:solidFill>
                            <a:srgbClr val="FFFFFF"/>
                          </a:solidFill>
                          <a:latin typeface="Hiragino Sans"/>
                        </a:defRPr>
                      </a:pPr>
                      <a:r>
                        <a:t>ΣΔ</a:t>
                      </a:r>
                    </a:p>
                  </a:txBody>
                  <a:tcPr marT="25400" marB="25400">
                    <a:solidFill>
                      <a:srgbClr val="5A5A66"/>
                    </a:solidFill>
                  </a:tcPr>
                </a:tc>
              </a:tr>
              <a:tr h="292608">
                <a:tc>
                  <a:txBody>
                    <a:bodyPr/>
                    <a:lstStyle/>
                    <a:p>
                      <a:pPr algn="ctr">
                        <a:defRPr sz="1200" b="1">
                          <a:solidFill>
                            <a:srgbClr val="FFFFFF"/>
                          </a:solidFill>
                          <a:latin typeface="Hiragino Sans"/>
                        </a:defRPr>
                      </a:pPr>
                      <a:r>
                        <a:t>P1</a:t>
                      </a:r>
                    </a:p>
                  </a:txBody>
                  <a:tcPr marT="25400" marB="25400">
                    <a:solidFill>
                      <a:srgbClr val="E64B35"/>
                    </a:solidFill>
                  </a:tcPr>
                </a:tc>
                <a:tc>
                  <a:txBody>
                    <a:bodyPr/>
                    <a:lstStyle/>
                    <a:p>
                      <a:pPr algn="ctr">
                        <a:defRPr sz="1200">
                          <a:latin typeface="Hiragino Sans"/>
                        </a:defRPr>
                      </a:pPr>
                      <a:r>
                        <a:t>+0.4</a:t>
                      </a:r>
                    </a:p>
                  </a:txBody>
                  <a:tcPr marT="25400" marB="25400"/>
                </a:tc>
                <a:tc>
                  <a:txBody>
                    <a:bodyPr/>
                    <a:lstStyle/>
                    <a:p>
                      <a:pPr algn="ctr">
                        <a:defRPr sz="1200">
                          <a:latin typeface="Hiragino Sans"/>
                        </a:defRPr>
                      </a:pPr>
                      <a:r>
                        <a:t>−3.3</a:t>
                      </a:r>
                    </a:p>
                  </a:txBody>
                  <a:tcPr marT="25400" marB="25400"/>
                </a:tc>
                <a:tc>
                  <a:txBody>
                    <a:bodyPr/>
                    <a:lstStyle/>
                    <a:p>
                      <a:pPr algn="ctr">
                        <a:defRPr sz="1200">
                          <a:latin typeface="Hiragino Sans"/>
                        </a:defRPr>
                      </a:pPr>
                      <a:r>
                        <a:t>−0.2</a:t>
                      </a:r>
                    </a:p>
                  </a:txBody>
                  <a:tcPr marT="25400" marB="25400"/>
                </a:tc>
                <a:tc>
                  <a:txBody>
                    <a:bodyPr/>
                    <a:lstStyle/>
                    <a:p>
                      <a:pPr algn="ctr">
                        <a:defRPr sz="1200">
                          <a:latin typeface="Hiragino Sans"/>
                        </a:defRPr>
                      </a:pPr>
                      <a:r>
                        <a:t>−8.6</a:t>
                      </a:r>
                    </a:p>
                  </a:txBody>
                  <a:tcPr marT="25400" marB="25400"/>
                </a:tc>
                <a:tc>
                  <a:txBody>
                    <a:bodyPr/>
                    <a:lstStyle/>
                    <a:p>
                      <a:pPr algn="ctr">
                        <a:defRPr sz="1200">
                          <a:latin typeface="Hiragino Sans"/>
                        </a:defRPr>
                      </a:pPr>
                      <a:r>
                        <a:t>−11.6</a:t>
                      </a:r>
                    </a:p>
                  </a:txBody>
                  <a:tcPr marT="25400" marB="25400"/>
                </a:tc>
              </a:tr>
              <a:tr h="292608">
                <a:tc>
                  <a:txBody>
                    <a:bodyPr/>
                    <a:lstStyle/>
                    <a:p>
                      <a:pPr algn="ctr">
                        <a:defRPr sz="1200" b="1">
                          <a:solidFill>
                            <a:srgbClr val="FFFFFF"/>
                          </a:solidFill>
                          <a:latin typeface="Hiragino Sans"/>
                        </a:defRPr>
                      </a:pPr>
                      <a:r>
                        <a:t>P2</a:t>
                      </a:r>
                    </a:p>
                  </a:txBody>
                  <a:tcPr marT="25400" marB="25400">
                    <a:solidFill>
                      <a:srgbClr val="4DBBD5"/>
                    </a:solidFill>
                  </a:tcPr>
                </a:tc>
                <a:tc>
                  <a:txBody>
                    <a:bodyPr/>
                    <a:lstStyle/>
                    <a:p>
                      <a:pPr algn="ctr">
                        <a:defRPr sz="1200">
                          <a:latin typeface="Hiragino Sans"/>
                        </a:defRPr>
                      </a:pPr>
                      <a:r>
                        <a:t>−4.4</a:t>
                      </a:r>
                    </a:p>
                  </a:txBody>
                  <a:tcPr marT="25400" marB="25400"/>
                </a:tc>
                <a:tc>
                  <a:txBody>
                    <a:bodyPr/>
                    <a:lstStyle/>
                    <a:p>
                      <a:pPr algn="ctr">
                        <a:defRPr sz="1200">
                          <a:latin typeface="Hiragino Sans"/>
                        </a:defRPr>
                      </a:pPr>
                      <a:r>
                        <a:t>−11.4</a:t>
                      </a:r>
                    </a:p>
                  </a:txBody>
                  <a:tcPr marT="25400" marB="25400"/>
                </a:tc>
                <a:tc>
                  <a:txBody>
                    <a:bodyPr/>
                    <a:lstStyle/>
                    <a:p>
                      <a:pPr algn="ctr">
                        <a:defRPr sz="1200">
                          <a:latin typeface="Hiragino Sans"/>
                        </a:defRPr>
                      </a:pPr>
                      <a:r>
                        <a:t>−9.8</a:t>
                      </a:r>
                    </a:p>
                  </a:txBody>
                  <a:tcPr marT="25400" marB="25400"/>
                </a:tc>
                <a:tc>
                  <a:txBody>
                    <a:bodyPr/>
                    <a:lstStyle/>
                    <a:p>
                      <a:pPr algn="ctr">
                        <a:defRPr sz="1200">
                          <a:latin typeface="Hiragino Sans"/>
                        </a:defRPr>
                      </a:pPr>
                      <a:r>
                        <a:t>−12.4</a:t>
                      </a:r>
                    </a:p>
                  </a:txBody>
                  <a:tcPr marT="25400" marB="25400"/>
                </a:tc>
                <a:tc>
                  <a:txBody>
                    <a:bodyPr/>
                    <a:lstStyle/>
                    <a:p>
                      <a:pPr algn="ctr">
                        <a:defRPr sz="1200">
                          <a:latin typeface="Hiragino Sans"/>
                        </a:defRPr>
                      </a:pPr>
                      <a:r>
                        <a:t>−38.0</a:t>
                      </a:r>
                    </a:p>
                  </a:txBody>
                  <a:tcPr marT="25400" marB="25400"/>
                </a:tc>
              </a:tr>
              <a:tr h="292608">
                <a:tc>
                  <a:txBody>
                    <a:bodyPr/>
                    <a:lstStyle/>
                    <a:p>
                      <a:pPr algn="ctr">
                        <a:defRPr sz="1200" b="1">
                          <a:solidFill>
                            <a:srgbClr val="FFFFFF"/>
                          </a:solidFill>
                          <a:latin typeface="Hiragino Sans"/>
                        </a:defRPr>
                      </a:pPr>
                      <a:r>
                        <a:t>P3</a:t>
                      </a:r>
                    </a:p>
                  </a:txBody>
                  <a:tcPr marT="25400" marB="25400">
                    <a:solidFill>
                      <a:srgbClr val="F39B7F"/>
                    </a:solidFill>
                  </a:tcPr>
                </a:tc>
                <a:tc>
                  <a:txBody>
                    <a:bodyPr/>
                    <a:lstStyle/>
                    <a:p>
                      <a:pPr algn="ctr">
                        <a:defRPr sz="1200">
                          <a:latin typeface="Hiragino Sans"/>
                        </a:defRPr>
                      </a:pPr>
                      <a:r>
                        <a:t>+1.5</a:t>
                      </a:r>
                    </a:p>
                  </a:txBody>
                  <a:tcPr marT="25400" marB="25400"/>
                </a:tc>
                <a:tc>
                  <a:txBody>
                    <a:bodyPr/>
                    <a:lstStyle/>
                    <a:p>
                      <a:pPr algn="ctr">
                        <a:defRPr sz="1200">
                          <a:latin typeface="Hiragino Sans"/>
                        </a:defRPr>
                      </a:pPr>
                      <a:r>
                        <a:t>−0.5</a:t>
                      </a:r>
                    </a:p>
                  </a:txBody>
                  <a:tcPr marT="25400" marB="25400"/>
                </a:tc>
                <a:tc>
                  <a:txBody>
                    <a:bodyPr/>
                    <a:lstStyle/>
                    <a:p>
                      <a:pPr algn="ctr">
                        <a:defRPr sz="1200">
                          <a:latin typeface="Hiragino Sans"/>
                        </a:defRPr>
                      </a:pPr>
                      <a:r>
                        <a:t>−2.9</a:t>
                      </a:r>
                    </a:p>
                  </a:txBody>
                  <a:tcPr marT="25400" marB="25400"/>
                </a:tc>
                <a:tc>
                  <a:txBody>
                    <a:bodyPr/>
                    <a:lstStyle/>
                    <a:p>
                      <a:pPr algn="ctr">
                        <a:defRPr sz="1200">
                          <a:latin typeface="Hiragino Sans"/>
                        </a:defRPr>
                      </a:pPr>
                      <a:r>
                        <a:t>−2.6</a:t>
                      </a:r>
                    </a:p>
                  </a:txBody>
                  <a:tcPr marT="25400" marB="25400"/>
                </a:tc>
                <a:tc>
                  <a:txBody>
                    <a:bodyPr/>
                    <a:lstStyle/>
                    <a:p>
                      <a:pPr algn="ctr">
                        <a:defRPr sz="1200">
                          <a:latin typeface="Hiragino Sans"/>
                        </a:defRPr>
                      </a:pPr>
                      <a:r>
                        <a:t>−4.6</a:t>
                      </a:r>
                    </a:p>
                  </a:txBody>
                  <a:tcPr marT="25400" marB="25400"/>
                </a:tc>
              </a:tr>
              <a:tr h="292608">
                <a:tc>
                  <a:txBody>
                    <a:bodyPr/>
                    <a:lstStyle/>
                    <a:p>
                      <a:pPr algn="ctr">
                        <a:defRPr sz="1200" b="1">
                          <a:solidFill>
                            <a:srgbClr val="FFFFFF"/>
                          </a:solidFill>
                          <a:latin typeface="Hiragino Sans"/>
                        </a:defRPr>
                      </a:pPr>
                      <a:r>
                        <a:t>P4</a:t>
                      </a:r>
                    </a:p>
                  </a:txBody>
                  <a:tcPr marT="25400" marB="25400">
                    <a:solidFill>
                      <a:srgbClr val="00A087"/>
                    </a:solidFill>
                  </a:tcPr>
                </a:tc>
                <a:tc>
                  <a:txBody>
                    <a:bodyPr/>
                    <a:lstStyle/>
                    <a:p>
                      <a:pPr algn="ctr">
                        <a:defRPr sz="1200">
                          <a:latin typeface="Hiragino Sans"/>
                        </a:defRPr>
                      </a:pPr>
                      <a:r>
                        <a:t>+4.6</a:t>
                      </a:r>
                    </a:p>
                  </a:txBody>
                  <a:tcPr marT="25400" marB="25400"/>
                </a:tc>
                <a:tc>
                  <a:txBody>
                    <a:bodyPr/>
                    <a:lstStyle/>
                    <a:p>
                      <a:pPr algn="ctr">
                        <a:defRPr sz="1200">
                          <a:latin typeface="Hiragino Sans"/>
                        </a:defRPr>
                      </a:pPr>
                      <a:r>
                        <a:t>+2.3</a:t>
                      </a:r>
                    </a:p>
                  </a:txBody>
                  <a:tcPr marT="25400" marB="25400"/>
                </a:tc>
                <a:tc>
                  <a:txBody>
                    <a:bodyPr/>
                    <a:lstStyle/>
                    <a:p>
                      <a:pPr algn="ctr">
                        <a:defRPr sz="1200">
                          <a:latin typeface="Hiragino Sans"/>
                        </a:defRPr>
                      </a:pPr>
                      <a:r>
                        <a:t>+3.9</a:t>
                      </a:r>
                    </a:p>
                  </a:txBody>
                  <a:tcPr marT="25400" marB="25400"/>
                </a:tc>
                <a:tc>
                  <a:txBody>
                    <a:bodyPr/>
                    <a:lstStyle/>
                    <a:p>
                      <a:pPr algn="ctr">
                        <a:defRPr sz="1200">
                          <a:latin typeface="Hiragino Sans"/>
                        </a:defRPr>
                      </a:pPr>
                      <a:r>
                        <a:t>+3.5</a:t>
                      </a:r>
                    </a:p>
                  </a:txBody>
                  <a:tcPr marT="25400" marB="25400"/>
                </a:tc>
                <a:tc>
                  <a:txBody>
                    <a:bodyPr/>
                    <a:lstStyle/>
                    <a:p>
                      <a:pPr algn="ctr">
                        <a:defRPr sz="1200">
                          <a:latin typeface="Hiragino Sans"/>
                        </a:defRPr>
                      </a:pPr>
                      <a:r>
                        <a:t>+14.3</a:t>
                      </a:r>
                    </a:p>
                  </a:txBody>
                  <a:tcPr marT="25400" marB="25400"/>
                </a:tc>
              </a:tr>
            </a:tbl>
          </a:graphicData>
        </a:graphic>
      </p:graphicFrame>
      <p:sp>
        <p:nvSpPr>
          <p:cNvPr id="6" name="Rounded Rectangle 5"/>
          <p:cNvSpPr/>
          <p:nvPr/>
        </p:nvSpPr>
        <p:spPr>
          <a:xfrm>
            <a:off x="7086600" y="1051560"/>
            <a:ext cx="4754880" cy="5577840"/>
          </a:xfrm>
          <a:prstGeom prst="roundRect">
            <a:avLst/>
          </a:prstGeom>
          <a:solidFill>
            <a:srgbClr val="FFFFFF"/>
          </a:solidFill>
          <a:ln w="25400">
            <a:solidFill>
              <a:srgbClr val="00A087"/>
            </a:solidFill>
          </a:ln>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ctr">
              <a:defRPr sz="1700" b="1">
                <a:solidFill>
                  <a:srgbClr val="00A087"/>
                </a:solidFill>
                <a:latin typeface="Hiragino Sans"/>
              </a:defRPr>
            </a:pPr>
            <a:r>
              <a:t>P4：高承諾・汎用型</a:t>
            </a:r>
          </a:p>
          <a:p>
            <a:pPr>
              <a:spcBef>
                <a:spcPts val="1000"/>
              </a:spcBef>
              <a:defRPr sz="1250" b="1">
                <a:solidFill>
                  <a:srgbClr val="555555"/>
                </a:solidFill>
                <a:latin typeface="Hiragino Sans"/>
              </a:defRPr>
            </a:pPr>
            <a:r>
              <a:t>特徴</a:t>
            </a:r>
          </a:p>
          <a:p>
            <a:pPr>
              <a:spcBef>
                <a:spcPts val="200"/>
              </a:spcBef>
              <a:defRPr sz="1250">
                <a:solidFill>
                  <a:srgbClr val="202020"/>
                </a:solidFill>
                <a:latin typeface="Hiragino Sans"/>
              </a:defRPr>
            </a:pPr>
            <a:r>
              <a:t>直近承諾率(accept_last10, accept_rate_rec)・全体承諾率(accept_rate_all)・対象ディレクトリでのハブ度(path_hub)は高いが，活動頻度(act_freq)は低い</a:t>
            </a:r>
          </a:p>
          <a:p>
            <a:pPr>
              <a:spcBef>
                <a:spcPts val="1200"/>
              </a:spcBef>
              <a:defRPr sz="1250" b="1">
                <a:solidFill>
                  <a:srgbClr val="555555"/>
                </a:solidFill>
                <a:latin typeface="Hiragino Sans"/>
              </a:defRPr>
            </a:pPr>
            <a:r>
              <a:t>結果（言えることを列挙・後で選別）</a:t>
            </a:r>
          </a:p>
          <a:p>
            <a:pPr>
              <a:spcBef>
                <a:spcPts val="400"/>
              </a:spcBef>
              <a:defRPr sz="1200">
                <a:solidFill>
                  <a:srgbClr val="202020"/>
                </a:solidFill>
                <a:latin typeface="Hiragino Sans"/>
              </a:defRPr>
            </a:pPr>
            <a:r>
              <a:t>・ 1–3m +4.6pp／4–6m +2.3pp／7–9m +3.9pp／10–12m +3.5pp（Σ=+14.3）</a:t>
            </a:r>
          </a:p>
          <a:p>
            <a:pPr>
              <a:spcBef>
                <a:spcPts val="400"/>
              </a:spcBef>
              <a:defRPr sz="1200">
                <a:solidFill>
                  <a:srgbClr val="202020"/>
                </a:solidFill>
                <a:latin typeface="Hiragino Sans"/>
              </a:defRPr>
            </a:pPr>
            <a:r>
              <a:t>・ 全期間で一貫してIRLが優位，4原型中ここだけプラス</a:t>
            </a:r>
          </a:p>
          <a:p>
            <a:pPr>
              <a:spcBef>
                <a:spcPts val="400"/>
              </a:spcBef>
              <a:defRPr sz="1200">
                <a:solidFill>
                  <a:srgbClr val="202020"/>
                </a:solidFill>
                <a:latin typeface="Hiragino Sans"/>
              </a:defRPr>
            </a:pPr>
            <a:r>
              <a:t>・ 4原型中最多のn=8,923でIRLが優位 → AOSPでも提案手法が意味を持つ領域があることを示す</a:t>
            </a:r>
          </a:p>
          <a:p>
            <a:pPr>
              <a:spcBef>
                <a:spcPts val="400"/>
              </a:spcBef>
              <a:defRPr sz="1200">
                <a:solidFill>
                  <a:srgbClr val="202020"/>
                </a:solidFill>
                <a:latin typeface="Hiragino Sans"/>
              </a:defRPr>
            </a:pPr>
            <a:r>
              <a:t>・ 安定した承諾行動を時系列モデルが捉えやすいと考えられる</a:t>
            </a:r>
          </a:p>
          <a:p>
            <a:pPr>
              <a:spcBef>
                <a:spcPts val="400"/>
              </a:spcBef>
              <a:defRPr sz="1200">
                <a:solidFill>
                  <a:srgbClr val="202020"/>
                </a:solidFill>
                <a:latin typeface="Hiragino Sans"/>
              </a:defRPr>
            </a:pPr>
            <a:r>
              <a:t>・ OpenStackのP3(高承諾型)はRF優位だったのに対し，AOSPのP4(高承諾・汎用型)はIRL優位 → 「高承諾」という共通の特徴を持つグループでもエコシステム間で結果が逆転している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31-2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考察： OpenStackとAOSPの比較から言えること</a:t>
            </a:r>
          </a:p>
        </p:txBody>
      </p:sp>
      <p:sp>
        <p:nvSpPr>
          <p:cNvPr id="3" name="TextBox 2"/>
          <p:cNvSpPr txBox="1"/>
          <p:nvPr/>
        </p:nvSpPr>
        <p:spPr>
          <a:xfrm>
            <a:off x="365760" y="960120"/>
            <a:ext cx="11521440" cy="5806440"/>
          </a:xfrm>
          <a:prstGeom prst="rect">
            <a:avLst/>
          </a:prstGeom>
          <a:noFill/>
        </p:spPr>
        <p:txBody>
          <a:bodyPr wrap="square">
            <a:spAutoFit/>
          </a:bodyPr>
          <a:lstStyle/>
          <a:p>
            <a:pPr algn="l">
              <a:spcAft>
                <a:spcPts val="600"/>
              </a:spcAft>
              <a:defRPr sz="1300" b="0">
                <a:solidFill>
                  <a:srgbClr val="202020"/>
                </a:solidFill>
                <a:latin typeface="Hiragino Sans"/>
              </a:defRPr>
            </a:pPr>
            <a:r>
              <a:t>・ 両エコシステムともIRLが優位な原型は4つ中1つのみ(OpenStack: P1／AOSP: P4)</a:t>
            </a:r>
          </a:p>
          <a:p>
            <a:pPr algn="l">
              <a:spcAft>
                <a:spcPts val="600"/>
              </a:spcAft>
              <a:defRPr sz="1300" b="0">
                <a:solidFill>
                  <a:srgbClr val="202020"/>
                </a:solidFill>
                <a:latin typeface="Hiragino Sans"/>
              </a:defRPr>
            </a:pPr>
            <a:r>
              <a:t>   → IRLが得意な領域は限定的だが，どちらのエコシステムにも確実に存在する</a:t>
            </a:r>
          </a:p>
          <a:p>
            <a:pPr algn="l">
              <a:spcAft>
                <a:spcPts val="600"/>
              </a:spcAft>
              <a:defRPr sz="1300" b="0">
                <a:solidFill>
                  <a:srgbClr val="202020"/>
                </a:solidFill>
                <a:latin typeface="Hiragino Sans"/>
              </a:defRPr>
            </a:pPr>
            <a:r>
              <a:t>・ ただしIRLが得意とする開発者タイプはエコシステムによって異なる</a:t>
            </a:r>
          </a:p>
          <a:p>
            <a:pPr algn="l">
              <a:spcAft>
                <a:spcPts val="600"/>
              </a:spcAft>
              <a:defRPr sz="1300" b="0">
                <a:solidFill>
                  <a:srgbClr val="202020"/>
                </a:solidFill>
                <a:latin typeface="Hiragino Sans"/>
              </a:defRPr>
            </a:pPr>
            <a:r>
              <a:t>   - OpenStack(P1): ディレクトリ経験が薄く累積統計量に乏しいペア</a:t>
            </a:r>
          </a:p>
          <a:p>
            <a:pPr algn="l">
              <a:spcAft>
                <a:spcPts val="600"/>
              </a:spcAft>
              <a:defRPr sz="1300" b="0">
                <a:solidFill>
                  <a:srgbClr val="202020"/>
                </a:solidFill>
                <a:latin typeface="Hiragino Sans"/>
              </a:defRPr>
            </a:pPr>
            <a:r>
              <a:t>   - AOSP(P4): 承諾率が高く行動が安定しているペア</a:t>
            </a:r>
          </a:p>
          <a:p>
            <a:pPr algn="l">
              <a:spcAft>
                <a:spcPts val="600"/>
              </a:spcAft>
              <a:defRPr sz="1300" b="0">
                <a:solidFill>
                  <a:srgbClr val="202020"/>
                </a:solidFill>
                <a:latin typeface="Hiragino Sans"/>
              </a:defRPr>
            </a:pPr>
            <a:r>
              <a:t>   → IRLの有効性は「経験の薄さ」ではなく「行動の予測可能性・一貫性」に依存する可能性</a:t>
            </a:r>
          </a:p>
          <a:p>
            <a:pPr algn="l">
              <a:spcAft>
                <a:spcPts val="600"/>
              </a:spcAft>
              <a:defRPr sz="1300" b="0">
                <a:solidFill>
                  <a:srgbClr val="202020"/>
                </a:solidFill>
                <a:latin typeface="Hiragino Sans"/>
              </a:defRPr>
            </a:pPr>
            <a:r>
              <a:t>・ 規模の違いがIRLの不利に影響している可能性</a:t>
            </a:r>
          </a:p>
          <a:p>
            <a:pPr algn="l">
              <a:spcAft>
                <a:spcPts val="600"/>
              </a:spcAft>
              <a:defRPr sz="1300" b="0">
                <a:solidFill>
                  <a:srgbClr val="202020"/>
                </a:solidFill>
                <a:latin typeface="Hiragino Sans"/>
              </a:defRPr>
            </a:pPr>
            <a:r>
              <a:t>   - AOSP(開発者8,901人・依頼57万件)はOpenStack(開発者2,372人・依頼16万件)よりも大規模</a:t>
            </a:r>
          </a:p>
          <a:p>
            <a:pPr algn="l">
              <a:spcAft>
                <a:spcPts val="600"/>
              </a:spcAft>
              <a:defRPr sz="1300" b="0">
                <a:solidFill>
                  <a:srgbClr val="202020"/>
                </a:solidFill>
                <a:latin typeface="Hiragino Sans"/>
              </a:defRPr>
            </a:pPr>
            <a:r>
              <a:t>   - AOSPで最も差が大きいP2(Σ=−38.0)は，OpenStackのどの原型よりも差が顕著</a:t>
            </a:r>
          </a:p>
          <a:p>
            <a:pPr algn="l">
              <a:spcAft>
                <a:spcPts val="600"/>
              </a:spcAft>
              <a:defRPr sz="1300" b="0">
                <a:solidFill>
                  <a:srgbClr val="202020"/>
                </a:solidFill>
                <a:latin typeface="Hiragino Sans"/>
              </a:defRPr>
            </a:pPr>
            <a:r>
              <a:t>   - 1ディレクトリに関与する開発者が多様化するほど，行動軌跡から一貫した判断基準を推定しにくくなる可能性(エコシステムの多様性)</a:t>
            </a:r>
          </a:p>
          <a:p>
            <a:pPr algn="l">
              <a:spcAft>
                <a:spcPts val="600"/>
              </a:spcAft>
              <a:defRPr sz="1300" b="0">
                <a:solidFill>
                  <a:srgbClr val="202020"/>
                </a:solidFill>
                <a:latin typeface="Hiragino Sans"/>
              </a:defRPr>
            </a:pPr>
            <a:r>
              <a:t>・ アンサンブル(単純平均)の改善幅はOpenStack(+2.3pp)がAOSP(+0.7pp)より大きい</a:t>
            </a:r>
          </a:p>
          <a:p>
            <a:pPr algn="l">
              <a:spcAft>
                <a:spcPts val="600"/>
              </a:spcAft>
              <a:defRPr sz="1300" b="0">
                <a:solidFill>
                  <a:srgbClr val="202020"/>
                </a:solidFill>
                <a:latin typeface="Hiragino Sans"/>
              </a:defRPr>
            </a:pPr>
            <a:r>
              <a:t>   → IRLとRFの誤りの直交性(補完性)がOpenStackの方が強い可能性</a:t>
            </a:r>
          </a:p>
          <a:p>
            <a:pPr algn="l">
              <a:spcAft>
                <a:spcPts val="600"/>
              </a:spcAft>
              <a:defRPr sz="1300" b="0">
                <a:solidFill>
                  <a:srgbClr val="202020"/>
                </a:solidFill>
                <a:latin typeface="Hiragino Sans"/>
              </a:defRPr>
            </a:pPr>
            <a:r>
              <a:t>・ プロジェクトの規模・成熟度に応じてIRL/RFの使い分け，またはアンサンブルの活用を検討すべきという実務的示唆</a:t>
            </a:r>
          </a:p>
        </p:txBody>
      </p:sp>
      <p:sp>
        <p:nvSpPr>
          <p:cNvPr id="4" name="TextBox 3"/>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37b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時系列や報酬関数の定式化のアブレーション</a:t>
            </a:r>
          </a:p>
        </p:txBody>
      </p:sp>
      <p:sp>
        <p:nvSpPr>
          <p:cNvPr id="3" name="TextBox 2"/>
          <p:cNvSpPr txBox="1"/>
          <p:nvPr/>
        </p:nvSpPr>
        <p:spPr>
          <a:xfrm>
            <a:off x="365760" y="1051560"/>
            <a:ext cx="11430000" cy="365760"/>
          </a:xfrm>
          <a:prstGeom prst="rect">
            <a:avLst/>
          </a:prstGeom>
          <a:noFill/>
        </p:spPr>
        <p:txBody>
          <a:bodyPr wrap="square">
            <a:spAutoFit/>
          </a:bodyPr>
          <a:lstStyle/>
          <a:p>
            <a:pPr algn="l">
              <a:spcAft>
                <a:spcPts val="600"/>
              </a:spcAft>
              <a:defRPr sz="1600" b="1">
                <a:solidFill>
                  <a:srgbClr val="202020"/>
                </a:solidFill>
                <a:latin typeface="Hiragino Sans"/>
              </a:defRPr>
            </a:pPr>
            <a:r>
              <a:t>4つの評価期間を統合し，IRL, LSTM, RFの3つの精度を比較</a:t>
            </a:r>
          </a:p>
        </p:txBody>
      </p:sp>
      <p:pic>
        <p:nvPicPr>
          <p:cNvPr id="4" name="Picture 3" descr="fig_ablation_openstack.png"/>
          <p:cNvPicPr>
            <a:picLocks noChangeAspect="1"/>
          </p:cNvPicPr>
          <p:nvPr/>
        </p:nvPicPr>
        <p:blipFill>
          <a:blip r:embed="rId2"/>
          <a:stretch>
            <a:fillRect/>
          </a:stretch>
        </p:blipFill>
        <p:spPr>
          <a:xfrm>
            <a:off x="1150085" y="1371600"/>
            <a:ext cx="4808602" cy="3931920"/>
          </a:xfrm>
          <a:prstGeom prst="rect">
            <a:avLst/>
          </a:prstGeom>
        </p:spPr>
      </p:pic>
      <p:pic>
        <p:nvPicPr>
          <p:cNvPr id="5" name="Picture 4" descr="fig_ablation_aosp.png"/>
          <p:cNvPicPr>
            <a:picLocks noChangeAspect="1"/>
          </p:cNvPicPr>
          <p:nvPr/>
        </p:nvPicPr>
        <p:blipFill>
          <a:blip r:embed="rId3"/>
          <a:stretch>
            <a:fillRect/>
          </a:stretch>
        </p:blipFill>
        <p:spPr>
          <a:xfrm>
            <a:off x="6233007" y="1371600"/>
            <a:ext cx="4808602" cy="3931920"/>
          </a:xfrm>
          <a:prstGeom prst="rect">
            <a:avLst/>
          </a:prstGeom>
        </p:spPr>
      </p:pic>
      <p:sp>
        <p:nvSpPr>
          <p:cNvPr id="6" name="TextBox 5"/>
          <p:cNvSpPr txBox="1"/>
          <p:nvPr/>
        </p:nvSpPr>
        <p:spPr>
          <a:xfrm>
            <a:off x="365760" y="5394960"/>
            <a:ext cx="11430000" cy="1737360"/>
          </a:xfrm>
          <a:prstGeom prst="rect">
            <a:avLst/>
          </a:prstGeom>
          <a:noFill/>
        </p:spPr>
        <p:txBody>
          <a:bodyPr wrap="square">
            <a:spAutoFit/>
          </a:bodyPr>
          <a:lstStyle/>
          <a:p>
            <a:pPr algn="l">
              <a:spcAft>
                <a:spcPts val="600"/>
              </a:spcAft>
              <a:defRPr sz="1250" b="0">
                <a:solidFill>
                  <a:srgbClr val="202020"/>
                </a:solidFill>
                <a:latin typeface="Hiragino Sans"/>
              </a:defRPr>
            </a:pPr>
            <a:r>
              <a:t>・ 時系列符号化の追加(RF→LSTM)はOpenStack −5.0pp／AOSP −1.2ppと両プロジェクトで悪化 → 時系列符号化を加えるだけでは精度は上がらない</a:t>
            </a:r>
          </a:p>
          <a:p>
            <a:pPr algn="l">
              <a:spcAft>
                <a:spcPts val="600"/>
              </a:spcAft>
              <a:defRPr sz="1250" b="0">
                <a:solidFill>
                  <a:srgbClr val="202020"/>
                </a:solidFill>
                <a:latin typeface="Hiragino Sans"/>
              </a:defRPr>
            </a:pPr>
            <a:r>
              <a:t>・ 報酬関数としての定式化(LSTM→IRL)の効果はプロジェクトで真逆(bootstrap 95%CIも0を跨がず有意)．OpenStack +3.8pp [+2.9, +4.7] ／ AOSP −3.7pp [−4.1, −3.4]</a:t>
            </a:r>
          </a:p>
          <a:p>
            <a:pPr algn="l">
              <a:spcAft>
                <a:spcPts val="600"/>
              </a:spcAft>
              <a:defRPr sz="1250" b="0">
                <a:solidFill>
                  <a:srgbClr val="202020"/>
                </a:solidFill>
                <a:latin typeface="Hiragino Sans"/>
              </a:defRPr>
            </a:pPr>
            <a:r>
              <a:t>・ AOSPはディレクトリ規模がOpenStackより大きく多様(開発者8,901人・依頼57万件 vs 2,372人・16万件)なため，軌跡に基づく報酬学習が十分に効果を発揮できなかった可能性がある</a:t>
            </a:r>
          </a:p>
        </p:txBody>
      </p:sp>
      <p:sp>
        <p:nvSpPr>
          <p:cNvPr id="7" name="TextBox 6"/>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21-22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5A5A66"/>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2500" b="1">
                <a:solidFill>
                  <a:srgbClr val="FFFFFF"/>
                </a:solidFill>
                <a:latin typeface="Hiragino Sans"/>
              </a:defRPr>
            </a:pPr>
            <a:r>
              <a:t>結果： 開発者タイプごとに、当たるモデルが異なる（OpenStack × AOSP）</a:t>
            </a:r>
          </a:p>
        </p:txBody>
      </p:sp>
      <p:pic>
        <p:nvPicPr>
          <p:cNvPr id="3" name="Picture 2" descr="fig_pair_square_scatter.png"/>
          <p:cNvPicPr>
            <a:picLocks noChangeAspect="1"/>
          </p:cNvPicPr>
          <p:nvPr/>
        </p:nvPicPr>
        <p:blipFill>
          <a:blip r:embed="rId2"/>
          <a:stretch>
            <a:fillRect/>
          </a:stretch>
        </p:blipFill>
        <p:spPr>
          <a:xfrm>
            <a:off x="274320" y="1051560"/>
            <a:ext cx="5071318" cy="3063240"/>
          </a:xfrm>
          <a:prstGeom prst="rect">
            <a:avLst/>
          </a:prstGeom>
        </p:spPr>
      </p:pic>
      <p:pic>
        <p:nvPicPr>
          <p:cNvPr id="4" name="Picture 3" descr="fig_pair_square_scatter.png"/>
          <p:cNvPicPr>
            <a:picLocks noChangeAspect="1"/>
          </p:cNvPicPr>
          <p:nvPr/>
        </p:nvPicPr>
        <p:blipFill>
          <a:blip r:embed="rId3"/>
          <a:stretch>
            <a:fillRect/>
          </a:stretch>
        </p:blipFill>
        <p:spPr>
          <a:xfrm>
            <a:off x="274320" y="4251960"/>
            <a:ext cx="5760720" cy="2128865"/>
          </a:xfrm>
          <a:prstGeom prst="rect">
            <a:avLst/>
          </a:prstGeom>
        </p:spPr>
      </p:pic>
      <p:sp>
        <p:nvSpPr>
          <p:cNvPr id="5" name="Rounded Rectangle 4"/>
          <p:cNvSpPr/>
          <p:nvPr/>
        </p:nvSpPr>
        <p:spPr>
          <a:xfrm>
            <a:off x="6309360" y="1051560"/>
            <a:ext cx="5577840" cy="1920240"/>
          </a:xfrm>
          <a:prstGeom prst="roundRect">
            <a:avLst/>
          </a:prstGeom>
          <a:solidFill>
            <a:srgbClr val="FFFFFF"/>
          </a:solidFill>
          <a:ln w="25400">
            <a:solidFill>
              <a:srgbClr val="E64B35"/>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400" b="1">
                <a:solidFill>
                  <a:srgbClr val="E64B35"/>
                </a:solidFill>
                <a:latin typeface="Hiragino Sans"/>
              </a:defRPr>
            </a:pPr>
            <a:r>
              <a:t>P1：対象ディレクトリの実績は乏しい</a:t>
            </a:r>
          </a:p>
        </p:txBody>
      </p:sp>
      <p:graphicFrame>
        <p:nvGraphicFramePr>
          <p:cNvPr id="6" name="Table 5"/>
          <p:cNvGraphicFramePr>
            <a:graphicFrameLocks noGrp="1"/>
          </p:cNvGraphicFramePr>
          <p:nvPr/>
        </p:nvGraphicFramePr>
        <p:xfrm>
          <a:off x="6492240" y="1508760"/>
          <a:ext cx="5212076" cy="731520"/>
        </p:xfrm>
        <a:graphic>
          <a:graphicData uri="http://schemas.openxmlformats.org/drawingml/2006/table">
            <a:tbl>
              <a:tblPr firstRow="1" bandRow="1">
                <a:tableStyleId>{5C22544A-7EE6-4342-B048-85BDC9FD1C3A}</a:tableStyleId>
              </a:tblPr>
              <a:tblGrid>
                <a:gridCol w="1188720"/>
                <a:gridCol w="1005839"/>
                <a:gridCol w="1005839"/>
                <a:gridCol w="1005839"/>
                <a:gridCol w="1005839"/>
              </a:tblGrid>
              <a:tr h="243840">
                <a:tc>
                  <a:txBody>
                    <a:bodyPr/>
                    <a:lstStyle/>
                    <a:p>
                      <a:pPr algn="ctr">
                        <a:defRPr sz="1000" b="1">
                          <a:solidFill>
                            <a:srgbClr val="FFFFFF"/>
                          </a:solidFill>
                          <a:latin typeface="Hiragino Sans"/>
                        </a:defRPr>
                      </a:pPr>
                    </a:p>
                  </a:txBody>
                  <a:tcPr marT="12700" marB="12700">
                    <a:solidFill>
                      <a:srgbClr val="5A5A66"/>
                    </a:solidFill>
                  </a:tcPr>
                </a:tc>
                <a:tc>
                  <a:txBody>
                    <a:bodyPr/>
                    <a:lstStyle/>
                    <a:p>
                      <a:pPr algn="ctr">
                        <a:defRPr sz="1000" b="1">
                          <a:solidFill>
                            <a:srgbClr val="FFFFFF"/>
                          </a:solidFill>
                          <a:latin typeface="Hiragino Sans"/>
                        </a:defRPr>
                      </a:pPr>
                      <a:r>
                        <a:t>1–3m</a:t>
                      </a:r>
                    </a:p>
                  </a:txBody>
                  <a:tcPr marT="12700" marB="12700">
                    <a:solidFill>
                      <a:srgbClr val="5A5A66"/>
                    </a:solidFill>
                  </a:tcPr>
                </a:tc>
                <a:tc>
                  <a:txBody>
                    <a:bodyPr/>
                    <a:lstStyle/>
                    <a:p>
                      <a:pPr algn="ctr">
                        <a:defRPr sz="1000" b="1">
                          <a:solidFill>
                            <a:srgbClr val="FFFFFF"/>
                          </a:solidFill>
                          <a:latin typeface="Hiragino Sans"/>
                        </a:defRPr>
                      </a:pPr>
                      <a:r>
                        <a:t>4–6m</a:t>
                      </a:r>
                    </a:p>
                  </a:txBody>
                  <a:tcPr marT="12700" marB="12700">
                    <a:solidFill>
                      <a:srgbClr val="5A5A66"/>
                    </a:solidFill>
                  </a:tcPr>
                </a:tc>
                <a:tc>
                  <a:txBody>
                    <a:bodyPr/>
                    <a:lstStyle/>
                    <a:p>
                      <a:pPr algn="ctr">
                        <a:defRPr sz="1000" b="1">
                          <a:solidFill>
                            <a:srgbClr val="FFFFFF"/>
                          </a:solidFill>
                          <a:latin typeface="Hiragino Sans"/>
                        </a:defRPr>
                      </a:pPr>
                      <a:r>
                        <a:t>7–9m</a:t>
                      </a:r>
                    </a:p>
                  </a:txBody>
                  <a:tcPr marT="12700" marB="12700">
                    <a:solidFill>
                      <a:srgbClr val="5A5A66"/>
                    </a:solidFill>
                  </a:tcPr>
                </a:tc>
                <a:tc>
                  <a:txBody>
                    <a:bodyPr/>
                    <a:lstStyle/>
                    <a:p>
                      <a:pPr algn="ctr">
                        <a:defRPr sz="1000" b="1">
                          <a:solidFill>
                            <a:srgbClr val="FFFFFF"/>
                          </a:solidFill>
                          <a:latin typeface="Hiragino Sans"/>
                        </a:defRPr>
                      </a:pPr>
                      <a:r>
                        <a:t>10–12m</a:t>
                      </a:r>
                    </a:p>
                  </a:txBody>
                  <a:tcPr marT="12700" marB="12700">
                    <a:solidFill>
                      <a:srgbClr val="5A5A66"/>
                    </a:solidFill>
                  </a:tcPr>
                </a:tc>
              </a:tr>
              <a:tr h="243840">
                <a:tc>
                  <a:txBody>
                    <a:bodyPr/>
                    <a:lstStyle/>
                    <a:p>
                      <a:pPr algn="ctr">
                        <a:defRPr sz="950" b="1">
                          <a:solidFill>
                            <a:srgbClr val="FFFFFF"/>
                          </a:solidFill>
                          <a:latin typeface="Hiragino Sans"/>
                        </a:defRPr>
                      </a:pPr>
                      <a:r>
                        <a:t>P1(OpenStack)</a:t>
                      </a:r>
                    </a:p>
                  </a:txBody>
                  <a:tcPr marT="12700" marB="12700">
                    <a:solidFill>
                      <a:srgbClr val="E64B35"/>
                    </a:solidFill>
                  </a:tcPr>
                </a:tc>
                <a:tc>
                  <a:txBody>
                    <a:bodyPr/>
                    <a:lstStyle/>
                    <a:p>
                      <a:pPr algn="ctr">
                        <a:defRPr sz="1000">
                          <a:solidFill>
                            <a:srgbClr val="202020"/>
                          </a:solidFill>
                          <a:latin typeface="Hiragino Sans"/>
                        </a:defRPr>
                      </a:pPr>
                      <a:r>
                        <a:t>+9.0</a:t>
                      </a:r>
                    </a:p>
                  </a:txBody>
                  <a:tcPr marT="12700" marB="12700"/>
                </a:tc>
                <a:tc>
                  <a:txBody>
                    <a:bodyPr/>
                    <a:lstStyle/>
                    <a:p>
                      <a:pPr algn="ctr">
                        <a:defRPr sz="1000">
                          <a:solidFill>
                            <a:srgbClr val="202020"/>
                          </a:solidFill>
                          <a:latin typeface="Hiragino Sans"/>
                        </a:defRPr>
                      </a:pPr>
                      <a:r>
                        <a:t>+3.9</a:t>
                      </a:r>
                    </a:p>
                  </a:txBody>
                  <a:tcPr marT="12700" marB="12700"/>
                </a:tc>
                <a:tc>
                  <a:txBody>
                    <a:bodyPr/>
                    <a:lstStyle/>
                    <a:p>
                      <a:pPr algn="ctr">
                        <a:defRPr sz="1000">
                          <a:solidFill>
                            <a:srgbClr val="202020"/>
                          </a:solidFill>
                          <a:latin typeface="Hiragino Sans"/>
                        </a:defRPr>
                      </a:pPr>
                      <a:r>
                        <a:t>+4.2</a:t>
                      </a:r>
                    </a:p>
                  </a:txBody>
                  <a:tcPr marT="12700" marB="12700"/>
                </a:tc>
                <a:tc>
                  <a:txBody>
                    <a:bodyPr/>
                    <a:lstStyle/>
                    <a:p>
                      <a:pPr algn="ctr">
                        <a:defRPr sz="1000">
                          <a:solidFill>
                            <a:srgbClr val="202020"/>
                          </a:solidFill>
                          <a:latin typeface="Hiragino Sans"/>
                        </a:defRPr>
                      </a:pPr>
                      <a:r>
                        <a:t>−5.4</a:t>
                      </a:r>
                    </a:p>
                  </a:txBody>
                  <a:tcPr marT="12700" marB="12700"/>
                </a:tc>
              </a:tr>
              <a:tr h="243840">
                <a:tc>
                  <a:txBody>
                    <a:bodyPr/>
                    <a:lstStyle/>
                    <a:p>
                      <a:pPr algn="ctr">
                        <a:defRPr sz="950" b="1">
                          <a:solidFill>
                            <a:srgbClr val="FFFFFF"/>
                          </a:solidFill>
                          <a:latin typeface="Hiragino Sans"/>
                        </a:defRPr>
                      </a:pPr>
                      <a:r>
                        <a:t>P1(AOSP)</a:t>
                      </a:r>
                    </a:p>
                  </a:txBody>
                  <a:tcPr marT="12700" marB="12700">
                    <a:solidFill>
                      <a:srgbClr val="E64B35"/>
                    </a:solidFill>
                  </a:tcPr>
                </a:tc>
                <a:tc>
                  <a:txBody>
                    <a:bodyPr/>
                    <a:lstStyle/>
                    <a:p>
                      <a:pPr algn="ctr">
                        <a:defRPr sz="1000">
                          <a:solidFill>
                            <a:srgbClr val="202020"/>
                          </a:solidFill>
                          <a:latin typeface="Hiragino Sans"/>
                        </a:defRPr>
                      </a:pPr>
                      <a:r>
                        <a:t>+0.4</a:t>
                      </a:r>
                    </a:p>
                  </a:txBody>
                  <a:tcPr marT="12700" marB="12700"/>
                </a:tc>
                <a:tc>
                  <a:txBody>
                    <a:bodyPr/>
                    <a:lstStyle/>
                    <a:p>
                      <a:pPr algn="ctr">
                        <a:defRPr sz="1000">
                          <a:solidFill>
                            <a:srgbClr val="202020"/>
                          </a:solidFill>
                          <a:latin typeface="Hiragino Sans"/>
                        </a:defRPr>
                      </a:pPr>
                      <a:r>
                        <a:t>−3.3</a:t>
                      </a:r>
                    </a:p>
                  </a:txBody>
                  <a:tcPr marT="12700" marB="12700"/>
                </a:tc>
                <a:tc>
                  <a:txBody>
                    <a:bodyPr/>
                    <a:lstStyle/>
                    <a:p>
                      <a:pPr algn="ctr">
                        <a:defRPr sz="1000">
                          <a:solidFill>
                            <a:srgbClr val="202020"/>
                          </a:solidFill>
                          <a:latin typeface="Hiragino Sans"/>
                        </a:defRPr>
                      </a:pPr>
                      <a:r>
                        <a:t>−0.2</a:t>
                      </a:r>
                    </a:p>
                  </a:txBody>
                  <a:tcPr marT="12700" marB="12700"/>
                </a:tc>
                <a:tc>
                  <a:txBody>
                    <a:bodyPr/>
                    <a:lstStyle/>
                    <a:p>
                      <a:pPr algn="ctr">
                        <a:defRPr sz="1000">
                          <a:solidFill>
                            <a:srgbClr val="202020"/>
                          </a:solidFill>
                          <a:latin typeface="Hiragino Sans"/>
                        </a:defRPr>
                      </a:pPr>
                      <a:r>
                        <a:t>−8.6</a:t>
                      </a:r>
                    </a:p>
                  </a:txBody>
                  <a:tcPr marT="12700" marB="12700"/>
                </a:tc>
              </a:tr>
            </a:tbl>
          </a:graphicData>
        </a:graphic>
      </p:graphicFrame>
      <p:sp>
        <p:nvSpPr>
          <p:cNvPr id="7" name="TextBox 6"/>
          <p:cNvSpPr txBox="1"/>
          <p:nvPr/>
        </p:nvSpPr>
        <p:spPr>
          <a:xfrm>
            <a:off x="6492240" y="2295144"/>
            <a:ext cx="5212080" cy="822960"/>
          </a:xfrm>
          <a:prstGeom prst="rect">
            <a:avLst/>
          </a:prstGeom>
          <a:noFill/>
        </p:spPr>
        <p:txBody>
          <a:bodyPr wrap="square">
            <a:spAutoFit/>
          </a:bodyPr>
          <a:lstStyle/>
          <a:p>
            <a:pPr algn="l">
              <a:spcAft>
                <a:spcPts val="600"/>
              </a:spcAft>
              <a:defRPr sz="1050" b="0">
                <a:solidFill>
                  <a:srgbClr val="555555"/>
                </a:solidFill>
                <a:latin typeface="Hiragino Sans"/>
              </a:defRPr>
            </a:pPr>
            <a:r>
              <a:t>4原型中最多のn=1,284を持つP1で，4期間中3期間IRLが優位</a:t>
            </a:r>
          </a:p>
          <a:p>
            <a:pPr algn="l">
              <a:spcAft>
                <a:spcPts val="600"/>
              </a:spcAft>
              <a:defRPr sz="1050" b="0">
                <a:solidFill>
                  <a:srgbClr val="555555"/>
                </a:solidFill>
                <a:latin typeface="Hiragino Sans"/>
              </a:defRPr>
            </a:pPr>
            <a:r>
              <a:t>IRLが他ディレクトリの活動状況を活用した可能性(AOSPに関しては後半の活動量)</a:t>
            </a:r>
          </a:p>
        </p:txBody>
      </p:sp>
      <p:sp>
        <p:nvSpPr>
          <p:cNvPr id="8" name="Rounded Rectangle 7"/>
          <p:cNvSpPr/>
          <p:nvPr/>
        </p:nvSpPr>
        <p:spPr>
          <a:xfrm>
            <a:off x="6309360" y="3044952"/>
            <a:ext cx="5577840" cy="1005840"/>
          </a:xfrm>
          <a:prstGeom prst="roundRect">
            <a:avLst/>
          </a:prstGeom>
          <a:solidFill>
            <a:srgbClr val="FFFFFF"/>
          </a:solidFill>
          <a:ln w="25400">
            <a:solidFill>
              <a:srgbClr val="4DBBD5"/>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300" b="1">
                <a:solidFill>
                  <a:srgbClr val="4DBBD5"/>
                </a:solidFill>
                <a:latin typeface="Hiragino Sans"/>
              </a:defRPr>
            </a:pPr>
            <a:r>
              <a:t>P2：対象ディレクトリへの関与実績がある</a:t>
            </a:r>
          </a:p>
          <a:p>
            <a:pPr>
              <a:spcBef>
                <a:spcPts val="400"/>
              </a:spcBef>
              <a:defRPr sz="1050">
                <a:solidFill>
                  <a:srgbClr val="202020"/>
                </a:solidFill>
                <a:latin typeface="Hiragino Sans"/>
              </a:defRPr>
            </a:pPr>
            <a:r>
              <a:t>対象ディレクトリと関わりはあるが，両プロジェクトとも全期間RFが優位(Σ: OpenStack −3.8／AOSP −38.0，4原型中最大の差)．</a:t>
            </a:r>
          </a:p>
          <a:p>
            <a:pPr>
              <a:spcBef>
                <a:spcPts val="400"/>
              </a:spcBef>
              <a:defRPr sz="1050">
                <a:solidFill>
                  <a:srgbClr val="202020"/>
                </a:solidFill>
                <a:latin typeface="Hiragino Sans"/>
              </a:defRPr>
            </a:pPr>
            <a:r>
              <a:t>関与が深いディレクトリほど累積統計量が効きやすく，AOSPでは規模の大きさにより一層強く出た可能性</a:t>
            </a:r>
          </a:p>
        </p:txBody>
      </p:sp>
      <p:sp>
        <p:nvSpPr>
          <p:cNvPr id="9" name="Rounded Rectangle 8"/>
          <p:cNvSpPr/>
          <p:nvPr/>
        </p:nvSpPr>
        <p:spPr>
          <a:xfrm>
            <a:off x="6309360" y="4123944"/>
            <a:ext cx="5577840" cy="1005840"/>
          </a:xfrm>
          <a:prstGeom prst="roundRect">
            <a:avLst/>
          </a:prstGeom>
          <a:solidFill>
            <a:srgbClr val="FFFFFF"/>
          </a:solidFill>
          <a:ln w="25400">
            <a:solidFill>
              <a:srgbClr val="F39B7F"/>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300" b="1">
                <a:solidFill>
                  <a:srgbClr val="F39B7F"/>
                </a:solidFill>
                <a:latin typeface="Hiragino Sans"/>
              </a:defRPr>
            </a:pPr>
            <a:r>
              <a:t>P4/P3：承諾率・活動量がともに低い</a:t>
            </a:r>
          </a:p>
          <a:p>
            <a:pPr>
              <a:spcBef>
                <a:spcPts val="400"/>
              </a:spcBef>
              <a:defRPr sz="1050">
                <a:solidFill>
                  <a:srgbClr val="202020"/>
                </a:solidFill>
                <a:latin typeface="Hiragino Sans"/>
              </a:defRPr>
            </a:pPr>
            <a:r>
              <a:t>OpenStack P4・AOSP P3ともに短期のみIRLがわずかに優位，中長期はRFが優位(Σ: OpenStack −15.5／AOSP −4.6)．</a:t>
            </a:r>
          </a:p>
          <a:p>
            <a:pPr>
              <a:spcBef>
                <a:spcPts val="400"/>
              </a:spcBef>
              <a:defRPr sz="1050">
                <a:solidFill>
                  <a:srgbClr val="202020"/>
                </a:solidFill>
                <a:latin typeface="Hiragino Sans"/>
              </a:defRPr>
            </a:pPr>
            <a:r>
              <a:t>活動が疎なペアではIRLが学習に十分な行動軌跡を得にくいことが両プロジェクトで一致</a:t>
            </a:r>
          </a:p>
        </p:txBody>
      </p:sp>
      <p:sp>
        <p:nvSpPr>
          <p:cNvPr id="10" name="Rounded Rectangle 9"/>
          <p:cNvSpPr/>
          <p:nvPr/>
        </p:nvSpPr>
        <p:spPr>
          <a:xfrm>
            <a:off x="6309360" y="5202936"/>
            <a:ext cx="5577840" cy="1005840"/>
          </a:xfrm>
          <a:prstGeom prst="roundRect">
            <a:avLst/>
          </a:prstGeom>
          <a:solidFill>
            <a:srgbClr val="FFFFFF"/>
          </a:solidFill>
          <a:ln w="25400">
            <a:solidFill>
              <a:srgbClr val="00A087"/>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300" b="1">
                <a:solidFill>
                  <a:srgbClr val="00A087"/>
                </a:solidFill>
                <a:latin typeface="Hiragino Sans"/>
              </a:defRPr>
            </a:pPr>
            <a:r>
              <a:t>P3/P4：承諾率が高い</a:t>
            </a:r>
          </a:p>
          <a:p>
            <a:pPr>
              <a:spcBef>
                <a:spcPts val="400"/>
              </a:spcBef>
              <a:defRPr sz="1050">
                <a:solidFill>
                  <a:srgbClr val="202020"/>
                </a:solidFill>
                <a:latin typeface="Hiragino Sans"/>
              </a:defRPr>
            </a:pPr>
            <a:r>
              <a:t>承諾率が高い点は共通だが結果は逆転．OpenStackはRF優位(Σ−4.2)，AOSPはIRL優位(Σ+14.3，4原型中唯一のプラス)．</a:t>
            </a:r>
          </a:p>
          <a:p>
            <a:pPr>
              <a:spcBef>
                <a:spcPts val="400"/>
              </a:spcBef>
              <a:defRPr sz="1050">
                <a:solidFill>
                  <a:srgbClr val="202020"/>
                </a:solidFill>
                <a:latin typeface="Hiragino Sans"/>
              </a:defRPr>
            </a:pPr>
            <a:r>
              <a:t>AOSPは活動頻度の絶対量がOpenStackの約19倍あり，同じ「低活動」でもIRLが学習できる軌跡量を確保できた可能性</a:t>
            </a:r>
          </a:p>
        </p:txBody>
      </p:sp>
      <p:sp>
        <p:nvSpPr>
          <p:cNvPr id="11" name="TextBox 10"/>
          <p:cNvSpPr txBox="1"/>
          <p:nvPr/>
        </p:nvSpPr>
        <p:spPr>
          <a:xfrm>
            <a:off x="11460175" y="6355080"/>
            <a:ext cx="548640" cy="365760"/>
          </a:xfrm>
          <a:prstGeom prst="rect">
            <a:avLst/>
          </a:prstGeom>
          <a:noFill/>
        </p:spPr>
        <p:txBody>
          <a:bodyPr wrap="none">
            <a:spAutoFit/>
          </a:bodyPr>
          <a:lstStyle/>
          <a:p>
            <a:pPr algn="r">
              <a:defRPr sz="1400">
                <a:solidFill>
                  <a:srgbClr val="555555"/>
                </a:solidFill>
                <a:latin typeface="Hiragino Sans"/>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