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7337088" cy="975201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00281" y="3120644"/>
            <a:ext cx="14736524" cy="1560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88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SES 発表 補足資料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0281" y="4778486"/>
            <a:ext cx="14736524" cy="1560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5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逆強化学習を用いたモジュール別レビュー動態予測</a:t>
            </a:r>
          </a:p>
          <a:p>
            <a:r>
              <a:rPr sz="255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A. 特徴量カタログ ／ B. 原型分析（ペア単位） ／ C. 原型分析（開発者単位） ／ D. 予測の深掘り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0281" y="8289211"/>
            <a:ext cx="14736524" cy="68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6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図表はすべて outputs/ 配下の実出力から自動生成（scripts/analyze/study/supplement/）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00281" y="3803285"/>
            <a:ext cx="14736524" cy="126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34" b="1">
                <a:solidFill>
                  <a:srgbClr val="E64B35"/>
                </a:solidFill>
                <a:latin typeface="Hiragino Sans"/>
                <a:ea typeface="Hiragino Sans"/>
                <a:cs typeface="Hiragino Sans"/>
              </a:rPr>
              <a:t>A. 特徴量カタログ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0281" y="5168566"/>
            <a:ext cx="14736524" cy="107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17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予測にも原型分析にも使う 37 次元の定義・単位・正規化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S-A1　特徴量の全体像（37次元の内訳）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RFは37次元すべて、IRLの状態は32次元、原型分析は活動特徴を除いた26/32次元。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src/review_predictor/IRL/features/common_features.py:113-143 ほか（次元数は実装から自動集計）</a:t>
            </a:r>
          </a:p>
        </p:txBody>
      </p:sp>
      <p:pic>
        <p:nvPicPr>
          <p:cNvPr id="5" name="Picture 4" descr="S-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37" y="2018666"/>
            <a:ext cx="13348937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S-A2　開発者状態 26次元 ①（在籍・量／直近活動）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レビュー履歴の長さ・量と、直近の活動リズムを表す12次元。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src/review_predictor/IRL/features/common_features.py:113-143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545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471"/>
                <a:gridCol w="3778943"/>
                <a:gridCol w="7054027"/>
                <a:gridCol w="3401048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グループ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特徴量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正規化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在籍・量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window_tenure_days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特徴量窓の中での初回活動日から窓終端までの日数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180 で除算しクリップ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在籍・量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total_changes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窓内に自分が投稿した変更 (owner) の件数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 / log1p(500)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在籍・量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total_reviews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窓内に自分が受けたレビュー依頼 (reviewer) の件数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 / log1p(500)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在籍・量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active_months_ratio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活動があった月数 ÷ 窓の月数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在籍・量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n_projects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窓内に活動したユニークな project 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 で除算しクリップ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直近活動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recent_activity_frequency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直近30日の活動件数 ÷ 30（1日あたり件数）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直近活動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avg_activity_gap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活動と活動の間隔の中央値（日）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 / log1p(120)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直近活動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days_since_last_activity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最終活動からの経過日数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 / log1p(730)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直近活動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recent_load_ratio_30d_all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直近30日の件数 ÷ 窓全体の30日あたり平均件数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 で除算しクリップ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直近活動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recent_load_ratio_7d_30d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直近7日の1日あたり件数 ÷ 直近30日の1日あたり件数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 で除算しクリップ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直近活動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concurrent_open_reviews_7d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直近7日に受けた依頼のうち未応答の件数（瞬間負荷）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20 で除算しクリップ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直近活動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activity_trend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窓を時間で前半／後半に二分したときの活動量の増減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[-1, +1]（正規化の対象外）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S-A3　開発者状態 26次元 ②（承諾傾向／役割・ネットワーク）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承諾するかどうかの傾向と、プロジェクト内での役割・つながりを表す14次元。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src/review_predictor/IRL/features/common_features.py:113-143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8" cy="629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365"/>
                <a:gridCol w="3778943"/>
                <a:gridCol w="6676132"/>
                <a:gridCol w="3401048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グループ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特徴量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正規化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承諾傾向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overall_acceptance_rate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窓内の全依頼に対する承諾（label=1）の割合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承諾傾向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recent_acceptance_rate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直近30日の依頼に対する承諾の割合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承諾傾向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acceptance_rate_last10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直近10件の依頼における承諾の割合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承諾傾向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accept_rate_drift_30d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直近30日の承諾率 − 窓全体の承諾率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[-1, +1]（正規化の対象外）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承諾傾向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time_since_last_accept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最後に承諾（label=1）してからの経過日数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 / log1p(730)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承諾傾向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time_since_last_reject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最後に拒否（label=0）してからの経過日数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 / log1p(730)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承諾傾向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recent_switch_rate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直近10件での承諾⇄拒否の切り替わり率（変動の大きさ）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役割・ネットワーク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reviewer_owner_ratio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レビュー件数 ÷（レビュー件数＋投稿件数）＝役割バランス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役割・ネットワーク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core_reviewer_ratio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自分のレビュー件数 ÷ プロジェクト全体の依頼件数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0.2 で除算しクリップ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役割・ネットワーク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unique_collaborator_count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窓内に関わったユニークな owner 数のスコア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役割・ネットワーク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reciprocity_score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自分がレビューした owner のうち、自分の変更もレビューした人の割合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役割・ネットワーク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cross_project_review_share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ホームプロジェクト以外でのレビュー比率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役割・ネットワーク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same_domain_share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owner と email ドメインが一致する依頼の比率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役割・ネットワーク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response_time_trend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直近30日の応答速度 − 窓全体の応答速度（速度=1/(1+日数/3)）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[-1, +1]（正規化の対象外）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S-A4　ディレクトリ親和度 6次元 ＋ 活動特徴 5次元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ディレクトリ親和度がモジュール単位予測の中核。活動特徴5次元はRFのみが使う。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src/review_predictor/IRL/features/path_features.py:81-88 / src/review_predictor/IRL/features/common_features.py:145-151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503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9295"/>
                <a:gridCol w="3778943"/>
                <a:gridCol w="6676132"/>
                <a:gridCol w="3149119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カテゴリ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特徴量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正規化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ディレクトリ親和度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path_review_count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対象ディレクトリと交差する過去のレビュー件数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 / log1p(100)（path_features 内で正規化）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ディレクトリ親和度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path_recency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対象ディレクトリを最後に触ってからの経過日数（近いほど1に近い）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0–1（定義上そのまま）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ディレクトリ親和度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path_acceptance_rate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対象ディレクトリでの過去の承諾率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0–1（定義上そのまま）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ディレクトリ親和度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path_owner_overlap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対象ディレクトリの過去 owner 集合と自分の協働相手の Jaccard 係数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0–1（定義上そのまま）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ディレクトリ親和度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path_hub_score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対象ディレクトリの co-change ネットワークにおける hub スコアの最大値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64 で除算（path_features 内で正規化）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ディレクトリ親和度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path_neighbor_coverage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co-change 近傍ディレクトリのうち自分が担当している割合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0–1（定義上そのまま）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活動特徴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avg_action_intensity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1件あたりの変更ファイル数と変更行数の幾何平均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活動特徴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avg_change_lines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1件あたりの変更行数（追加＋削除）の平均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 / log1p(2000)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活動特徴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avg_response_time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平均応答日数を速度に変換した値（1/(1+日数/3)）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活動特徴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avg_review_size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1件あたりの平均ファイル数（10ファイルで1.0）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活動特徴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repeat_collaboration_rate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複数回依頼してきた owner の割合（協働の反復率）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0–1（計算時点で 0–1）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S-A5　特徴量の正規化（すべて 0–1 に揃える）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右裾が重いカウント系は log1p、比率系はキャップ除算。トレンド系3つだけ [-1,+1] のまま扱う。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src/review_predictor/IRL/features/common_features.py:176-207, 748-781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90" cy="251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1141"/>
                <a:gridCol w="3327069"/>
                <a:gridCol w="8445638"/>
                <a:gridCol w="1279642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件数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 + キャップ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log1p(x) / log1p(cap)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total_changes(500), total_reviews(500), avg_activity_gap(120), days_since_last_activity(730), time_since_last_accept(730), time_since_last_reject(730), avg_change_lines(2000)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キャップ除算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min(x / cap, 1)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window_tenure_days(180), recent_load_ratio_30d_all(3), recent_load_ratio_7d_30d(3), core_reviewer_ratio(0.2), n_projects(5), concurrent_open_reviews_7d(20)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正規化なし（[-1,+1]）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そのまま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accept_rate_drift_30d, activity_trend, response_time_trend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計算時点で 0–1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recent_activity_frequency, unique_collaborator_count, overall_acceptance_rate, recent_acceptance_rate, reciprocity_score, acceptance_rate_last10, active_months_ratio, reviewer_owner_ratio, cross_project_review_share, same_domain_share, recent_switch_rate, avg_action_intensity, avg_response_time, avg_review_size, repeat_collaboration_rate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path 側で正規化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log1p(100) / 64 除算 / 定義上0–1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path_review_count, path_recency, path_acceptance_rate, path_owner_overlap, path_hub_score, path_neighbor_coverage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00281" y="3803285"/>
            <a:ext cx="14736524" cy="126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34" b="1">
                <a:solidFill>
                  <a:srgbClr val="E64B35"/>
                </a:solidFill>
                <a:latin typeface="Hiragino Sans"/>
                <a:ea typeface="Hiragino Sans"/>
                <a:cs typeface="Hiragino Sans"/>
              </a:rPr>
              <a:t>B. 原型分析の深掘り（ペア単位）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0281" y="5168566"/>
            <a:ext cx="14736524" cy="107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17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定式化と K の決め方、開発者×ディレクトリのペアで見た 4 原型（K の決定・頑健性の図は dev/pair 両方を 1 枚に載せている）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S-B1　原型分析の定式化と k-means との違い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原型はデータの凸包上に立つため、平均に埋もれない極端な型を取り出せる。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scripts/analyze/study/archetype_irl_rf.py:75（左は概念図・実データではない）</a:t>
            </a:r>
          </a:p>
        </p:txBody>
      </p:sp>
      <p:pic>
        <p:nvPicPr>
          <p:cNvPr id="5" name="Picture 4" descr="S-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60" y="2039683"/>
            <a:ext cx="16123491" cy="6852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S-B2　エルボー法による原型数 K の決定（4系統）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K=4 以降は RSS/N の改善幅が小さくなる。dev/pair・両プロジェクトで同じ傾向。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outputs/**/archetype/**/rss_elbow.csv</a:t>
            </a:r>
          </a:p>
        </p:txBody>
      </p:sp>
      <p:pic>
        <p:nvPicPr>
          <p:cNvPr id="5" name="Picture 4" descr="S-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796" y="2018666"/>
            <a:ext cx="12560819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S-B2t　エルボーの実数値（RSS/N）（1/2）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S-B2 の元数値。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outputs/**/archetype/**/rss_elbow.csv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90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1745"/>
                <a:gridCol w="3135123"/>
                <a:gridCol w="4926622"/>
              </a:tblGrid>
              <a:tr h="419336"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RSS/N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0.7649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0.6061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0.4736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0.4247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0.3792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1.1307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0.9437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0.8067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0.7056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0.6441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0.824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0.6306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0.511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0.4455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0.4072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1.113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S-B2t　エルボーの実数値（RSS/N）（2/2）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S-B2 の元数値。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outputs/**/archetype/**/rss_elbow.csv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90" cy="209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1745"/>
                <a:gridCol w="3135123"/>
                <a:gridCol w="4926622"/>
              </a:tblGrid>
              <a:tr h="419336"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RSS/N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0.9195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0.6963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0.6456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S-B2n　原型ごとのユニット数（K=4）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ハード割当て（α が最大の原型）での件数。合計は OpenStack 289人/3,677ペア、AOSP 1,248人/21,291ペア。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outputs/**/k4_hard*metrics.csv（alpha CSV の dominant 件数と一致を確認）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1986"/>
                <a:gridCol w="8061745"/>
                <a:gridCol w="2579758"/>
              </a:tblGrid>
              <a:tr h="419336"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59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69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1284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539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483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258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225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5068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4422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2878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8923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S-B3　全特徴量シグネチャ（OpenStack・ペア単位）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発表スライドは差の大きい上位5特徴量のみ。ここでは全特徴量を載せている。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outputs/analysis/archetype_pair_level_volat_ep150_coldonly/k4_archetype_profile.csv</a:t>
            </a:r>
          </a:p>
        </p:txBody>
      </p:sp>
      <p:pic>
        <p:nvPicPr>
          <p:cNvPr id="5" name="Picture 4" descr="S-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441" y="2018666"/>
            <a:ext cx="8733529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S-B4　全特徴量シグネチャ（AOSP・ペア単位）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発表スライドは差の大きい上位5特徴量のみ。ここでは全特徴量を載せている。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outputs/aosp32/archetype/pair/k4_archetype_profile.csv</a:t>
            </a:r>
          </a:p>
        </p:txBody>
      </p:sp>
      <p:pic>
        <p:nvPicPr>
          <p:cNvPr id="5" name="Picture 4" descr="S-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877" y="2018666"/>
            <a:ext cx="8322657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S-B5　原型別の全特徴量プロファイル（OpenStack・ペア単位）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横軸は他原型平均との差。棒の長い特徴量がその原型を特徴づける。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outputs/analysis/archetype_pair_level_volat_ep150_coldonly/k4_archetype_profile.csv</a:t>
            </a:r>
          </a:p>
        </p:txBody>
      </p:sp>
      <p:pic>
        <p:nvPicPr>
          <p:cNvPr id="5" name="Picture 4" descr="S-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28" y="2018666"/>
            <a:ext cx="11803355" cy="68946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S-B6　原型別の全特徴量プロファイル（AOSP・ペア単位）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横軸は他原型平均との差。棒の長い特徴量がその原型を特徴づける。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outputs/aosp32/archetype/pair/k4_archetype_profile.csv</a:t>
            </a:r>
          </a:p>
        </p:txBody>
      </p:sp>
      <p:pic>
        <p:nvPicPr>
          <p:cNvPr id="5" name="Picture 4" descr="S-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779" y="2018666"/>
            <a:ext cx="11798852" cy="68946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S-B7　所属度 α の分布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ハード割当て（dominant）は α 最大の原型。α_max が低いユニットは複数原型の混合。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outputs/**/k4_*_alpha_with_metrics.csv</a:t>
            </a:r>
          </a:p>
        </p:txBody>
      </p:sp>
      <p:pic>
        <p:nvPicPr>
          <p:cNvPr id="5" name="Picture 4" descr="S-B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208" y="2018666"/>
            <a:ext cx="12609994" cy="68946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S-B7t　所属度 α の要約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S-B11 の元数値。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outputs/**/k4_*_alpha_with_metrics.csv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209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9597"/>
                <a:gridCol w="1881073"/>
                <a:gridCol w="2955973"/>
                <a:gridCol w="3493423"/>
                <a:gridCol w="3493423"/>
              </a:tblGrid>
              <a:tr h="419336"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α_max 中央値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α_max ≥ 0.8 の割合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α_max &lt; 0.5 の割合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0.678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31.5%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15.6%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3677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0.633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23.9%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20.8%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1248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45.1%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13.6%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21291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0.629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19.0%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22.3%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S-B8　K を変えたときの原型サイズ構成比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K=4 でも構成比が偏りすぎず、K を増やしても細かく割れていくだけ。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outputs/**/k{2..6}_hard*metrics.csv</a:t>
            </a:r>
          </a:p>
        </p:txBody>
      </p:sp>
      <p:pic>
        <p:nvPicPr>
          <p:cNvPr id="5" name="Picture 4" descr="S-B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208" y="2018666"/>
            <a:ext cx="12609994" cy="68946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S-B9　K を変えても原型間の得意不得意は消えない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どの K でも IRL 優位な原型と RF 優位な原型に分かれる。K=4 は恣意的な選択ではない。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outputs/**/k{2..6}_pooled_auc*.csv</a:t>
            </a:r>
          </a:p>
        </p:txBody>
      </p:sp>
      <p:pic>
        <p:nvPicPr>
          <p:cNvPr id="5" name="Picture 4" descr="S-B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208" y="2018666"/>
            <a:ext cx="12609994" cy="68946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S-B9t　K別・原型別の Δ(IRL−RF)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S-B13 の元数値（pooled AUC の差）。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outputs/**/k{2..6}_pooled_auc*.csv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460" y="2925603"/>
            <a:ext cx="16123491" cy="1950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75" b="0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この表は 80 行あるためスライドには載せていない。</a:t>
            </a:r>
          </a:p>
          <a:p>
            <a:r>
              <a:rPr sz="2275" b="0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数値は次のCSVを参照: outputs/analysis/ses_supplement/tab/S-B13t.csv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S-B10　2プロジェクトの原型はどこまで同じか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ペア単位は P1↔P1 / P2↔P2 が対応し、P3・P4は番号がねじれて対応する（配色を入れ替えた根拠）。開発者単位は1対1に揃わない。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outputs/**/k4_archetype_profile.csv</a:t>
            </a:r>
          </a:p>
        </p:txBody>
      </p:sp>
      <p:pic>
        <p:nvPicPr>
          <p:cNvPr id="5" name="Picture 4" descr="S-B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314" y="2018666"/>
            <a:ext cx="14441783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S-B10t　原型対応の cosine 類似度（1/2）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S-B14 の元数値。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outputs/**/k4_archetype_profile.csv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09"/>
                <a:gridCol w="5091628"/>
                <a:gridCol w="5374497"/>
                <a:gridCol w="2262946"/>
                <a:gridCol w="1697209"/>
              </a:tblGrid>
              <a:tr h="419336"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粒度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最近傍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0.939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○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0.595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0.844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0.868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○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0.623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0.901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○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0.672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0.642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0.867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○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pair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S-B10t　原型対応の cosine 類似度（2/2）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S-B14 の元数値。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outputs/**/k4_archetype_profile.csv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09"/>
                <a:gridCol w="5091628"/>
                <a:gridCol w="5374497"/>
                <a:gridCol w="2262946"/>
                <a:gridCol w="1697209"/>
              </a:tblGrid>
              <a:tr h="419336"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粒度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最近傍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0.98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○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0.895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0.591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0.613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0.576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0.707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0.96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○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0.896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○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0.622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0.649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0.871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○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0.446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0.555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dev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/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00281" y="3803285"/>
            <a:ext cx="14736524" cy="126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34" b="1">
                <a:solidFill>
                  <a:srgbClr val="E64B35"/>
                </a:solidFill>
                <a:latin typeface="Hiragino Sans"/>
                <a:ea typeface="Hiragino Sans"/>
                <a:cs typeface="Hiragino Sans"/>
              </a:rPr>
              <a:t>C. 原型分析の深掘り（開発者単位）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0281" y="5168566"/>
            <a:ext cx="14736524" cy="107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17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開発者だけを単位にした 4 原型と、ペア単位の原型との対応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S-C1　全特徴量シグネチャ（OpenStack・開発者単位）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発表スライドは差の大きい上位5特徴量のみ。ここでは全特徴量を載せている。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outputs/analysis/archetype_irl_rf_volat_ep150_coldonly/k4_archetype_profile.csv</a:t>
            </a:r>
          </a:p>
        </p:txBody>
      </p:sp>
      <p:pic>
        <p:nvPicPr>
          <p:cNvPr id="5" name="Picture 4" descr="S-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631" y="2018666"/>
            <a:ext cx="10025149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S-C2　全特徴量シグネチャ（AOSP・開発者単位）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発表スライドは差の大きい上位5特徴量のみ。ここでは全特徴量を載せている。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outputs/aosp32/archetype/dev/k4_archetype_profile.csv</a:t>
            </a:r>
          </a:p>
        </p:txBody>
      </p:sp>
      <p:pic>
        <p:nvPicPr>
          <p:cNvPr id="5" name="Picture 4" descr="S-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294" y="2018666"/>
            <a:ext cx="9947823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S-C3　原型別の全特徴量プロファイル（OpenStack・開発者単位）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横軸は他原型平均との差。棒の長い特徴量がその原型を特徴づける。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outputs/analysis/archetype_irl_rf_volat_ep150_coldonly/k4_archetype_profile.csv</a:t>
            </a:r>
          </a:p>
        </p:txBody>
      </p:sp>
      <p:pic>
        <p:nvPicPr>
          <p:cNvPr id="5" name="Picture 4" descr="S-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162" y="2018666"/>
            <a:ext cx="13784086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S-C4　原型別の全特徴量プロファイル（AOSP・開発者単位）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横軸は他原型平均との差。棒の長い特徴量がその原型を特徴づける。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outputs/aosp32/archetype/dev/k4_archetype_profile.csv</a:t>
            </a:r>
          </a:p>
        </p:txBody>
      </p:sp>
      <p:pic>
        <p:nvPicPr>
          <p:cNvPr id="5" name="Picture 4" descr="S-B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162" y="2018666"/>
            <a:ext cx="13784086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S-C5　開発者単位とペア単位の原型の関係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同じ開発者でもディレクトリごとに違う原型に分かれる＝ペア単位で見る意味がある。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outputs/**/k4_dev_alpha_with_metrics.csv × k4_pair_alpha_with_metrics.csv</a:t>
            </a:r>
          </a:p>
        </p:txBody>
      </p:sp>
      <p:pic>
        <p:nvPicPr>
          <p:cNvPr id="5" name="Picture 4" descr="S-B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819" y="2018666"/>
            <a:ext cx="14682773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S-C5t　開発者単位×ペア単位のクロス集計（1/2）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S-B15 の元数値。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outputs/**/k4_*_alpha_with_metrics.csv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8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814"/>
                <a:gridCol w="4808760"/>
                <a:gridCol w="4808760"/>
                <a:gridCol w="1980077"/>
                <a:gridCol w="1980077"/>
              </a:tblGrid>
              <a:tr h="419336"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プロジェクト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開発者単位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ペア単位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ペア数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行内比率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30.3%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1.1%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4.1%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175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64.6%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4.3%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530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95.7%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500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41.2%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5.9%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503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41.5%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11.5%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702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42.8%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830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50.6%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1.5%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5.0%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S-C5t　開発者単位×ペア単位のクロス集計（2/2）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S-B15 の元数値。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outputs/**/k4_*_alpha_with_metrics.csv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8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814"/>
                <a:gridCol w="4808760"/>
                <a:gridCol w="4808760"/>
                <a:gridCol w="1980077"/>
                <a:gridCol w="1980077"/>
              </a:tblGrid>
              <a:tr h="419336"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プロジェクト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開発者単位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ペア単位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ペア数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行内比率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4920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28.3%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4366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25.1%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694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4.0%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7417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42.6%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6.8%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300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47.6%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44.9%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2.0%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8.1%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1220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89.4%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4.1%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2.4%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1773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93.4%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0.2%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00281" y="3803285"/>
            <a:ext cx="14736524" cy="126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34" b="1">
                <a:solidFill>
                  <a:srgbClr val="E64B35"/>
                </a:solidFill>
                <a:latin typeface="Hiragino Sans"/>
                <a:ea typeface="Hiragino Sans"/>
                <a:cs typeface="Hiragino Sans"/>
              </a:rPr>
              <a:t>D. 予測の深掘り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0281" y="5168566"/>
            <a:ext cx="14736524" cy="107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17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IRL の定式化、原型別・期間別の AUC、有意差検定、アブレーションとアンサンブル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S-D1　IRL（MCE-IRL）の定式化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報酬は特徴量の線形和ではなく系列を通した非線形関数。学習は行動履歴（expert 軌跡）の重み付き対数尤度最大化。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src/review_predictor/IRL/model/mce_irl_predictor.py:10-26,:83-87,:1039-1068 / scripts/train/train_mce_irl.py:630-637</a:t>
            </a:r>
          </a:p>
        </p:txBody>
      </p:sp>
      <p:pic>
        <p:nvPicPr>
          <p:cNvPr id="5" name="Picture 4" descr="S-C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794" y="2018666"/>
            <a:ext cx="13478822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S-D2　原型×期間の Δ(IRL−RF)（ペア単位）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発表スライドでは P1 と P3/P4 の2行だけを見せている。ここでは全原型×全期間。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outputs/analysis/ses_supplement/tab/period_auc_openstack_pair.csv（pooled_pairs_blabel_t0_20230101.csv から今回算出） ／ outputs/aosp32/archetype/pair/k4_period_auc.csv</a:t>
            </a:r>
          </a:p>
        </p:txBody>
      </p:sp>
      <p:pic>
        <p:nvPicPr>
          <p:cNvPr id="5" name="Picture 4" descr="S-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845" y="2018666"/>
            <a:ext cx="13134721" cy="68946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S-D2t　原型×期間の AUC 実数値（ペア単位）（1/2）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図の元数値。IRL・RF は pooled AUC（B定義ラベル）。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outputs/analysis/ses_supplement/tab/period_auc_openstack_pair.csv（pooled_pairs_blabel_t0_20230101.csv から今回算出） ／ outputs/aosp32/archetype/pair/k4_period_auc.csv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8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6153"/>
                <a:gridCol w="4493431"/>
                <a:gridCol w="1585917"/>
                <a:gridCol w="1585917"/>
                <a:gridCol w="1585917"/>
                <a:gridCol w="1585917"/>
                <a:gridCol w="1850236"/>
              </a:tblGrid>
              <a:tr h="419336"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Δ(pp)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1284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0.7645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0.675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8.96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1284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0.7418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0.7027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3.92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1284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0.706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0.664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4.2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1284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0.6535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0.7079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-5.43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0.7454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0.7259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1.95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0.7975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-1.46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0.7255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-0.15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0.7156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0.7581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-4.25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0.7998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0.7416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5.82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0.7138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0.7369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-2.32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0.6589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0.7286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-6.98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-0.65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0.6916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0.6957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-0.41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0.6817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0.6869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-0.52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0.6429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0.7296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-8.67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926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0.6297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0.6885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-5.88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S-D2t　原型×期間の AUC 実数値（ペア単位）（2/2）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図の元数値。IRL・RF は pooled AUC（B定義ラベル）。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outputs/analysis/ses_supplement/tab/period_auc_openstack_pair.csv（pooled_pairs_blabel_t0_20230101.csv から今回算出） ／ outputs/aosp32/archetype/pair/k4_period_auc.csv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8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6153"/>
                <a:gridCol w="4493431"/>
                <a:gridCol w="1585917"/>
                <a:gridCol w="1585917"/>
                <a:gridCol w="1585917"/>
                <a:gridCol w="1585917"/>
                <a:gridCol w="1850236"/>
              </a:tblGrid>
              <a:tr h="419336"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Δ(pp)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5068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0.7595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0.7555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0.4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5068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0.7652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-3.26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5068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0.7423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-0.18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5068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0.6602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0.7461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-8.58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4422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0.7338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0.7773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-4.36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4422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0.5839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0.6976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-11.37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4422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0.5952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0.6937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-9.85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4422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0.5939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0.7183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-12.43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2878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0.8285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0.8136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1.49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2878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0.7922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0.7974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-0.52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2878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0.7347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-2.94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2878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0.7677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0.7935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-2.58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8923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0.7265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4.55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8923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0.7213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0.6986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2.27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8923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0.7318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3.92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8923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0.7731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3.51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S-D3　原型×期間の Δ(IRL−RF)（開発者単位）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発表スライドでは P1 と P3/P4 の2行だけを見せている。ここでは全原型×全期間。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outputs/analysis/ses_supplement/tab/period_auc_openstack_dev.csv（pooled_pairs_blabel_t0_20230101.csv から今回算出） ／ outputs/aosp32/archetype/dev/k4_period_auc.csv</a:t>
            </a:r>
          </a:p>
        </p:txBody>
      </p:sp>
      <p:pic>
        <p:nvPicPr>
          <p:cNvPr id="5" name="Picture 4" descr="S-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812" y="2018666"/>
            <a:ext cx="13144786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S-D3t　原型×期間の AUC 実数値（開発者単位）（1/2）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図の元数値。IRL・RF は pooled AUC（B定義ラベル）。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outputs/analysis/ses_supplement/tab/period_auc_openstack_dev.csv（pooled_pairs_blabel_t0_20230101.csv から今回算出） ／ outputs/aosp32/archetype/dev/k4_period_auc.csv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8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6153"/>
                <a:gridCol w="4493431"/>
                <a:gridCol w="1585917"/>
                <a:gridCol w="1585917"/>
                <a:gridCol w="1585917"/>
                <a:gridCol w="1585917"/>
                <a:gridCol w="1850236"/>
              </a:tblGrid>
              <a:tr h="419336"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Δ(pp)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0.6071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0.6064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0.4227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0.6306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-20.78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0.6304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0.6511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-2.07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0.492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0.5966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-10.45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554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0.7498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0.7984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-4.87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554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0.8061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0.7176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8.85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554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0.6668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0.7559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-8.91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554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0.6645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0.5024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16.21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1213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0.8349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0.7601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7.49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1213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0.7807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0.7818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-0.11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1213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0.6929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0.7414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-4.84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1213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0.7303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0.7957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-6.54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0.7912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0.7463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4.48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0.8322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0.8138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1.84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0.7633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0.7475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1.58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0.7733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0.7931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-1.98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S-D3t　原型×期間の AUC 実数値（開発者単位）（2/2）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図の元数値。IRL・RF は pooled AUC（B定義ラベル）。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outputs/analysis/ses_supplement/tab/period_auc_openstack_dev.csv（pooled_pairs_blabel_t0_20230101.csv から今回算出） ／ outputs/aosp32/archetype/dev/k4_period_auc.csv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8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6153"/>
                <a:gridCol w="4493431"/>
                <a:gridCol w="1585917"/>
                <a:gridCol w="1585917"/>
                <a:gridCol w="1585917"/>
                <a:gridCol w="1585917"/>
                <a:gridCol w="1850236"/>
              </a:tblGrid>
              <a:tr h="419336"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9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Δ(pp)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0.7671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0.7737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-0.65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0.6569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0.7502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-9.33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0.7015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0.7508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-4.93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0.6826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0.7637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-8.11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258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0.8117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0.7899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2.18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258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0.7864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0.7758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1.06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258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0.7821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0.7654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1.66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258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0.8035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0.7699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3.36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0.7743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1.53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0.7712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0.7621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0.9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0.7492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0.7643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-1.52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0.8162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0.7524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6.38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0.8425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0.8295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0.8216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0.7702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-1.19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0.7885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0.814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279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-2.55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S-D4　アンサンブルはどこで効いたか（OpenStack）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IRLとRFの優劣が入れ替わる原型ほど平均の効果が大きい。負の原型では単体の方が良い。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outputs/analysis/ses_supplement/tab/period_auc_openstack_{pair,dev}.csv（AOSP はラベル定義が既存CSVと異なるため未算出）</a:t>
            </a:r>
          </a:p>
        </p:txBody>
      </p:sp>
      <p:pic>
        <p:nvPicPr>
          <p:cNvPr id="5" name="Picture 4" descr="S-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262" y="2018666"/>
            <a:ext cx="12977887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S-D5　原型別 pooled AUC と 95%CI（ペア単位）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信頼区間が重なる原型では IRL と RF の差は言い切れない。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outputs/analysis/archetype_pair_level_volat_ep150_coldonly/k4_pooled_auc.csv ／ outputs/aosp32/archetype/pair/k4_pooled_auc.csv（OpenStack 側の warm_irl は除外）</a:t>
            </a:r>
          </a:p>
        </p:txBody>
      </p:sp>
      <p:pic>
        <p:nvPicPr>
          <p:cNvPr id="5" name="Picture 4" descr="S-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550" y="2018666"/>
            <a:ext cx="13773311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S-D5t　原型別 pooled AUC の実数値（ペア単位）（1/2）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図の元数値（bootstrap 95%信頼区間）。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outputs/**/k4_pooled_auc*.csv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698"/>
                <a:gridCol w="4216913"/>
                <a:gridCol w="2480537"/>
                <a:gridCol w="1736375"/>
                <a:gridCol w="1488322"/>
                <a:gridCol w="2976644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モデル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95%CI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5136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0.7222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[0.705, 0.739]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5136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0.6649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[0.646, 0.683]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3712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0.7375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[0.722, 0.756]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3712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0.7727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[0.758, 0.787]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2156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0.7141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[0.693, 0.737]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2156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0.7703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[0.752, 0.790]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3704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0.6482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[0.625, 0.670]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3704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0.6375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[0.613, 0.661]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20272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0.7154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[0.706, 0.725]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20272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0.7534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[0.744, 0.763]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20272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0.7633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[0.755, 0.772]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17688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0.6157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[0.607, 0.625]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17688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0.7177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[0.710, 0.726]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17688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0.6785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[0.670, 0.687]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11512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0.7749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[0.763, 0.788]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11512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0.7927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[0.779, 0.805]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S-D5t　原型別 pooled AUC の実数値（ペア単位）（2/2）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図の元数値（bootstrap 95%信頼区間）。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outputs/**/k4_pooled_auc*.csv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209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698"/>
                <a:gridCol w="4216913"/>
                <a:gridCol w="2480537"/>
                <a:gridCol w="1736375"/>
                <a:gridCol w="1488322"/>
                <a:gridCol w="2976644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モデル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95%CI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11512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0.8042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[0.792, 0.816]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35692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0.7521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[0.744, 0.759]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35692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[0.716, 0.732]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35692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[0.766, 0.781]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S-D6　原型別 pooled AUC と 95%CI（開発者単位）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信頼区間が重なる原型では IRL と RF の差は言い切れない。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outputs/analysis/archetype_irl_rf_volat_ep150_coldonly/k4_pooled_auc_bootstrap.csv ／ outputs/aosp32/archetype/dev/k4_pooled_auc_bootstrap.csv（OpenStack 側の warm_irl は除外）</a:t>
            </a:r>
          </a:p>
        </p:txBody>
      </p:sp>
      <p:pic>
        <p:nvPicPr>
          <p:cNvPr id="5" name="Picture 4" descr="S-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205" y="2018666"/>
            <a:ext cx="13784001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S-D6t　原型別 pooled AUC の実数値（開発者単位）（1/2）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図の元数値（bootstrap 95%信頼区間）。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outputs/**/k4_pooled_auc*.csv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712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698"/>
                <a:gridCol w="4216913"/>
                <a:gridCol w="2480537"/>
                <a:gridCol w="1736375"/>
                <a:gridCol w="1488322"/>
                <a:gridCol w="2976644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モデル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95%CI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236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0.6141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[0.533, 0.679]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236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0.6891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[0.621, 0.755]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276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0.7003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[0.637, 0.763]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276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[0.628, 0.752]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252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0.8136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[0.742, 0.875]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252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0.8679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[0.818, 0.916]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392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0.8487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[0.799, 0.892]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392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0.8723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[0.821, 0.920]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1932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0.7379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[0.712, 0.765]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1932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0.863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[0.843, 0.881]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1932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0.8286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[0.809, 0.848]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0.8038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[0.774, 0.834]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0.8203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[0.786, 0.850]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0.8235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[0.792, 0.852]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900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0.7839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[0.750, 0.816]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900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0.7875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[0.754, 0.821]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S-D6t　原型別 pooled AUC の実数値（開発者単位）（2/2）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図の元数値（bootstrap 95%信頼区間）。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outputs/**/k4_pooled_auc*.csv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209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698"/>
                <a:gridCol w="4216913"/>
                <a:gridCol w="2480537"/>
                <a:gridCol w="1736375"/>
                <a:gridCol w="1488322"/>
                <a:gridCol w="2976644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モデル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95%CI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900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0.8019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[0.770, 0.833]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0.8459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[0.821, 0.869]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0.8702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[0.843, 0.895]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0.872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[0.849, 0.894]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S-D7　原型別 Wilcoxon 符号順位検定（IRL vs RF・ペア単位）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ユニットごとの AUC の対応比較。AUC が計算できる（正例と負例が両方ある）ユニットのみが対象なので n は原型サイズより小さい。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outputs/analysis/archetype_pair_level_volat_ep150_coldonly/k4_wilcoxon.csv ／ outputs/aosp32/archetype/pair/k4_wilcoxon.csv（OpenStack の warm_irl 比較・acc 比較の行は除外）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6" cy="377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362"/>
                <a:gridCol w="3915704"/>
                <a:gridCol w="2073020"/>
                <a:gridCol w="2303355"/>
                <a:gridCol w="1842684"/>
                <a:gridCol w="1842684"/>
                <a:gridCol w="1151677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n（AUC算出可）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中央値差 IRL−RF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W統計量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有意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他プロジェクト経験者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569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60163.5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9.1e-08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**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関与低下型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481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42373.5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3.05e-07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**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238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0.2083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7928.0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3.06e-09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**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低活動・低承諾型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363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0.1667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21136.5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2.58e-09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**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P1 高活動・未経験ディレクトリ型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1656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615952.0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0.000312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**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P2 ディレクトリ経験者・高関与型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2250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1017210.0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5.83e-16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**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P3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690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110609.0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n.s.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P4 高承諾・汎用型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2438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1386628.5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0.004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**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S-D8　原型別 Wilcoxon 符号順位検定（IRL vs RF・開発者単位）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ユニットごとの AUC の対応比較。AUC が計算できる（正例と負例が両方ある）ユニットのみが対象なので n は原型サイズより小さい。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outputs/analysis/archetype_irl_rf_volat_ep150_coldonly/k4_wilcoxon.csv ／ outputs/aosp32/archetype/dev/k4_wilcoxon.csv（OpenStack の warm_irl 比較・acc 比較の行は除外）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6" cy="377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362"/>
                <a:gridCol w="3915704"/>
                <a:gridCol w="2073020"/>
                <a:gridCol w="2303355"/>
                <a:gridCol w="1842684"/>
                <a:gridCol w="1842684"/>
                <a:gridCol w="1151677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n（AUC算出可）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中央値差 IRL−RF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W統計量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有意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0.0833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137.5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0.135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n.s.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短期・レビュー中心型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168.0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0.006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**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高承諾・高活動型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56.0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0.533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n.s.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常時活動・低承諾型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125.5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0.974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n.s.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A1 常時活動・高承諾型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140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-0.3333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3150.5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0.000199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**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A2 低活動型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-0.2083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1300.0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0.063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n.s.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A3 高承諾・レビュアー専業型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1271.5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0.242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n.s.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AOSP・開発者単位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A4 低承諾型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1673.5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0.308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n.s.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S-D9　アブレーション：LSTM と IRL 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OpenStack は報酬関数化で +3.8pp。AOSP は逆に LSTM 単体が最も高く、補完効果はエコシステム依存。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outputs/ses_review/b3_ablation/headline_blabel_*.csv ／ docs/SES発表用_アブレーション.xlsx（AOSP）</a:t>
            </a:r>
          </a:p>
        </p:txBody>
      </p:sp>
      <p:pic>
        <p:nvPicPr>
          <p:cNvPr id="5" name="Picture 4" descr="S-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089" y="2018666"/>
            <a:ext cx="13846232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S-D9t　アブレーションの実数値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S-C8 の元数値。AOSP は対応する出力CSVがローカルに存在しないため転記。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outputs/ses_review/b3_ablation/headline_blabel_*.csv ／ docs/SES発表用_アブレーション.xlsx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9" cy="2935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644"/>
                <a:gridCol w="4464966"/>
                <a:gridCol w="2976644"/>
                <a:gridCol w="5705235"/>
              </a:tblGrid>
              <a:tr h="419336"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モデル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AUC（4期間統合）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出所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RF（時系列なし）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0.8006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headline_blabel_*.csv から算出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LSTM（時系列のみ）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0.7507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headline_blabel_*.csv から算出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IRL（時系列＋報酬関数）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0.7888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headline_blabel_*.csv から算出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RF（時系列なし）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発表用 xlsx / 論文表から転記（対応CSVなし）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LSTM（時系列のみ）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発表用 xlsx / 論文表から転記（対応CSVなし）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IRL（時系列＋報酬関数）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発表用 xlsx / 論文表から転記（対応CSVなし）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S-D10　アンサンブルの期間別内訳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短期ではIRLの上積みが大きく、長期では単体ベストとほぼ同じか下回る期間もある。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outputs/analysis/ses_supplement/tab/overall_auc_{openstack,aosp}.csv（OpenStack は headline CSV と一致を確認済み）</a:t>
            </a:r>
          </a:p>
        </p:txBody>
      </p:sp>
      <p:pic>
        <p:nvPicPr>
          <p:cNvPr id="5" name="Picture 4" descr="S-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35" y="2018666"/>
            <a:ext cx="14224741" cy="689467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S-D10t　アンサンブルの実数値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図 S-C9 の元数値。AOSP は pair_predictions の焼き込みラベルから再計算（論文の表と一致）。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outputs/analysis/ses_supplement/tab/overall_auc_*.csv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6" cy="461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7140"/>
                <a:gridCol w="1684543"/>
                <a:gridCol w="1925192"/>
                <a:gridCol w="1684543"/>
                <a:gridCol w="1684543"/>
                <a:gridCol w="1684543"/>
                <a:gridCol w="2165842"/>
                <a:gridCol w="2647140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正例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単体ベストとの差(pp)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4534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1225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0.8256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0.7907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0.8379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1.23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4534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1021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0.8127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0.8119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0.8421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2.93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4534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984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0.7515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0.7925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0.7988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0.63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4534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811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0.7544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0.8062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0.8084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0.22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全体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18136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4041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0.7888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0.8006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0.8234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2.28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1–3m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26830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7607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0.7692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0.7893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2.01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4–6m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26830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6781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0.6931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0.7612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0.7555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-0.57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7–9m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26830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6188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0.7373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0.757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0.7728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1.58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10–12m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26830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5710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0.7106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0.7642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-0.08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全体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107320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26286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0.7213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0.7617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0.7691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0.73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00281" y="3803285"/>
            <a:ext cx="14736524" cy="126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34" b="1">
                <a:solidFill>
                  <a:srgbClr val="E64B35"/>
                </a:solidFill>
                <a:latin typeface="Hiragino Sans"/>
                <a:ea typeface="Hiragino Sans"/>
                <a:cs typeface="Hiragino Sans"/>
              </a:rPr>
              <a:t>付録. 実験設定・データセット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0281" y="5168566"/>
            <a:ext cx="14736524" cy="107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17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データ規模・ラベル定義・評価設計・学習設定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S-E1　データセットの規模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AOSP のデータセット全体の統計は、生データ(combined_raw_aosp32.csv)が手元に無いため論文の表から転記している。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data/combined_raw_main32.csv ／ SES/ses_main.tex 表1 ／ outputs/**/train_0-3m/eval_0-3m/pair_predictions.csv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90" cy="2935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805"/>
                <a:gridCol w="2480537"/>
                <a:gridCol w="2480537"/>
                <a:gridCol w="7441611"/>
              </a:tblGrid>
              <a:tr h="419336"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確認状況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リポジトリ数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 は data/combined_raw_main32.csv から再計算し論文値と一致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チケット（change）数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42,441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408,574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 は data/combined_raw_main32.csv から再計算し論文値と一致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レビュー依頼行数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161,111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574,810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 は data/combined_raw_main32.csv から再計算し論文値と一致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レビュアー数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2,372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8,901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 は data/combined_raw_main32.csv から再計算し論文値と一致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予測対象の開発者数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436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2,508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両プロジェクトとも pair_predictions.csv から再計算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予測対象のペア数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4,534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26,830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両プロジェクトとも pair_predictions.csv から再計算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S-E2　ラベル定義（依頼の有無で負例を2種類に分ける）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「依頼が来ていないだけ」と「依頼を断った」を同じ負例にしないための重み付け。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SES/ses_main.tex:318（弱負例重みの適用範囲）／ 発表スライド10枚目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8" cy="1677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321"/>
                <a:gridCol w="6639084"/>
                <a:gridCol w="1422660"/>
                <a:gridCol w="5216423"/>
              </a:tblGrid>
              <a:tr h="419336">
                <a:tc>
                  <a:txBody>
                    <a:bodyPr/>
                    <a:lstStyle/>
                    <a:p>
                      <a:r>
                        <a:rPr sz="1706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ラベル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6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6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重み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6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備考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+1（正例）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その期間にレビュー依頼があり、承諾（貢献）した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予測したい事象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0（強い負例）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レビュー依頼はあったが貢献しなかった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1.0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機会があったのに選ばなかった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0*（弱い負例）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そもそもレビュー依頼が来ていない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0.5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 の損失にのみ適用。RF の学習には適用しない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S-E3　評価設計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「訓練期間3年」は本文の記述。実装では 3–6m 以降の horizon で train_start を前倒しし、学習ステップ数を 33 に揃えている（scripts/variant/run_ses_b3_ablation_queue.sh:17-23 に明記）。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scripts/variant/run_ses_b3_ablation_queue.sh:15-37 ／ SES/ses_main.tex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90" cy="2935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0872"/>
                <a:gridCol w="12092618"/>
              </a:tblGrid>
              <a:tr h="419336">
                <a:tc>
                  <a:txBody>
                    <a:bodyPr/>
                    <a:lstStyle/>
                    <a:p>
                      <a:r>
                        <a:rPr sz="1706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6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設定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予測時点 t0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2023-01-01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訓練期間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3年（実装では horizon ごとに学習窓を33ステップへ等化）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評価期間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1年を3か月ずつ4分割（W1:1–3m / W2:4–6m / W3:7–9m / W4:10–12m）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リーク防止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train_end = t0 − 12か月。ラベル判定のみ後方に許す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評価指標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AUC-ROC（bootstrap による95%信頼区間つき）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予測単位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706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開発者 × ディレクトリのペア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S-E4　モデルの学習設定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確認できなかった項目は「未確認」と明記している（推測で埋めていない）。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各スクリプトの該当行（右列）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90" cy="251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839"/>
                <a:gridCol w="7817450"/>
                <a:gridCol w="5130201"/>
              </a:tblGrid>
              <a:tr h="419336"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モデル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設定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2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出所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IRL（提案）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MCE IRL / epochs=150 / 学習率 3e-4 / 乱数シード 777 / 状態32次元（開発者状態26＋ディレクトリ親和度6）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scripts/variant/run_mce_irl_variant_single.sh:77, scripts/train/train_mce_irl.py:1544, :1495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RF（比較）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決定木100本 / 深さ無制限 / 葉あたり最小サンプル1 / class_weight=balanced / seed 777 / 探索なし / 入力37次元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scripts/analyze/eval/eval_mce_irl_path_prediction.py:1157, SES/ses_main.tex:318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LSTM（アブレーション）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FINAL_STEP_ONLY=1 の退化版（最終有効ステップのみ教師）/ epochs=150 / IRL と同条件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scripts/variant/run_ses_b3_ablation_queue.sh:5-8, :36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アンサンブル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 と RF の出力確率の単純平均 (p_IRL + p_RF)/2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scripts/analyze/study/verify_blabel_headline.py:87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（未確認）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IRL の隠れ層次元・バッチサイズはスクリプトから特定できず未確認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422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9460" y="282808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12" b="1">
                <a:solidFill>
                  <a:srgbClr val="222222"/>
                </a:solidFill>
                <a:latin typeface="Hiragino Sans"/>
                <a:ea typeface="Hiragino Sans"/>
                <a:cs typeface="Hiragino Sans"/>
              </a:rPr>
              <a:t>S-E5　原型分析の対象（t0直前6か月に履歴があるユニット）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460" y="1140985"/>
            <a:ext cx="16123491" cy="78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48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⚠ 発表スライド18枚目は OpenStack のペアを 3,747 としているが、実際に原型を当てているペアは 3,677（dev 側の 3,747 と取り違えている可能性）。AOSP は 21,291 で一致。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460" y="9040116"/>
            <a:ext cx="16123491" cy="4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9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出所: outputs/**/k4_{dev,pair}_alpha_with_metrics.csv の行数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460" y="2018666"/>
          <a:ext cx="16123488" cy="209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814"/>
                <a:gridCol w="2333663"/>
                <a:gridCol w="2757965"/>
                <a:gridCol w="2121511"/>
                <a:gridCol w="6364535"/>
              </a:tblGrid>
              <a:tr h="419336"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プロジェクト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粒度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原型分析の対象数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特徴量の次元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64" b="1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元ファイル</a:t>
                      </a:r>
                    </a:p>
                  </a:txBody>
                  <a:tcPr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289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outputs/analysis/archetype_irl_rf_volat_ep150_coldonly/k4_dev_alpha_with_metrics.csv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OpenStack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3,677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outputs/analysis/archetype_pair_level_volat_ep150_coldonly/k4_pair_alpha_with_metrics.csv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開発者単位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1,248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26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outputs/aosp32/archetype/dev/k4_dev_alpha_with_metrics.csv</a:t>
                      </a:r>
                    </a:p>
                  </a:txBody>
                  <a:tcPr marT="9000" marB="9000"/>
                </a:tc>
              </a:tr>
              <a:tr h="419336"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AOSP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ペア単位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21,291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32</a:t>
                      </a:r>
                    </a:p>
                  </a:txBody>
                  <a:tcPr marT="9000" marB="9000"/>
                </a:tc>
                <a:tc>
                  <a:txBody>
                    <a:bodyPr/>
                    <a:lstStyle/>
                    <a:p>
                      <a:r>
                        <a:rPr sz="1564" b="0">
                          <a:solidFill>
                            <a:srgbClr val="222222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outputs/aosp32/archetype/pair/k4_pair_alpha_with_metrics.csv</a:t>
                      </a:r>
                    </a:p>
                  </a:txBody>
                  <a:tcPr marT="9000" marB="90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