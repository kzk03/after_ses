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6"/>
  </p:notesMasterIdLst>
  <p:sldIdLst>
    <p:sldId id="435" r:id="rId2"/>
    <p:sldId id="445" r:id="rId3"/>
    <p:sldId id="446" r:id="rId4"/>
    <p:sldId id="447" r:id="rId5"/>
  </p:sldIdLst>
  <p:sldSz cx="17337088" cy="97520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AF363D3-2A68-DA48-8574-374502A175C6}">
          <p14:sldIdLst>
            <p14:sldId id="435"/>
            <p14:sldId id="445"/>
            <p14:sldId id="446"/>
            <p14:sldId id="447"/>
          </p14:sldIdLst>
        </p14:section>
        <p14:section name="OpenStack" id="{C3B45CA8-93D7-EE44-B960-620EF49A4678}">
          <p14:sldIdLst/>
        </p14:section>
        <p14:section name="AOSP" id="{57AE410C-FA3F-4248-A491-4F665B9ABB2C}">
          <p14:sldIdLst/>
        </p14:section>
        <p14:section name="タイトルなしのセクション" id="{62382358-EA55-1B4F-A7CB-EECCE43E45F9}">
          <p14:sldIdLst/>
        </p14:section>
        <p14:section name="補足資料" id="{D22045A5-ACB5-0A49-8DF8-80CE4CA972B2}">
          <p14:sldIdLst/>
        </p14:section>
        <p14:section name="大ゼミ" id="{9951C5EF-F26A-D549-8E09-7DFF0F8462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0997F"/>
    <a:srgbClr val="2DB09B"/>
    <a:srgbClr val="4DBBD5"/>
    <a:srgbClr val="4A90B2"/>
    <a:srgbClr val="3D4392"/>
    <a:srgbClr val="009C84"/>
    <a:srgbClr val="F29578"/>
    <a:srgbClr val="575860"/>
    <a:srgbClr val="F4A9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31"/>
    <p:restoredTop sz="84521"/>
  </p:normalViewPr>
  <p:slideViewPr>
    <p:cSldViewPr snapToGrid="0">
      <p:cViewPr>
        <p:scale>
          <a:sx n="85" d="100"/>
          <a:sy n="85" d="100"/>
        </p:scale>
        <p:origin x="2712" y="-648"/>
      </p:cViewPr>
      <p:guideLst/>
    </p:cSldViewPr>
  </p:slideViewPr>
  <p:outlineViewPr>
    <p:cViewPr>
      <p:scale>
        <a:sx n="20" d="100"/>
        <a:sy n="20" d="100"/>
      </p:scale>
      <p:origin x="0" y="-328"/>
    </p:cViewPr>
  </p:outlin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0F53CC-D7B6-2047-BA54-1065B79B1C15}" type="datetimeFigureOut">
              <a:rPr kumimoji="1" lang="ja-JP" altLang="en-US" smtClean="0"/>
              <a:t>2026/9/9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44A318-3EA9-0145-BBB8-D89E578C6711}" type="slidenum">
              <a:rPr kumimoji="1" lang="ja-JP" altLang="en-US" smtClean="0"/>
              <a:t>‹#›</a:t>
            </a:fld>
            <a:endParaRPr kumimoji="1" lang="ja-JP" altLang="en-US"/>
          </a:p>
        </p:txBody>
      </p:sp>
    </p:spTree>
    <p:extLst>
      <p:ext uri="{BB962C8B-B14F-4D97-AF65-F5344CB8AC3E}">
        <p14:creationId xmlns:p14="http://schemas.microsoft.com/office/powerpoint/2010/main" val="1344893139"/>
      </p:ext>
    </p:extLst>
  </p:cSld>
  <p:clrMap bg1="lt1" tx1="dk1" bg2="lt2" tx2="dk2" accent1="accent1" accent2="accent2" accent3="accent3" accent4="accent4" accent5="accent5" accent6="accent6" hlink="hlink" folHlink="folHlink"/>
  <p:notesStyle>
    <a:lvl1pPr marL="0" algn="l" defTabSz="1300277" rtl="0" eaLnBrk="1" latinLnBrk="0" hangingPunct="1">
      <a:defRPr kumimoji="1" sz="1706" kern="1200">
        <a:solidFill>
          <a:schemeClr val="tx1"/>
        </a:solidFill>
        <a:latin typeface="+mn-lt"/>
        <a:ea typeface="+mn-ea"/>
        <a:cs typeface="+mn-cs"/>
      </a:defRPr>
    </a:lvl1pPr>
    <a:lvl2pPr marL="650138" algn="l" defTabSz="1300277" rtl="0" eaLnBrk="1" latinLnBrk="0" hangingPunct="1">
      <a:defRPr kumimoji="1" sz="1706" kern="1200">
        <a:solidFill>
          <a:schemeClr val="tx1"/>
        </a:solidFill>
        <a:latin typeface="+mn-lt"/>
        <a:ea typeface="+mn-ea"/>
        <a:cs typeface="+mn-cs"/>
      </a:defRPr>
    </a:lvl2pPr>
    <a:lvl3pPr marL="1300277" algn="l" defTabSz="1300277" rtl="0" eaLnBrk="1" latinLnBrk="0" hangingPunct="1">
      <a:defRPr kumimoji="1" sz="1706" kern="1200">
        <a:solidFill>
          <a:schemeClr val="tx1"/>
        </a:solidFill>
        <a:latin typeface="+mn-lt"/>
        <a:ea typeface="+mn-ea"/>
        <a:cs typeface="+mn-cs"/>
      </a:defRPr>
    </a:lvl3pPr>
    <a:lvl4pPr marL="1950415" algn="l" defTabSz="1300277" rtl="0" eaLnBrk="1" latinLnBrk="0" hangingPunct="1">
      <a:defRPr kumimoji="1" sz="1706" kern="1200">
        <a:solidFill>
          <a:schemeClr val="tx1"/>
        </a:solidFill>
        <a:latin typeface="+mn-lt"/>
        <a:ea typeface="+mn-ea"/>
        <a:cs typeface="+mn-cs"/>
      </a:defRPr>
    </a:lvl4pPr>
    <a:lvl5pPr marL="2600554" algn="l" defTabSz="1300277" rtl="0" eaLnBrk="1" latinLnBrk="0" hangingPunct="1">
      <a:defRPr kumimoji="1" sz="1706" kern="1200">
        <a:solidFill>
          <a:schemeClr val="tx1"/>
        </a:solidFill>
        <a:latin typeface="+mn-lt"/>
        <a:ea typeface="+mn-ea"/>
        <a:cs typeface="+mn-cs"/>
      </a:defRPr>
    </a:lvl5pPr>
    <a:lvl6pPr marL="3250692" algn="l" defTabSz="1300277" rtl="0" eaLnBrk="1" latinLnBrk="0" hangingPunct="1">
      <a:defRPr kumimoji="1" sz="1706" kern="1200">
        <a:solidFill>
          <a:schemeClr val="tx1"/>
        </a:solidFill>
        <a:latin typeface="+mn-lt"/>
        <a:ea typeface="+mn-ea"/>
        <a:cs typeface="+mn-cs"/>
      </a:defRPr>
    </a:lvl6pPr>
    <a:lvl7pPr marL="3900830" algn="l" defTabSz="1300277" rtl="0" eaLnBrk="1" latinLnBrk="0" hangingPunct="1">
      <a:defRPr kumimoji="1" sz="1706" kern="1200">
        <a:solidFill>
          <a:schemeClr val="tx1"/>
        </a:solidFill>
        <a:latin typeface="+mn-lt"/>
        <a:ea typeface="+mn-ea"/>
        <a:cs typeface="+mn-cs"/>
      </a:defRPr>
    </a:lvl7pPr>
    <a:lvl8pPr marL="4550969" algn="l" defTabSz="1300277" rtl="0" eaLnBrk="1" latinLnBrk="0" hangingPunct="1">
      <a:defRPr kumimoji="1" sz="1706" kern="1200">
        <a:solidFill>
          <a:schemeClr val="tx1"/>
        </a:solidFill>
        <a:latin typeface="+mn-lt"/>
        <a:ea typeface="+mn-ea"/>
        <a:cs typeface="+mn-cs"/>
      </a:defRPr>
    </a:lvl8pPr>
    <a:lvl9pPr marL="5201107" algn="l" defTabSz="1300277" rtl="0" eaLnBrk="1" latinLnBrk="0" hangingPunct="1">
      <a:defRPr kumimoji="1" sz="17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7AD54-34D2-359A-83AB-F48E513EF8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E4006B-DDAD-CA1A-822C-FC3D6C2C4F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977F42-726D-B43F-9C45-F6D4D8871FF5}"/>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原型分析の結果、</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つの開発者タイプが得られました。</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P1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「他プロジェクト経験者」は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n=1,284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で他プロジェクトへの貢献は多いものの対象ディレクトリでの実績は乏しく、</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期間中</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期間で</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Δ</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の合計は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+11.7</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ポイントでした。</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en-US" altLang="ja-JP" sz="1800" dirty="0">
                <a:effectLst/>
                <a:latin typeface="Yu Gothic" panose="020B0400000000000000" pitchFamily="34" charset="-128"/>
                <a:ea typeface="游明朝" panose="02020400000000000000" pitchFamily="18" charset="-128"/>
                <a:cs typeface="Yu Gothic" panose="020B0400000000000000" pitchFamily="34" charset="-128"/>
              </a:rPr>
              <a:t>P2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「関与低下型」は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n=928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で対象ディレクトリでの最終活動からの経過時間が長く承諾率は低め、短期のみ</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が優位で</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Δ</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の合計は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ポイントでした。</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76B17BA9-DBBC-984F-CC20-CFA6A163CA15}"/>
              </a:ext>
            </a:extLst>
          </p:cNvPr>
          <p:cNvSpPr>
            <a:spLocks noGrp="1"/>
          </p:cNvSpPr>
          <p:nvPr>
            <p:ph type="sldNum" sz="quarter" idx="5"/>
          </p:nvPr>
        </p:nvSpPr>
        <p:spPr/>
        <p:txBody>
          <a:bodyPr/>
          <a:lstStyle/>
          <a:p>
            <a:fld id="{0844A318-3EA9-0145-BBB8-D89E578C6711}" type="slidenum">
              <a:rPr kumimoji="1" lang="ja-JP" altLang="en-US" smtClean="0"/>
              <a:t>1</a:t>
            </a:fld>
            <a:endParaRPr kumimoji="1" lang="ja-JP" altLang="en-US"/>
          </a:p>
        </p:txBody>
      </p:sp>
    </p:spTree>
    <p:extLst>
      <p:ext uri="{BB962C8B-B14F-4D97-AF65-F5344CB8AC3E}">
        <p14:creationId xmlns:p14="http://schemas.microsoft.com/office/powerpoint/2010/main" val="720336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FF45A-B27E-3026-1008-D51F5D44D47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3895E0-D89A-395E-780E-38DC26C2F4C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C634A1-B6CB-DB84-35C8-5CE27B16176A}"/>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原型分析の結果、</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つの開発者タイプが得られました。</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P1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「他プロジェクト経験者」は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n=1,284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で他プロジェクトへの貢献は多いものの対象ディレクトリでの実績は乏しく、</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期間中</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期間で</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Δ</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の合計は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+11.7</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ポイントでした。</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en-US" altLang="ja-JP" sz="1800" dirty="0">
                <a:effectLst/>
                <a:latin typeface="Yu Gothic" panose="020B0400000000000000" pitchFamily="34" charset="-128"/>
                <a:ea typeface="游明朝" panose="02020400000000000000" pitchFamily="18" charset="-128"/>
                <a:cs typeface="Yu Gothic" panose="020B0400000000000000" pitchFamily="34" charset="-128"/>
              </a:rPr>
              <a:t>P2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「関与低下型」は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n=928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で対象ディレクトリでの最終活動からの経過時間が長く承諾率は低め、短期のみ</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が優位で</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Δ</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の合計は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ポイントでした。</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51D40E36-C968-60ED-A59F-3B279FDBA779}"/>
              </a:ext>
            </a:extLst>
          </p:cNvPr>
          <p:cNvSpPr>
            <a:spLocks noGrp="1"/>
          </p:cNvSpPr>
          <p:nvPr>
            <p:ph type="sldNum" sz="quarter" idx="5"/>
          </p:nvPr>
        </p:nvSpPr>
        <p:spPr/>
        <p:txBody>
          <a:bodyPr/>
          <a:lstStyle/>
          <a:p>
            <a:fld id="{0844A318-3EA9-0145-BBB8-D89E578C6711}" type="slidenum">
              <a:rPr kumimoji="1" lang="ja-JP" altLang="en-US" smtClean="0"/>
              <a:t>2</a:t>
            </a:fld>
            <a:endParaRPr kumimoji="1" lang="ja-JP" altLang="en-US"/>
          </a:p>
        </p:txBody>
      </p:sp>
    </p:spTree>
    <p:extLst>
      <p:ext uri="{BB962C8B-B14F-4D97-AF65-F5344CB8AC3E}">
        <p14:creationId xmlns:p14="http://schemas.microsoft.com/office/powerpoint/2010/main" val="2693189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E5404-3B3B-C257-D97D-0DBE67FA7F1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49D5A73-EFC6-8910-37F1-AD3D9E73DB3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7B1738A-2309-C38A-FD92-8FDD61752770}"/>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原型分析の結果、</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つの開発者タイプが得られました。</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P1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「他プロジェクト経験者」は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n=1,284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で他プロジェクトへの貢献は多いものの対象ディレクトリでの実績は乏しく、</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期間中</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期間で</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Δ</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の合計は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+11.7</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ポイントでした。</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en-US" altLang="ja-JP" sz="1800" dirty="0">
                <a:effectLst/>
                <a:latin typeface="Yu Gothic" panose="020B0400000000000000" pitchFamily="34" charset="-128"/>
                <a:ea typeface="游明朝" panose="02020400000000000000" pitchFamily="18" charset="-128"/>
                <a:cs typeface="Yu Gothic" panose="020B0400000000000000" pitchFamily="34" charset="-128"/>
              </a:rPr>
              <a:t>P2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「関与低下型」は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n=928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で対象ディレクトリでの最終活動からの経過時間が長く承諾率は低め、短期のみ</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が優位で</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Δ</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の合計は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ポイントでした。</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32FB3D69-D5EF-C505-18CE-E844FF775B6C}"/>
              </a:ext>
            </a:extLst>
          </p:cNvPr>
          <p:cNvSpPr>
            <a:spLocks noGrp="1"/>
          </p:cNvSpPr>
          <p:nvPr>
            <p:ph type="sldNum" sz="quarter" idx="5"/>
          </p:nvPr>
        </p:nvSpPr>
        <p:spPr/>
        <p:txBody>
          <a:bodyPr/>
          <a:lstStyle/>
          <a:p>
            <a:fld id="{0844A318-3EA9-0145-BBB8-D89E578C6711}" type="slidenum">
              <a:rPr kumimoji="1" lang="ja-JP" altLang="en-US" smtClean="0"/>
              <a:t>3</a:t>
            </a:fld>
            <a:endParaRPr kumimoji="1" lang="ja-JP" altLang="en-US"/>
          </a:p>
        </p:txBody>
      </p:sp>
    </p:spTree>
    <p:extLst>
      <p:ext uri="{BB962C8B-B14F-4D97-AF65-F5344CB8AC3E}">
        <p14:creationId xmlns:p14="http://schemas.microsoft.com/office/powerpoint/2010/main" val="613258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A9615-FE64-D693-30BA-01BB4008F56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9FFEE6D-6F43-81B1-ABF2-ABA2856D0EE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20847F-301A-1C8E-8761-8461CB516546}"/>
              </a:ext>
            </a:extLst>
          </p:cNvPr>
          <p:cNvSpPr>
            <a:spLocks noGrp="1"/>
          </p:cNvSpPr>
          <p:nvPr>
            <p:ph type="body" idx="1"/>
          </p:nvPr>
        </p:nvSpPr>
        <p:spPr/>
        <p:txBody>
          <a:bodyPr/>
          <a:lstStyle/>
          <a:p>
            <a:pPr>
              <a:lnSpc>
                <a:spcPct val="150000"/>
              </a:lnSpc>
              <a:spcAft>
                <a:spcPts val="1000"/>
              </a:spcAft>
            </a:pP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原型分析の結果、</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OpenStack</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つの開発者タイプが得られました。</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P1</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「他プロジェクト経験者」は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n=1,284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で他プロジェクトへの貢献は多いものの対象ディレクトリでの実績は乏しく、</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4</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期間中</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期間で</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Δ</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の合計は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+11.7</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ポイントでした。</a:t>
            </a:r>
            <a:endParaRPr lang="ja-JP" altLang="ja-JP" sz="1800">
              <a:effectLst/>
              <a:latin typeface="Times New Roman" panose="02020603050405020304" pitchFamily="18" charset="0"/>
              <a:ea typeface="游明朝" panose="02020400000000000000" pitchFamily="18" charset="-128"/>
            </a:endParaRPr>
          </a:p>
          <a:p>
            <a:pPr>
              <a:lnSpc>
                <a:spcPct val="150000"/>
              </a:lnSpc>
              <a:spcAft>
                <a:spcPts val="1000"/>
              </a:spcAft>
            </a:pPr>
            <a:r>
              <a:rPr lang="en-US" altLang="ja-JP" sz="1800" dirty="0">
                <a:effectLst/>
                <a:latin typeface="Yu Gothic" panose="020B0400000000000000" pitchFamily="34" charset="-128"/>
                <a:ea typeface="游明朝" panose="02020400000000000000" pitchFamily="18" charset="-128"/>
                <a:cs typeface="Yu Gothic" panose="020B0400000000000000" pitchFamily="34" charset="-128"/>
              </a:rPr>
              <a:t>P2</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「関与低下型」は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n=928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で対象ディレクトリでの最終活動からの経過時間が長く承諾率は低め、短期のみ</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IRL</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が優位で</a:t>
            </a:r>
            <a:r>
              <a:rPr lang="en-US" altLang="ja-JP" sz="1800" dirty="0" err="1">
                <a:effectLst/>
                <a:latin typeface="Times New Roman" panose="02020603050405020304" pitchFamily="18" charset="0"/>
                <a:ea typeface="Yu Gothic" panose="020B0400000000000000" pitchFamily="34" charset="-128"/>
                <a:cs typeface="Yu Gothic" panose="020B0400000000000000" pitchFamily="34" charset="-128"/>
              </a:rPr>
              <a:t>Δ</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の合計は</a:t>
            </a:r>
            <a:r>
              <a:rPr lang="en-US" altLang="ja-JP" sz="1800" dirty="0">
                <a:effectLst/>
                <a:latin typeface="Times New Roman" panose="02020603050405020304" pitchFamily="18" charset="0"/>
                <a:ea typeface="Yu Gothic" panose="020B0400000000000000" pitchFamily="34" charset="-128"/>
                <a:cs typeface="Yu Gothic" panose="020B0400000000000000" pitchFamily="34" charset="-128"/>
              </a:rPr>
              <a:t>−3.8</a:t>
            </a:r>
            <a:r>
              <a:rPr lang="ja-JP" altLang="ja-JP" sz="1800">
                <a:effectLst/>
                <a:latin typeface="Times New Roman" panose="02020603050405020304" pitchFamily="18" charset="0"/>
                <a:ea typeface="Yu Gothic" panose="020B0400000000000000" pitchFamily="34" charset="-128"/>
                <a:cs typeface="Yu Gothic" panose="020B0400000000000000" pitchFamily="34" charset="-128"/>
              </a:rPr>
              <a:t>ポイントでした。</a:t>
            </a:r>
            <a:endParaRPr lang="ja-JP" altLang="ja-JP" sz="1800">
              <a:effectLst/>
              <a:latin typeface="Times New Roman" panose="02020603050405020304" pitchFamily="18" charset="0"/>
              <a:ea typeface="游明朝" panose="02020400000000000000" pitchFamily="18" charset="-128"/>
            </a:endParaRPr>
          </a:p>
        </p:txBody>
      </p:sp>
      <p:sp>
        <p:nvSpPr>
          <p:cNvPr id="4" name="スライド番号プレースホルダー 3">
            <a:extLst>
              <a:ext uri="{FF2B5EF4-FFF2-40B4-BE49-F238E27FC236}">
                <a16:creationId xmlns:a16="http://schemas.microsoft.com/office/drawing/2014/main" id="{8590F60D-B373-5553-4211-05455460E237}"/>
              </a:ext>
            </a:extLst>
          </p:cNvPr>
          <p:cNvSpPr>
            <a:spLocks noGrp="1"/>
          </p:cNvSpPr>
          <p:nvPr>
            <p:ph type="sldNum" sz="quarter" idx="5"/>
          </p:nvPr>
        </p:nvSpPr>
        <p:spPr/>
        <p:txBody>
          <a:bodyPr/>
          <a:lstStyle/>
          <a:p>
            <a:fld id="{0844A318-3EA9-0145-BBB8-D89E578C6711}" type="slidenum">
              <a:rPr kumimoji="1" lang="ja-JP" altLang="en-US" smtClean="0"/>
              <a:t>4</a:t>
            </a:fld>
            <a:endParaRPr kumimoji="1" lang="ja-JP" altLang="en-US"/>
          </a:p>
        </p:txBody>
      </p:sp>
    </p:spTree>
    <p:extLst>
      <p:ext uri="{BB962C8B-B14F-4D97-AF65-F5344CB8AC3E}">
        <p14:creationId xmlns:p14="http://schemas.microsoft.com/office/powerpoint/2010/main" val="5198491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9A332D67-653C-D026-DE8D-2B7305F10BDA}"/>
              </a:ext>
            </a:extLst>
          </p:cNvPr>
          <p:cNvSpPr/>
          <p:nvPr userDrawn="1"/>
        </p:nvSpPr>
        <p:spPr>
          <a:xfrm>
            <a:off x="864000" y="720000"/>
            <a:ext cx="15609600" cy="8312400"/>
          </a:xfrm>
          <a:prstGeom prst="rect">
            <a:avLst/>
          </a:prstGeom>
          <a:solidFill>
            <a:schemeClr val="bg1"/>
          </a:solidFill>
          <a:ln w="254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864000" y="2160000"/>
            <a:ext cx="15609600" cy="4320000"/>
          </a:xfrm>
          <a:prstGeom prst="rect">
            <a:avLst/>
          </a:prstGeom>
        </p:spPr>
        <p:txBody>
          <a:bodyPr lIns="0" tIns="0" rIns="0" bIns="0" anchor="ctr" anchorCtr="0"/>
          <a:lstStyle>
            <a:lvl1pPr algn="ctr">
              <a:lnSpc>
                <a:spcPct val="120000"/>
              </a:lnSpc>
              <a:defRPr sz="6400">
                <a:latin typeface="HGPGothicE" panose="020B0900000000000000" pitchFamily="34" charset="-128"/>
                <a:ea typeface="HGPGothicE" panose="020B0900000000000000" pitchFamily="34" charset="-128"/>
              </a:defRPr>
            </a:lvl1pPr>
          </a:lstStyle>
          <a:p>
            <a:r>
              <a:rPr lang="ja-JP" altLang="en-US"/>
              <a:t>マスター タイトルの書式設定</a:t>
            </a:r>
            <a:endParaRPr lang="en-US" dirty="0"/>
          </a:p>
        </p:txBody>
      </p:sp>
    </p:spTree>
    <p:extLst>
      <p:ext uri="{BB962C8B-B14F-4D97-AF65-F5344CB8AC3E}">
        <p14:creationId xmlns:p14="http://schemas.microsoft.com/office/powerpoint/2010/main" val="1091802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本文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6000" y="0"/>
            <a:ext cx="16185600" cy="1872000"/>
          </a:xfrm>
          <a:prstGeom prst="rect">
            <a:avLst/>
          </a:prstGeom>
        </p:spPr>
        <p:txBody>
          <a:bodyPr lIns="0" tIns="0" rIns="0" bIns="0" anchor="ctr" anchorCtr="0"/>
          <a:lstStyle>
            <a:lvl1pPr>
              <a:lnSpc>
                <a:spcPct val="120000"/>
              </a:lnSpc>
              <a:defRPr sz="4000">
                <a:solidFill>
                  <a:schemeClr val="bg1"/>
                </a:solidFill>
                <a:latin typeface="HGPGothicE" panose="020B0900000000000000" pitchFamily="34" charset="-128"/>
                <a:ea typeface="HGPGothicE" panose="020B0900000000000000" pitchFamily="34" charset="-128"/>
              </a:defRPr>
            </a:lvl1pPr>
          </a:lstStyle>
          <a:p>
            <a:r>
              <a:rPr lang="ja-JP" altLang="en-US"/>
              <a:t>マスター タイトルの書式設定</a:t>
            </a:r>
            <a:endParaRPr lang="en-US" dirty="0"/>
          </a:p>
        </p:txBody>
      </p:sp>
      <p:sp>
        <p:nvSpPr>
          <p:cNvPr id="6" name="Slide Number Placeholder 5"/>
          <p:cNvSpPr>
            <a:spLocks noGrp="1"/>
          </p:cNvSpPr>
          <p:nvPr>
            <p:ph type="sldNum" sz="quarter" idx="12"/>
          </p:nvPr>
        </p:nvSpPr>
        <p:spPr>
          <a:xfrm>
            <a:off x="16603200" y="9162000"/>
            <a:ext cx="720000" cy="576000"/>
          </a:xfrm>
          <a:prstGeom prst="rect">
            <a:avLst/>
          </a:prstGeom>
        </p:spPr>
        <p:txBody>
          <a:bodyPr lIns="0" tIns="0" rIns="0" bIns="0" anchor="ctr" anchorCtr="0"/>
          <a:lstStyle>
            <a:lvl1pPr algn="ctr">
              <a:defRPr sz="3200">
                <a:solidFill>
                  <a:schemeClr val="bg2"/>
                </a:solidFill>
                <a:latin typeface="Arial" panose="020B0604020202020204" pitchFamily="34" charset="0"/>
                <a:cs typeface="Arial" panose="020B0604020202020204" pitchFamily="34" charset="0"/>
              </a:defRPr>
            </a:lvl1pPr>
          </a:lstStyle>
          <a:p>
            <a:fld id="{85D74467-FFC2-5C49-A08A-98A9FE9BCA53}" type="slidenum">
              <a:rPr kumimoji="1" lang="ja-JP" altLang="en-US" smtClean="0"/>
              <a:pPr/>
              <a:t>‹#›</a:t>
            </a:fld>
            <a:endParaRPr kumimoji="1" lang="ja-JP" altLang="en-US"/>
          </a:p>
        </p:txBody>
      </p:sp>
      <p:sp>
        <p:nvSpPr>
          <p:cNvPr id="8" name="テキスト プレースホルダー 7">
            <a:extLst>
              <a:ext uri="{FF2B5EF4-FFF2-40B4-BE49-F238E27FC236}">
                <a16:creationId xmlns:a16="http://schemas.microsoft.com/office/drawing/2014/main" id="{D6C6F80B-7395-6679-8453-1658443D5A46}"/>
              </a:ext>
            </a:extLst>
          </p:cNvPr>
          <p:cNvSpPr>
            <a:spLocks noGrp="1"/>
          </p:cNvSpPr>
          <p:nvPr>
            <p:ph type="body" sz="quarter" idx="13"/>
          </p:nvPr>
        </p:nvSpPr>
        <p:spPr>
          <a:xfrm>
            <a:off x="576000" y="2160000"/>
            <a:ext cx="16185600" cy="2760884"/>
          </a:xfrm>
          <a:prstGeom prst="rect">
            <a:avLst/>
          </a:prstGeom>
        </p:spPr>
        <p:txBody>
          <a:bodyPr lIns="0" tIns="0" rIns="0" bIns="0">
            <a:spAutoFit/>
          </a:bodyPr>
          <a:lstStyle>
            <a:lvl1pPr marL="360000" indent="-360000">
              <a:lnSpc>
                <a:spcPct val="120000"/>
              </a:lnSpc>
              <a:spcBef>
                <a:spcPts val="1500"/>
              </a:spcBef>
              <a:buSzPct val="75000"/>
              <a:buFont typeface="システムフォント（レギュラー）"/>
              <a:buChar char="▪"/>
              <a:defRPr sz="3600">
                <a:latin typeface="MS PGothic" panose="020B0600070205080204" pitchFamily="34" charset="-128"/>
                <a:ea typeface="MS PGothic" panose="020B0600070205080204" pitchFamily="34" charset="-128"/>
              </a:defRPr>
            </a:lvl1pPr>
            <a:lvl2pPr marL="810000" indent="-432000">
              <a:lnSpc>
                <a:spcPct val="120000"/>
              </a:lnSpc>
              <a:spcBef>
                <a:spcPts val="250"/>
              </a:spcBef>
              <a:spcAft>
                <a:spcPts val="500"/>
              </a:spcAft>
              <a:buFont typeface="システムフォント（レギュラー）"/>
              <a:buChar char="▸"/>
              <a:defRPr sz="3200">
                <a:latin typeface="MS PGothic" panose="020B0600070205080204" pitchFamily="34" charset="-128"/>
                <a:ea typeface="MS PGothic" panose="020B0600070205080204" pitchFamily="34" charset="-128"/>
              </a:defRPr>
            </a:lvl2pPr>
            <a:lvl3pPr marL="1170000" indent="-288000">
              <a:lnSpc>
                <a:spcPct val="120000"/>
              </a:lnSpc>
              <a:spcBef>
                <a:spcPts val="0"/>
              </a:spcBef>
              <a:spcAft>
                <a:spcPts val="500"/>
              </a:spcAft>
              <a:buSzPct val="125000"/>
              <a:buFont typeface="システムフォント（レギュラー）"/>
              <a:buChar char="-"/>
              <a:defRPr sz="2800">
                <a:latin typeface="MS PGothic" panose="020B0600070205080204" pitchFamily="34" charset="-128"/>
                <a:ea typeface="MS PGothic" panose="020B0600070205080204" pitchFamily="34" charset="-128"/>
              </a:defRPr>
            </a:lvl3pPr>
            <a:lvl4pPr marL="1440000" indent="-288000">
              <a:lnSpc>
                <a:spcPct val="120000"/>
              </a:lnSpc>
              <a:spcBef>
                <a:spcPts val="0"/>
              </a:spcBef>
              <a:spcAft>
                <a:spcPts val="250"/>
              </a:spcAft>
              <a:buSzPct val="125000"/>
              <a:buFont typeface="システムフォント（レギュラー）"/>
              <a:buChar char="-"/>
              <a:defRPr sz="2400">
                <a:latin typeface="MS PGothic" panose="020B0600070205080204" pitchFamily="34" charset="-128"/>
                <a:ea typeface="MS PGothic" panose="020B0600070205080204" pitchFamily="34" charset="-128"/>
              </a:defRPr>
            </a:lvl4pPr>
            <a:lvl5pPr marL="1620000" indent="-288000">
              <a:lnSpc>
                <a:spcPct val="120000"/>
              </a:lnSpc>
              <a:spcBef>
                <a:spcPts val="0"/>
              </a:spcBef>
              <a:buSzPct val="125000"/>
              <a:buFont typeface="システムフォント（レギュラー）"/>
              <a:buChar char="-"/>
              <a:defRPr sz="2000">
                <a:latin typeface="MS PGothic" panose="020B0600070205080204" pitchFamily="34" charset="-128"/>
                <a:ea typeface="MS PGothic" panose="020B060007020508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3" name="図 2">
            <a:extLst>
              <a:ext uri="{FF2B5EF4-FFF2-40B4-BE49-F238E27FC236}">
                <a16:creationId xmlns:a16="http://schemas.microsoft.com/office/drawing/2014/main" id="{FFEB269B-B2FB-12D4-E777-9EFA4AA4DDD4}"/>
              </a:ext>
            </a:extLst>
          </p:cNvPr>
          <p:cNvPicPr>
            <a:picLocks noChangeAspect="1"/>
          </p:cNvPicPr>
          <p:nvPr userDrawn="1"/>
        </p:nvPicPr>
        <p:blipFill rotWithShape="1">
          <a:blip r:embed="rId3"/>
          <a:srcRect l="9927" t="30922" r="77013" b="66348"/>
          <a:stretch/>
        </p:blipFill>
        <p:spPr>
          <a:xfrm>
            <a:off x="143999" y="9432000"/>
            <a:ext cx="790540" cy="234000"/>
          </a:xfrm>
          <a:prstGeom prst="rect">
            <a:avLst/>
          </a:prstGeom>
        </p:spPr>
      </p:pic>
    </p:spTree>
    <p:extLst>
      <p:ext uri="{BB962C8B-B14F-4D97-AF65-F5344CB8AC3E}">
        <p14:creationId xmlns:p14="http://schemas.microsoft.com/office/powerpoint/2010/main" val="412868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本文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6000" y="0"/>
            <a:ext cx="16185600" cy="1872000"/>
          </a:xfrm>
          <a:prstGeom prst="rect">
            <a:avLst/>
          </a:prstGeom>
        </p:spPr>
        <p:txBody>
          <a:bodyPr lIns="0" tIns="0" rIns="0" bIns="0" anchor="ctr" anchorCtr="0"/>
          <a:lstStyle>
            <a:lvl1pPr>
              <a:lnSpc>
                <a:spcPct val="120000"/>
              </a:lnSpc>
              <a:defRPr sz="4000">
                <a:solidFill>
                  <a:schemeClr val="bg1"/>
                </a:solidFill>
                <a:latin typeface="HGPGothicE" panose="020B0900000000000000" pitchFamily="34" charset="-128"/>
                <a:ea typeface="HGPGothicE" panose="020B0900000000000000" pitchFamily="34" charset="-128"/>
              </a:defRPr>
            </a:lvl1pPr>
          </a:lstStyle>
          <a:p>
            <a:r>
              <a:rPr lang="ja-JP" altLang="en-US"/>
              <a:t>マスター タイトルの書式設定</a:t>
            </a:r>
            <a:endParaRPr lang="en-US" dirty="0"/>
          </a:p>
        </p:txBody>
      </p:sp>
      <p:sp>
        <p:nvSpPr>
          <p:cNvPr id="6" name="Slide Number Placeholder 5"/>
          <p:cNvSpPr>
            <a:spLocks noGrp="1"/>
          </p:cNvSpPr>
          <p:nvPr>
            <p:ph type="sldNum" sz="quarter" idx="12"/>
          </p:nvPr>
        </p:nvSpPr>
        <p:spPr>
          <a:xfrm>
            <a:off x="16603200" y="9162000"/>
            <a:ext cx="720000" cy="576000"/>
          </a:xfrm>
          <a:prstGeom prst="rect">
            <a:avLst/>
          </a:prstGeom>
        </p:spPr>
        <p:txBody>
          <a:bodyPr lIns="0" tIns="0" rIns="0" bIns="0" anchor="ctr" anchorCtr="0"/>
          <a:lstStyle>
            <a:lvl1pPr algn="ctr">
              <a:defRPr sz="3200">
                <a:solidFill>
                  <a:schemeClr val="bg2"/>
                </a:solidFill>
                <a:latin typeface="Arial" panose="020B0604020202020204" pitchFamily="34" charset="0"/>
                <a:cs typeface="Arial" panose="020B0604020202020204" pitchFamily="34" charset="0"/>
              </a:defRPr>
            </a:lvl1pPr>
          </a:lstStyle>
          <a:p>
            <a:fld id="{85D74467-FFC2-5C49-A08A-98A9FE9BCA53}" type="slidenum">
              <a:rPr kumimoji="1" lang="ja-JP" altLang="en-US" smtClean="0"/>
              <a:pPr/>
              <a:t>‹#›</a:t>
            </a:fld>
            <a:endParaRPr kumimoji="1" lang="ja-JP" altLang="en-US"/>
          </a:p>
        </p:txBody>
      </p:sp>
      <p:sp>
        <p:nvSpPr>
          <p:cNvPr id="8" name="テキスト プレースホルダー 7">
            <a:extLst>
              <a:ext uri="{FF2B5EF4-FFF2-40B4-BE49-F238E27FC236}">
                <a16:creationId xmlns:a16="http://schemas.microsoft.com/office/drawing/2014/main" id="{27F61FA0-3B56-D191-998A-B54764359537}"/>
              </a:ext>
            </a:extLst>
          </p:cNvPr>
          <p:cNvSpPr>
            <a:spLocks noGrp="1"/>
          </p:cNvSpPr>
          <p:nvPr>
            <p:ph type="body" sz="quarter" idx="13"/>
          </p:nvPr>
        </p:nvSpPr>
        <p:spPr>
          <a:xfrm>
            <a:off x="576000" y="2160000"/>
            <a:ext cx="16185600" cy="2760884"/>
          </a:xfrm>
          <a:prstGeom prst="rect">
            <a:avLst/>
          </a:prstGeom>
        </p:spPr>
        <p:txBody>
          <a:bodyPr lIns="0" tIns="0" rIns="0" bIns="0">
            <a:spAutoFit/>
          </a:bodyPr>
          <a:lstStyle>
            <a:lvl1pPr marL="360000" indent="-360000">
              <a:lnSpc>
                <a:spcPct val="120000"/>
              </a:lnSpc>
              <a:spcBef>
                <a:spcPts val="2250"/>
              </a:spcBef>
              <a:buClr>
                <a:schemeClr val="tx1">
                  <a:lumMod val="25000"/>
                  <a:lumOff val="75000"/>
                </a:schemeClr>
              </a:buClr>
              <a:buSzPct val="125000"/>
              <a:buFont typeface="システムフォント（レギュラー）"/>
              <a:buChar char="▎"/>
              <a:defRPr sz="3600">
                <a:latin typeface="MS PGothic" panose="020B0600070205080204" pitchFamily="34" charset="-128"/>
                <a:ea typeface="MS PGothic" panose="020B0600070205080204" pitchFamily="34" charset="-128"/>
              </a:defRPr>
            </a:lvl1pPr>
            <a:lvl2pPr marL="900000" indent="-360000">
              <a:lnSpc>
                <a:spcPct val="120000"/>
              </a:lnSpc>
              <a:spcBef>
                <a:spcPts val="500"/>
              </a:spcBef>
              <a:spcAft>
                <a:spcPts val="250"/>
              </a:spcAft>
              <a:buSzPct val="75000"/>
              <a:buFont typeface="システムフォント（レギュラー）"/>
              <a:buChar char="▪"/>
              <a:defRPr sz="3200">
                <a:latin typeface="MS PGothic" panose="020B0600070205080204" pitchFamily="34" charset="-128"/>
                <a:ea typeface="MS PGothic" panose="020B0600070205080204" pitchFamily="34" charset="-128"/>
              </a:defRPr>
            </a:lvl2pPr>
            <a:lvl3pPr marL="1170000" indent="-360000">
              <a:lnSpc>
                <a:spcPct val="120000"/>
              </a:lnSpc>
              <a:spcBef>
                <a:spcPts val="0"/>
              </a:spcBef>
              <a:spcAft>
                <a:spcPts val="500"/>
              </a:spcAft>
              <a:buFont typeface="システムフォント（レギュラー）"/>
              <a:buChar char="▸"/>
              <a:defRPr sz="2800">
                <a:latin typeface="MS PGothic" panose="020B0600070205080204" pitchFamily="34" charset="-128"/>
                <a:ea typeface="MS PGothic" panose="020B0600070205080204" pitchFamily="34" charset="-128"/>
              </a:defRPr>
            </a:lvl3pPr>
            <a:lvl4pPr marL="1530000" indent="-288000">
              <a:lnSpc>
                <a:spcPct val="120000"/>
              </a:lnSpc>
              <a:spcBef>
                <a:spcPts val="0"/>
              </a:spcBef>
              <a:spcAft>
                <a:spcPts val="250"/>
              </a:spcAft>
              <a:buSzPct val="125000"/>
              <a:buFont typeface="システムフォント（レギュラー）"/>
              <a:buChar char="-"/>
              <a:defRPr sz="2400">
                <a:latin typeface="MS PGothic" panose="020B0600070205080204" pitchFamily="34" charset="-128"/>
                <a:ea typeface="MS PGothic" panose="020B0600070205080204" pitchFamily="34" charset="-128"/>
              </a:defRPr>
            </a:lvl4pPr>
            <a:lvl5pPr marL="1800000" indent="-288000">
              <a:lnSpc>
                <a:spcPct val="120000"/>
              </a:lnSpc>
              <a:spcBef>
                <a:spcPts val="0"/>
              </a:spcBef>
              <a:buSzPct val="125000"/>
              <a:buFont typeface="システムフォント（レギュラー）"/>
              <a:buChar char="-"/>
              <a:defRPr sz="2000">
                <a:latin typeface="MS PGothic" panose="020B0600070205080204" pitchFamily="34" charset="-128"/>
                <a:ea typeface="MS PGothic" panose="020B060007020508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3" name="図 2">
            <a:extLst>
              <a:ext uri="{FF2B5EF4-FFF2-40B4-BE49-F238E27FC236}">
                <a16:creationId xmlns:a16="http://schemas.microsoft.com/office/drawing/2014/main" id="{5C8FD22A-0221-C88D-AF25-4AE3D0D20E97}"/>
              </a:ext>
            </a:extLst>
          </p:cNvPr>
          <p:cNvPicPr>
            <a:picLocks noChangeAspect="1"/>
          </p:cNvPicPr>
          <p:nvPr userDrawn="1"/>
        </p:nvPicPr>
        <p:blipFill rotWithShape="1">
          <a:blip r:embed="rId3"/>
          <a:srcRect l="9927" t="30922" r="77013" b="66348"/>
          <a:stretch/>
        </p:blipFill>
        <p:spPr>
          <a:xfrm>
            <a:off x="143999" y="9432000"/>
            <a:ext cx="790540" cy="234000"/>
          </a:xfrm>
          <a:prstGeom prst="rect">
            <a:avLst/>
          </a:prstGeom>
        </p:spPr>
      </p:pic>
    </p:spTree>
    <p:extLst>
      <p:ext uri="{BB962C8B-B14F-4D97-AF65-F5344CB8AC3E}">
        <p14:creationId xmlns:p14="http://schemas.microsoft.com/office/powerpoint/2010/main" val="2031328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本文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6000" y="0"/>
            <a:ext cx="16185600" cy="1872000"/>
          </a:xfrm>
          <a:prstGeom prst="rect">
            <a:avLst/>
          </a:prstGeom>
        </p:spPr>
        <p:txBody>
          <a:bodyPr lIns="0" tIns="0" rIns="0" bIns="0" anchor="ctr" anchorCtr="0"/>
          <a:lstStyle>
            <a:lvl1pPr>
              <a:lnSpc>
                <a:spcPct val="120000"/>
              </a:lnSpc>
              <a:defRPr sz="4000">
                <a:solidFill>
                  <a:schemeClr val="bg1"/>
                </a:solidFill>
                <a:latin typeface="HGPGothicE" panose="020B0900000000000000" pitchFamily="34" charset="-128"/>
                <a:ea typeface="HGPGothicE" panose="020B0900000000000000" pitchFamily="34" charset="-128"/>
              </a:defRPr>
            </a:lvl1pPr>
          </a:lstStyle>
          <a:p>
            <a:r>
              <a:rPr lang="ja-JP" altLang="en-US"/>
              <a:t>マスター タイトルの書式設定</a:t>
            </a:r>
            <a:endParaRPr lang="en-US" dirty="0"/>
          </a:p>
        </p:txBody>
      </p:sp>
      <p:sp>
        <p:nvSpPr>
          <p:cNvPr id="5" name="Slide Number Placeholder 4"/>
          <p:cNvSpPr>
            <a:spLocks noGrp="1"/>
          </p:cNvSpPr>
          <p:nvPr>
            <p:ph type="sldNum" sz="quarter" idx="12"/>
          </p:nvPr>
        </p:nvSpPr>
        <p:spPr>
          <a:xfrm>
            <a:off x="16603200" y="9162000"/>
            <a:ext cx="720000" cy="576000"/>
          </a:xfrm>
          <a:prstGeom prst="rect">
            <a:avLst/>
          </a:prstGeom>
        </p:spPr>
        <p:txBody>
          <a:bodyPr lIns="0" tIns="0" rIns="0" bIns="0" anchor="ctr" anchorCtr="0"/>
          <a:lstStyle>
            <a:lvl1pPr algn="ctr">
              <a:defRPr sz="3200">
                <a:solidFill>
                  <a:schemeClr val="bg2"/>
                </a:solidFill>
                <a:latin typeface="Arial" panose="020B0604020202020204" pitchFamily="34" charset="0"/>
                <a:cs typeface="Arial" panose="020B0604020202020204" pitchFamily="34" charset="0"/>
              </a:defRPr>
            </a:lvl1pPr>
          </a:lstStyle>
          <a:p>
            <a:fld id="{85D74467-FFC2-5C49-A08A-98A9FE9BCA53}" type="slidenum">
              <a:rPr kumimoji="1" lang="ja-JP" altLang="en-US" smtClean="0"/>
              <a:pPr/>
              <a:t>‹#›</a:t>
            </a:fld>
            <a:endParaRPr kumimoji="1" lang="ja-JP" altLang="en-US"/>
          </a:p>
        </p:txBody>
      </p:sp>
      <p:pic>
        <p:nvPicPr>
          <p:cNvPr id="3" name="図 2">
            <a:extLst>
              <a:ext uri="{FF2B5EF4-FFF2-40B4-BE49-F238E27FC236}">
                <a16:creationId xmlns:a16="http://schemas.microsoft.com/office/drawing/2014/main" id="{9FFF0764-9835-3EC4-90CB-6AEDDD8CF163}"/>
              </a:ext>
            </a:extLst>
          </p:cNvPr>
          <p:cNvPicPr>
            <a:picLocks noChangeAspect="1"/>
          </p:cNvPicPr>
          <p:nvPr userDrawn="1"/>
        </p:nvPicPr>
        <p:blipFill rotWithShape="1">
          <a:blip r:embed="rId3"/>
          <a:srcRect l="9927" t="30922" r="77013" b="66348"/>
          <a:stretch/>
        </p:blipFill>
        <p:spPr>
          <a:xfrm>
            <a:off x="143999" y="9432000"/>
            <a:ext cx="790540" cy="234000"/>
          </a:xfrm>
          <a:prstGeom prst="rect">
            <a:avLst/>
          </a:prstGeom>
        </p:spPr>
      </p:pic>
    </p:spTree>
    <p:extLst>
      <p:ext uri="{BB962C8B-B14F-4D97-AF65-F5344CB8AC3E}">
        <p14:creationId xmlns:p14="http://schemas.microsoft.com/office/powerpoint/2010/main" val="6631325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81374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6" r:id="rId4"/>
  </p:sldLayoutIdLst>
  <p:hf hdr="0" ftr="0" dt="0"/>
  <p:txStyles>
    <p:titleStyle>
      <a:lvl1pPr algn="l" defTabSz="1300277" rtl="0" eaLnBrk="1" latinLnBrk="0" hangingPunct="1">
        <a:lnSpc>
          <a:spcPct val="90000"/>
        </a:lnSpc>
        <a:spcBef>
          <a:spcPct val="0"/>
        </a:spcBef>
        <a:buNone/>
        <a:defRPr kumimoji="1" sz="6257" kern="1200">
          <a:solidFill>
            <a:schemeClr val="tx1"/>
          </a:solidFill>
          <a:latin typeface="+mj-lt"/>
          <a:ea typeface="+mj-ea"/>
          <a:cs typeface="+mj-cs"/>
        </a:defRPr>
      </a:lvl1pPr>
    </p:titleStyle>
    <p:bodyStyle>
      <a:lvl1pPr marL="325069" indent="-325069" algn="l" defTabSz="1300277" rtl="0" eaLnBrk="1" latinLnBrk="0" hangingPunct="1">
        <a:lnSpc>
          <a:spcPct val="90000"/>
        </a:lnSpc>
        <a:spcBef>
          <a:spcPts val="1422"/>
        </a:spcBef>
        <a:buFont typeface="Arial" panose="020B0604020202020204" pitchFamily="34" charset="0"/>
        <a:buChar char="•"/>
        <a:defRPr kumimoji="1" sz="3982" kern="1200">
          <a:solidFill>
            <a:schemeClr val="tx1"/>
          </a:solidFill>
          <a:latin typeface="+mn-lt"/>
          <a:ea typeface="+mn-ea"/>
          <a:cs typeface="+mn-cs"/>
        </a:defRPr>
      </a:lvl1pPr>
      <a:lvl2pPr marL="975208" indent="-325069" algn="l" defTabSz="1300277" rtl="0" eaLnBrk="1" latinLnBrk="0" hangingPunct="1">
        <a:lnSpc>
          <a:spcPct val="90000"/>
        </a:lnSpc>
        <a:spcBef>
          <a:spcPts val="711"/>
        </a:spcBef>
        <a:buFont typeface="Arial" panose="020B0604020202020204" pitchFamily="34" charset="0"/>
        <a:buChar char="•"/>
        <a:defRPr kumimoji="1" sz="3413" kern="1200">
          <a:solidFill>
            <a:schemeClr val="tx1"/>
          </a:solidFill>
          <a:latin typeface="+mn-lt"/>
          <a:ea typeface="+mn-ea"/>
          <a:cs typeface="+mn-cs"/>
        </a:defRPr>
      </a:lvl2pPr>
      <a:lvl3pPr marL="1625346" indent="-325069" algn="l" defTabSz="1300277" rtl="0" eaLnBrk="1" latinLnBrk="0" hangingPunct="1">
        <a:lnSpc>
          <a:spcPct val="90000"/>
        </a:lnSpc>
        <a:spcBef>
          <a:spcPts val="711"/>
        </a:spcBef>
        <a:buFont typeface="Arial" panose="020B0604020202020204" pitchFamily="34" charset="0"/>
        <a:buChar char="•"/>
        <a:defRPr kumimoji="1" sz="2844" kern="1200">
          <a:solidFill>
            <a:schemeClr val="tx1"/>
          </a:solidFill>
          <a:latin typeface="+mn-lt"/>
          <a:ea typeface="+mn-ea"/>
          <a:cs typeface="+mn-cs"/>
        </a:defRPr>
      </a:lvl3pPr>
      <a:lvl4pPr marL="2275484"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4pPr>
      <a:lvl5pPr marL="2925623"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kumimoji="1" sz="2560" kern="1200">
          <a:solidFill>
            <a:schemeClr val="tx1"/>
          </a:solidFill>
          <a:latin typeface="+mn-lt"/>
          <a:ea typeface="+mn-ea"/>
          <a:cs typeface="+mn-cs"/>
        </a:defRPr>
      </a:lvl9pPr>
    </p:bodyStyle>
    <p:otherStyle>
      <a:defPPr>
        <a:defRPr lang="en-US"/>
      </a:defPPr>
      <a:lvl1pPr marL="0" algn="l" defTabSz="1300277" rtl="0" eaLnBrk="1" latinLnBrk="0" hangingPunct="1">
        <a:defRPr kumimoji="1" sz="2560" kern="1200">
          <a:solidFill>
            <a:schemeClr val="tx1"/>
          </a:solidFill>
          <a:latin typeface="+mn-lt"/>
          <a:ea typeface="+mn-ea"/>
          <a:cs typeface="+mn-cs"/>
        </a:defRPr>
      </a:lvl1pPr>
      <a:lvl2pPr marL="650138" algn="l" defTabSz="1300277" rtl="0" eaLnBrk="1" latinLnBrk="0" hangingPunct="1">
        <a:defRPr kumimoji="1" sz="2560" kern="1200">
          <a:solidFill>
            <a:schemeClr val="tx1"/>
          </a:solidFill>
          <a:latin typeface="+mn-lt"/>
          <a:ea typeface="+mn-ea"/>
          <a:cs typeface="+mn-cs"/>
        </a:defRPr>
      </a:lvl2pPr>
      <a:lvl3pPr marL="1300277" algn="l" defTabSz="1300277" rtl="0" eaLnBrk="1" latinLnBrk="0" hangingPunct="1">
        <a:defRPr kumimoji="1" sz="2560" kern="1200">
          <a:solidFill>
            <a:schemeClr val="tx1"/>
          </a:solidFill>
          <a:latin typeface="+mn-lt"/>
          <a:ea typeface="+mn-ea"/>
          <a:cs typeface="+mn-cs"/>
        </a:defRPr>
      </a:lvl3pPr>
      <a:lvl4pPr marL="1950415" algn="l" defTabSz="1300277" rtl="0" eaLnBrk="1" latinLnBrk="0" hangingPunct="1">
        <a:defRPr kumimoji="1" sz="2560" kern="1200">
          <a:solidFill>
            <a:schemeClr val="tx1"/>
          </a:solidFill>
          <a:latin typeface="+mn-lt"/>
          <a:ea typeface="+mn-ea"/>
          <a:cs typeface="+mn-cs"/>
        </a:defRPr>
      </a:lvl4pPr>
      <a:lvl5pPr marL="2600554" algn="l" defTabSz="1300277" rtl="0" eaLnBrk="1" latinLnBrk="0" hangingPunct="1">
        <a:defRPr kumimoji="1" sz="2560" kern="1200">
          <a:solidFill>
            <a:schemeClr val="tx1"/>
          </a:solidFill>
          <a:latin typeface="+mn-lt"/>
          <a:ea typeface="+mn-ea"/>
          <a:cs typeface="+mn-cs"/>
        </a:defRPr>
      </a:lvl5pPr>
      <a:lvl6pPr marL="3250692" algn="l" defTabSz="1300277" rtl="0" eaLnBrk="1" latinLnBrk="0" hangingPunct="1">
        <a:defRPr kumimoji="1" sz="2560" kern="1200">
          <a:solidFill>
            <a:schemeClr val="tx1"/>
          </a:solidFill>
          <a:latin typeface="+mn-lt"/>
          <a:ea typeface="+mn-ea"/>
          <a:cs typeface="+mn-cs"/>
        </a:defRPr>
      </a:lvl6pPr>
      <a:lvl7pPr marL="3900830" algn="l" defTabSz="1300277" rtl="0" eaLnBrk="1" latinLnBrk="0" hangingPunct="1">
        <a:defRPr kumimoji="1" sz="2560" kern="1200">
          <a:solidFill>
            <a:schemeClr val="tx1"/>
          </a:solidFill>
          <a:latin typeface="+mn-lt"/>
          <a:ea typeface="+mn-ea"/>
          <a:cs typeface="+mn-cs"/>
        </a:defRPr>
      </a:lvl7pPr>
      <a:lvl8pPr marL="4550969" algn="l" defTabSz="1300277" rtl="0" eaLnBrk="1" latinLnBrk="0" hangingPunct="1">
        <a:defRPr kumimoji="1" sz="2560" kern="1200">
          <a:solidFill>
            <a:schemeClr val="tx1"/>
          </a:solidFill>
          <a:latin typeface="+mn-lt"/>
          <a:ea typeface="+mn-ea"/>
          <a:cs typeface="+mn-cs"/>
        </a:defRPr>
      </a:lvl8pPr>
      <a:lvl9pPr marL="5201107" algn="l" defTabSz="1300277" rtl="0" eaLnBrk="1" latinLnBrk="0" hangingPunct="1">
        <a:defRPr kumimoji="1"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microsoft.com/office/2007/relationships/hdphoto" Target="../media/hdphoto2.wdp"/><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microsoft.com/office/2007/relationships/hdphoto" Target="../media/hdphoto2.wdp"/><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microsoft.com/office/2007/relationships/hdphoto" Target="../media/hdphoto2.wdp"/><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B1C3A-127C-F27B-A867-4972B302F475}"/>
            </a:ext>
          </a:extLst>
        </p:cNvPr>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3FF13632-9E73-03D2-481D-28179F5C2C15}"/>
              </a:ext>
            </a:extLst>
          </p:cNvPr>
          <p:cNvSpPr/>
          <p:nvPr/>
        </p:nvSpPr>
        <p:spPr>
          <a:xfrm>
            <a:off x="0" y="9336937"/>
            <a:ext cx="16603199" cy="410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9EB59D1B-4CAB-8A11-B010-49E41E30574B}"/>
              </a:ext>
            </a:extLst>
          </p:cNvPr>
          <p:cNvSpPr/>
          <p:nvPr/>
        </p:nvSpPr>
        <p:spPr>
          <a:xfrm>
            <a:off x="0" y="-1"/>
            <a:ext cx="17337088" cy="19316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38D91249-5730-EB8E-BC40-36F3FAB8F8D7}"/>
              </a:ext>
            </a:extLst>
          </p:cNvPr>
          <p:cNvGrpSpPr/>
          <p:nvPr/>
        </p:nvGrpSpPr>
        <p:grpSpPr>
          <a:xfrm>
            <a:off x="-847138" y="244362"/>
            <a:ext cx="9659635" cy="4753784"/>
            <a:chOff x="-463951" y="1996735"/>
            <a:chExt cx="10444047" cy="5139816"/>
          </a:xfrm>
        </p:grpSpPr>
        <p:grpSp>
          <p:nvGrpSpPr>
            <p:cNvPr id="22" name="グループ化 21">
              <a:extLst>
                <a:ext uri="{FF2B5EF4-FFF2-40B4-BE49-F238E27FC236}">
                  <a16:creationId xmlns:a16="http://schemas.microsoft.com/office/drawing/2014/main" id="{3629A2D7-9836-6F27-EDC9-5FD7C34731FF}"/>
                </a:ext>
              </a:extLst>
            </p:cNvPr>
            <p:cNvGrpSpPr/>
            <p:nvPr/>
          </p:nvGrpSpPr>
          <p:grpSpPr>
            <a:xfrm>
              <a:off x="-27730" y="1996735"/>
              <a:ext cx="8520551" cy="5139816"/>
              <a:chOff x="236464" y="2091902"/>
              <a:chExt cx="8018542" cy="4836991"/>
            </a:xfrm>
          </p:grpSpPr>
          <p:pic>
            <p:nvPicPr>
              <p:cNvPr id="6" name="図 5">
                <a:extLst>
                  <a:ext uri="{FF2B5EF4-FFF2-40B4-BE49-F238E27FC236}">
                    <a16:creationId xmlns:a16="http://schemas.microsoft.com/office/drawing/2014/main" id="{9FDA294F-510C-4502-52D0-2755C1D30BF0}"/>
                  </a:ext>
                </a:extLst>
              </p:cNvPr>
              <p:cNvPicPr>
                <a:picLocks noChangeAspect="1"/>
              </p:cNvPicPr>
              <p:nvPr/>
            </p:nvPicPr>
            <p:blipFill>
              <a:blip r:embed="rId3"/>
              <a:stretch>
                <a:fillRect/>
              </a:stretch>
            </p:blipFill>
            <p:spPr>
              <a:xfrm>
                <a:off x="236464" y="2091902"/>
                <a:ext cx="8018542" cy="4836991"/>
              </a:xfrm>
              <a:prstGeom prst="rect">
                <a:avLst/>
              </a:prstGeom>
              <a:noFill/>
            </p:spPr>
          </p:pic>
          <p:grpSp>
            <p:nvGrpSpPr>
              <p:cNvPr id="21" name="グループ化 20">
                <a:extLst>
                  <a:ext uri="{FF2B5EF4-FFF2-40B4-BE49-F238E27FC236}">
                    <a16:creationId xmlns:a16="http://schemas.microsoft.com/office/drawing/2014/main" id="{057495D7-A62E-ECB2-F8C8-D01862341191}"/>
                  </a:ext>
                </a:extLst>
              </p:cNvPr>
              <p:cNvGrpSpPr/>
              <p:nvPr/>
            </p:nvGrpSpPr>
            <p:grpSpPr>
              <a:xfrm>
                <a:off x="236464" y="2377439"/>
                <a:ext cx="7897342" cy="4267201"/>
                <a:chOff x="236464" y="2377439"/>
                <a:chExt cx="7897342" cy="4267201"/>
              </a:xfrm>
            </p:grpSpPr>
            <p:sp>
              <p:nvSpPr>
                <p:cNvPr id="8" name="正方形/長方形 7">
                  <a:extLst>
                    <a:ext uri="{FF2B5EF4-FFF2-40B4-BE49-F238E27FC236}">
                      <a16:creationId xmlns:a16="http://schemas.microsoft.com/office/drawing/2014/main" id="{A23DFF5B-C997-9D1F-5AEE-F04B0BB766C2}"/>
                    </a:ext>
                  </a:extLst>
                </p:cNvPr>
                <p:cNvSpPr/>
                <p:nvPr/>
              </p:nvSpPr>
              <p:spPr>
                <a:xfrm>
                  <a:off x="236464" y="2377440"/>
                  <a:ext cx="2524153"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48A27C39-34A1-A3AA-2738-35917F3C704A}"/>
                    </a:ext>
                  </a:extLst>
                </p:cNvPr>
                <p:cNvSpPr/>
                <p:nvPr/>
              </p:nvSpPr>
              <p:spPr>
                <a:xfrm>
                  <a:off x="6148251" y="2377439"/>
                  <a:ext cx="1854207"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26FC375E-3DA0-F49E-556D-877A22E12802}"/>
                    </a:ext>
                  </a:extLst>
                </p:cNvPr>
                <p:cNvSpPr/>
                <p:nvPr/>
              </p:nvSpPr>
              <p:spPr>
                <a:xfrm>
                  <a:off x="6148251" y="6196148"/>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6E41A9A2-3D61-5B95-3C9D-52AC5776F331}"/>
                    </a:ext>
                  </a:extLst>
                </p:cNvPr>
                <p:cNvSpPr/>
                <p:nvPr/>
              </p:nvSpPr>
              <p:spPr>
                <a:xfrm>
                  <a:off x="1206802" y="6209211"/>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7" name="テキスト ボックス 6">
              <a:extLst>
                <a:ext uri="{FF2B5EF4-FFF2-40B4-BE49-F238E27FC236}">
                  <a16:creationId xmlns:a16="http://schemas.microsoft.com/office/drawing/2014/main" id="{A25FEF9A-69ED-8E24-576B-78FB25B67471}"/>
                </a:ext>
              </a:extLst>
            </p:cNvPr>
            <p:cNvSpPr txBox="1"/>
            <p:nvPr/>
          </p:nvSpPr>
          <p:spPr>
            <a:xfrm>
              <a:off x="-463951" y="2177550"/>
              <a:ext cx="4494903"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他プロジェクト</a:t>
              </a:r>
              <a:endParaRPr kumimoji="1" lang="en-US" altLang="ja-JP" sz="2000" dirty="0">
                <a:solidFill>
                  <a:srgbClr val="E05C49"/>
                </a:solidFill>
              </a:endParaRPr>
            </a:p>
            <a:p>
              <a:pPr algn="ctr"/>
              <a:r>
                <a:rPr kumimoji="1" lang="ja-JP" altLang="en-US" sz="2000">
                  <a:solidFill>
                    <a:srgbClr val="E05C49"/>
                  </a:solidFill>
                </a:rPr>
                <a:t>経験者（</a:t>
              </a:r>
              <a:r>
                <a:rPr kumimoji="1" lang="en-US" altLang="ja-JP" sz="2000" dirty="0">
                  <a:solidFill>
                    <a:srgbClr val="E05C49"/>
                  </a:solidFill>
                </a:rPr>
                <a:t>n=1,284</a:t>
              </a:r>
              <a:r>
                <a:rPr kumimoji="1" lang="ja-JP" altLang="en-US" sz="2000">
                  <a:solidFill>
                    <a:srgbClr val="E05C49"/>
                  </a:solidFill>
                </a:rPr>
                <a:t>）</a:t>
              </a:r>
            </a:p>
          </p:txBody>
        </p:sp>
        <p:sp>
          <p:nvSpPr>
            <p:cNvPr id="9" name="テキスト ボックス 8">
              <a:extLst>
                <a:ext uri="{FF2B5EF4-FFF2-40B4-BE49-F238E27FC236}">
                  <a16:creationId xmlns:a16="http://schemas.microsoft.com/office/drawing/2014/main" id="{B0360C29-69F4-ADFF-2C98-B7FF51F5A29C}"/>
                </a:ext>
              </a:extLst>
            </p:cNvPr>
            <p:cNvSpPr txBox="1"/>
            <p:nvPr/>
          </p:nvSpPr>
          <p:spPr>
            <a:xfrm>
              <a:off x="5485193" y="2260194"/>
              <a:ext cx="4494903" cy="400110"/>
            </a:xfrm>
            <a:prstGeom prst="rect">
              <a:avLst/>
            </a:prstGeom>
            <a:noFill/>
          </p:spPr>
          <p:txBody>
            <a:bodyPr wrap="square" rtlCol="0">
              <a:spAutoFit/>
            </a:bodyPr>
            <a:lstStyle/>
            <a:p>
              <a:r>
                <a:rPr kumimoji="1" lang="en-US" altLang="ja-JP" sz="2000" dirty="0">
                  <a:solidFill>
                    <a:srgbClr val="8CD3E3"/>
                  </a:solidFill>
                </a:rPr>
                <a:t>P2:</a:t>
              </a:r>
              <a:r>
                <a:rPr kumimoji="1" lang="ja-JP" altLang="en-US" sz="2000">
                  <a:solidFill>
                    <a:srgbClr val="8CD3E3"/>
                  </a:solidFill>
                </a:rPr>
                <a:t>関与低下型（</a:t>
              </a:r>
              <a:r>
                <a:rPr kumimoji="1" lang="en-US" altLang="ja-JP" sz="2000" dirty="0">
                  <a:solidFill>
                    <a:srgbClr val="8CD3E3"/>
                  </a:solidFill>
                </a:rPr>
                <a:t>n=928</a:t>
              </a:r>
              <a:r>
                <a:rPr kumimoji="1" lang="ja-JP" altLang="en-US" sz="2000">
                  <a:solidFill>
                    <a:srgbClr val="8CD3E3"/>
                  </a:solidFill>
                </a:rPr>
                <a:t>）</a:t>
              </a:r>
            </a:p>
          </p:txBody>
        </p:sp>
        <p:sp>
          <p:nvSpPr>
            <p:cNvPr id="10" name="テキスト ボックス 9">
              <a:extLst>
                <a:ext uri="{FF2B5EF4-FFF2-40B4-BE49-F238E27FC236}">
                  <a16:creationId xmlns:a16="http://schemas.microsoft.com/office/drawing/2014/main" id="{06E9BBF2-6149-72CD-5122-857DFAF87985}"/>
                </a:ext>
              </a:extLst>
            </p:cNvPr>
            <p:cNvSpPr txBox="1"/>
            <p:nvPr/>
          </p:nvSpPr>
          <p:spPr>
            <a:xfrm>
              <a:off x="658735" y="6371812"/>
              <a:ext cx="4494903" cy="400110"/>
            </a:xfrm>
            <a:prstGeom prst="rect">
              <a:avLst/>
            </a:prstGeom>
            <a:noFill/>
          </p:spPr>
          <p:txBody>
            <a:bodyPr wrap="square" rtlCol="0">
              <a:spAutoFit/>
            </a:bodyPr>
            <a:lstStyle/>
            <a:p>
              <a:r>
                <a:rPr kumimoji="1" lang="en-US" altLang="ja-JP" sz="2000" dirty="0">
                  <a:solidFill>
                    <a:srgbClr val="35B3A0"/>
                  </a:solidFill>
                </a:rPr>
                <a:t>P3:</a:t>
              </a:r>
              <a:r>
                <a:rPr kumimoji="1" lang="ja-JP" altLang="en-US" sz="2000">
                  <a:solidFill>
                    <a:srgbClr val="35B3A0"/>
                  </a:solidFill>
                </a:rPr>
                <a:t>高承諾型（</a:t>
              </a:r>
              <a:r>
                <a:rPr kumimoji="1" lang="en-US" altLang="ja-JP" sz="2000" dirty="0">
                  <a:solidFill>
                    <a:srgbClr val="35B3A0"/>
                  </a:solidFill>
                </a:rPr>
                <a:t>n=539</a:t>
              </a:r>
              <a:r>
                <a:rPr kumimoji="1" lang="ja-JP" altLang="en-US" sz="2000">
                  <a:solidFill>
                    <a:srgbClr val="35B3A0"/>
                  </a:solidFill>
                </a:rPr>
                <a:t>）</a:t>
              </a:r>
            </a:p>
          </p:txBody>
        </p:sp>
        <p:sp>
          <p:nvSpPr>
            <p:cNvPr id="13" name="テキスト ボックス 12">
              <a:extLst>
                <a:ext uri="{FF2B5EF4-FFF2-40B4-BE49-F238E27FC236}">
                  <a16:creationId xmlns:a16="http://schemas.microsoft.com/office/drawing/2014/main" id="{11C1B7B2-D479-93AA-9448-A62A7E1BFFBC}"/>
                </a:ext>
              </a:extLst>
            </p:cNvPr>
            <p:cNvSpPr txBox="1"/>
            <p:nvPr/>
          </p:nvSpPr>
          <p:spPr>
            <a:xfrm>
              <a:off x="4883381" y="6371812"/>
              <a:ext cx="4494903" cy="400110"/>
            </a:xfrm>
            <a:prstGeom prst="rect">
              <a:avLst/>
            </a:prstGeom>
            <a:noFill/>
          </p:spPr>
          <p:txBody>
            <a:bodyPr wrap="square" rtlCol="0">
              <a:spAutoFit/>
            </a:bodyPr>
            <a:lstStyle/>
            <a:p>
              <a:r>
                <a:rPr kumimoji="1" lang="en-US" altLang="ja-JP" sz="2000" dirty="0">
                  <a:solidFill>
                    <a:srgbClr val="F2977A"/>
                  </a:solidFill>
                </a:rPr>
                <a:t>P4:</a:t>
              </a:r>
              <a:r>
                <a:rPr kumimoji="1" lang="ja-JP" altLang="en-US" sz="2000">
                  <a:solidFill>
                    <a:srgbClr val="F2977A"/>
                  </a:solidFill>
                </a:rPr>
                <a:t>低活動・低承諾型（</a:t>
              </a:r>
              <a:r>
                <a:rPr kumimoji="1" lang="en-US" altLang="ja-JP" sz="2000" dirty="0">
                  <a:solidFill>
                    <a:srgbClr val="F2977A"/>
                  </a:solidFill>
                </a:rPr>
                <a:t>n=926</a:t>
              </a:r>
              <a:r>
                <a:rPr kumimoji="1" lang="ja-JP" altLang="en-US" sz="2000">
                  <a:solidFill>
                    <a:srgbClr val="F2977A"/>
                  </a:solidFill>
                </a:rPr>
                <a:t>）</a:t>
              </a:r>
            </a:p>
          </p:txBody>
        </p:sp>
      </p:grpSp>
      <p:sp>
        <p:nvSpPr>
          <p:cNvPr id="11" name="正方形/長方形 10">
            <a:extLst>
              <a:ext uri="{FF2B5EF4-FFF2-40B4-BE49-F238E27FC236}">
                <a16:creationId xmlns:a16="http://schemas.microsoft.com/office/drawing/2014/main" id="{2ABE28B0-173B-07E2-147D-DAD699548CB0}"/>
              </a:ext>
            </a:extLst>
          </p:cNvPr>
          <p:cNvSpPr/>
          <p:nvPr/>
        </p:nvSpPr>
        <p:spPr>
          <a:xfrm>
            <a:off x="8301599" y="3429062"/>
            <a:ext cx="8013195" cy="1316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tx1"/>
                </a:solidFill>
              </a:rPr>
              <a:t>IRL</a:t>
            </a:r>
            <a:r>
              <a:rPr kumimoji="1" lang="ja-JP" altLang="en-US" sz="2800">
                <a:solidFill>
                  <a:schemeClr val="tx1"/>
                </a:solidFill>
              </a:rPr>
              <a:t>が他ディレクトリの活動状況を活用</a:t>
            </a:r>
            <a:endParaRPr kumimoji="1" lang="en-US" altLang="ja-JP" sz="2800" dirty="0">
              <a:solidFill>
                <a:schemeClr val="tx1"/>
              </a:solidFill>
            </a:endParaRPr>
          </a:p>
          <a:p>
            <a:pPr algn="ctr"/>
            <a:r>
              <a:rPr kumimoji="1" lang="ja-JP" altLang="en-US" sz="2400">
                <a:solidFill>
                  <a:schemeClr val="tx1">
                    <a:lumMod val="75000"/>
                    <a:lumOff val="25000"/>
                  </a:schemeClr>
                </a:solidFill>
              </a:rPr>
              <a:t>後半になると活動状況の影響が弱まることが示唆</a:t>
            </a:r>
            <a:endParaRPr kumimoji="1" lang="en-US" altLang="ja-JP" sz="2400" dirty="0">
              <a:solidFill>
                <a:schemeClr val="tx1">
                  <a:lumMod val="75000"/>
                  <a:lumOff val="25000"/>
                </a:schemeClr>
              </a:solidFill>
            </a:endParaRPr>
          </a:p>
        </p:txBody>
      </p:sp>
      <p:sp>
        <p:nvSpPr>
          <p:cNvPr id="67" name="角丸四角形 66">
            <a:extLst>
              <a:ext uri="{FF2B5EF4-FFF2-40B4-BE49-F238E27FC236}">
                <a16:creationId xmlns:a16="http://schemas.microsoft.com/office/drawing/2014/main" id="{A72F0709-D7A9-7162-26AD-318F360C1454}"/>
              </a:ext>
            </a:extLst>
          </p:cNvPr>
          <p:cNvSpPr/>
          <p:nvPr/>
        </p:nvSpPr>
        <p:spPr>
          <a:xfrm>
            <a:off x="7556201" y="568603"/>
            <a:ext cx="9493549" cy="4376945"/>
          </a:xfrm>
          <a:prstGeom prst="roundRect">
            <a:avLst/>
          </a:prstGeom>
          <a:no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角丸四角形 69">
            <a:extLst>
              <a:ext uri="{FF2B5EF4-FFF2-40B4-BE49-F238E27FC236}">
                <a16:creationId xmlns:a16="http://schemas.microsoft.com/office/drawing/2014/main" id="{F22F4836-D565-076C-8679-894B9A8A9734}"/>
              </a:ext>
            </a:extLst>
          </p:cNvPr>
          <p:cNvSpPr/>
          <p:nvPr/>
        </p:nvSpPr>
        <p:spPr>
          <a:xfrm>
            <a:off x="8004777" y="187154"/>
            <a:ext cx="7813979" cy="689751"/>
          </a:xfrm>
          <a:prstGeom prst="roundRect">
            <a:avLst/>
          </a:prstGeom>
          <a:solidFill>
            <a:schemeClr val="bg1"/>
          </a:solid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 name="スライド番号プレースホルダー 2">
            <a:extLst>
              <a:ext uri="{FF2B5EF4-FFF2-40B4-BE49-F238E27FC236}">
                <a16:creationId xmlns:a16="http://schemas.microsoft.com/office/drawing/2014/main" id="{56067865-D0BC-AEF9-7399-2579D7F197F9}"/>
              </a:ext>
            </a:extLst>
          </p:cNvPr>
          <p:cNvSpPr>
            <a:spLocks noGrp="1"/>
          </p:cNvSpPr>
          <p:nvPr>
            <p:ph type="sldNum" sz="quarter" idx="12"/>
          </p:nvPr>
        </p:nvSpPr>
        <p:spPr/>
        <p:txBody>
          <a:bodyPr/>
          <a:lstStyle/>
          <a:p>
            <a:fld id="{85D74467-FFC2-5C49-A08A-98A9FE9BCA53}" type="slidenum">
              <a:rPr kumimoji="1" lang="ja-JP" altLang="en-US" smtClean="0"/>
              <a:pPr/>
              <a:t>1</a:t>
            </a:fld>
            <a:endParaRPr kumimoji="1" lang="ja-JP" altLang="en-US"/>
          </a:p>
        </p:txBody>
      </p:sp>
      <p:sp>
        <p:nvSpPr>
          <p:cNvPr id="83" name="Text 9">
            <a:extLst>
              <a:ext uri="{FF2B5EF4-FFF2-40B4-BE49-F238E27FC236}">
                <a16:creationId xmlns:a16="http://schemas.microsoft.com/office/drawing/2014/main" id="{47D4CE8A-4C08-A816-D5F6-594D78FDF9AD}"/>
              </a:ext>
            </a:extLst>
          </p:cNvPr>
          <p:cNvSpPr/>
          <p:nvPr/>
        </p:nvSpPr>
        <p:spPr>
          <a:xfrm>
            <a:off x="-4810613" y="2350323"/>
            <a:ext cx="6157892" cy="1909773"/>
          </a:xfrm>
          <a:prstGeom prst="rect">
            <a:avLst/>
          </a:prstGeom>
          <a:noFill/>
          <a:ln/>
        </p:spPr>
        <p:txBody>
          <a:bodyPr wrap="square" lIns="0" tIns="0" rIns="0" bIns="0" rtlCol="0" anchor="ctr"/>
          <a:lstStyle/>
          <a:p>
            <a:pPr marL="342900" indent="-342900" algn="l">
              <a:buFont typeface="Arial" panose="020B0604020202020204" pitchFamily="34" charset="0"/>
              <a:buChar char="•"/>
            </a:pPr>
            <a:endParaRPr lang="ja-JP" altLang="en-US" sz="2000">
              <a:latin typeface="MS PGothic" panose="020B0600070205080204" pitchFamily="34" charset="-128"/>
              <a:ea typeface="MS PGothic" panose="020B0600070205080204" pitchFamily="34" charset="-128"/>
              <a:cs typeface="Meiryo" pitchFamily="34" charset="-120"/>
            </a:endParaRPr>
          </a:p>
        </p:txBody>
      </p:sp>
      <p:sp>
        <p:nvSpPr>
          <p:cNvPr id="87" name="テキスト ボックス 86">
            <a:extLst>
              <a:ext uri="{FF2B5EF4-FFF2-40B4-BE49-F238E27FC236}">
                <a16:creationId xmlns:a16="http://schemas.microsoft.com/office/drawing/2014/main" id="{5005FE95-9536-4C42-9B5A-ACD72AB25B0D}"/>
              </a:ext>
            </a:extLst>
          </p:cNvPr>
          <p:cNvSpPr txBox="1"/>
          <p:nvPr/>
        </p:nvSpPr>
        <p:spPr>
          <a:xfrm>
            <a:off x="8101959" y="2854700"/>
            <a:ext cx="11172824" cy="461665"/>
          </a:xfrm>
          <a:prstGeom prst="rect">
            <a:avLst/>
          </a:prstGeom>
          <a:noFill/>
        </p:spPr>
        <p:txBody>
          <a:bodyPr wrap="square">
            <a:spAutoFit/>
          </a:bodyPr>
          <a:lstStyle/>
          <a:p>
            <a:r>
              <a:rPr lang="en-US" altLang="ja-JP" sz="2400" dirty="0">
                <a:latin typeface="MS PGothic" panose="020B0600070205080204" pitchFamily="34" charset="-128"/>
                <a:ea typeface="MS PGothic" panose="020B0600070205080204" pitchFamily="34" charset="-128"/>
                <a:cs typeface="Meiryo" pitchFamily="34" charset="-120"/>
              </a:rPr>
              <a:t>4</a:t>
            </a:r>
            <a:r>
              <a:rPr lang="ja-JP" altLang="en-US" sz="2400">
                <a:latin typeface="MS PGothic" panose="020B0600070205080204" pitchFamily="34" charset="-128"/>
                <a:ea typeface="MS PGothic" panose="020B0600070205080204" pitchFamily="34" charset="-128"/>
                <a:cs typeface="Meiryo" pitchFamily="34" charset="-120"/>
              </a:rPr>
              <a:t>原型中最多の</a:t>
            </a:r>
            <a:r>
              <a:rPr lang="en-US" altLang="ja-JP" sz="2400" dirty="0">
                <a:latin typeface="MS PGothic" panose="020B0600070205080204" pitchFamily="34" charset="-128"/>
                <a:ea typeface="MS PGothic" panose="020B0600070205080204" pitchFamily="34" charset="-128"/>
                <a:cs typeface="Meiryo" pitchFamily="34" charset="-120"/>
              </a:rPr>
              <a:t>n(1,284)</a:t>
            </a:r>
            <a:r>
              <a:rPr lang="ja-JP" altLang="en-US" sz="2400">
                <a:latin typeface="MS PGothic" panose="020B0600070205080204" pitchFamily="34" charset="-128"/>
                <a:ea typeface="MS PGothic" panose="020B0600070205080204" pitchFamily="34" charset="-128"/>
                <a:cs typeface="Meiryo" pitchFamily="34" charset="-120"/>
              </a:rPr>
              <a:t>を持つ</a:t>
            </a:r>
            <a:r>
              <a:rPr lang="en-US" altLang="ja-JP" sz="2400" dirty="0">
                <a:latin typeface="MS PGothic" panose="020B0600070205080204" pitchFamily="34" charset="-128"/>
                <a:ea typeface="MS PGothic" panose="020B0600070205080204" pitchFamily="34" charset="-128"/>
                <a:cs typeface="Meiryo" pitchFamily="34" charset="-120"/>
              </a:rPr>
              <a:t>P1</a:t>
            </a:r>
            <a:r>
              <a:rPr lang="ja-JP" altLang="en-US" sz="2400">
                <a:latin typeface="MS PGothic" panose="020B0600070205080204" pitchFamily="34" charset="-128"/>
                <a:ea typeface="MS PGothic" panose="020B0600070205080204" pitchFamily="34" charset="-128"/>
                <a:cs typeface="Meiryo" pitchFamily="34" charset="-120"/>
              </a:rPr>
              <a:t>で，</a:t>
            </a:r>
            <a:r>
              <a:rPr lang="en-US" altLang="ja-JP" sz="2400" dirty="0">
                <a:latin typeface="MS PGothic" panose="020B0600070205080204" pitchFamily="34" charset="-128"/>
                <a:ea typeface="MS PGothic" panose="020B0600070205080204" pitchFamily="34" charset="-128"/>
                <a:cs typeface="Meiryo" pitchFamily="34" charset="-120"/>
              </a:rPr>
              <a:t>4</a:t>
            </a:r>
            <a:r>
              <a:rPr lang="ja-JP" altLang="en-US" sz="2400">
                <a:latin typeface="MS PGothic" panose="020B0600070205080204" pitchFamily="34" charset="-128"/>
                <a:ea typeface="MS PGothic" panose="020B0600070205080204" pitchFamily="34" charset="-128"/>
                <a:cs typeface="Meiryo" pitchFamily="34" charset="-120"/>
              </a:rPr>
              <a:t>期間中</a:t>
            </a:r>
            <a:r>
              <a:rPr lang="en-US" altLang="ja-JP" sz="2400" dirty="0">
                <a:latin typeface="MS PGothic" panose="020B0600070205080204" pitchFamily="34" charset="-128"/>
                <a:ea typeface="MS PGothic" panose="020B0600070205080204" pitchFamily="34" charset="-128"/>
                <a:cs typeface="Meiryo" pitchFamily="34" charset="-120"/>
              </a:rPr>
              <a:t>3</a:t>
            </a:r>
            <a:r>
              <a:rPr lang="ja-JP" altLang="en-US" sz="2400">
                <a:latin typeface="MS PGothic" panose="020B0600070205080204" pitchFamily="34" charset="-128"/>
                <a:ea typeface="MS PGothic" panose="020B0600070205080204" pitchFamily="34" charset="-128"/>
                <a:cs typeface="Meiryo" pitchFamily="34" charset="-120"/>
              </a:rPr>
              <a:t>期間 </a:t>
            </a:r>
            <a:r>
              <a:rPr lang="en-US" altLang="ja-JP" sz="2400" dirty="0">
                <a:latin typeface="MS PGothic" panose="020B0600070205080204" pitchFamily="34" charset="-128"/>
                <a:ea typeface="MS PGothic" panose="020B0600070205080204" pitchFamily="34" charset="-128"/>
                <a:cs typeface="Meiryo" pitchFamily="34" charset="-120"/>
              </a:rPr>
              <a:t>IRL </a:t>
            </a:r>
            <a:r>
              <a:rPr lang="ja-JP" altLang="en-US" sz="2400">
                <a:latin typeface="MS PGothic" panose="020B0600070205080204" pitchFamily="34" charset="-128"/>
                <a:ea typeface="MS PGothic" panose="020B0600070205080204" pitchFamily="34" charset="-128"/>
                <a:cs typeface="Meiryo" pitchFamily="34" charset="-120"/>
              </a:rPr>
              <a:t>が優位 </a:t>
            </a:r>
            <a:endParaRPr lang="en-US" altLang="ja-JP" sz="2400" dirty="0">
              <a:latin typeface="MS PGothic" panose="020B0600070205080204" pitchFamily="34" charset="-128"/>
              <a:ea typeface="MS PGothic" panose="020B0600070205080204" pitchFamily="34" charset="-128"/>
              <a:cs typeface="Meiryo" pitchFamily="34" charset="-120"/>
            </a:endParaRPr>
          </a:p>
        </p:txBody>
      </p:sp>
      <p:sp>
        <p:nvSpPr>
          <p:cNvPr id="71" name="角丸四角形 70">
            <a:extLst>
              <a:ext uri="{FF2B5EF4-FFF2-40B4-BE49-F238E27FC236}">
                <a16:creationId xmlns:a16="http://schemas.microsoft.com/office/drawing/2014/main" id="{88B16009-9EE5-0178-20E3-52521C414672}"/>
              </a:ext>
            </a:extLst>
          </p:cNvPr>
          <p:cNvSpPr/>
          <p:nvPr/>
        </p:nvSpPr>
        <p:spPr>
          <a:xfrm>
            <a:off x="7556201" y="5740947"/>
            <a:ext cx="9589660" cy="772098"/>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03B8BCE8-2F73-187E-355A-848BEB3F766F}"/>
              </a:ext>
            </a:extLst>
          </p:cNvPr>
          <p:cNvSpPr/>
          <p:nvPr/>
        </p:nvSpPr>
        <p:spPr>
          <a:xfrm>
            <a:off x="14728780" y="-2555703"/>
            <a:ext cx="5870448" cy="239594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rgbClr val="FF0000"/>
                </a:solidFill>
              </a:rPr>
              <a:t>散布図２つ並べる・</a:t>
            </a:r>
            <a:r>
              <a:rPr kumimoji="1" lang="en-US" altLang="ja-JP" sz="4000" dirty="0">
                <a:solidFill>
                  <a:srgbClr val="FF0000"/>
                </a:solidFill>
              </a:rPr>
              <a:t>P</a:t>
            </a:r>
            <a:r>
              <a:rPr kumimoji="1" lang="ja-JP" altLang="en-US" sz="4000">
                <a:solidFill>
                  <a:srgbClr val="FF0000"/>
                </a:solidFill>
              </a:rPr>
              <a:t>１から４を一枚にまとめる</a:t>
            </a:r>
            <a:endParaRPr kumimoji="1" lang="en-US" altLang="ja-JP" sz="4000" dirty="0">
              <a:solidFill>
                <a:srgbClr val="FF0000"/>
              </a:solidFill>
            </a:endParaRPr>
          </a:p>
          <a:p>
            <a:pPr algn="ctr"/>
            <a:r>
              <a:rPr kumimoji="1" lang="ja-JP" altLang="en-US" sz="4000">
                <a:solidFill>
                  <a:srgbClr val="FF0000"/>
                </a:solidFill>
              </a:rPr>
              <a:t>詳細は２個ずつ紹介とか</a:t>
            </a:r>
            <a:endParaRPr kumimoji="1" lang="en-US" altLang="ja-JP" sz="4000" dirty="0">
              <a:solidFill>
                <a:srgbClr val="FF0000"/>
              </a:solidFill>
            </a:endParaRPr>
          </a:p>
        </p:txBody>
      </p:sp>
      <p:grpSp>
        <p:nvGrpSpPr>
          <p:cNvPr id="24" name="グループ化 23">
            <a:extLst>
              <a:ext uri="{FF2B5EF4-FFF2-40B4-BE49-F238E27FC236}">
                <a16:creationId xmlns:a16="http://schemas.microsoft.com/office/drawing/2014/main" id="{D3989D2F-10AE-9111-C2B9-062B51DE3D56}"/>
              </a:ext>
            </a:extLst>
          </p:cNvPr>
          <p:cNvGrpSpPr/>
          <p:nvPr/>
        </p:nvGrpSpPr>
        <p:grpSpPr>
          <a:xfrm>
            <a:off x="-3897499" y="5054150"/>
            <a:ext cx="14415338" cy="5139955"/>
            <a:chOff x="-9643191" y="-2889165"/>
            <a:chExt cx="15034054" cy="5360565"/>
          </a:xfrm>
        </p:grpSpPr>
        <p:pic>
          <p:nvPicPr>
            <p:cNvPr id="30" name="図 29">
              <a:extLst>
                <a:ext uri="{FF2B5EF4-FFF2-40B4-BE49-F238E27FC236}">
                  <a16:creationId xmlns:a16="http://schemas.microsoft.com/office/drawing/2014/main" id="{B6EF82EA-1C20-8F53-89BF-50104CCDF10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38026" y1="20704" x2="38026" y2="20704"/>
                          <a14:foregroundMark x1="37184" y1="18427" x2="37184" y2="18427"/>
                          <a14:foregroundMark x1="38026" y1="16563" x2="38026" y2="16563"/>
                          <a14:foregroundMark x1="38179" y1="16770" x2="39021" y2="20704"/>
                          <a14:foregroundMark x1="61056" y1="21739" x2="61056" y2="21739"/>
                          <a14:foregroundMark x1="60903" y1="16563" x2="60903" y2="16563"/>
                          <a14:foregroundMark x1="60903" y1="17805" x2="60903" y2="17805"/>
                          <a14:foregroundMark x1="62280" y1="18841" x2="62280" y2="18841"/>
                          <a14:foregroundMark x1="61897" y1="17805" x2="61897" y2="17805"/>
                          <a14:foregroundMark x1="61056" y1="16149" x2="60597" y2="19876"/>
                          <a14:foregroundMark x1="60826" y1="20497" x2="61668" y2="20497"/>
                          <a14:foregroundMark x1="38562" y1="20704" x2="38026" y2="17391"/>
                          <a14:foregroundMark x1="38179" y1="80745" x2="38179" y2="80745"/>
                          <a14:foregroundMark x1="60597" y1="81781" x2="60597" y2="81781"/>
                          <a14:foregroundMark x1="60597" y1="83023" x2="60597" y2="83023"/>
                          <a14:foregroundMark x1="55394" y1="21118" x2="58607" y2="21118"/>
                          <a14:foregroundMark x1="59143" y1="20704" x2="55853" y2="20497"/>
                          <a14:foregroundMark x1="53940" y1="20704" x2="59220" y2="20704"/>
                          <a14:foregroundMark x1="59220" y1="19462" x2="56083" y2="19048"/>
                        </a14:backgroundRemoval>
                      </a14:imgEffect>
                    </a14:imgLayer>
                  </a14:imgProps>
                </a:ext>
              </a:extLst>
            </a:blip>
            <a:stretch>
              <a:fillRect/>
            </a:stretch>
          </p:blipFill>
          <p:spPr>
            <a:xfrm>
              <a:off x="-9133824" y="-2889165"/>
              <a:ext cx="14524687" cy="5360565"/>
            </a:xfrm>
            <a:prstGeom prst="rect">
              <a:avLst/>
            </a:prstGeom>
          </p:spPr>
        </p:pic>
        <p:sp>
          <p:nvSpPr>
            <p:cNvPr id="26" name="テキスト ボックス 25">
              <a:extLst>
                <a:ext uri="{FF2B5EF4-FFF2-40B4-BE49-F238E27FC236}">
                  <a16:creationId xmlns:a16="http://schemas.microsoft.com/office/drawing/2014/main" id="{918A7A0F-CEB5-4735-C202-6229D2543C0F}"/>
                </a:ext>
              </a:extLst>
            </p:cNvPr>
            <p:cNvSpPr txBox="1"/>
            <p:nvPr/>
          </p:nvSpPr>
          <p:spPr>
            <a:xfrm>
              <a:off x="-6770239" y="-2755187"/>
              <a:ext cx="5066095"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高活動・</a:t>
              </a:r>
              <a:endParaRPr kumimoji="1" lang="en-US" altLang="ja-JP" sz="2000" dirty="0">
                <a:solidFill>
                  <a:srgbClr val="E05C49"/>
                </a:solidFill>
              </a:endParaRPr>
            </a:p>
            <a:p>
              <a:pPr algn="ctr"/>
              <a:r>
                <a:rPr kumimoji="1" lang="ja-JP" altLang="en-US" sz="2000">
                  <a:solidFill>
                    <a:srgbClr val="E05C49"/>
                  </a:solidFill>
                </a:rPr>
                <a:t>ディレクトリ未経験型</a:t>
              </a:r>
            </a:p>
          </p:txBody>
        </p:sp>
        <p:sp>
          <p:nvSpPr>
            <p:cNvPr id="27" name="テキスト ボックス 26">
              <a:extLst>
                <a:ext uri="{FF2B5EF4-FFF2-40B4-BE49-F238E27FC236}">
                  <a16:creationId xmlns:a16="http://schemas.microsoft.com/office/drawing/2014/main" id="{78992395-4BB8-3F86-C694-ED9C520AF2AF}"/>
                </a:ext>
              </a:extLst>
            </p:cNvPr>
            <p:cNvSpPr txBox="1"/>
            <p:nvPr/>
          </p:nvSpPr>
          <p:spPr>
            <a:xfrm>
              <a:off x="-1704144" y="-2440454"/>
              <a:ext cx="5044829" cy="369332"/>
            </a:xfrm>
            <a:prstGeom prst="rect">
              <a:avLst/>
            </a:prstGeom>
            <a:noFill/>
          </p:spPr>
          <p:txBody>
            <a:bodyPr wrap="square" rtlCol="0">
              <a:spAutoFit/>
            </a:bodyPr>
            <a:lstStyle/>
            <a:p>
              <a:r>
                <a:rPr kumimoji="1" lang="en-US" altLang="ja-JP" dirty="0">
                  <a:solidFill>
                    <a:srgbClr val="8CD3E3"/>
                  </a:solidFill>
                </a:rPr>
                <a:t>P2:</a:t>
              </a:r>
              <a:r>
                <a:rPr kumimoji="1" lang="ja-JP" altLang="en-US">
                  <a:solidFill>
                    <a:srgbClr val="8CD3E3"/>
                  </a:solidFill>
                </a:rPr>
                <a:t>ディレクトリ経験者・高関与型</a:t>
              </a:r>
            </a:p>
          </p:txBody>
        </p:sp>
        <p:sp>
          <p:nvSpPr>
            <p:cNvPr id="28" name="テキスト ボックス 27">
              <a:extLst>
                <a:ext uri="{FF2B5EF4-FFF2-40B4-BE49-F238E27FC236}">
                  <a16:creationId xmlns:a16="http://schemas.microsoft.com/office/drawing/2014/main" id="{BCF1EFF9-2B75-46F3-4A62-854BBDCBD6A0}"/>
                </a:ext>
              </a:extLst>
            </p:cNvPr>
            <p:cNvSpPr txBox="1"/>
            <p:nvPr/>
          </p:nvSpPr>
          <p:spPr>
            <a:xfrm>
              <a:off x="-9643191" y="1635722"/>
              <a:ext cx="10269414" cy="369332"/>
            </a:xfrm>
            <a:prstGeom prst="rect">
              <a:avLst/>
            </a:prstGeom>
            <a:noFill/>
          </p:spPr>
          <p:txBody>
            <a:bodyPr wrap="square">
              <a:spAutoFit/>
            </a:bodyPr>
            <a:lstStyle/>
            <a:p>
              <a:pPr algn="ctr"/>
              <a:r>
                <a:rPr kumimoji="1" lang="en-US" altLang="ja-JP" sz="1800" dirty="0">
                  <a:solidFill>
                    <a:srgbClr val="F4A992"/>
                  </a:solidFill>
                </a:rPr>
                <a:t>P3:</a:t>
              </a:r>
              <a:r>
                <a:rPr kumimoji="1" lang="ja-JP" altLang="en-US" sz="1800">
                  <a:solidFill>
                    <a:srgbClr val="F4A992"/>
                  </a:solidFill>
                </a:rPr>
                <a:t>低承諾型</a:t>
              </a:r>
            </a:p>
          </p:txBody>
        </p:sp>
        <p:sp>
          <p:nvSpPr>
            <p:cNvPr id="29" name="テキスト ボックス 28">
              <a:extLst>
                <a:ext uri="{FF2B5EF4-FFF2-40B4-BE49-F238E27FC236}">
                  <a16:creationId xmlns:a16="http://schemas.microsoft.com/office/drawing/2014/main" id="{B7F7936D-B3D9-DE6C-A3A9-E354266DB6D9}"/>
                </a:ext>
              </a:extLst>
            </p:cNvPr>
            <p:cNvSpPr txBox="1"/>
            <p:nvPr/>
          </p:nvSpPr>
          <p:spPr>
            <a:xfrm>
              <a:off x="-806791" y="1625542"/>
              <a:ext cx="5044829" cy="400110"/>
            </a:xfrm>
            <a:prstGeom prst="rect">
              <a:avLst/>
            </a:prstGeom>
            <a:noFill/>
          </p:spPr>
          <p:txBody>
            <a:bodyPr wrap="square" rtlCol="0">
              <a:spAutoFit/>
            </a:bodyPr>
            <a:lstStyle/>
            <a:p>
              <a:r>
                <a:rPr kumimoji="1" lang="en-US" altLang="ja-JP" sz="2000" dirty="0">
                  <a:solidFill>
                    <a:srgbClr val="35B3A0"/>
                  </a:solidFill>
                </a:rPr>
                <a:t>P4: </a:t>
              </a:r>
              <a:r>
                <a:rPr kumimoji="1" lang="ja-JP" altLang="en-US" sz="2000">
                  <a:solidFill>
                    <a:srgbClr val="35B3A0"/>
                  </a:solidFill>
                </a:rPr>
                <a:t>高承諾・汎用型</a:t>
              </a:r>
            </a:p>
          </p:txBody>
        </p:sp>
      </p:grpSp>
      <p:sp>
        <p:nvSpPr>
          <p:cNvPr id="37" name="角丸四角形 36">
            <a:extLst>
              <a:ext uri="{FF2B5EF4-FFF2-40B4-BE49-F238E27FC236}">
                <a16:creationId xmlns:a16="http://schemas.microsoft.com/office/drawing/2014/main" id="{818EE610-8E0B-702E-6497-26973E6B4403}"/>
              </a:ext>
            </a:extLst>
          </p:cNvPr>
          <p:cNvSpPr/>
          <p:nvPr/>
        </p:nvSpPr>
        <p:spPr>
          <a:xfrm>
            <a:off x="7556201" y="8409060"/>
            <a:ext cx="9589660" cy="548804"/>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角丸四角形 38">
            <a:extLst>
              <a:ext uri="{FF2B5EF4-FFF2-40B4-BE49-F238E27FC236}">
                <a16:creationId xmlns:a16="http://schemas.microsoft.com/office/drawing/2014/main" id="{E10A1F50-73FA-D819-5572-6B99B6D4F198}"/>
              </a:ext>
            </a:extLst>
          </p:cNvPr>
          <p:cNvSpPr/>
          <p:nvPr/>
        </p:nvSpPr>
        <p:spPr>
          <a:xfrm>
            <a:off x="7556201" y="7051891"/>
            <a:ext cx="9589660" cy="643836"/>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C895C670-6B11-8F6D-1A09-AE8090A9D05D}"/>
              </a:ext>
            </a:extLst>
          </p:cNvPr>
          <p:cNvSpPr txBox="1"/>
          <p:nvPr/>
        </p:nvSpPr>
        <p:spPr>
          <a:xfrm>
            <a:off x="8180500" y="259589"/>
            <a:ext cx="6839717" cy="523220"/>
          </a:xfrm>
          <a:prstGeom prst="rect">
            <a:avLst/>
          </a:prstGeom>
          <a:noFill/>
        </p:spPr>
        <p:txBody>
          <a:bodyPr wrap="square">
            <a:spAutoFit/>
          </a:bodyPr>
          <a:lstStyle/>
          <a:p>
            <a:r>
              <a:rPr kumimoji="1" lang="en-US" altLang="ja-JP" sz="2800" dirty="0">
                <a:solidFill>
                  <a:srgbClr val="E05C49"/>
                </a:solidFill>
              </a:rPr>
              <a:t>P1:</a:t>
            </a:r>
            <a:r>
              <a:rPr kumimoji="1" lang="ja-JP" altLang="en-US" sz="2800">
                <a:solidFill>
                  <a:srgbClr val="E05C49"/>
                </a:solidFill>
              </a:rPr>
              <a:t>対象ディレクトリの実績は乏しい</a:t>
            </a:r>
            <a:endParaRPr lang="ja-JP" altLang="en-US" sz="2800"/>
          </a:p>
        </p:txBody>
      </p:sp>
      <p:graphicFrame>
        <p:nvGraphicFramePr>
          <p:cNvPr id="46" name="表 45">
            <a:extLst>
              <a:ext uri="{FF2B5EF4-FFF2-40B4-BE49-F238E27FC236}">
                <a16:creationId xmlns:a16="http://schemas.microsoft.com/office/drawing/2014/main" id="{4CD2EC5F-CF40-D1AD-1157-02CB4AAC00BB}"/>
              </a:ext>
            </a:extLst>
          </p:cNvPr>
          <p:cNvGraphicFramePr>
            <a:graphicFrameLocks noGrp="1"/>
          </p:cNvGraphicFramePr>
          <p:nvPr>
            <p:extLst>
              <p:ext uri="{D42A27DB-BD31-4B8C-83A1-F6EECF244321}">
                <p14:modId xmlns:p14="http://schemas.microsoft.com/office/powerpoint/2010/main" val="1857936452"/>
              </p:ext>
            </p:extLst>
          </p:nvPr>
        </p:nvGraphicFramePr>
        <p:xfrm>
          <a:off x="8252362" y="1487079"/>
          <a:ext cx="8013194" cy="1182258"/>
        </p:xfrm>
        <a:graphic>
          <a:graphicData uri="http://schemas.openxmlformats.org/drawingml/2006/table">
            <a:tbl>
              <a:tblPr/>
              <a:tblGrid>
                <a:gridCol w="2560600">
                  <a:extLst>
                    <a:ext uri="{9D8B030D-6E8A-4147-A177-3AD203B41FA5}">
                      <a16:colId xmlns:a16="http://schemas.microsoft.com/office/drawing/2014/main" val="1311104139"/>
                    </a:ext>
                  </a:extLst>
                </a:gridCol>
                <a:gridCol w="1192755">
                  <a:extLst>
                    <a:ext uri="{9D8B030D-6E8A-4147-A177-3AD203B41FA5}">
                      <a16:colId xmlns:a16="http://schemas.microsoft.com/office/drawing/2014/main" val="3408825403"/>
                    </a:ext>
                  </a:extLst>
                </a:gridCol>
                <a:gridCol w="1405747">
                  <a:extLst>
                    <a:ext uri="{9D8B030D-6E8A-4147-A177-3AD203B41FA5}">
                      <a16:colId xmlns:a16="http://schemas.microsoft.com/office/drawing/2014/main" val="4162252791"/>
                    </a:ext>
                  </a:extLst>
                </a:gridCol>
                <a:gridCol w="1320550">
                  <a:extLst>
                    <a:ext uri="{9D8B030D-6E8A-4147-A177-3AD203B41FA5}">
                      <a16:colId xmlns:a16="http://schemas.microsoft.com/office/drawing/2014/main" val="3704097200"/>
                    </a:ext>
                  </a:extLst>
                </a:gridCol>
                <a:gridCol w="1533542">
                  <a:extLst>
                    <a:ext uri="{9D8B030D-6E8A-4147-A177-3AD203B41FA5}">
                      <a16:colId xmlns:a16="http://schemas.microsoft.com/office/drawing/2014/main" val="3121026712"/>
                    </a:ext>
                  </a:extLst>
                </a:gridCol>
              </a:tblGrid>
              <a:tr h="300382">
                <a:tc>
                  <a:txBody>
                    <a:bodyPr/>
                    <a:lstStyle/>
                    <a:p>
                      <a:pPr marL="0" indent="0" algn="ctr">
                        <a:buNone/>
                      </a:pP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1–3m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4–6m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7–9m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10–12m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extLst>
                  <a:ext uri="{0D108BD9-81ED-4DB2-BD59-A6C34878D82A}">
                    <a16:rowId xmlns:a16="http://schemas.microsoft.com/office/drawing/2014/main" val="540440001"/>
                  </a:ext>
                </a:extLst>
              </a:tr>
              <a:tr h="300382">
                <a:tc>
                  <a:txBody>
                    <a:bodyP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Meiryo" pitchFamily="34" charset="-120"/>
                        </a:rPr>
                        <a:t>P1（OpenStack）</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E96651"/>
                    </a:solidFill>
                  </a:tcPr>
                </a:tc>
                <a:tc>
                  <a:txBody>
                    <a:bodyPr/>
                    <a:lstStyle/>
                    <a:p>
                      <a:pPr marL="0" indent="0" algn="ctr">
                        <a:buNone/>
                      </a:pPr>
                      <a:r>
                        <a:rPr lang="en-US" sz="2400" dirty="0">
                          <a:solidFill>
                            <a:srgbClr val="215044"/>
                          </a:solidFill>
                          <a:latin typeface="MS PGothic" panose="020B0600070205080204" pitchFamily="34" charset="-128"/>
                          <a:ea typeface="MS PGothic" panose="020B0600070205080204" pitchFamily="34" charset="-128"/>
                          <a:cs typeface="Meiryo" pitchFamily="34" charset="-120"/>
                        </a:rPr>
                        <a:t>+9.0</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15044"/>
                          </a:solidFill>
                          <a:latin typeface="MS PGothic" panose="020B0600070205080204" pitchFamily="34" charset="-128"/>
                          <a:ea typeface="MS PGothic" panose="020B0600070205080204" pitchFamily="34" charset="-128"/>
                          <a:cs typeface="Meiryo" pitchFamily="34" charset="-120"/>
                        </a:rPr>
                        <a:t>+3.9</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15044"/>
                          </a:solidFill>
                          <a:latin typeface="MS PGothic" panose="020B0600070205080204" pitchFamily="34" charset="-128"/>
                          <a:ea typeface="MS PGothic" panose="020B0600070205080204" pitchFamily="34" charset="-128"/>
                          <a:cs typeface="Meiryo" pitchFamily="34" charset="-120"/>
                        </a:rPr>
                        <a:t>+4.2</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−5.4</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3643899620"/>
                  </a:ext>
                </a:extLst>
              </a:tr>
              <a:tr h="300382">
                <a:tc>
                  <a:txBody>
                    <a:bodyPr/>
                    <a:lstStyle/>
                    <a:p>
                      <a:pPr marL="0" marR="0" lvl="0" indent="0" algn="ctr" defTabSz="1300277" rtl="0" eaLnBrk="1" fontAlgn="auto" latinLnBrk="0" hangingPunct="1">
                        <a:lnSpc>
                          <a:spcPct val="100000"/>
                        </a:lnSpc>
                        <a:spcBef>
                          <a:spcPts val="0"/>
                        </a:spcBef>
                        <a:spcAft>
                          <a:spcPts val="0"/>
                        </a:spcAft>
                        <a:buClrTx/>
                        <a:buSzTx/>
                        <a:buFontTx/>
                        <a:buNone/>
                        <a:tabLst/>
                        <a:defRPr/>
                      </a:pPr>
                      <a:r>
                        <a:rPr lang="en-US" altLang="ja-JP" sz="2400" b="1" dirty="0">
                          <a:solidFill>
                            <a:srgbClr val="FFFFFF"/>
                          </a:solidFill>
                          <a:latin typeface="MS PGothic" panose="020B0600070205080204" pitchFamily="34" charset="-128"/>
                          <a:ea typeface="MS PGothic" panose="020B0600070205080204" pitchFamily="34" charset="-128"/>
                          <a:cs typeface="Meiryo" pitchFamily="34" charset="-120"/>
                        </a:rPr>
                        <a:t>P1（AOSP）</a:t>
                      </a:r>
                      <a:endParaRPr lang="en-US" altLang="ja-JP"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E96651"/>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+0.4</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−3.3</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−0.2</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−8.6</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1331378893"/>
                  </a:ext>
                </a:extLst>
              </a:tr>
            </a:tbl>
          </a:graphicData>
        </a:graphic>
      </p:graphicFrame>
      <p:sp>
        <p:nvSpPr>
          <p:cNvPr id="47" name="Text 6">
            <a:extLst>
              <a:ext uri="{FF2B5EF4-FFF2-40B4-BE49-F238E27FC236}">
                <a16:creationId xmlns:a16="http://schemas.microsoft.com/office/drawing/2014/main" id="{54650DED-9A5B-6456-A1FB-8EBFF7129FE5}"/>
              </a:ext>
            </a:extLst>
          </p:cNvPr>
          <p:cNvSpPr/>
          <p:nvPr/>
        </p:nvSpPr>
        <p:spPr>
          <a:xfrm>
            <a:off x="8252362" y="1077592"/>
            <a:ext cx="3664231" cy="390081"/>
          </a:xfrm>
          <a:prstGeom prst="rect">
            <a:avLst/>
          </a:prstGeom>
          <a:noFill/>
          <a:ln/>
        </p:spPr>
        <p:txBody>
          <a:bodyPr wrap="square" lIns="0" tIns="0" rIns="0" bIns="0" rtlCol="0" anchor="ctr"/>
          <a:lstStyle/>
          <a:p>
            <a:r>
              <a:rPr lang="en-US" sz="2000" b="1" dirty="0">
                <a:solidFill>
                  <a:srgbClr val="262626"/>
                </a:solidFill>
                <a:latin typeface="MS PGothic" panose="020B0600070205080204" pitchFamily="34" charset="-128"/>
                <a:ea typeface="MS PGothic" panose="020B0600070205080204" pitchFamily="34" charset="-128"/>
                <a:cs typeface="Meiryo" pitchFamily="34" charset="-120"/>
              </a:rPr>
              <a:t>評価期間別 Δ ＝ IRL − RF（pp）</a:t>
            </a:r>
            <a:endParaRPr lang="en-US" sz="2000" dirty="0">
              <a:latin typeface="MS PGothic" panose="020B0600070205080204" pitchFamily="34" charset="-128"/>
              <a:ea typeface="MS PGothic" panose="020B0600070205080204" pitchFamily="34" charset="-128"/>
            </a:endParaRPr>
          </a:p>
        </p:txBody>
      </p:sp>
      <p:sp>
        <p:nvSpPr>
          <p:cNvPr id="48" name="角丸四角形 47">
            <a:extLst>
              <a:ext uri="{FF2B5EF4-FFF2-40B4-BE49-F238E27FC236}">
                <a16:creationId xmlns:a16="http://schemas.microsoft.com/office/drawing/2014/main" id="{F5C6BF8B-DFCA-082B-1073-F3CC847AE179}"/>
              </a:ext>
            </a:extLst>
          </p:cNvPr>
          <p:cNvSpPr/>
          <p:nvPr/>
        </p:nvSpPr>
        <p:spPr>
          <a:xfrm>
            <a:off x="8004777" y="8041746"/>
            <a:ext cx="7193964" cy="689751"/>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49" name="テキスト ボックス 48">
            <a:extLst>
              <a:ext uri="{FF2B5EF4-FFF2-40B4-BE49-F238E27FC236}">
                <a16:creationId xmlns:a16="http://schemas.microsoft.com/office/drawing/2014/main" id="{BBF6FF91-DEE8-60C4-2751-2A1B18B4C8FE}"/>
              </a:ext>
            </a:extLst>
          </p:cNvPr>
          <p:cNvSpPr txBox="1"/>
          <p:nvPr/>
        </p:nvSpPr>
        <p:spPr>
          <a:xfrm>
            <a:off x="8180500" y="8143513"/>
            <a:ext cx="3975660" cy="523220"/>
          </a:xfrm>
          <a:prstGeom prst="rect">
            <a:avLst/>
          </a:prstGeom>
          <a:noFill/>
        </p:spPr>
        <p:txBody>
          <a:bodyPr wrap="square" rtlCol="0">
            <a:spAutoFit/>
          </a:bodyPr>
          <a:lstStyle/>
          <a:p>
            <a:r>
              <a:rPr kumimoji="1" lang="en-US" altLang="ja-JP" sz="2800" dirty="0">
                <a:solidFill>
                  <a:srgbClr val="35B3A0"/>
                </a:solidFill>
              </a:rPr>
              <a:t>P3</a:t>
            </a:r>
            <a:r>
              <a:rPr kumimoji="1" lang="en-US" altLang="ja-JP" dirty="0">
                <a:solidFill>
                  <a:srgbClr val="35B3A0"/>
                </a:solidFill>
              </a:rPr>
              <a:t>(4):</a:t>
            </a:r>
            <a:r>
              <a:rPr kumimoji="1" lang="ja-JP" altLang="en-US" sz="2800">
                <a:solidFill>
                  <a:srgbClr val="35B3A0"/>
                </a:solidFill>
              </a:rPr>
              <a:t>承諾率が高い</a:t>
            </a:r>
          </a:p>
        </p:txBody>
      </p:sp>
      <p:sp>
        <p:nvSpPr>
          <p:cNvPr id="50" name="角丸四角形 49">
            <a:extLst>
              <a:ext uri="{FF2B5EF4-FFF2-40B4-BE49-F238E27FC236}">
                <a16:creationId xmlns:a16="http://schemas.microsoft.com/office/drawing/2014/main" id="{0794342F-3B7F-EB53-BF78-C9F2E513E8C7}"/>
              </a:ext>
            </a:extLst>
          </p:cNvPr>
          <p:cNvSpPr/>
          <p:nvPr/>
        </p:nvSpPr>
        <p:spPr>
          <a:xfrm>
            <a:off x="8004777" y="5394726"/>
            <a:ext cx="8061563" cy="689751"/>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51" name="テキスト ボックス 50">
            <a:extLst>
              <a:ext uri="{FF2B5EF4-FFF2-40B4-BE49-F238E27FC236}">
                <a16:creationId xmlns:a16="http://schemas.microsoft.com/office/drawing/2014/main" id="{A0A3F00A-85C0-826C-DC25-E73E301CCE4B}"/>
              </a:ext>
            </a:extLst>
          </p:cNvPr>
          <p:cNvSpPr txBox="1"/>
          <p:nvPr/>
        </p:nvSpPr>
        <p:spPr>
          <a:xfrm>
            <a:off x="8252362" y="5493985"/>
            <a:ext cx="7003490" cy="523220"/>
          </a:xfrm>
          <a:prstGeom prst="rect">
            <a:avLst/>
          </a:prstGeom>
          <a:noFill/>
        </p:spPr>
        <p:txBody>
          <a:bodyPr wrap="square" rtlCol="0">
            <a:spAutoFit/>
          </a:bodyPr>
          <a:lstStyle/>
          <a:p>
            <a:r>
              <a:rPr kumimoji="1" lang="en-US" altLang="ja-JP" sz="2800" dirty="0">
                <a:solidFill>
                  <a:srgbClr val="8CD3E3"/>
                </a:solidFill>
              </a:rPr>
              <a:t>P2:</a:t>
            </a:r>
            <a:r>
              <a:rPr kumimoji="1" lang="ja-JP" altLang="en-US" sz="2800">
                <a:solidFill>
                  <a:srgbClr val="8CD3E3"/>
                </a:solidFill>
              </a:rPr>
              <a:t>ディレクトリへの関与が少ない</a:t>
            </a:r>
            <a:r>
              <a:rPr kumimoji="1" lang="en-US" altLang="ja-JP" sz="2800" dirty="0">
                <a:solidFill>
                  <a:srgbClr val="8CD3E3"/>
                </a:solidFill>
              </a:rPr>
              <a:t>/</a:t>
            </a:r>
            <a:r>
              <a:rPr kumimoji="1" lang="ja-JP" altLang="en-US" sz="2800">
                <a:solidFill>
                  <a:srgbClr val="8CD3E3"/>
                </a:solidFill>
              </a:rPr>
              <a:t>多い</a:t>
            </a:r>
          </a:p>
        </p:txBody>
      </p:sp>
      <p:sp>
        <p:nvSpPr>
          <p:cNvPr id="52" name="角丸四角形 51">
            <a:extLst>
              <a:ext uri="{FF2B5EF4-FFF2-40B4-BE49-F238E27FC236}">
                <a16:creationId xmlns:a16="http://schemas.microsoft.com/office/drawing/2014/main" id="{0A2B40A9-23F5-7C73-0B39-870F5296A87B}"/>
              </a:ext>
            </a:extLst>
          </p:cNvPr>
          <p:cNvSpPr/>
          <p:nvPr/>
        </p:nvSpPr>
        <p:spPr>
          <a:xfrm>
            <a:off x="8004777" y="6716649"/>
            <a:ext cx="7193964" cy="689751"/>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53" name="テキスト ボックス 52">
            <a:extLst>
              <a:ext uri="{FF2B5EF4-FFF2-40B4-BE49-F238E27FC236}">
                <a16:creationId xmlns:a16="http://schemas.microsoft.com/office/drawing/2014/main" id="{72100724-D0F6-D174-A694-060E1BA99329}"/>
              </a:ext>
            </a:extLst>
          </p:cNvPr>
          <p:cNvSpPr txBox="1"/>
          <p:nvPr/>
        </p:nvSpPr>
        <p:spPr>
          <a:xfrm>
            <a:off x="8101959" y="6815908"/>
            <a:ext cx="4775613" cy="523220"/>
          </a:xfrm>
          <a:prstGeom prst="rect">
            <a:avLst/>
          </a:prstGeom>
          <a:noFill/>
        </p:spPr>
        <p:txBody>
          <a:bodyPr wrap="square" rtlCol="0">
            <a:spAutoFit/>
          </a:bodyPr>
          <a:lstStyle/>
          <a:p>
            <a:r>
              <a:rPr kumimoji="1" lang="en-US" altLang="ja-JP" sz="2800" dirty="0">
                <a:solidFill>
                  <a:srgbClr val="F2977A"/>
                </a:solidFill>
              </a:rPr>
              <a:t>P4</a:t>
            </a:r>
            <a:r>
              <a:rPr kumimoji="1" lang="en-US" altLang="ja-JP" sz="2000" dirty="0">
                <a:solidFill>
                  <a:srgbClr val="F2977A"/>
                </a:solidFill>
              </a:rPr>
              <a:t>(3):</a:t>
            </a:r>
            <a:r>
              <a:rPr kumimoji="1" lang="ja-JP" altLang="en-US" sz="2800">
                <a:solidFill>
                  <a:srgbClr val="F2977A"/>
                </a:solidFill>
              </a:rPr>
              <a:t>活動頻度・承諾率が低い</a:t>
            </a:r>
          </a:p>
        </p:txBody>
      </p:sp>
    </p:spTree>
    <p:extLst>
      <p:ext uri="{BB962C8B-B14F-4D97-AF65-F5344CB8AC3E}">
        <p14:creationId xmlns:p14="http://schemas.microsoft.com/office/powerpoint/2010/main" val="4008760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1BFCF-F37F-E59F-EAD1-759C18CF7B5E}"/>
            </a:ext>
          </a:extLst>
        </p:cNvPr>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F67F4006-9766-C51F-6F74-6E822B637CD3}"/>
              </a:ext>
            </a:extLst>
          </p:cNvPr>
          <p:cNvSpPr/>
          <p:nvPr/>
        </p:nvSpPr>
        <p:spPr>
          <a:xfrm>
            <a:off x="0" y="9336937"/>
            <a:ext cx="16603199" cy="410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488181C6-1401-C86A-FBD1-0A50C81CA381}"/>
              </a:ext>
            </a:extLst>
          </p:cNvPr>
          <p:cNvSpPr/>
          <p:nvPr/>
        </p:nvSpPr>
        <p:spPr>
          <a:xfrm>
            <a:off x="0" y="-1"/>
            <a:ext cx="17337088" cy="19316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9D529DFC-DEF9-B41D-7BA2-5ADFD124F0C4}"/>
              </a:ext>
            </a:extLst>
          </p:cNvPr>
          <p:cNvGrpSpPr/>
          <p:nvPr/>
        </p:nvGrpSpPr>
        <p:grpSpPr>
          <a:xfrm>
            <a:off x="-847138" y="244362"/>
            <a:ext cx="9659635" cy="4753784"/>
            <a:chOff x="-463951" y="1996735"/>
            <a:chExt cx="10444047" cy="5139816"/>
          </a:xfrm>
        </p:grpSpPr>
        <p:grpSp>
          <p:nvGrpSpPr>
            <p:cNvPr id="22" name="グループ化 21">
              <a:extLst>
                <a:ext uri="{FF2B5EF4-FFF2-40B4-BE49-F238E27FC236}">
                  <a16:creationId xmlns:a16="http://schemas.microsoft.com/office/drawing/2014/main" id="{905A73C4-D9E7-FE58-0ACA-CCE1281A7D87}"/>
                </a:ext>
              </a:extLst>
            </p:cNvPr>
            <p:cNvGrpSpPr/>
            <p:nvPr/>
          </p:nvGrpSpPr>
          <p:grpSpPr>
            <a:xfrm>
              <a:off x="-27730" y="1996735"/>
              <a:ext cx="8520551" cy="5139816"/>
              <a:chOff x="236464" y="2091902"/>
              <a:chExt cx="8018542" cy="4836991"/>
            </a:xfrm>
          </p:grpSpPr>
          <p:pic>
            <p:nvPicPr>
              <p:cNvPr id="6" name="図 5">
                <a:extLst>
                  <a:ext uri="{FF2B5EF4-FFF2-40B4-BE49-F238E27FC236}">
                    <a16:creationId xmlns:a16="http://schemas.microsoft.com/office/drawing/2014/main" id="{5B9EB86F-3485-A0F4-1387-06C0ADBCEF19}"/>
                  </a:ext>
                </a:extLst>
              </p:cNvPr>
              <p:cNvPicPr>
                <a:picLocks noChangeAspect="1"/>
              </p:cNvPicPr>
              <p:nvPr/>
            </p:nvPicPr>
            <p:blipFill>
              <a:blip r:embed="rId3"/>
              <a:stretch>
                <a:fillRect/>
              </a:stretch>
            </p:blipFill>
            <p:spPr>
              <a:xfrm>
                <a:off x="236464" y="2091902"/>
                <a:ext cx="8018542" cy="4836991"/>
              </a:xfrm>
              <a:prstGeom prst="rect">
                <a:avLst/>
              </a:prstGeom>
              <a:noFill/>
            </p:spPr>
          </p:pic>
          <p:grpSp>
            <p:nvGrpSpPr>
              <p:cNvPr id="21" name="グループ化 20">
                <a:extLst>
                  <a:ext uri="{FF2B5EF4-FFF2-40B4-BE49-F238E27FC236}">
                    <a16:creationId xmlns:a16="http://schemas.microsoft.com/office/drawing/2014/main" id="{79482D4F-5B54-03B9-ADC4-8D8A1D0FDA49}"/>
                  </a:ext>
                </a:extLst>
              </p:cNvPr>
              <p:cNvGrpSpPr/>
              <p:nvPr/>
            </p:nvGrpSpPr>
            <p:grpSpPr>
              <a:xfrm>
                <a:off x="236464" y="2377439"/>
                <a:ext cx="7897342" cy="4267201"/>
                <a:chOff x="236464" y="2377439"/>
                <a:chExt cx="7897342" cy="4267201"/>
              </a:xfrm>
            </p:grpSpPr>
            <p:sp>
              <p:nvSpPr>
                <p:cNvPr id="8" name="正方形/長方形 7">
                  <a:extLst>
                    <a:ext uri="{FF2B5EF4-FFF2-40B4-BE49-F238E27FC236}">
                      <a16:creationId xmlns:a16="http://schemas.microsoft.com/office/drawing/2014/main" id="{6BB07E82-9607-99B5-035E-55008BBBB0BB}"/>
                    </a:ext>
                  </a:extLst>
                </p:cNvPr>
                <p:cNvSpPr/>
                <p:nvPr/>
              </p:nvSpPr>
              <p:spPr>
                <a:xfrm>
                  <a:off x="236464" y="2377440"/>
                  <a:ext cx="2524153"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8CA40891-9615-A60A-6A6D-E93101A3C040}"/>
                    </a:ext>
                  </a:extLst>
                </p:cNvPr>
                <p:cNvSpPr/>
                <p:nvPr/>
              </p:nvSpPr>
              <p:spPr>
                <a:xfrm>
                  <a:off x="6148251" y="2377439"/>
                  <a:ext cx="1854207"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B0532D46-24CA-A8FB-E94F-A3A4D06BB140}"/>
                    </a:ext>
                  </a:extLst>
                </p:cNvPr>
                <p:cNvSpPr/>
                <p:nvPr/>
              </p:nvSpPr>
              <p:spPr>
                <a:xfrm>
                  <a:off x="6148251" y="6196148"/>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C5BAC994-80C5-7E5D-894D-97C1E7C534A0}"/>
                    </a:ext>
                  </a:extLst>
                </p:cNvPr>
                <p:cNvSpPr/>
                <p:nvPr/>
              </p:nvSpPr>
              <p:spPr>
                <a:xfrm>
                  <a:off x="1206802" y="6209211"/>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7" name="テキスト ボックス 6">
              <a:extLst>
                <a:ext uri="{FF2B5EF4-FFF2-40B4-BE49-F238E27FC236}">
                  <a16:creationId xmlns:a16="http://schemas.microsoft.com/office/drawing/2014/main" id="{E7A32E13-B3AE-6760-54BD-A50303B3A02E}"/>
                </a:ext>
              </a:extLst>
            </p:cNvPr>
            <p:cNvSpPr txBox="1"/>
            <p:nvPr/>
          </p:nvSpPr>
          <p:spPr>
            <a:xfrm>
              <a:off x="-463951" y="2177550"/>
              <a:ext cx="4494903"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他プロジェクト</a:t>
              </a:r>
              <a:endParaRPr kumimoji="1" lang="en-US" altLang="ja-JP" sz="2000" dirty="0">
                <a:solidFill>
                  <a:srgbClr val="E05C49"/>
                </a:solidFill>
              </a:endParaRPr>
            </a:p>
            <a:p>
              <a:pPr algn="ctr"/>
              <a:r>
                <a:rPr kumimoji="1" lang="ja-JP" altLang="en-US" sz="2000">
                  <a:solidFill>
                    <a:srgbClr val="E05C49"/>
                  </a:solidFill>
                </a:rPr>
                <a:t>経験者（</a:t>
              </a:r>
              <a:r>
                <a:rPr kumimoji="1" lang="en-US" altLang="ja-JP" sz="2000" dirty="0">
                  <a:solidFill>
                    <a:srgbClr val="E05C49"/>
                  </a:solidFill>
                </a:rPr>
                <a:t>n=1,284</a:t>
              </a:r>
              <a:r>
                <a:rPr kumimoji="1" lang="ja-JP" altLang="en-US" sz="2000">
                  <a:solidFill>
                    <a:srgbClr val="E05C49"/>
                  </a:solidFill>
                </a:rPr>
                <a:t>）</a:t>
              </a:r>
            </a:p>
          </p:txBody>
        </p:sp>
        <p:sp>
          <p:nvSpPr>
            <p:cNvPr id="9" name="テキスト ボックス 8">
              <a:extLst>
                <a:ext uri="{FF2B5EF4-FFF2-40B4-BE49-F238E27FC236}">
                  <a16:creationId xmlns:a16="http://schemas.microsoft.com/office/drawing/2014/main" id="{6AD401DF-696A-6084-8CED-FC433D7D2BB5}"/>
                </a:ext>
              </a:extLst>
            </p:cNvPr>
            <p:cNvSpPr txBox="1"/>
            <p:nvPr/>
          </p:nvSpPr>
          <p:spPr>
            <a:xfrm>
              <a:off x="5485193" y="2260194"/>
              <a:ext cx="4494903" cy="400110"/>
            </a:xfrm>
            <a:prstGeom prst="rect">
              <a:avLst/>
            </a:prstGeom>
            <a:noFill/>
          </p:spPr>
          <p:txBody>
            <a:bodyPr wrap="square" rtlCol="0">
              <a:spAutoFit/>
            </a:bodyPr>
            <a:lstStyle/>
            <a:p>
              <a:r>
                <a:rPr kumimoji="1" lang="en-US" altLang="ja-JP" sz="2000" dirty="0">
                  <a:solidFill>
                    <a:srgbClr val="8CD3E3"/>
                  </a:solidFill>
                </a:rPr>
                <a:t>P2:</a:t>
              </a:r>
              <a:r>
                <a:rPr kumimoji="1" lang="ja-JP" altLang="en-US" sz="2000">
                  <a:solidFill>
                    <a:srgbClr val="8CD3E3"/>
                  </a:solidFill>
                </a:rPr>
                <a:t>関与低下型（</a:t>
              </a:r>
              <a:r>
                <a:rPr kumimoji="1" lang="en-US" altLang="ja-JP" sz="2000" dirty="0">
                  <a:solidFill>
                    <a:srgbClr val="8CD3E3"/>
                  </a:solidFill>
                </a:rPr>
                <a:t>n=928</a:t>
              </a:r>
              <a:r>
                <a:rPr kumimoji="1" lang="ja-JP" altLang="en-US" sz="2000">
                  <a:solidFill>
                    <a:srgbClr val="8CD3E3"/>
                  </a:solidFill>
                </a:rPr>
                <a:t>）</a:t>
              </a:r>
            </a:p>
          </p:txBody>
        </p:sp>
        <p:sp>
          <p:nvSpPr>
            <p:cNvPr id="10" name="テキスト ボックス 9">
              <a:extLst>
                <a:ext uri="{FF2B5EF4-FFF2-40B4-BE49-F238E27FC236}">
                  <a16:creationId xmlns:a16="http://schemas.microsoft.com/office/drawing/2014/main" id="{239B3549-3ED2-9BF1-3F87-439E3A14A053}"/>
                </a:ext>
              </a:extLst>
            </p:cNvPr>
            <p:cNvSpPr txBox="1"/>
            <p:nvPr/>
          </p:nvSpPr>
          <p:spPr>
            <a:xfrm>
              <a:off x="658735" y="6371812"/>
              <a:ext cx="4494903" cy="400110"/>
            </a:xfrm>
            <a:prstGeom prst="rect">
              <a:avLst/>
            </a:prstGeom>
            <a:noFill/>
          </p:spPr>
          <p:txBody>
            <a:bodyPr wrap="square" rtlCol="0">
              <a:spAutoFit/>
            </a:bodyPr>
            <a:lstStyle/>
            <a:p>
              <a:r>
                <a:rPr kumimoji="1" lang="en-US" altLang="ja-JP" sz="2000" dirty="0">
                  <a:solidFill>
                    <a:srgbClr val="35B3A0"/>
                  </a:solidFill>
                </a:rPr>
                <a:t>P3:</a:t>
              </a:r>
              <a:r>
                <a:rPr kumimoji="1" lang="ja-JP" altLang="en-US" sz="2000">
                  <a:solidFill>
                    <a:srgbClr val="35B3A0"/>
                  </a:solidFill>
                </a:rPr>
                <a:t>高承諾型（</a:t>
              </a:r>
              <a:r>
                <a:rPr kumimoji="1" lang="en-US" altLang="ja-JP" sz="2000" dirty="0">
                  <a:solidFill>
                    <a:srgbClr val="35B3A0"/>
                  </a:solidFill>
                </a:rPr>
                <a:t>n=539</a:t>
              </a:r>
              <a:r>
                <a:rPr kumimoji="1" lang="ja-JP" altLang="en-US" sz="2000">
                  <a:solidFill>
                    <a:srgbClr val="35B3A0"/>
                  </a:solidFill>
                </a:rPr>
                <a:t>）</a:t>
              </a:r>
            </a:p>
          </p:txBody>
        </p:sp>
        <p:sp>
          <p:nvSpPr>
            <p:cNvPr id="13" name="テキスト ボックス 12">
              <a:extLst>
                <a:ext uri="{FF2B5EF4-FFF2-40B4-BE49-F238E27FC236}">
                  <a16:creationId xmlns:a16="http://schemas.microsoft.com/office/drawing/2014/main" id="{29858E9F-680B-CC4A-F749-49000A2F5101}"/>
                </a:ext>
              </a:extLst>
            </p:cNvPr>
            <p:cNvSpPr txBox="1"/>
            <p:nvPr/>
          </p:nvSpPr>
          <p:spPr>
            <a:xfrm>
              <a:off x="4883381" y="6371812"/>
              <a:ext cx="4494903" cy="400110"/>
            </a:xfrm>
            <a:prstGeom prst="rect">
              <a:avLst/>
            </a:prstGeom>
            <a:noFill/>
          </p:spPr>
          <p:txBody>
            <a:bodyPr wrap="square" rtlCol="0">
              <a:spAutoFit/>
            </a:bodyPr>
            <a:lstStyle/>
            <a:p>
              <a:r>
                <a:rPr kumimoji="1" lang="en-US" altLang="ja-JP" sz="2000" dirty="0">
                  <a:solidFill>
                    <a:srgbClr val="F2977A"/>
                  </a:solidFill>
                </a:rPr>
                <a:t>P4:</a:t>
              </a:r>
              <a:r>
                <a:rPr kumimoji="1" lang="ja-JP" altLang="en-US" sz="2000">
                  <a:solidFill>
                    <a:srgbClr val="F2977A"/>
                  </a:solidFill>
                </a:rPr>
                <a:t>低活動・低承諾型（</a:t>
              </a:r>
              <a:r>
                <a:rPr kumimoji="1" lang="en-US" altLang="ja-JP" sz="2000" dirty="0">
                  <a:solidFill>
                    <a:srgbClr val="F2977A"/>
                  </a:solidFill>
                </a:rPr>
                <a:t>n=926</a:t>
              </a:r>
              <a:r>
                <a:rPr kumimoji="1" lang="ja-JP" altLang="en-US" sz="2000">
                  <a:solidFill>
                    <a:srgbClr val="F2977A"/>
                  </a:solidFill>
                </a:rPr>
                <a:t>）</a:t>
              </a:r>
            </a:p>
          </p:txBody>
        </p:sp>
      </p:grpSp>
      <p:sp>
        <p:nvSpPr>
          <p:cNvPr id="11" name="正方形/長方形 10">
            <a:extLst>
              <a:ext uri="{FF2B5EF4-FFF2-40B4-BE49-F238E27FC236}">
                <a16:creationId xmlns:a16="http://schemas.microsoft.com/office/drawing/2014/main" id="{0A072770-8867-4088-A23D-475A3D499CDC}"/>
              </a:ext>
            </a:extLst>
          </p:cNvPr>
          <p:cNvSpPr/>
          <p:nvPr/>
        </p:nvSpPr>
        <p:spPr>
          <a:xfrm>
            <a:off x="8252362" y="880028"/>
            <a:ext cx="8013195" cy="9698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bg1">
                    <a:lumMod val="65000"/>
                  </a:schemeClr>
                </a:solidFill>
              </a:rPr>
              <a:t>IRL</a:t>
            </a:r>
            <a:r>
              <a:rPr kumimoji="1" lang="ja-JP" altLang="en-US" sz="2800">
                <a:solidFill>
                  <a:schemeClr val="bg1">
                    <a:lumMod val="65000"/>
                  </a:schemeClr>
                </a:solidFill>
              </a:rPr>
              <a:t>が他ディレクトリの活動状況を活用</a:t>
            </a:r>
            <a:endParaRPr kumimoji="1" lang="en-US" altLang="ja-JP" sz="2800" dirty="0">
              <a:solidFill>
                <a:schemeClr val="bg1">
                  <a:lumMod val="65000"/>
                </a:schemeClr>
              </a:solidFill>
            </a:endParaRPr>
          </a:p>
          <a:p>
            <a:pPr algn="ctr"/>
            <a:r>
              <a:rPr kumimoji="1" lang="ja-JP" altLang="en-US" sz="2400">
                <a:solidFill>
                  <a:schemeClr val="bg1">
                    <a:lumMod val="65000"/>
                  </a:schemeClr>
                </a:solidFill>
              </a:rPr>
              <a:t>後半になると活動状況の影響が弱まることが示唆</a:t>
            </a:r>
            <a:endParaRPr kumimoji="1" lang="en-US" altLang="ja-JP" sz="2400" dirty="0">
              <a:solidFill>
                <a:schemeClr val="bg1">
                  <a:lumMod val="65000"/>
                </a:schemeClr>
              </a:solidFill>
            </a:endParaRPr>
          </a:p>
        </p:txBody>
      </p:sp>
      <p:sp>
        <p:nvSpPr>
          <p:cNvPr id="67" name="角丸四角形 66">
            <a:extLst>
              <a:ext uri="{FF2B5EF4-FFF2-40B4-BE49-F238E27FC236}">
                <a16:creationId xmlns:a16="http://schemas.microsoft.com/office/drawing/2014/main" id="{2A341768-0A70-D94D-65DF-FAEA506EC5A0}"/>
              </a:ext>
            </a:extLst>
          </p:cNvPr>
          <p:cNvSpPr/>
          <p:nvPr/>
        </p:nvSpPr>
        <p:spPr>
          <a:xfrm>
            <a:off x="7556201" y="568603"/>
            <a:ext cx="9589660" cy="1327713"/>
          </a:xfrm>
          <a:prstGeom prst="roundRect">
            <a:avLst/>
          </a:prstGeom>
          <a:no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角丸四角形 69">
            <a:extLst>
              <a:ext uri="{FF2B5EF4-FFF2-40B4-BE49-F238E27FC236}">
                <a16:creationId xmlns:a16="http://schemas.microsoft.com/office/drawing/2014/main" id="{7C523014-2A10-FFF5-A178-8569347E8B9B}"/>
              </a:ext>
            </a:extLst>
          </p:cNvPr>
          <p:cNvSpPr/>
          <p:nvPr/>
        </p:nvSpPr>
        <p:spPr>
          <a:xfrm>
            <a:off x="8004777" y="187154"/>
            <a:ext cx="7813979" cy="689751"/>
          </a:xfrm>
          <a:prstGeom prst="roundRect">
            <a:avLst/>
          </a:prstGeom>
          <a:solidFill>
            <a:schemeClr val="bg1"/>
          </a:solid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 name="スライド番号プレースホルダー 2">
            <a:extLst>
              <a:ext uri="{FF2B5EF4-FFF2-40B4-BE49-F238E27FC236}">
                <a16:creationId xmlns:a16="http://schemas.microsoft.com/office/drawing/2014/main" id="{32CD1E21-CEBE-429F-E16D-084D5F1F7CAA}"/>
              </a:ext>
            </a:extLst>
          </p:cNvPr>
          <p:cNvSpPr>
            <a:spLocks noGrp="1"/>
          </p:cNvSpPr>
          <p:nvPr>
            <p:ph type="sldNum" sz="quarter" idx="12"/>
          </p:nvPr>
        </p:nvSpPr>
        <p:spPr/>
        <p:txBody>
          <a:bodyPr/>
          <a:lstStyle/>
          <a:p>
            <a:fld id="{85D74467-FFC2-5C49-A08A-98A9FE9BCA53}" type="slidenum">
              <a:rPr kumimoji="1" lang="ja-JP" altLang="en-US" smtClean="0"/>
              <a:pPr/>
              <a:t>2</a:t>
            </a:fld>
            <a:endParaRPr kumimoji="1" lang="ja-JP" altLang="en-US"/>
          </a:p>
        </p:txBody>
      </p:sp>
      <p:sp>
        <p:nvSpPr>
          <p:cNvPr id="83" name="Text 9">
            <a:extLst>
              <a:ext uri="{FF2B5EF4-FFF2-40B4-BE49-F238E27FC236}">
                <a16:creationId xmlns:a16="http://schemas.microsoft.com/office/drawing/2014/main" id="{37EABBDC-6DCF-67A7-8761-AA281D445270}"/>
              </a:ext>
            </a:extLst>
          </p:cNvPr>
          <p:cNvSpPr/>
          <p:nvPr/>
        </p:nvSpPr>
        <p:spPr>
          <a:xfrm>
            <a:off x="-4810613" y="2350323"/>
            <a:ext cx="6157892" cy="1909773"/>
          </a:xfrm>
          <a:prstGeom prst="rect">
            <a:avLst/>
          </a:prstGeom>
          <a:noFill/>
          <a:ln/>
        </p:spPr>
        <p:txBody>
          <a:bodyPr wrap="square" lIns="0" tIns="0" rIns="0" bIns="0" rtlCol="0" anchor="ctr"/>
          <a:lstStyle/>
          <a:p>
            <a:pPr marL="342900" indent="-342900" algn="l">
              <a:buFont typeface="Arial" panose="020B0604020202020204" pitchFamily="34" charset="0"/>
              <a:buChar char="•"/>
            </a:pPr>
            <a:endParaRPr lang="ja-JP" altLang="en-US" sz="2000">
              <a:latin typeface="MS PGothic" panose="020B0600070205080204" pitchFamily="34" charset="-128"/>
              <a:ea typeface="MS PGothic" panose="020B0600070205080204" pitchFamily="34" charset="-128"/>
              <a:cs typeface="Meiryo" pitchFamily="34" charset="-120"/>
            </a:endParaRPr>
          </a:p>
        </p:txBody>
      </p:sp>
      <p:sp>
        <p:nvSpPr>
          <p:cNvPr id="19" name="正方形/長方形 18">
            <a:extLst>
              <a:ext uri="{FF2B5EF4-FFF2-40B4-BE49-F238E27FC236}">
                <a16:creationId xmlns:a16="http://schemas.microsoft.com/office/drawing/2014/main" id="{BE71B3A8-53A2-0FF3-5B24-430A50230738}"/>
              </a:ext>
            </a:extLst>
          </p:cNvPr>
          <p:cNvSpPr/>
          <p:nvPr/>
        </p:nvSpPr>
        <p:spPr>
          <a:xfrm>
            <a:off x="14728780" y="-2555703"/>
            <a:ext cx="5870448" cy="239594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rgbClr val="FF0000"/>
                </a:solidFill>
              </a:rPr>
              <a:t>散布図２つ並べる・</a:t>
            </a:r>
            <a:r>
              <a:rPr kumimoji="1" lang="en-US" altLang="ja-JP" sz="4000" dirty="0">
                <a:solidFill>
                  <a:srgbClr val="FF0000"/>
                </a:solidFill>
              </a:rPr>
              <a:t>P</a:t>
            </a:r>
            <a:r>
              <a:rPr kumimoji="1" lang="ja-JP" altLang="en-US" sz="4000">
                <a:solidFill>
                  <a:srgbClr val="FF0000"/>
                </a:solidFill>
              </a:rPr>
              <a:t>１から４を一枚にまとめる</a:t>
            </a:r>
            <a:endParaRPr kumimoji="1" lang="en-US" altLang="ja-JP" sz="4000" dirty="0">
              <a:solidFill>
                <a:srgbClr val="FF0000"/>
              </a:solidFill>
            </a:endParaRPr>
          </a:p>
          <a:p>
            <a:pPr algn="ctr"/>
            <a:r>
              <a:rPr kumimoji="1" lang="ja-JP" altLang="en-US" sz="4000">
                <a:solidFill>
                  <a:srgbClr val="FF0000"/>
                </a:solidFill>
              </a:rPr>
              <a:t>詳細は２個ずつ紹介とか</a:t>
            </a:r>
            <a:endParaRPr kumimoji="1" lang="en-US" altLang="ja-JP" sz="4000" dirty="0">
              <a:solidFill>
                <a:srgbClr val="FF0000"/>
              </a:solidFill>
            </a:endParaRPr>
          </a:p>
        </p:txBody>
      </p:sp>
      <p:grpSp>
        <p:nvGrpSpPr>
          <p:cNvPr id="24" name="グループ化 23">
            <a:extLst>
              <a:ext uri="{FF2B5EF4-FFF2-40B4-BE49-F238E27FC236}">
                <a16:creationId xmlns:a16="http://schemas.microsoft.com/office/drawing/2014/main" id="{6A2B7003-4F88-8E2F-9D2B-029D04510245}"/>
              </a:ext>
            </a:extLst>
          </p:cNvPr>
          <p:cNvGrpSpPr/>
          <p:nvPr/>
        </p:nvGrpSpPr>
        <p:grpSpPr>
          <a:xfrm>
            <a:off x="-3897499" y="5054150"/>
            <a:ext cx="14415338" cy="5139955"/>
            <a:chOff x="-9643191" y="-2889165"/>
            <a:chExt cx="15034054" cy="5360565"/>
          </a:xfrm>
        </p:grpSpPr>
        <p:pic>
          <p:nvPicPr>
            <p:cNvPr id="30" name="図 29">
              <a:extLst>
                <a:ext uri="{FF2B5EF4-FFF2-40B4-BE49-F238E27FC236}">
                  <a16:creationId xmlns:a16="http://schemas.microsoft.com/office/drawing/2014/main" id="{D70CDCEC-D156-7B3A-75CB-6F85D16929D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38026" y1="20704" x2="38026" y2="20704"/>
                          <a14:foregroundMark x1="37184" y1="18427" x2="37184" y2="18427"/>
                          <a14:foregroundMark x1="38026" y1="16563" x2="38026" y2="16563"/>
                          <a14:foregroundMark x1="38179" y1="16770" x2="39021" y2="20704"/>
                          <a14:foregroundMark x1="61056" y1="21739" x2="61056" y2="21739"/>
                          <a14:foregroundMark x1="60903" y1="16563" x2="60903" y2="16563"/>
                          <a14:foregroundMark x1="60903" y1="17805" x2="60903" y2="17805"/>
                          <a14:foregroundMark x1="62280" y1="18841" x2="62280" y2="18841"/>
                          <a14:foregroundMark x1="61897" y1="17805" x2="61897" y2="17805"/>
                          <a14:foregroundMark x1="61056" y1="16149" x2="60597" y2="19876"/>
                          <a14:foregroundMark x1="60826" y1="20497" x2="61668" y2="20497"/>
                          <a14:foregroundMark x1="38562" y1="20704" x2="38026" y2="17391"/>
                          <a14:foregroundMark x1="38179" y1="80745" x2="38179" y2="80745"/>
                          <a14:foregroundMark x1="60597" y1="81781" x2="60597" y2="81781"/>
                          <a14:foregroundMark x1="60597" y1="83023" x2="60597" y2="83023"/>
                          <a14:foregroundMark x1="55394" y1="21118" x2="58607" y2="21118"/>
                          <a14:foregroundMark x1="59143" y1="20704" x2="55853" y2="20497"/>
                          <a14:foregroundMark x1="53940" y1="20704" x2="59220" y2="20704"/>
                          <a14:foregroundMark x1="59220" y1="19462" x2="56083" y2="19048"/>
                        </a14:backgroundRemoval>
                      </a14:imgEffect>
                    </a14:imgLayer>
                  </a14:imgProps>
                </a:ext>
              </a:extLst>
            </a:blip>
            <a:stretch>
              <a:fillRect/>
            </a:stretch>
          </p:blipFill>
          <p:spPr>
            <a:xfrm>
              <a:off x="-9133824" y="-2889165"/>
              <a:ext cx="14524687" cy="5360565"/>
            </a:xfrm>
            <a:prstGeom prst="rect">
              <a:avLst/>
            </a:prstGeom>
          </p:spPr>
        </p:pic>
        <p:sp>
          <p:nvSpPr>
            <p:cNvPr id="26" name="テキスト ボックス 25">
              <a:extLst>
                <a:ext uri="{FF2B5EF4-FFF2-40B4-BE49-F238E27FC236}">
                  <a16:creationId xmlns:a16="http://schemas.microsoft.com/office/drawing/2014/main" id="{39728F1F-C2C5-9EBA-BAA8-9777F1E2F378}"/>
                </a:ext>
              </a:extLst>
            </p:cNvPr>
            <p:cNvSpPr txBox="1"/>
            <p:nvPr/>
          </p:nvSpPr>
          <p:spPr>
            <a:xfrm>
              <a:off x="-6770239" y="-2755187"/>
              <a:ext cx="5066095"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高活動・</a:t>
              </a:r>
              <a:endParaRPr kumimoji="1" lang="en-US" altLang="ja-JP" sz="2000" dirty="0">
                <a:solidFill>
                  <a:srgbClr val="E05C49"/>
                </a:solidFill>
              </a:endParaRPr>
            </a:p>
            <a:p>
              <a:pPr algn="ctr"/>
              <a:r>
                <a:rPr kumimoji="1" lang="ja-JP" altLang="en-US" sz="2000">
                  <a:solidFill>
                    <a:srgbClr val="E05C49"/>
                  </a:solidFill>
                </a:rPr>
                <a:t>ディレクトリ未経験型</a:t>
              </a:r>
            </a:p>
          </p:txBody>
        </p:sp>
        <p:sp>
          <p:nvSpPr>
            <p:cNvPr id="27" name="テキスト ボックス 26">
              <a:extLst>
                <a:ext uri="{FF2B5EF4-FFF2-40B4-BE49-F238E27FC236}">
                  <a16:creationId xmlns:a16="http://schemas.microsoft.com/office/drawing/2014/main" id="{E1035506-5E00-4CA9-EA7C-556AFF21145E}"/>
                </a:ext>
              </a:extLst>
            </p:cNvPr>
            <p:cNvSpPr txBox="1"/>
            <p:nvPr/>
          </p:nvSpPr>
          <p:spPr>
            <a:xfrm>
              <a:off x="-1704144" y="-2440454"/>
              <a:ext cx="5044829" cy="369332"/>
            </a:xfrm>
            <a:prstGeom prst="rect">
              <a:avLst/>
            </a:prstGeom>
            <a:noFill/>
          </p:spPr>
          <p:txBody>
            <a:bodyPr wrap="square" rtlCol="0">
              <a:spAutoFit/>
            </a:bodyPr>
            <a:lstStyle/>
            <a:p>
              <a:r>
                <a:rPr kumimoji="1" lang="en-US" altLang="ja-JP" dirty="0">
                  <a:solidFill>
                    <a:srgbClr val="8CD3E3"/>
                  </a:solidFill>
                </a:rPr>
                <a:t>P2:</a:t>
              </a:r>
              <a:r>
                <a:rPr kumimoji="1" lang="ja-JP" altLang="en-US">
                  <a:solidFill>
                    <a:srgbClr val="8CD3E3"/>
                  </a:solidFill>
                </a:rPr>
                <a:t>ディレクトリ経験者・高関与型</a:t>
              </a:r>
            </a:p>
          </p:txBody>
        </p:sp>
        <p:sp>
          <p:nvSpPr>
            <p:cNvPr id="28" name="テキスト ボックス 27">
              <a:extLst>
                <a:ext uri="{FF2B5EF4-FFF2-40B4-BE49-F238E27FC236}">
                  <a16:creationId xmlns:a16="http://schemas.microsoft.com/office/drawing/2014/main" id="{677E19F6-7A8E-6251-EB8C-282E999F02FB}"/>
                </a:ext>
              </a:extLst>
            </p:cNvPr>
            <p:cNvSpPr txBox="1"/>
            <p:nvPr/>
          </p:nvSpPr>
          <p:spPr>
            <a:xfrm>
              <a:off x="-9643191" y="1635722"/>
              <a:ext cx="10269414" cy="369332"/>
            </a:xfrm>
            <a:prstGeom prst="rect">
              <a:avLst/>
            </a:prstGeom>
            <a:noFill/>
          </p:spPr>
          <p:txBody>
            <a:bodyPr wrap="square">
              <a:spAutoFit/>
            </a:bodyPr>
            <a:lstStyle/>
            <a:p>
              <a:pPr algn="ctr"/>
              <a:r>
                <a:rPr kumimoji="1" lang="en-US" altLang="ja-JP" sz="1800" dirty="0">
                  <a:solidFill>
                    <a:srgbClr val="F4A992"/>
                  </a:solidFill>
                </a:rPr>
                <a:t>P3:</a:t>
              </a:r>
              <a:r>
                <a:rPr kumimoji="1" lang="ja-JP" altLang="en-US" sz="1800">
                  <a:solidFill>
                    <a:srgbClr val="F4A992"/>
                  </a:solidFill>
                </a:rPr>
                <a:t>低承諾型</a:t>
              </a:r>
            </a:p>
          </p:txBody>
        </p:sp>
        <p:sp>
          <p:nvSpPr>
            <p:cNvPr id="29" name="テキスト ボックス 28">
              <a:extLst>
                <a:ext uri="{FF2B5EF4-FFF2-40B4-BE49-F238E27FC236}">
                  <a16:creationId xmlns:a16="http://schemas.microsoft.com/office/drawing/2014/main" id="{8DA8CA3F-600A-C8E1-7C1F-B7C73009D9BD}"/>
                </a:ext>
              </a:extLst>
            </p:cNvPr>
            <p:cNvSpPr txBox="1"/>
            <p:nvPr/>
          </p:nvSpPr>
          <p:spPr>
            <a:xfrm>
              <a:off x="-806791" y="1625542"/>
              <a:ext cx="5044829" cy="400110"/>
            </a:xfrm>
            <a:prstGeom prst="rect">
              <a:avLst/>
            </a:prstGeom>
            <a:noFill/>
          </p:spPr>
          <p:txBody>
            <a:bodyPr wrap="square" rtlCol="0">
              <a:spAutoFit/>
            </a:bodyPr>
            <a:lstStyle/>
            <a:p>
              <a:r>
                <a:rPr kumimoji="1" lang="en-US" altLang="ja-JP" sz="2000" dirty="0">
                  <a:solidFill>
                    <a:srgbClr val="35B3A0"/>
                  </a:solidFill>
                </a:rPr>
                <a:t>P4: </a:t>
              </a:r>
              <a:r>
                <a:rPr kumimoji="1" lang="ja-JP" altLang="en-US" sz="2000">
                  <a:solidFill>
                    <a:srgbClr val="35B3A0"/>
                  </a:solidFill>
                </a:rPr>
                <a:t>高承諾・汎用型</a:t>
              </a:r>
            </a:p>
          </p:txBody>
        </p:sp>
      </p:grpSp>
      <p:sp>
        <p:nvSpPr>
          <p:cNvPr id="37" name="角丸四角形 36">
            <a:extLst>
              <a:ext uri="{FF2B5EF4-FFF2-40B4-BE49-F238E27FC236}">
                <a16:creationId xmlns:a16="http://schemas.microsoft.com/office/drawing/2014/main" id="{0C52877F-5028-0351-A1C0-02B84FD8BC93}"/>
              </a:ext>
            </a:extLst>
          </p:cNvPr>
          <p:cNvSpPr/>
          <p:nvPr/>
        </p:nvSpPr>
        <p:spPr>
          <a:xfrm>
            <a:off x="7556201" y="8409060"/>
            <a:ext cx="9589660" cy="548804"/>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角丸四角形 38">
            <a:extLst>
              <a:ext uri="{FF2B5EF4-FFF2-40B4-BE49-F238E27FC236}">
                <a16:creationId xmlns:a16="http://schemas.microsoft.com/office/drawing/2014/main" id="{8BD12E6E-B20B-4EB0-657E-819161CF4B1B}"/>
              </a:ext>
            </a:extLst>
          </p:cNvPr>
          <p:cNvSpPr/>
          <p:nvPr/>
        </p:nvSpPr>
        <p:spPr>
          <a:xfrm>
            <a:off x="7556201" y="7051891"/>
            <a:ext cx="9589660" cy="643836"/>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65EDEB56-51BD-C66B-4D3C-03D7154286CA}"/>
              </a:ext>
            </a:extLst>
          </p:cNvPr>
          <p:cNvSpPr txBox="1"/>
          <p:nvPr/>
        </p:nvSpPr>
        <p:spPr>
          <a:xfrm>
            <a:off x="8180500" y="259589"/>
            <a:ext cx="6839717" cy="523220"/>
          </a:xfrm>
          <a:prstGeom prst="rect">
            <a:avLst/>
          </a:prstGeom>
          <a:noFill/>
        </p:spPr>
        <p:txBody>
          <a:bodyPr wrap="square">
            <a:spAutoFit/>
          </a:bodyPr>
          <a:lstStyle/>
          <a:p>
            <a:r>
              <a:rPr kumimoji="1" lang="en-US" altLang="ja-JP" sz="2800" dirty="0">
                <a:solidFill>
                  <a:srgbClr val="E05C49"/>
                </a:solidFill>
              </a:rPr>
              <a:t>P1:</a:t>
            </a:r>
            <a:r>
              <a:rPr kumimoji="1" lang="ja-JP" altLang="en-US" sz="2800">
                <a:solidFill>
                  <a:srgbClr val="E05C49"/>
                </a:solidFill>
              </a:rPr>
              <a:t>対象ディレクトリの実績は乏しい</a:t>
            </a:r>
            <a:endParaRPr lang="ja-JP" altLang="en-US" sz="2800"/>
          </a:p>
        </p:txBody>
      </p:sp>
      <p:sp>
        <p:nvSpPr>
          <p:cNvPr id="48" name="角丸四角形 47">
            <a:extLst>
              <a:ext uri="{FF2B5EF4-FFF2-40B4-BE49-F238E27FC236}">
                <a16:creationId xmlns:a16="http://schemas.microsoft.com/office/drawing/2014/main" id="{1DB41EDC-47F3-E268-8C30-F3EED52C0646}"/>
              </a:ext>
            </a:extLst>
          </p:cNvPr>
          <p:cNvSpPr/>
          <p:nvPr/>
        </p:nvSpPr>
        <p:spPr>
          <a:xfrm>
            <a:off x="8004777" y="8041746"/>
            <a:ext cx="7193964" cy="689751"/>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49" name="テキスト ボックス 48">
            <a:extLst>
              <a:ext uri="{FF2B5EF4-FFF2-40B4-BE49-F238E27FC236}">
                <a16:creationId xmlns:a16="http://schemas.microsoft.com/office/drawing/2014/main" id="{9C92CFCF-561C-855B-BA89-6892FDF6F820}"/>
              </a:ext>
            </a:extLst>
          </p:cNvPr>
          <p:cNvSpPr txBox="1"/>
          <p:nvPr/>
        </p:nvSpPr>
        <p:spPr>
          <a:xfrm>
            <a:off x="8180500" y="8143513"/>
            <a:ext cx="3975660" cy="523220"/>
          </a:xfrm>
          <a:prstGeom prst="rect">
            <a:avLst/>
          </a:prstGeom>
          <a:noFill/>
        </p:spPr>
        <p:txBody>
          <a:bodyPr wrap="square" rtlCol="0">
            <a:spAutoFit/>
          </a:bodyPr>
          <a:lstStyle/>
          <a:p>
            <a:r>
              <a:rPr kumimoji="1" lang="en-US" altLang="ja-JP" sz="2800" dirty="0">
                <a:solidFill>
                  <a:srgbClr val="35B3A0"/>
                </a:solidFill>
              </a:rPr>
              <a:t>P3</a:t>
            </a:r>
            <a:r>
              <a:rPr kumimoji="1" lang="en-US" altLang="ja-JP" dirty="0">
                <a:solidFill>
                  <a:srgbClr val="35B3A0"/>
                </a:solidFill>
              </a:rPr>
              <a:t>(4):</a:t>
            </a:r>
            <a:r>
              <a:rPr kumimoji="1" lang="ja-JP" altLang="en-US" sz="2800">
                <a:solidFill>
                  <a:srgbClr val="35B3A0"/>
                </a:solidFill>
              </a:rPr>
              <a:t>承諾率が高い</a:t>
            </a:r>
          </a:p>
        </p:txBody>
      </p:sp>
      <p:sp>
        <p:nvSpPr>
          <p:cNvPr id="52" name="角丸四角形 51">
            <a:extLst>
              <a:ext uri="{FF2B5EF4-FFF2-40B4-BE49-F238E27FC236}">
                <a16:creationId xmlns:a16="http://schemas.microsoft.com/office/drawing/2014/main" id="{883C8BA7-341E-3DCF-10A1-FD43A8D8CCCB}"/>
              </a:ext>
            </a:extLst>
          </p:cNvPr>
          <p:cNvSpPr/>
          <p:nvPr/>
        </p:nvSpPr>
        <p:spPr>
          <a:xfrm>
            <a:off x="8004777" y="6716649"/>
            <a:ext cx="7193964" cy="689751"/>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53" name="テキスト ボックス 52">
            <a:extLst>
              <a:ext uri="{FF2B5EF4-FFF2-40B4-BE49-F238E27FC236}">
                <a16:creationId xmlns:a16="http://schemas.microsoft.com/office/drawing/2014/main" id="{C07BAA68-FAD4-B6EF-067F-436926D69D76}"/>
              </a:ext>
            </a:extLst>
          </p:cNvPr>
          <p:cNvSpPr txBox="1"/>
          <p:nvPr/>
        </p:nvSpPr>
        <p:spPr>
          <a:xfrm>
            <a:off x="8101959" y="6815908"/>
            <a:ext cx="4775613" cy="523220"/>
          </a:xfrm>
          <a:prstGeom prst="rect">
            <a:avLst/>
          </a:prstGeom>
          <a:noFill/>
        </p:spPr>
        <p:txBody>
          <a:bodyPr wrap="square" rtlCol="0">
            <a:spAutoFit/>
          </a:bodyPr>
          <a:lstStyle/>
          <a:p>
            <a:r>
              <a:rPr kumimoji="1" lang="en-US" altLang="ja-JP" sz="2800" dirty="0">
                <a:solidFill>
                  <a:srgbClr val="F2977A"/>
                </a:solidFill>
              </a:rPr>
              <a:t>P4</a:t>
            </a:r>
            <a:r>
              <a:rPr kumimoji="1" lang="en-US" altLang="ja-JP" sz="2000" dirty="0">
                <a:solidFill>
                  <a:srgbClr val="F2977A"/>
                </a:solidFill>
              </a:rPr>
              <a:t>(3):</a:t>
            </a:r>
            <a:r>
              <a:rPr kumimoji="1" lang="ja-JP" altLang="en-US" sz="2800">
                <a:solidFill>
                  <a:srgbClr val="F2977A"/>
                </a:solidFill>
              </a:rPr>
              <a:t>活動頻度・承諾率が低い</a:t>
            </a:r>
          </a:p>
        </p:txBody>
      </p:sp>
      <p:grpSp>
        <p:nvGrpSpPr>
          <p:cNvPr id="23" name="グループ化 22">
            <a:extLst>
              <a:ext uri="{FF2B5EF4-FFF2-40B4-BE49-F238E27FC236}">
                <a16:creationId xmlns:a16="http://schemas.microsoft.com/office/drawing/2014/main" id="{A2885E5D-C4C0-FD10-173F-FC4D170E7E47}"/>
              </a:ext>
            </a:extLst>
          </p:cNvPr>
          <p:cNvGrpSpPr/>
          <p:nvPr/>
        </p:nvGrpSpPr>
        <p:grpSpPr>
          <a:xfrm>
            <a:off x="7556201" y="2018512"/>
            <a:ext cx="12047866" cy="4084063"/>
            <a:chOff x="8056601" y="3426876"/>
            <a:chExt cx="11715988" cy="4084063"/>
          </a:xfrm>
        </p:grpSpPr>
        <p:sp>
          <p:nvSpPr>
            <p:cNvPr id="25" name="角丸四角形 24">
              <a:extLst>
                <a:ext uri="{FF2B5EF4-FFF2-40B4-BE49-F238E27FC236}">
                  <a16:creationId xmlns:a16="http://schemas.microsoft.com/office/drawing/2014/main" id="{8F329E00-F3C4-07FD-2106-449BB47789B8}"/>
                </a:ext>
              </a:extLst>
            </p:cNvPr>
            <p:cNvSpPr/>
            <p:nvPr/>
          </p:nvSpPr>
          <p:spPr>
            <a:xfrm>
              <a:off x="8056601" y="3759571"/>
              <a:ext cx="9325497" cy="3751368"/>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A3B5DDB4-710F-B5F2-09B9-D1858E58DFAB}"/>
                </a:ext>
              </a:extLst>
            </p:cNvPr>
            <p:cNvSpPr/>
            <p:nvPr/>
          </p:nvSpPr>
          <p:spPr>
            <a:xfrm>
              <a:off x="8492820" y="3426876"/>
              <a:ext cx="8033222" cy="689751"/>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2" name="テキスト ボックス 31">
              <a:extLst>
                <a:ext uri="{FF2B5EF4-FFF2-40B4-BE49-F238E27FC236}">
                  <a16:creationId xmlns:a16="http://schemas.microsoft.com/office/drawing/2014/main" id="{6C7B883F-0E3F-A9D3-D898-770BCFC63391}"/>
                </a:ext>
              </a:extLst>
            </p:cNvPr>
            <p:cNvSpPr txBox="1"/>
            <p:nvPr/>
          </p:nvSpPr>
          <p:spPr>
            <a:xfrm>
              <a:off x="8663703" y="3493526"/>
              <a:ext cx="11108886" cy="523220"/>
            </a:xfrm>
            <a:prstGeom prst="rect">
              <a:avLst/>
            </a:prstGeom>
            <a:noFill/>
            <a:ln>
              <a:noFill/>
            </a:ln>
          </p:spPr>
          <p:txBody>
            <a:bodyPr wrap="square" rtlCol="0">
              <a:spAutoFit/>
            </a:bodyPr>
            <a:lstStyle/>
            <a:p>
              <a:r>
                <a:rPr kumimoji="1" lang="en-US" altLang="ja-JP" sz="2800" dirty="0">
                  <a:solidFill>
                    <a:srgbClr val="8CD3E3"/>
                  </a:solidFill>
                </a:rPr>
                <a:t>P2:</a:t>
              </a:r>
              <a:r>
                <a:rPr kumimoji="1" lang="ja-JP" altLang="en-US" sz="2800">
                  <a:solidFill>
                    <a:srgbClr val="8CD3E3"/>
                  </a:solidFill>
                </a:rPr>
                <a:t>ディレクトリへの関与が</a:t>
              </a:r>
              <a:r>
                <a:rPr kumimoji="1" lang="ja-JP" altLang="en-US" sz="2800">
                  <a:solidFill>
                    <a:schemeClr val="accent1"/>
                  </a:solidFill>
                </a:rPr>
                <a:t>少ない</a:t>
              </a:r>
              <a:r>
                <a:rPr kumimoji="1" lang="ja-JP" altLang="en-US" sz="2000">
                  <a:solidFill>
                    <a:schemeClr val="accent1"/>
                  </a:solidFill>
                </a:rPr>
                <a:t>（</a:t>
              </a:r>
              <a:r>
                <a:rPr kumimoji="1" lang="en-US" altLang="ja-JP" sz="2000" dirty="0">
                  <a:solidFill>
                    <a:schemeClr val="accent1"/>
                  </a:solidFill>
                </a:rPr>
                <a:t>OpenStack</a:t>
              </a:r>
              <a:r>
                <a:rPr kumimoji="1" lang="ja-JP" altLang="en-US" sz="2000">
                  <a:solidFill>
                    <a:schemeClr val="accent1"/>
                  </a:solidFill>
                </a:rPr>
                <a:t>）</a:t>
              </a:r>
              <a:r>
                <a:rPr kumimoji="1" lang="en-US" altLang="ja-JP" sz="2800" dirty="0">
                  <a:solidFill>
                    <a:srgbClr val="8CD3E3"/>
                  </a:solidFill>
                </a:rPr>
                <a:t>/</a:t>
              </a:r>
              <a:r>
                <a:rPr kumimoji="1" lang="ja-JP" altLang="en-US" sz="2800">
                  <a:solidFill>
                    <a:schemeClr val="accent5"/>
                  </a:solidFill>
                </a:rPr>
                <a:t>多い</a:t>
              </a:r>
              <a:r>
                <a:rPr kumimoji="1" lang="en-US" altLang="ja-JP" sz="2000" dirty="0">
                  <a:solidFill>
                    <a:schemeClr val="accent5"/>
                  </a:solidFill>
                </a:rPr>
                <a:t>(AOSP)</a:t>
              </a:r>
              <a:endParaRPr kumimoji="1" lang="ja-JP" altLang="en-US" sz="2800">
                <a:solidFill>
                  <a:schemeClr val="accent5"/>
                </a:solidFill>
              </a:endParaRPr>
            </a:p>
          </p:txBody>
        </p:sp>
      </p:grpSp>
      <p:graphicFrame>
        <p:nvGraphicFramePr>
          <p:cNvPr id="33" name="表 32">
            <a:extLst>
              <a:ext uri="{FF2B5EF4-FFF2-40B4-BE49-F238E27FC236}">
                <a16:creationId xmlns:a16="http://schemas.microsoft.com/office/drawing/2014/main" id="{108F8C73-35EC-5578-C2B4-84AE6AE47242}"/>
              </a:ext>
            </a:extLst>
          </p:cNvPr>
          <p:cNvGraphicFramePr>
            <a:graphicFrameLocks noGrp="1"/>
          </p:cNvGraphicFramePr>
          <p:nvPr>
            <p:extLst>
              <p:ext uri="{D42A27DB-BD31-4B8C-83A1-F6EECF244321}">
                <p14:modId xmlns:p14="http://schemas.microsoft.com/office/powerpoint/2010/main" val="757908717"/>
              </p:ext>
            </p:extLst>
          </p:nvPr>
        </p:nvGraphicFramePr>
        <p:xfrm>
          <a:off x="8252362" y="2836857"/>
          <a:ext cx="8013194" cy="1237122"/>
        </p:xfrm>
        <a:graphic>
          <a:graphicData uri="http://schemas.openxmlformats.org/drawingml/2006/table">
            <a:tbl>
              <a:tblPr/>
              <a:tblGrid>
                <a:gridCol w="2560600">
                  <a:extLst>
                    <a:ext uri="{9D8B030D-6E8A-4147-A177-3AD203B41FA5}">
                      <a16:colId xmlns:a16="http://schemas.microsoft.com/office/drawing/2014/main" val="1311104139"/>
                    </a:ext>
                  </a:extLst>
                </a:gridCol>
                <a:gridCol w="1192755">
                  <a:extLst>
                    <a:ext uri="{9D8B030D-6E8A-4147-A177-3AD203B41FA5}">
                      <a16:colId xmlns:a16="http://schemas.microsoft.com/office/drawing/2014/main" val="3408825403"/>
                    </a:ext>
                  </a:extLst>
                </a:gridCol>
                <a:gridCol w="1405747">
                  <a:extLst>
                    <a:ext uri="{9D8B030D-6E8A-4147-A177-3AD203B41FA5}">
                      <a16:colId xmlns:a16="http://schemas.microsoft.com/office/drawing/2014/main" val="4162252791"/>
                    </a:ext>
                  </a:extLst>
                </a:gridCol>
                <a:gridCol w="1320550">
                  <a:extLst>
                    <a:ext uri="{9D8B030D-6E8A-4147-A177-3AD203B41FA5}">
                      <a16:colId xmlns:a16="http://schemas.microsoft.com/office/drawing/2014/main" val="3704097200"/>
                    </a:ext>
                  </a:extLst>
                </a:gridCol>
                <a:gridCol w="1533542">
                  <a:extLst>
                    <a:ext uri="{9D8B030D-6E8A-4147-A177-3AD203B41FA5}">
                      <a16:colId xmlns:a16="http://schemas.microsoft.com/office/drawing/2014/main" val="3121026712"/>
                    </a:ext>
                  </a:extLst>
                </a:gridCol>
              </a:tblGrid>
              <a:tr h="300382">
                <a:tc>
                  <a:txBody>
                    <a:bodyPr/>
                    <a:lstStyle/>
                    <a:p>
                      <a:pPr marL="0" indent="0" algn="ctr">
                        <a:buNone/>
                      </a:pP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1–3m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4–6m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7–9m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10–12m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extLst>
                  <a:ext uri="{0D108BD9-81ED-4DB2-BD59-A6C34878D82A}">
                    <a16:rowId xmlns:a16="http://schemas.microsoft.com/office/drawing/2014/main" val="540440001"/>
                  </a:ext>
                </a:extLst>
              </a:tr>
              <a:tr h="300382">
                <a:tc>
                  <a:txBody>
                    <a:bodyP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Meiryo" pitchFamily="34" charset="-120"/>
                        </a:rPr>
                        <a:t>P2</a:t>
                      </a:r>
                      <a:r>
                        <a:rPr lang="en-US" sz="2400" b="1" dirty="0">
                          <a:solidFill>
                            <a:schemeClr val="accent1"/>
                          </a:solidFill>
                          <a:latin typeface="MS PGothic" panose="020B0600070205080204" pitchFamily="34" charset="-128"/>
                          <a:ea typeface="MS PGothic" panose="020B0600070205080204" pitchFamily="34" charset="-128"/>
                          <a:cs typeface="Meiryo" pitchFamily="34" charset="-120"/>
                        </a:rPr>
                        <a:t>（OpenStack）</a:t>
                      </a:r>
                      <a:endParaRPr lang="en-US" sz="2400" dirty="0">
                        <a:solidFill>
                          <a:schemeClr val="accent1"/>
                        </a:solidFill>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4DBBD5"/>
                    </a:solidFill>
                  </a:tcPr>
                </a:tc>
                <a:tc>
                  <a:txBody>
                    <a:bodyPr/>
                    <a:lstStyle/>
                    <a:p>
                      <a:pPr marL="0" indent="0" algn="ctr">
                        <a:buNone/>
                      </a:pPr>
                      <a:r>
                        <a:rPr lang="en-US" sz="2400" dirty="0">
                          <a:solidFill>
                            <a:srgbClr val="1F7A33"/>
                          </a:solidFill>
                          <a:latin typeface="MS PGothic" panose="020B0600070205080204" pitchFamily="34" charset="-128"/>
                          <a:ea typeface="MS PGothic" panose="020B0600070205080204" pitchFamily="34" charset="-128"/>
                          <a:cs typeface="Meiryo" pitchFamily="34" charset="-120"/>
                        </a:rPr>
                        <a:t>+2.0</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−1.5</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−0.1</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−4.2</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3643899620"/>
                  </a:ext>
                </a:extLst>
              </a:tr>
              <a:tr h="300382">
                <a:tc>
                  <a:txBody>
                    <a:bodyPr/>
                    <a:lstStyle/>
                    <a:p>
                      <a:pPr marL="0" marR="0" lvl="0" indent="0" algn="ctr" defTabSz="1300277" rtl="0" eaLnBrk="1" fontAlgn="auto" latinLnBrk="0" hangingPunct="1">
                        <a:lnSpc>
                          <a:spcPct val="100000"/>
                        </a:lnSpc>
                        <a:spcBef>
                          <a:spcPts val="0"/>
                        </a:spcBef>
                        <a:spcAft>
                          <a:spcPts val="0"/>
                        </a:spcAft>
                        <a:buClrTx/>
                        <a:buSzTx/>
                        <a:buFontTx/>
                        <a:buNone/>
                        <a:tabLst/>
                        <a:defRPr/>
                      </a:pPr>
                      <a:r>
                        <a:rPr lang="en-US" altLang="ja-JP" sz="2400" b="1" dirty="0">
                          <a:solidFill>
                            <a:srgbClr val="FFFFFF"/>
                          </a:solidFill>
                          <a:latin typeface="MS PGothic" panose="020B0600070205080204" pitchFamily="34" charset="-128"/>
                          <a:ea typeface="MS PGothic" panose="020B0600070205080204" pitchFamily="34" charset="-128"/>
                          <a:cs typeface="Meiryo" pitchFamily="34" charset="-120"/>
                        </a:rPr>
                        <a:t>P2</a:t>
                      </a:r>
                      <a:r>
                        <a:rPr lang="en-US" altLang="ja-JP" sz="2400" b="1" dirty="0">
                          <a:solidFill>
                            <a:schemeClr val="accent5"/>
                          </a:solidFill>
                          <a:latin typeface="MS PGothic" panose="020B0600070205080204" pitchFamily="34" charset="-128"/>
                          <a:ea typeface="MS PGothic" panose="020B0600070205080204" pitchFamily="34" charset="-128"/>
                          <a:cs typeface="Meiryo" pitchFamily="34" charset="-120"/>
                        </a:rPr>
                        <a:t>（AOSP）</a:t>
                      </a:r>
                      <a:endParaRPr lang="en-US" altLang="ja-JP" sz="2400" dirty="0">
                        <a:solidFill>
                          <a:schemeClr val="accent5"/>
                        </a:solidFill>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4DBBD5"/>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−4.4</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−11.4</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−9.8</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−12.4</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1331378893"/>
                  </a:ext>
                </a:extLst>
              </a:tr>
            </a:tbl>
          </a:graphicData>
        </a:graphic>
      </p:graphicFrame>
      <p:sp>
        <p:nvSpPr>
          <p:cNvPr id="34" name="テキスト ボックス 33">
            <a:extLst>
              <a:ext uri="{FF2B5EF4-FFF2-40B4-BE49-F238E27FC236}">
                <a16:creationId xmlns:a16="http://schemas.microsoft.com/office/drawing/2014/main" id="{A08F944D-C2F4-317C-4D91-F496BB9AE6A1}"/>
              </a:ext>
            </a:extLst>
          </p:cNvPr>
          <p:cNvSpPr txBox="1"/>
          <p:nvPr/>
        </p:nvSpPr>
        <p:spPr>
          <a:xfrm>
            <a:off x="8220641" y="4165029"/>
            <a:ext cx="8260779" cy="461665"/>
          </a:xfrm>
          <a:prstGeom prst="rect">
            <a:avLst/>
          </a:prstGeom>
          <a:noFill/>
        </p:spPr>
        <p:txBody>
          <a:bodyPr wrap="square">
            <a:spAutoFit/>
          </a:bodyPr>
          <a:lstStyle/>
          <a:p>
            <a:r>
              <a:rPr lang="ja-JP" altLang="en-US" sz="2400">
                <a:latin typeface="MS PGothic" panose="020B0600070205080204" pitchFamily="34" charset="-128"/>
                <a:ea typeface="MS PGothic" panose="020B0600070205080204" pitchFamily="34" charset="-128"/>
                <a:cs typeface="Meiryo" pitchFamily="34" charset="-120"/>
              </a:rPr>
              <a:t>ディレクトリへの関与が多い</a:t>
            </a:r>
            <a:r>
              <a:rPr lang="en-US" altLang="ja-JP" sz="2400" dirty="0">
                <a:latin typeface="MS PGothic" panose="020B0600070205080204" pitchFamily="34" charset="-128"/>
                <a:ea typeface="MS PGothic" panose="020B0600070205080204" pitchFamily="34" charset="-128"/>
                <a:cs typeface="Meiryo" pitchFamily="34" charset="-120"/>
              </a:rPr>
              <a:t>AOSP</a:t>
            </a:r>
            <a:r>
              <a:rPr lang="ja-JP" altLang="en-US" sz="2400">
                <a:latin typeface="MS PGothic" panose="020B0600070205080204" pitchFamily="34" charset="-128"/>
                <a:ea typeface="MS PGothic" panose="020B0600070205080204" pitchFamily="34" charset="-128"/>
                <a:cs typeface="Meiryo" pitchFamily="34" charset="-120"/>
              </a:rPr>
              <a:t>の</a:t>
            </a:r>
            <a:r>
              <a:rPr lang="en-US" altLang="ja-JP" sz="2400" dirty="0">
                <a:latin typeface="MS PGothic" panose="020B0600070205080204" pitchFamily="34" charset="-128"/>
                <a:ea typeface="MS PGothic" panose="020B0600070205080204" pitchFamily="34" charset="-128"/>
                <a:cs typeface="Meiryo" pitchFamily="34" charset="-120"/>
              </a:rPr>
              <a:t>P2</a:t>
            </a:r>
            <a:r>
              <a:rPr lang="ja-JP" altLang="en-US" sz="2400">
                <a:latin typeface="MS PGothic" panose="020B0600070205080204" pitchFamily="34" charset="-128"/>
                <a:ea typeface="MS PGothic" panose="020B0600070205080204" pitchFamily="34" charset="-128"/>
                <a:cs typeface="Meiryo" pitchFamily="34" charset="-120"/>
              </a:rPr>
              <a:t>では全期間</a:t>
            </a:r>
            <a:r>
              <a:rPr lang="en-US" altLang="ja-JP" sz="2400" dirty="0">
                <a:latin typeface="MS PGothic" panose="020B0600070205080204" pitchFamily="34" charset="-128"/>
                <a:ea typeface="MS PGothic" panose="020B0600070205080204" pitchFamily="34" charset="-128"/>
                <a:cs typeface="Meiryo" pitchFamily="34" charset="-120"/>
              </a:rPr>
              <a:t>RF</a:t>
            </a:r>
            <a:r>
              <a:rPr lang="ja-JP" altLang="en-US" sz="2400">
                <a:latin typeface="MS PGothic" panose="020B0600070205080204" pitchFamily="34" charset="-128"/>
                <a:ea typeface="MS PGothic" panose="020B0600070205080204" pitchFamily="34" charset="-128"/>
                <a:cs typeface="Meiryo" pitchFamily="34" charset="-120"/>
              </a:rPr>
              <a:t>が優位</a:t>
            </a:r>
          </a:p>
        </p:txBody>
      </p:sp>
      <p:sp>
        <p:nvSpPr>
          <p:cNvPr id="35" name="正方形/長方形 34">
            <a:extLst>
              <a:ext uri="{FF2B5EF4-FFF2-40B4-BE49-F238E27FC236}">
                <a16:creationId xmlns:a16="http://schemas.microsoft.com/office/drawing/2014/main" id="{733585A5-E7C4-74E7-5405-0F2DF12BF147}"/>
              </a:ext>
            </a:extLst>
          </p:cNvPr>
          <p:cNvSpPr/>
          <p:nvPr/>
        </p:nvSpPr>
        <p:spPr>
          <a:xfrm>
            <a:off x="8271456" y="4619592"/>
            <a:ext cx="8013195" cy="1316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solidFill>
                  <a:schemeClr val="tx1">
                    <a:lumMod val="75000"/>
                    <a:lumOff val="25000"/>
                  </a:schemeClr>
                </a:solidFill>
              </a:rPr>
              <a:t>IRL</a:t>
            </a:r>
            <a:r>
              <a:rPr kumimoji="1" lang="ja-JP" altLang="en-US" sz="2400">
                <a:solidFill>
                  <a:schemeClr val="tx1">
                    <a:lumMod val="75000"/>
                    <a:lumOff val="25000"/>
                  </a:schemeClr>
                </a:solidFill>
              </a:rPr>
              <a:t>は開発者の関与低下を初期のみ捉えた可能性</a:t>
            </a:r>
            <a:endParaRPr kumimoji="1" lang="en-US" altLang="ja-JP" sz="2400" b="1" dirty="0">
              <a:solidFill>
                <a:schemeClr val="tx1"/>
              </a:solidFill>
            </a:endParaRPr>
          </a:p>
          <a:p>
            <a:pPr algn="ctr"/>
            <a:r>
              <a:rPr kumimoji="1" lang="ja-JP" altLang="en-US" sz="2800">
                <a:solidFill>
                  <a:schemeClr val="tx1"/>
                </a:solidFill>
              </a:rPr>
              <a:t>関与が多いと累積統計量</a:t>
            </a:r>
            <a:r>
              <a:rPr kumimoji="1" lang="en-US" altLang="ja-JP" sz="2800" dirty="0">
                <a:solidFill>
                  <a:schemeClr val="tx1"/>
                </a:solidFill>
              </a:rPr>
              <a:t>(RF)</a:t>
            </a:r>
            <a:r>
              <a:rPr kumimoji="1" lang="ja-JP" altLang="en-US" sz="2800">
                <a:solidFill>
                  <a:schemeClr val="tx1"/>
                </a:solidFill>
              </a:rPr>
              <a:t>の方が優位</a:t>
            </a:r>
            <a:endParaRPr kumimoji="1" lang="en-US" altLang="ja-JP" sz="2800" dirty="0">
              <a:solidFill>
                <a:schemeClr val="tx1"/>
              </a:solidFill>
            </a:endParaRPr>
          </a:p>
        </p:txBody>
      </p:sp>
      <p:sp>
        <p:nvSpPr>
          <p:cNvPr id="38" name="正方形/長方形 37">
            <a:extLst>
              <a:ext uri="{FF2B5EF4-FFF2-40B4-BE49-F238E27FC236}">
                <a16:creationId xmlns:a16="http://schemas.microsoft.com/office/drawing/2014/main" id="{2F741EDA-46FB-0403-463E-B149CEA55FEE}"/>
              </a:ext>
            </a:extLst>
          </p:cNvPr>
          <p:cNvSpPr/>
          <p:nvPr/>
        </p:nvSpPr>
        <p:spPr>
          <a:xfrm>
            <a:off x="7436925" y="105789"/>
            <a:ext cx="9886275" cy="1852172"/>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13110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ACDBE-36BD-FBA9-4DD3-F5C0EF8007C6}"/>
            </a:ext>
          </a:extLst>
        </p:cNvPr>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11BA5732-B920-45AF-C2DB-C507464A42B2}"/>
              </a:ext>
            </a:extLst>
          </p:cNvPr>
          <p:cNvSpPr/>
          <p:nvPr/>
        </p:nvSpPr>
        <p:spPr>
          <a:xfrm>
            <a:off x="0" y="9336937"/>
            <a:ext cx="16603199" cy="410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D5DEFDEE-DC88-DC40-AACB-F508F3B8E9D9}"/>
              </a:ext>
            </a:extLst>
          </p:cNvPr>
          <p:cNvSpPr/>
          <p:nvPr/>
        </p:nvSpPr>
        <p:spPr>
          <a:xfrm>
            <a:off x="0" y="-1"/>
            <a:ext cx="17337088" cy="19316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19203BF5-2C51-E373-D988-4D53DDB4B664}"/>
              </a:ext>
            </a:extLst>
          </p:cNvPr>
          <p:cNvGrpSpPr/>
          <p:nvPr/>
        </p:nvGrpSpPr>
        <p:grpSpPr>
          <a:xfrm>
            <a:off x="-847138" y="244362"/>
            <a:ext cx="9659635" cy="4753784"/>
            <a:chOff x="-463951" y="1996735"/>
            <a:chExt cx="10444047" cy="5139816"/>
          </a:xfrm>
        </p:grpSpPr>
        <p:grpSp>
          <p:nvGrpSpPr>
            <p:cNvPr id="22" name="グループ化 21">
              <a:extLst>
                <a:ext uri="{FF2B5EF4-FFF2-40B4-BE49-F238E27FC236}">
                  <a16:creationId xmlns:a16="http://schemas.microsoft.com/office/drawing/2014/main" id="{899314D1-C7D8-E0D7-E9DC-B5F28914481B}"/>
                </a:ext>
              </a:extLst>
            </p:cNvPr>
            <p:cNvGrpSpPr/>
            <p:nvPr/>
          </p:nvGrpSpPr>
          <p:grpSpPr>
            <a:xfrm>
              <a:off x="-27730" y="1996735"/>
              <a:ext cx="8520551" cy="5139816"/>
              <a:chOff x="236464" y="2091902"/>
              <a:chExt cx="8018542" cy="4836991"/>
            </a:xfrm>
          </p:grpSpPr>
          <p:pic>
            <p:nvPicPr>
              <p:cNvPr id="6" name="図 5">
                <a:extLst>
                  <a:ext uri="{FF2B5EF4-FFF2-40B4-BE49-F238E27FC236}">
                    <a16:creationId xmlns:a16="http://schemas.microsoft.com/office/drawing/2014/main" id="{9DCF2392-9267-076A-C6F6-FBBBF5B21A23}"/>
                  </a:ext>
                </a:extLst>
              </p:cNvPr>
              <p:cNvPicPr>
                <a:picLocks noChangeAspect="1"/>
              </p:cNvPicPr>
              <p:nvPr/>
            </p:nvPicPr>
            <p:blipFill>
              <a:blip r:embed="rId3"/>
              <a:stretch>
                <a:fillRect/>
              </a:stretch>
            </p:blipFill>
            <p:spPr>
              <a:xfrm>
                <a:off x="236464" y="2091902"/>
                <a:ext cx="8018542" cy="4836991"/>
              </a:xfrm>
              <a:prstGeom prst="rect">
                <a:avLst/>
              </a:prstGeom>
              <a:noFill/>
            </p:spPr>
          </p:pic>
          <p:grpSp>
            <p:nvGrpSpPr>
              <p:cNvPr id="21" name="グループ化 20">
                <a:extLst>
                  <a:ext uri="{FF2B5EF4-FFF2-40B4-BE49-F238E27FC236}">
                    <a16:creationId xmlns:a16="http://schemas.microsoft.com/office/drawing/2014/main" id="{1A81ABC8-D075-95BB-B094-465DCE4358DB}"/>
                  </a:ext>
                </a:extLst>
              </p:cNvPr>
              <p:cNvGrpSpPr/>
              <p:nvPr/>
            </p:nvGrpSpPr>
            <p:grpSpPr>
              <a:xfrm>
                <a:off x="236464" y="2377439"/>
                <a:ext cx="7897342" cy="4267201"/>
                <a:chOff x="236464" y="2377439"/>
                <a:chExt cx="7897342" cy="4267201"/>
              </a:xfrm>
            </p:grpSpPr>
            <p:sp>
              <p:nvSpPr>
                <p:cNvPr id="8" name="正方形/長方形 7">
                  <a:extLst>
                    <a:ext uri="{FF2B5EF4-FFF2-40B4-BE49-F238E27FC236}">
                      <a16:creationId xmlns:a16="http://schemas.microsoft.com/office/drawing/2014/main" id="{6B0B936A-0873-B2C5-C4F4-5144A17B8F09}"/>
                    </a:ext>
                  </a:extLst>
                </p:cNvPr>
                <p:cNvSpPr/>
                <p:nvPr/>
              </p:nvSpPr>
              <p:spPr>
                <a:xfrm>
                  <a:off x="236464" y="2377440"/>
                  <a:ext cx="2524153"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9C3E8486-DBD3-AA7E-E762-101FBE8B7DD2}"/>
                    </a:ext>
                  </a:extLst>
                </p:cNvPr>
                <p:cNvSpPr/>
                <p:nvPr/>
              </p:nvSpPr>
              <p:spPr>
                <a:xfrm>
                  <a:off x="6148251" y="2377439"/>
                  <a:ext cx="1854207"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82B8BCE9-BFA6-AE28-57EC-30FFB9E6D39F}"/>
                    </a:ext>
                  </a:extLst>
                </p:cNvPr>
                <p:cNvSpPr/>
                <p:nvPr/>
              </p:nvSpPr>
              <p:spPr>
                <a:xfrm>
                  <a:off x="6148251" y="6196148"/>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643F8F50-6156-C164-0889-3179C369D826}"/>
                    </a:ext>
                  </a:extLst>
                </p:cNvPr>
                <p:cNvSpPr/>
                <p:nvPr/>
              </p:nvSpPr>
              <p:spPr>
                <a:xfrm>
                  <a:off x="1206802" y="6209211"/>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7" name="テキスト ボックス 6">
              <a:extLst>
                <a:ext uri="{FF2B5EF4-FFF2-40B4-BE49-F238E27FC236}">
                  <a16:creationId xmlns:a16="http://schemas.microsoft.com/office/drawing/2014/main" id="{D529D682-9F52-1FDA-60AA-9F9FFCC63055}"/>
                </a:ext>
              </a:extLst>
            </p:cNvPr>
            <p:cNvSpPr txBox="1"/>
            <p:nvPr/>
          </p:nvSpPr>
          <p:spPr>
            <a:xfrm>
              <a:off x="-463951" y="2177550"/>
              <a:ext cx="4494903"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他プロジェクト</a:t>
              </a:r>
              <a:endParaRPr kumimoji="1" lang="en-US" altLang="ja-JP" sz="2000" dirty="0">
                <a:solidFill>
                  <a:srgbClr val="E05C49"/>
                </a:solidFill>
              </a:endParaRPr>
            </a:p>
            <a:p>
              <a:pPr algn="ctr"/>
              <a:r>
                <a:rPr kumimoji="1" lang="ja-JP" altLang="en-US" sz="2000">
                  <a:solidFill>
                    <a:srgbClr val="E05C49"/>
                  </a:solidFill>
                </a:rPr>
                <a:t>経験者（</a:t>
              </a:r>
              <a:r>
                <a:rPr kumimoji="1" lang="en-US" altLang="ja-JP" sz="2000" dirty="0">
                  <a:solidFill>
                    <a:srgbClr val="E05C49"/>
                  </a:solidFill>
                </a:rPr>
                <a:t>n=1,284</a:t>
              </a:r>
              <a:r>
                <a:rPr kumimoji="1" lang="ja-JP" altLang="en-US" sz="2000">
                  <a:solidFill>
                    <a:srgbClr val="E05C49"/>
                  </a:solidFill>
                </a:rPr>
                <a:t>）</a:t>
              </a:r>
            </a:p>
          </p:txBody>
        </p:sp>
        <p:sp>
          <p:nvSpPr>
            <p:cNvPr id="9" name="テキスト ボックス 8">
              <a:extLst>
                <a:ext uri="{FF2B5EF4-FFF2-40B4-BE49-F238E27FC236}">
                  <a16:creationId xmlns:a16="http://schemas.microsoft.com/office/drawing/2014/main" id="{F91300C9-997B-54F8-C1CF-D1C8A4144002}"/>
                </a:ext>
              </a:extLst>
            </p:cNvPr>
            <p:cNvSpPr txBox="1"/>
            <p:nvPr/>
          </p:nvSpPr>
          <p:spPr>
            <a:xfrm>
              <a:off x="5485193" y="2260194"/>
              <a:ext cx="4494903" cy="400110"/>
            </a:xfrm>
            <a:prstGeom prst="rect">
              <a:avLst/>
            </a:prstGeom>
            <a:noFill/>
          </p:spPr>
          <p:txBody>
            <a:bodyPr wrap="square" rtlCol="0">
              <a:spAutoFit/>
            </a:bodyPr>
            <a:lstStyle/>
            <a:p>
              <a:r>
                <a:rPr kumimoji="1" lang="en-US" altLang="ja-JP" sz="2000" dirty="0">
                  <a:solidFill>
                    <a:srgbClr val="8CD3E3"/>
                  </a:solidFill>
                </a:rPr>
                <a:t>P2:</a:t>
              </a:r>
              <a:r>
                <a:rPr kumimoji="1" lang="ja-JP" altLang="en-US" sz="2000">
                  <a:solidFill>
                    <a:srgbClr val="8CD3E3"/>
                  </a:solidFill>
                </a:rPr>
                <a:t>関与低下型（</a:t>
              </a:r>
              <a:r>
                <a:rPr kumimoji="1" lang="en-US" altLang="ja-JP" sz="2000" dirty="0">
                  <a:solidFill>
                    <a:srgbClr val="8CD3E3"/>
                  </a:solidFill>
                </a:rPr>
                <a:t>n=928</a:t>
              </a:r>
              <a:r>
                <a:rPr kumimoji="1" lang="ja-JP" altLang="en-US" sz="2000">
                  <a:solidFill>
                    <a:srgbClr val="8CD3E3"/>
                  </a:solidFill>
                </a:rPr>
                <a:t>）</a:t>
              </a:r>
            </a:p>
          </p:txBody>
        </p:sp>
        <p:sp>
          <p:nvSpPr>
            <p:cNvPr id="10" name="テキスト ボックス 9">
              <a:extLst>
                <a:ext uri="{FF2B5EF4-FFF2-40B4-BE49-F238E27FC236}">
                  <a16:creationId xmlns:a16="http://schemas.microsoft.com/office/drawing/2014/main" id="{D103AB95-73DC-728B-D488-4EE90EA2DA8C}"/>
                </a:ext>
              </a:extLst>
            </p:cNvPr>
            <p:cNvSpPr txBox="1"/>
            <p:nvPr/>
          </p:nvSpPr>
          <p:spPr>
            <a:xfrm>
              <a:off x="658735" y="6371812"/>
              <a:ext cx="4494903" cy="400110"/>
            </a:xfrm>
            <a:prstGeom prst="rect">
              <a:avLst/>
            </a:prstGeom>
            <a:noFill/>
          </p:spPr>
          <p:txBody>
            <a:bodyPr wrap="square" rtlCol="0">
              <a:spAutoFit/>
            </a:bodyPr>
            <a:lstStyle/>
            <a:p>
              <a:r>
                <a:rPr kumimoji="1" lang="en-US" altLang="ja-JP" sz="2000" dirty="0">
                  <a:solidFill>
                    <a:srgbClr val="35B3A0"/>
                  </a:solidFill>
                </a:rPr>
                <a:t>P3:</a:t>
              </a:r>
              <a:r>
                <a:rPr kumimoji="1" lang="ja-JP" altLang="en-US" sz="2000">
                  <a:solidFill>
                    <a:srgbClr val="35B3A0"/>
                  </a:solidFill>
                </a:rPr>
                <a:t>高承諾型（</a:t>
              </a:r>
              <a:r>
                <a:rPr kumimoji="1" lang="en-US" altLang="ja-JP" sz="2000" dirty="0">
                  <a:solidFill>
                    <a:srgbClr val="35B3A0"/>
                  </a:solidFill>
                </a:rPr>
                <a:t>n=539</a:t>
              </a:r>
              <a:r>
                <a:rPr kumimoji="1" lang="ja-JP" altLang="en-US" sz="2000">
                  <a:solidFill>
                    <a:srgbClr val="35B3A0"/>
                  </a:solidFill>
                </a:rPr>
                <a:t>）</a:t>
              </a:r>
            </a:p>
          </p:txBody>
        </p:sp>
        <p:sp>
          <p:nvSpPr>
            <p:cNvPr id="13" name="テキスト ボックス 12">
              <a:extLst>
                <a:ext uri="{FF2B5EF4-FFF2-40B4-BE49-F238E27FC236}">
                  <a16:creationId xmlns:a16="http://schemas.microsoft.com/office/drawing/2014/main" id="{D2580B8F-C64A-0D1E-EAC8-60F1FA807C63}"/>
                </a:ext>
              </a:extLst>
            </p:cNvPr>
            <p:cNvSpPr txBox="1"/>
            <p:nvPr/>
          </p:nvSpPr>
          <p:spPr>
            <a:xfrm>
              <a:off x="4883381" y="6371812"/>
              <a:ext cx="4494903" cy="400110"/>
            </a:xfrm>
            <a:prstGeom prst="rect">
              <a:avLst/>
            </a:prstGeom>
            <a:noFill/>
          </p:spPr>
          <p:txBody>
            <a:bodyPr wrap="square" rtlCol="0">
              <a:spAutoFit/>
            </a:bodyPr>
            <a:lstStyle/>
            <a:p>
              <a:r>
                <a:rPr kumimoji="1" lang="en-US" altLang="ja-JP" sz="2000" dirty="0">
                  <a:solidFill>
                    <a:srgbClr val="F2977A"/>
                  </a:solidFill>
                </a:rPr>
                <a:t>P4:</a:t>
              </a:r>
              <a:r>
                <a:rPr kumimoji="1" lang="ja-JP" altLang="en-US" sz="2000">
                  <a:solidFill>
                    <a:srgbClr val="F2977A"/>
                  </a:solidFill>
                </a:rPr>
                <a:t>低活動・低承諾型（</a:t>
              </a:r>
              <a:r>
                <a:rPr kumimoji="1" lang="en-US" altLang="ja-JP" sz="2000" dirty="0">
                  <a:solidFill>
                    <a:srgbClr val="F2977A"/>
                  </a:solidFill>
                </a:rPr>
                <a:t>n=926</a:t>
              </a:r>
              <a:r>
                <a:rPr kumimoji="1" lang="ja-JP" altLang="en-US" sz="2000">
                  <a:solidFill>
                    <a:srgbClr val="F2977A"/>
                  </a:solidFill>
                </a:rPr>
                <a:t>）</a:t>
              </a:r>
            </a:p>
          </p:txBody>
        </p:sp>
      </p:grpSp>
      <p:sp>
        <p:nvSpPr>
          <p:cNvPr id="11" name="正方形/長方形 10">
            <a:extLst>
              <a:ext uri="{FF2B5EF4-FFF2-40B4-BE49-F238E27FC236}">
                <a16:creationId xmlns:a16="http://schemas.microsoft.com/office/drawing/2014/main" id="{C4D276CE-2C8A-AB4A-BB31-C0716839CCA4}"/>
              </a:ext>
            </a:extLst>
          </p:cNvPr>
          <p:cNvSpPr/>
          <p:nvPr/>
        </p:nvSpPr>
        <p:spPr>
          <a:xfrm>
            <a:off x="8252362" y="880028"/>
            <a:ext cx="8013195" cy="9698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bg1">
                    <a:lumMod val="65000"/>
                  </a:schemeClr>
                </a:solidFill>
              </a:rPr>
              <a:t>IRL</a:t>
            </a:r>
            <a:r>
              <a:rPr kumimoji="1" lang="ja-JP" altLang="en-US" sz="2800">
                <a:solidFill>
                  <a:schemeClr val="bg1">
                    <a:lumMod val="65000"/>
                  </a:schemeClr>
                </a:solidFill>
              </a:rPr>
              <a:t>が他ディレクトリの活動状況を活用</a:t>
            </a:r>
            <a:endParaRPr kumimoji="1" lang="en-US" altLang="ja-JP" sz="2800" dirty="0">
              <a:solidFill>
                <a:schemeClr val="bg1">
                  <a:lumMod val="65000"/>
                </a:schemeClr>
              </a:solidFill>
            </a:endParaRPr>
          </a:p>
          <a:p>
            <a:pPr algn="ctr"/>
            <a:r>
              <a:rPr kumimoji="1" lang="ja-JP" altLang="en-US" sz="2400">
                <a:solidFill>
                  <a:schemeClr val="bg1">
                    <a:lumMod val="65000"/>
                  </a:schemeClr>
                </a:solidFill>
              </a:rPr>
              <a:t>後半になると活動状況の影響が弱まることが示唆</a:t>
            </a:r>
            <a:endParaRPr kumimoji="1" lang="en-US" altLang="ja-JP" sz="2400" dirty="0">
              <a:solidFill>
                <a:schemeClr val="bg1">
                  <a:lumMod val="65000"/>
                </a:schemeClr>
              </a:solidFill>
            </a:endParaRPr>
          </a:p>
        </p:txBody>
      </p:sp>
      <p:sp>
        <p:nvSpPr>
          <p:cNvPr id="67" name="角丸四角形 66">
            <a:extLst>
              <a:ext uri="{FF2B5EF4-FFF2-40B4-BE49-F238E27FC236}">
                <a16:creationId xmlns:a16="http://schemas.microsoft.com/office/drawing/2014/main" id="{F9967067-A9C8-6F8F-A919-18C40077A18B}"/>
              </a:ext>
            </a:extLst>
          </p:cNvPr>
          <p:cNvSpPr/>
          <p:nvPr/>
        </p:nvSpPr>
        <p:spPr>
          <a:xfrm>
            <a:off x="7556201" y="568603"/>
            <a:ext cx="9589660" cy="1327713"/>
          </a:xfrm>
          <a:prstGeom prst="roundRect">
            <a:avLst/>
          </a:prstGeom>
          <a:no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角丸四角形 69">
            <a:extLst>
              <a:ext uri="{FF2B5EF4-FFF2-40B4-BE49-F238E27FC236}">
                <a16:creationId xmlns:a16="http://schemas.microsoft.com/office/drawing/2014/main" id="{4F8B2962-28AD-43E7-BFC2-C29AE3F6D7FE}"/>
              </a:ext>
            </a:extLst>
          </p:cNvPr>
          <p:cNvSpPr/>
          <p:nvPr/>
        </p:nvSpPr>
        <p:spPr>
          <a:xfrm>
            <a:off x="8004777" y="187154"/>
            <a:ext cx="7813979" cy="689751"/>
          </a:xfrm>
          <a:prstGeom prst="roundRect">
            <a:avLst/>
          </a:prstGeom>
          <a:solidFill>
            <a:schemeClr val="bg1"/>
          </a:solid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 name="スライド番号プレースホルダー 2">
            <a:extLst>
              <a:ext uri="{FF2B5EF4-FFF2-40B4-BE49-F238E27FC236}">
                <a16:creationId xmlns:a16="http://schemas.microsoft.com/office/drawing/2014/main" id="{AFCDC779-0AA0-982F-E5FF-9C7969FC1F03}"/>
              </a:ext>
            </a:extLst>
          </p:cNvPr>
          <p:cNvSpPr>
            <a:spLocks noGrp="1"/>
          </p:cNvSpPr>
          <p:nvPr>
            <p:ph type="sldNum" sz="quarter" idx="12"/>
          </p:nvPr>
        </p:nvSpPr>
        <p:spPr/>
        <p:txBody>
          <a:bodyPr/>
          <a:lstStyle/>
          <a:p>
            <a:fld id="{85D74467-FFC2-5C49-A08A-98A9FE9BCA53}" type="slidenum">
              <a:rPr kumimoji="1" lang="ja-JP" altLang="en-US" smtClean="0"/>
              <a:pPr/>
              <a:t>3</a:t>
            </a:fld>
            <a:endParaRPr kumimoji="1" lang="ja-JP" altLang="en-US"/>
          </a:p>
        </p:txBody>
      </p:sp>
      <p:sp>
        <p:nvSpPr>
          <p:cNvPr id="83" name="Text 9">
            <a:extLst>
              <a:ext uri="{FF2B5EF4-FFF2-40B4-BE49-F238E27FC236}">
                <a16:creationId xmlns:a16="http://schemas.microsoft.com/office/drawing/2014/main" id="{388CA1BA-649A-CDFB-8147-F44333DBAB4E}"/>
              </a:ext>
            </a:extLst>
          </p:cNvPr>
          <p:cNvSpPr/>
          <p:nvPr/>
        </p:nvSpPr>
        <p:spPr>
          <a:xfrm>
            <a:off x="-4810613" y="2350323"/>
            <a:ext cx="6157892" cy="1909773"/>
          </a:xfrm>
          <a:prstGeom prst="rect">
            <a:avLst/>
          </a:prstGeom>
          <a:noFill/>
          <a:ln/>
        </p:spPr>
        <p:txBody>
          <a:bodyPr wrap="square" lIns="0" tIns="0" rIns="0" bIns="0" rtlCol="0" anchor="ctr"/>
          <a:lstStyle/>
          <a:p>
            <a:pPr marL="342900" indent="-342900" algn="l">
              <a:buFont typeface="Arial" panose="020B0604020202020204" pitchFamily="34" charset="0"/>
              <a:buChar char="•"/>
            </a:pPr>
            <a:endParaRPr lang="ja-JP" altLang="en-US" sz="2000">
              <a:latin typeface="MS PGothic" panose="020B0600070205080204" pitchFamily="34" charset="-128"/>
              <a:ea typeface="MS PGothic" panose="020B0600070205080204" pitchFamily="34" charset="-128"/>
              <a:cs typeface="Meiryo" pitchFamily="34" charset="-120"/>
            </a:endParaRPr>
          </a:p>
        </p:txBody>
      </p:sp>
      <p:sp>
        <p:nvSpPr>
          <p:cNvPr id="19" name="正方形/長方形 18">
            <a:extLst>
              <a:ext uri="{FF2B5EF4-FFF2-40B4-BE49-F238E27FC236}">
                <a16:creationId xmlns:a16="http://schemas.microsoft.com/office/drawing/2014/main" id="{95F805FF-4E35-C812-FF76-444BEBC9A0D5}"/>
              </a:ext>
            </a:extLst>
          </p:cNvPr>
          <p:cNvSpPr/>
          <p:nvPr/>
        </p:nvSpPr>
        <p:spPr>
          <a:xfrm>
            <a:off x="14728780" y="-2555703"/>
            <a:ext cx="5870448" cy="239594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rgbClr val="FF0000"/>
                </a:solidFill>
              </a:rPr>
              <a:t>散布図２つ並べる・</a:t>
            </a:r>
            <a:r>
              <a:rPr kumimoji="1" lang="en-US" altLang="ja-JP" sz="4000" dirty="0">
                <a:solidFill>
                  <a:srgbClr val="FF0000"/>
                </a:solidFill>
              </a:rPr>
              <a:t>P</a:t>
            </a:r>
            <a:r>
              <a:rPr kumimoji="1" lang="ja-JP" altLang="en-US" sz="4000">
                <a:solidFill>
                  <a:srgbClr val="FF0000"/>
                </a:solidFill>
              </a:rPr>
              <a:t>１から４を一枚にまとめる</a:t>
            </a:r>
            <a:endParaRPr kumimoji="1" lang="en-US" altLang="ja-JP" sz="4000" dirty="0">
              <a:solidFill>
                <a:srgbClr val="FF0000"/>
              </a:solidFill>
            </a:endParaRPr>
          </a:p>
          <a:p>
            <a:pPr algn="ctr"/>
            <a:r>
              <a:rPr kumimoji="1" lang="ja-JP" altLang="en-US" sz="4000">
                <a:solidFill>
                  <a:srgbClr val="FF0000"/>
                </a:solidFill>
              </a:rPr>
              <a:t>詳細は２個ずつ紹介とか</a:t>
            </a:r>
            <a:endParaRPr kumimoji="1" lang="en-US" altLang="ja-JP" sz="4000" dirty="0">
              <a:solidFill>
                <a:srgbClr val="FF0000"/>
              </a:solidFill>
            </a:endParaRPr>
          </a:p>
        </p:txBody>
      </p:sp>
      <p:grpSp>
        <p:nvGrpSpPr>
          <p:cNvPr id="24" name="グループ化 23">
            <a:extLst>
              <a:ext uri="{FF2B5EF4-FFF2-40B4-BE49-F238E27FC236}">
                <a16:creationId xmlns:a16="http://schemas.microsoft.com/office/drawing/2014/main" id="{6EC4A90F-CAC1-D353-6D9E-B0E2B012FADE}"/>
              </a:ext>
            </a:extLst>
          </p:cNvPr>
          <p:cNvGrpSpPr/>
          <p:nvPr/>
        </p:nvGrpSpPr>
        <p:grpSpPr>
          <a:xfrm>
            <a:off x="-3897499" y="5054150"/>
            <a:ext cx="14415338" cy="5139955"/>
            <a:chOff x="-9643191" y="-2889165"/>
            <a:chExt cx="15034054" cy="5360565"/>
          </a:xfrm>
        </p:grpSpPr>
        <p:pic>
          <p:nvPicPr>
            <p:cNvPr id="30" name="図 29">
              <a:extLst>
                <a:ext uri="{FF2B5EF4-FFF2-40B4-BE49-F238E27FC236}">
                  <a16:creationId xmlns:a16="http://schemas.microsoft.com/office/drawing/2014/main" id="{C28F5FE7-6954-0416-C9D2-36034003592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38026" y1="20704" x2="38026" y2="20704"/>
                          <a14:foregroundMark x1="37184" y1="18427" x2="37184" y2="18427"/>
                          <a14:foregroundMark x1="38026" y1="16563" x2="38026" y2="16563"/>
                          <a14:foregroundMark x1="38179" y1="16770" x2="39021" y2="20704"/>
                          <a14:foregroundMark x1="61056" y1="21739" x2="61056" y2="21739"/>
                          <a14:foregroundMark x1="60903" y1="16563" x2="60903" y2="16563"/>
                          <a14:foregroundMark x1="60903" y1="17805" x2="60903" y2="17805"/>
                          <a14:foregroundMark x1="62280" y1="18841" x2="62280" y2="18841"/>
                          <a14:foregroundMark x1="61897" y1="17805" x2="61897" y2="17805"/>
                          <a14:foregroundMark x1="61056" y1="16149" x2="60597" y2="19876"/>
                          <a14:foregroundMark x1="60826" y1="20497" x2="61668" y2="20497"/>
                          <a14:foregroundMark x1="38562" y1="20704" x2="38026" y2="17391"/>
                          <a14:foregroundMark x1="38179" y1="80745" x2="38179" y2="80745"/>
                          <a14:foregroundMark x1="60597" y1="81781" x2="60597" y2="81781"/>
                          <a14:foregroundMark x1="60597" y1="83023" x2="60597" y2="83023"/>
                          <a14:foregroundMark x1="55394" y1="21118" x2="58607" y2="21118"/>
                          <a14:foregroundMark x1="59143" y1="20704" x2="55853" y2="20497"/>
                          <a14:foregroundMark x1="53940" y1="20704" x2="59220" y2="20704"/>
                          <a14:foregroundMark x1="59220" y1="19462" x2="56083" y2="19048"/>
                        </a14:backgroundRemoval>
                      </a14:imgEffect>
                    </a14:imgLayer>
                  </a14:imgProps>
                </a:ext>
              </a:extLst>
            </a:blip>
            <a:stretch>
              <a:fillRect/>
            </a:stretch>
          </p:blipFill>
          <p:spPr>
            <a:xfrm>
              <a:off x="-9133824" y="-2889165"/>
              <a:ext cx="14524687" cy="5360565"/>
            </a:xfrm>
            <a:prstGeom prst="rect">
              <a:avLst/>
            </a:prstGeom>
          </p:spPr>
        </p:pic>
        <p:sp>
          <p:nvSpPr>
            <p:cNvPr id="26" name="テキスト ボックス 25">
              <a:extLst>
                <a:ext uri="{FF2B5EF4-FFF2-40B4-BE49-F238E27FC236}">
                  <a16:creationId xmlns:a16="http://schemas.microsoft.com/office/drawing/2014/main" id="{D148FCC5-5BB0-B72C-F23D-0CF203337A7F}"/>
                </a:ext>
              </a:extLst>
            </p:cNvPr>
            <p:cNvSpPr txBox="1"/>
            <p:nvPr/>
          </p:nvSpPr>
          <p:spPr>
            <a:xfrm>
              <a:off x="-6770239" y="-2755187"/>
              <a:ext cx="5066095"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高活動・</a:t>
              </a:r>
              <a:endParaRPr kumimoji="1" lang="en-US" altLang="ja-JP" sz="2000" dirty="0">
                <a:solidFill>
                  <a:srgbClr val="E05C49"/>
                </a:solidFill>
              </a:endParaRPr>
            </a:p>
            <a:p>
              <a:pPr algn="ctr"/>
              <a:r>
                <a:rPr kumimoji="1" lang="ja-JP" altLang="en-US" sz="2000">
                  <a:solidFill>
                    <a:srgbClr val="E05C49"/>
                  </a:solidFill>
                </a:rPr>
                <a:t>ディレクトリ未経験型</a:t>
              </a:r>
            </a:p>
          </p:txBody>
        </p:sp>
        <p:sp>
          <p:nvSpPr>
            <p:cNvPr id="27" name="テキスト ボックス 26">
              <a:extLst>
                <a:ext uri="{FF2B5EF4-FFF2-40B4-BE49-F238E27FC236}">
                  <a16:creationId xmlns:a16="http://schemas.microsoft.com/office/drawing/2014/main" id="{8A20E7C3-7D73-A9DD-DA4C-A91123DDB4D5}"/>
                </a:ext>
              </a:extLst>
            </p:cNvPr>
            <p:cNvSpPr txBox="1"/>
            <p:nvPr/>
          </p:nvSpPr>
          <p:spPr>
            <a:xfrm>
              <a:off x="-1704144" y="-2440454"/>
              <a:ext cx="5044829" cy="369332"/>
            </a:xfrm>
            <a:prstGeom prst="rect">
              <a:avLst/>
            </a:prstGeom>
            <a:noFill/>
          </p:spPr>
          <p:txBody>
            <a:bodyPr wrap="square" rtlCol="0">
              <a:spAutoFit/>
            </a:bodyPr>
            <a:lstStyle/>
            <a:p>
              <a:r>
                <a:rPr kumimoji="1" lang="en-US" altLang="ja-JP" dirty="0">
                  <a:solidFill>
                    <a:srgbClr val="8CD3E3"/>
                  </a:solidFill>
                </a:rPr>
                <a:t>P2:</a:t>
              </a:r>
              <a:r>
                <a:rPr kumimoji="1" lang="ja-JP" altLang="en-US">
                  <a:solidFill>
                    <a:srgbClr val="8CD3E3"/>
                  </a:solidFill>
                </a:rPr>
                <a:t>ディレクトリ経験者・高関与型</a:t>
              </a:r>
            </a:p>
          </p:txBody>
        </p:sp>
        <p:sp>
          <p:nvSpPr>
            <p:cNvPr id="28" name="テキスト ボックス 27">
              <a:extLst>
                <a:ext uri="{FF2B5EF4-FFF2-40B4-BE49-F238E27FC236}">
                  <a16:creationId xmlns:a16="http://schemas.microsoft.com/office/drawing/2014/main" id="{C48AC3F1-332A-C0F2-C1E7-2D16901B7A49}"/>
                </a:ext>
              </a:extLst>
            </p:cNvPr>
            <p:cNvSpPr txBox="1"/>
            <p:nvPr/>
          </p:nvSpPr>
          <p:spPr>
            <a:xfrm>
              <a:off x="-9643191" y="1635722"/>
              <a:ext cx="10269414" cy="369332"/>
            </a:xfrm>
            <a:prstGeom prst="rect">
              <a:avLst/>
            </a:prstGeom>
            <a:noFill/>
          </p:spPr>
          <p:txBody>
            <a:bodyPr wrap="square">
              <a:spAutoFit/>
            </a:bodyPr>
            <a:lstStyle/>
            <a:p>
              <a:pPr algn="ctr"/>
              <a:r>
                <a:rPr kumimoji="1" lang="en-US" altLang="ja-JP" sz="1800" dirty="0">
                  <a:solidFill>
                    <a:srgbClr val="F4A992"/>
                  </a:solidFill>
                </a:rPr>
                <a:t>P3:</a:t>
              </a:r>
              <a:r>
                <a:rPr kumimoji="1" lang="ja-JP" altLang="en-US" sz="1800">
                  <a:solidFill>
                    <a:srgbClr val="F4A992"/>
                  </a:solidFill>
                </a:rPr>
                <a:t>低承諾型</a:t>
              </a:r>
            </a:p>
          </p:txBody>
        </p:sp>
        <p:sp>
          <p:nvSpPr>
            <p:cNvPr id="29" name="テキスト ボックス 28">
              <a:extLst>
                <a:ext uri="{FF2B5EF4-FFF2-40B4-BE49-F238E27FC236}">
                  <a16:creationId xmlns:a16="http://schemas.microsoft.com/office/drawing/2014/main" id="{27503EEB-BCFB-1CC1-02A4-B817D57B7154}"/>
                </a:ext>
              </a:extLst>
            </p:cNvPr>
            <p:cNvSpPr txBox="1"/>
            <p:nvPr/>
          </p:nvSpPr>
          <p:spPr>
            <a:xfrm>
              <a:off x="-806791" y="1625542"/>
              <a:ext cx="5044829" cy="400110"/>
            </a:xfrm>
            <a:prstGeom prst="rect">
              <a:avLst/>
            </a:prstGeom>
            <a:noFill/>
          </p:spPr>
          <p:txBody>
            <a:bodyPr wrap="square" rtlCol="0">
              <a:spAutoFit/>
            </a:bodyPr>
            <a:lstStyle/>
            <a:p>
              <a:r>
                <a:rPr kumimoji="1" lang="en-US" altLang="ja-JP" sz="2000" dirty="0">
                  <a:solidFill>
                    <a:srgbClr val="35B3A0"/>
                  </a:solidFill>
                </a:rPr>
                <a:t>P4: </a:t>
              </a:r>
              <a:r>
                <a:rPr kumimoji="1" lang="ja-JP" altLang="en-US" sz="2000">
                  <a:solidFill>
                    <a:srgbClr val="35B3A0"/>
                  </a:solidFill>
                </a:rPr>
                <a:t>高承諾・汎用型</a:t>
              </a:r>
            </a:p>
          </p:txBody>
        </p:sp>
      </p:grpSp>
      <p:sp>
        <p:nvSpPr>
          <p:cNvPr id="37" name="角丸四角形 36">
            <a:extLst>
              <a:ext uri="{FF2B5EF4-FFF2-40B4-BE49-F238E27FC236}">
                <a16:creationId xmlns:a16="http://schemas.microsoft.com/office/drawing/2014/main" id="{0BDB1172-6B0A-3912-CDEE-70EF8725BF09}"/>
              </a:ext>
            </a:extLst>
          </p:cNvPr>
          <p:cNvSpPr/>
          <p:nvPr/>
        </p:nvSpPr>
        <p:spPr>
          <a:xfrm>
            <a:off x="7556201" y="8409060"/>
            <a:ext cx="9589660" cy="548804"/>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角丸四角形 38">
            <a:extLst>
              <a:ext uri="{FF2B5EF4-FFF2-40B4-BE49-F238E27FC236}">
                <a16:creationId xmlns:a16="http://schemas.microsoft.com/office/drawing/2014/main" id="{EB0D1C32-4B27-AA5F-7B44-14ED858F9CFB}"/>
              </a:ext>
            </a:extLst>
          </p:cNvPr>
          <p:cNvSpPr/>
          <p:nvPr/>
        </p:nvSpPr>
        <p:spPr>
          <a:xfrm>
            <a:off x="7556201" y="4087368"/>
            <a:ext cx="9589660" cy="3608359"/>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EBF63D25-9D02-5AE5-4757-AEA2D62E4AF8}"/>
              </a:ext>
            </a:extLst>
          </p:cNvPr>
          <p:cNvSpPr txBox="1"/>
          <p:nvPr/>
        </p:nvSpPr>
        <p:spPr>
          <a:xfrm>
            <a:off x="8180500" y="259589"/>
            <a:ext cx="6839717" cy="523220"/>
          </a:xfrm>
          <a:prstGeom prst="rect">
            <a:avLst/>
          </a:prstGeom>
          <a:noFill/>
        </p:spPr>
        <p:txBody>
          <a:bodyPr wrap="square">
            <a:spAutoFit/>
          </a:bodyPr>
          <a:lstStyle/>
          <a:p>
            <a:r>
              <a:rPr kumimoji="1" lang="en-US" altLang="ja-JP" sz="2800" dirty="0">
                <a:solidFill>
                  <a:srgbClr val="E05C49"/>
                </a:solidFill>
              </a:rPr>
              <a:t>P1:</a:t>
            </a:r>
            <a:r>
              <a:rPr kumimoji="1" lang="ja-JP" altLang="en-US" sz="2800">
                <a:solidFill>
                  <a:srgbClr val="E05C49"/>
                </a:solidFill>
              </a:rPr>
              <a:t>対象ディレクトリの実績は乏しい</a:t>
            </a:r>
            <a:endParaRPr lang="ja-JP" altLang="en-US" sz="2800"/>
          </a:p>
        </p:txBody>
      </p:sp>
      <p:sp>
        <p:nvSpPr>
          <p:cNvPr id="48" name="角丸四角形 47">
            <a:extLst>
              <a:ext uri="{FF2B5EF4-FFF2-40B4-BE49-F238E27FC236}">
                <a16:creationId xmlns:a16="http://schemas.microsoft.com/office/drawing/2014/main" id="{BD21385B-B22C-028C-A2B9-D97BEC3420B5}"/>
              </a:ext>
            </a:extLst>
          </p:cNvPr>
          <p:cNvSpPr/>
          <p:nvPr/>
        </p:nvSpPr>
        <p:spPr>
          <a:xfrm>
            <a:off x="8004777" y="8041746"/>
            <a:ext cx="7193964" cy="689751"/>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49" name="テキスト ボックス 48">
            <a:extLst>
              <a:ext uri="{FF2B5EF4-FFF2-40B4-BE49-F238E27FC236}">
                <a16:creationId xmlns:a16="http://schemas.microsoft.com/office/drawing/2014/main" id="{18B65E6F-7247-4374-2334-3B8695084F41}"/>
              </a:ext>
            </a:extLst>
          </p:cNvPr>
          <p:cNvSpPr txBox="1"/>
          <p:nvPr/>
        </p:nvSpPr>
        <p:spPr>
          <a:xfrm>
            <a:off x="8180500" y="8143513"/>
            <a:ext cx="3975660" cy="523220"/>
          </a:xfrm>
          <a:prstGeom prst="rect">
            <a:avLst/>
          </a:prstGeom>
          <a:noFill/>
        </p:spPr>
        <p:txBody>
          <a:bodyPr wrap="square" rtlCol="0">
            <a:spAutoFit/>
          </a:bodyPr>
          <a:lstStyle/>
          <a:p>
            <a:r>
              <a:rPr kumimoji="1" lang="en-US" altLang="ja-JP" sz="2800" dirty="0">
                <a:solidFill>
                  <a:srgbClr val="35B3A0"/>
                </a:solidFill>
              </a:rPr>
              <a:t>P3</a:t>
            </a:r>
            <a:r>
              <a:rPr kumimoji="1" lang="en-US" altLang="ja-JP" dirty="0">
                <a:solidFill>
                  <a:srgbClr val="35B3A0"/>
                </a:solidFill>
              </a:rPr>
              <a:t>(4):</a:t>
            </a:r>
            <a:r>
              <a:rPr kumimoji="1" lang="ja-JP" altLang="en-US" sz="2800">
                <a:solidFill>
                  <a:srgbClr val="35B3A0"/>
                </a:solidFill>
              </a:rPr>
              <a:t>承諾率が高い</a:t>
            </a:r>
          </a:p>
        </p:txBody>
      </p:sp>
      <p:sp>
        <p:nvSpPr>
          <p:cNvPr id="52" name="角丸四角形 51">
            <a:extLst>
              <a:ext uri="{FF2B5EF4-FFF2-40B4-BE49-F238E27FC236}">
                <a16:creationId xmlns:a16="http://schemas.microsoft.com/office/drawing/2014/main" id="{A03B5D9A-C183-3644-BA16-5A53DB1D1FF9}"/>
              </a:ext>
            </a:extLst>
          </p:cNvPr>
          <p:cNvSpPr/>
          <p:nvPr/>
        </p:nvSpPr>
        <p:spPr>
          <a:xfrm>
            <a:off x="8004777" y="3829219"/>
            <a:ext cx="7193964" cy="689751"/>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53" name="テキスト ボックス 52">
            <a:extLst>
              <a:ext uri="{FF2B5EF4-FFF2-40B4-BE49-F238E27FC236}">
                <a16:creationId xmlns:a16="http://schemas.microsoft.com/office/drawing/2014/main" id="{DDD2B691-C98E-4A9E-9F75-0FFCE43B4093}"/>
              </a:ext>
            </a:extLst>
          </p:cNvPr>
          <p:cNvSpPr txBox="1"/>
          <p:nvPr/>
        </p:nvSpPr>
        <p:spPr>
          <a:xfrm>
            <a:off x="8101959" y="3928478"/>
            <a:ext cx="4775613" cy="523220"/>
          </a:xfrm>
          <a:prstGeom prst="rect">
            <a:avLst/>
          </a:prstGeom>
          <a:noFill/>
        </p:spPr>
        <p:txBody>
          <a:bodyPr wrap="square" rtlCol="0">
            <a:spAutoFit/>
          </a:bodyPr>
          <a:lstStyle/>
          <a:p>
            <a:r>
              <a:rPr kumimoji="1" lang="en-US" altLang="ja-JP" sz="2800" dirty="0">
                <a:solidFill>
                  <a:srgbClr val="F2977A"/>
                </a:solidFill>
              </a:rPr>
              <a:t>P4</a:t>
            </a:r>
            <a:r>
              <a:rPr kumimoji="1" lang="en-US" altLang="ja-JP" sz="2000" dirty="0">
                <a:solidFill>
                  <a:srgbClr val="F2977A"/>
                </a:solidFill>
              </a:rPr>
              <a:t>(3):</a:t>
            </a:r>
            <a:r>
              <a:rPr kumimoji="1" lang="ja-JP" altLang="en-US" sz="2800">
                <a:solidFill>
                  <a:srgbClr val="F2977A"/>
                </a:solidFill>
              </a:rPr>
              <a:t>活動頻度・承諾率が低い</a:t>
            </a:r>
          </a:p>
        </p:txBody>
      </p:sp>
      <p:grpSp>
        <p:nvGrpSpPr>
          <p:cNvPr id="23" name="グループ化 22">
            <a:extLst>
              <a:ext uri="{FF2B5EF4-FFF2-40B4-BE49-F238E27FC236}">
                <a16:creationId xmlns:a16="http://schemas.microsoft.com/office/drawing/2014/main" id="{B33967E2-8B5C-45D3-E36B-F4639F494073}"/>
              </a:ext>
            </a:extLst>
          </p:cNvPr>
          <p:cNvGrpSpPr/>
          <p:nvPr/>
        </p:nvGrpSpPr>
        <p:grpSpPr>
          <a:xfrm>
            <a:off x="7556201" y="2018512"/>
            <a:ext cx="12047866" cy="1649295"/>
            <a:chOff x="8056601" y="3426876"/>
            <a:chExt cx="11715988" cy="1649295"/>
          </a:xfrm>
        </p:grpSpPr>
        <p:sp>
          <p:nvSpPr>
            <p:cNvPr id="25" name="角丸四角形 24">
              <a:extLst>
                <a:ext uri="{FF2B5EF4-FFF2-40B4-BE49-F238E27FC236}">
                  <a16:creationId xmlns:a16="http://schemas.microsoft.com/office/drawing/2014/main" id="{EC41F47E-544E-BD76-74A2-6E46A6342020}"/>
                </a:ext>
              </a:extLst>
            </p:cNvPr>
            <p:cNvSpPr/>
            <p:nvPr/>
          </p:nvSpPr>
          <p:spPr>
            <a:xfrm>
              <a:off x="8056601" y="3759571"/>
              <a:ext cx="9325497" cy="1316600"/>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37FD08AF-DF22-CAC6-83FE-B50CA6AE7005}"/>
                </a:ext>
              </a:extLst>
            </p:cNvPr>
            <p:cNvSpPr/>
            <p:nvPr/>
          </p:nvSpPr>
          <p:spPr>
            <a:xfrm>
              <a:off x="8492820" y="3426876"/>
              <a:ext cx="8033222" cy="689751"/>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2" name="テキスト ボックス 31">
              <a:extLst>
                <a:ext uri="{FF2B5EF4-FFF2-40B4-BE49-F238E27FC236}">
                  <a16:creationId xmlns:a16="http://schemas.microsoft.com/office/drawing/2014/main" id="{02BB4E90-CA43-11EC-20B4-6582C9B730CF}"/>
                </a:ext>
              </a:extLst>
            </p:cNvPr>
            <p:cNvSpPr txBox="1"/>
            <p:nvPr/>
          </p:nvSpPr>
          <p:spPr>
            <a:xfrm>
              <a:off x="8663703" y="3493526"/>
              <a:ext cx="11108886" cy="523220"/>
            </a:xfrm>
            <a:prstGeom prst="rect">
              <a:avLst/>
            </a:prstGeom>
            <a:noFill/>
            <a:ln>
              <a:noFill/>
            </a:ln>
          </p:spPr>
          <p:txBody>
            <a:bodyPr wrap="square" rtlCol="0">
              <a:spAutoFit/>
            </a:bodyPr>
            <a:lstStyle/>
            <a:p>
              <a:r>
                <a:rPr kumimoji="1" lang="en-US" altLang="ja-JP" sz="2800" dirty="0">
                  <a:solidFill>
                    <a:srgbClr val="8CD3E3"/>
                  </a:solidFill>
                </a:rPr>
                <a:t>P2:</a:t>
              </a:r>
              <a:r>
                <a:rPr kumimoji="1" lang="ja-JP" altLang="en-US" sz="2800">
                  <a:solidFill>
                    <a:srgbClr val="8CD3E3"/>
                  </a:solidFill>
                </a:rPr>
                <a:t>ディレクトリへの関与が</a:t>
              </a:r>
              <a:r>
                <a:rPr kumimoji="1" lang="ja-JP" altLang="en-US" sz="2800">
                  <a:solidFill>
                    <a:schemeClr val="accent1"/>
                  </a:solidFill>
                </a:rPr>
                <a:t>少ない</a:t>
              </a:r>
              <a:r>
                <a:rPr kumimoji="1" lang="ja-JP" altLang="en-US" sz="2000">
                  <a:solidFill>
                    <a:schemeClr val="accent1"/>
                  </a:solidFill>
                </a:rPr>
                <a:t>（</a:t>
              </a:r>
              <a:r>
                <a:rPr kumimoji="1" lang="en-US" altLang="ja-JP" sz="2000" dirty="0">
                  <a:solidFill>
                    <a:schemeClr val="accent1"/>
                  </a:solidFill>
                </a:rPr>
                <a:t>OpenStack</a:t>
              </a:r>
              <a:r>
                <a:rPr kumimoji="1" lang="ja-JP" altLang="en-US" sz="2000">
                  <a:solidFill>
                    <a:schemeClr val="accent1"/>
                  </a:solidFill>
                </a:rPr>
                <a:t>）</a:t>
              </a:r>
              <a:r>
                <a:rPr kumimoji="1" lang="en-US" altLang="ja-JP" sz="2800" dirty="0">
                  <a:solidFill>
                    <a:srgbClr val="8CD3E3"/>
                  </a:solidFill>
                </a:rPr>
                <a:t>/</a:t>
              </a:r>
              <a:r>
                <a:rPr kumimoji="1" lang="ja-JP" altLang="en-US" sz="2800">
                  <a:solidFill>
                    <a:schemeClr val="accent5"/>
                  </a:solidFill>
                </a:rPr>
                <a:t>多い</a:t>
              </a:r>
              <a:r>
                <a:rPr kumimoji="1" lang="en-US" altLang="ja-JP" sz="2000" dirty="0">
                  <a:solidFill>
                    <a:schemeClr val="accent5"/>
                  </a:solidFill>
                </a:rPr>
                <a:t>(AOSP)</a:t>
              </a:r>
              <a:endParaRPr kumimoji="1" lang="ja-JP" altLang="en-US" sz="2800">
                <a:solidFill>
                  <a:schemeClr val="accent5"/>
                </a:solidFill>
              </a:endParaRPr>
            </a:p>
          </p:txBody>
        </p:sp>
      </p:grpSp>
      <p:sp>
        <p:nvSpPr>
          <p:cNvPr id="35" name="正方形/長方形 34">
            <a:extLst>
              <a:ext uri="{FF2B5EF4-FFF2-40B4-BE49-F238E27FC236}">
                <a16:creationId xmlns:a16="http://schemas.microsoft.com/office/drawing/2014/main" id="{2BB173F7-49D4-29C9-1822-C112127694C9}"/>
              </a:ext>
            </a:extLst>
          </p:cNvPr>
          <p:cNvSpPr/>
          <p:nvPr/>
        </p:nvSpPr>
        <p:spPr>
          <a:xfrm>
            <a:off x="8271456" y="2524621"/>
            <a:ext cx="8013195" cy="1316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solidFill>
                  <a:schemeClr val="bg1">
                    <a:lumMod val="65000"/>
                  </a:schemeClr>
                </a:solidFill>
              </a:rPr>
              <a:t>IRL</a:t>
            </a:r>
            <a:r>
              <a:rPr kumimoji="1" lang="ja-JP" altLang="en-US" sz="2400">
                <a:solidFill>
                  <a:schemeClr val="bg1">
                    <a:lumMod val="65000"/>
                  </a:schemeClr>
                </a:solidFill>
              </a:rPr>
              <a:t>は開発者の関与低下を初期のみ捉えた可能性</a:t>
            </a:r>
            <a:endParaRPr kumimoji="1" lang="en-US" altLang="ja-JP" sz="2400" b="1" dirty="0">
              <a:solidFill>
                <a:schemeClr val="bg1">
                  <a:lumMod val="65000"/>
                </a:schemeClr>
              </a:solidFill>
            </a:endParaRPr>
          </a:p>
          <a:p>
            <a:pPr algn="ctr"/>
            <a:r>
              <a:rPr kumimoji="1" lang="ja-JP" altLang="en-US" sz="2800">
                <a:solidFill>
                  <a:schemeClr val="bg1">
                    <a:lumMod val="65000"/>
                  </a:schemeClr>
                </a:solidFill>
              </a:rPr>
              <a:t>関与が多いと累積統計量</a:t>
            </a:r>
            <a:r>
              <a:rPr kumimoji="1" lang="en-US" altLang="ja-JP" sz="2800" dirty="0">
                <a:solidFill>
                  <a:schemeClr val="bg1">
                    <a:lumMod val="65000"/>
                  </a:schemeClr>
                </a:solidFill>
              </a:rPr>
              <a:t>(RF)</a:t>
            </a:r>
            <a:r>
              <a:rPr kumimoji="1" lang="ja-JP" altLang="en-US" sz="2800">
                <a:solidFill>
                  <a:schemeClr val="bg1">
                    <a:lumMod val="65000"/>
                  </a:schemeClr>
                </a:solidFill>
              </a:rPr>
              <a:t>の方が優位</a:t>
            </a:r>
            <a:endParaRPr kumimoji="1" lang="en-US" altLang="ja-JP" sz="2800" dirty="0">
              <a:solidFill>
                <a:schemeClr val="bg1">
                  <a:lumMod val="65000"/>
                </a:schemeClr>
              </a:solidFill>
            </a:endParaRPr>
          </a:p>
        </p:txBody>
      </p:sp>
      <p:graphicFrame>
        <p:nvGraphicFramePr>
          <p:cNvPr id="2" name="表 1">
            <a:extLst>
              <a:ext uri="{FF2B5EF4-FFF2-40B4-BE49-F238E27FC236}">
                <a16:creationId xmlns:a16="http://schemas.microsoft.com/office/drawing/2014/main" id="{F976A528-A2C9-E865-0573-0A6D99DE1304}"/>
              </a:ext>
            </a:extLst>
          </p:cNvPr>
          <p:cNvGraphicFramePr>
            <a:graphicFrameLocks noGrp="1"/>
          </p:cNvGraphicFramePr>
          <p:nvPr>
            <p:extLst>
              <p:ext uri="{D42A27DB-BD31-4B8C-83A1-F6EECF244321}">
                <p14:modId xmlns:p14="http://schemas.microsoft.com/office/powerpoint/2010/main" val="2213473815"/>
              </p:ext>
            </p:extLst>
          </p:nvPr>
        </p:nvGraphicFramePr>
        <p:xfrm>
          <a:off x="8152754" y="4635275"/>
          <a:ext cx="8013194" cy="1237122"/>
        </p:xfrm>
        <a:graphic>
          <a:graphicData uri="http://schemas.openxmlformats.org/drawingml/2006/table">
            <a:tbl>
              <a:tblPr/>
              <a:tblGrid>
                <a:gridCol w="2560600">
                  <a:extLst>
                    <a:ext uri="{9D8B030D-6E8A-4147-A177-3AD203B41FA5}">
                      <a16:colId xmlns:a16="http://schemas.microsoft.com/office/drawing/2014/main" val="1311104139"/>
                    </a:ext>
                  </a:extLst>
                </a:gridCol>
                <a:gridCol w="1192755">
                  <a:extLst>
                    <a:ext uri="{9D8B030D-6E8A-4147-A177-3AD203B41FA5}">
                      <a16:colId xmlns:a16="http://schemas.microsoft.com/office/drawing/2014/main" val="3408825403"/>
                    </a:ext>
                  </a:extLst>
                </a:gridCol>
                <a:gridCol w="1405747">
                  <a:extLst>
                    <a:ext uri="{9D8B030D-6E8A-4147-A177-3AD203B41FA5}">
                      <a16:colId xmlns:a16="http://schemas.microsoft.com/office/drawing/2014/main" val="4162252791"/>
                    </a:ext>
                  </a:extLst>
                </a:gridCol>
                <a:gridCol w="1320550">
                  <a:extLst>
                    <a:ext uri="{9D8B030D-6E8A-4147-A177-3AD203B41FA5}">
                      <a16:colId xmlns:a16="http://schemas.microsoft.com/office/drawing/2014/main" val="3704097200"/>
                    </a:ext>
                  </a:extLst>
                </a:gridCol>
                <a:gridCol w="1533542">
                  <a:extLst>
                    <a:ext uri="{9D8B030D-6E8A-4147-A177-3AD203B41FA5}">
                      <a16:colId xmlns:a16="http://schemas.microsoft.com/office/drawing/2014/main" val="3121026712"/>
                    </a:ext>
                  </a:extLst>
                </a:gridCol>
              </a:tblGrid>
              <a:tr h="300382">
                <a:tc>
                  <a:txBody>
                    <a:bodyPr/>
                    <a:lstStyle/>
                    <a:p>
                      <a:pPr marL="0" indent="0" algn="ctr">
                        <a:buNone/>
                      </a:pP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1–3m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4–6m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7–9m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10–12m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extLst>
                  <a:ext uri="{0D108BD9-81ED-4DB2-BD59-A6C34878D82A}">
                    <a16:rowId xmlns:a16="http://schemas.microsoft.com/office/drawing/2014/main" val="540440001"/>
                  </a:ext>
                </a:extLst>
              </a:tr>
              <a:tr h="300382">
                <a:tc>
                  <a:txBody>
                    <a:bodyP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Meiryo" pitchFamily="34" charset="-120"/>
                        </a:rPr>
                        <a:t>P4(OpenStack)</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0997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−0.4</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−0.5</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−8.7</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−5.9</a:t>
                      </a:r>
                      <a:endParaRPr lang="en-US"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3643899620"/>
                  </a:ext>
                </a:extLst>
              </a:tr>
              <a:tr h="300382">
                <a:tc>
                  <a:txBody>
                    <a:bodyPr/>
                    <a:lstStyle/>
                    <a:p>
                      <a:pPr marL="0" marR="0" lvl="0" indent="0" algn="ctr" defTabSz="1300277" rtl="0" eaLnBrk="1" fontAlgn="auto" latinLnBrk="0" hangingPunct="1">
                        <a:lnSpc>
                          <a:spcPct val="100000"/>
                        </a:lnSpc>
                        <a:spcBef>
                          <a:spcPts val="0"/>
                        </a:spcBef>
                        <a:spcAft>
                          <a:spcPts val="0"/>
                        </a:spcAft>
                        <a:buClrTx/>
                        <a:buSzTx/>
                        <a:buFontTx/>
                        <a:buNone/>
                        <a:tabLst/>
                        <a:defRPr/>
                      </a:pPr>
                      <a:r>
                        <a:rPr lang="en-US" altLang="ja-JP" sz="2400" b="1" dirty="0">
                          <a:solidFill>
                            <a:srgbClr val="FFFFFF"/>
                          </a:solidFill>
                          <a:latin typeface="MS PGothic" panose="020B0600070205080204" pitchFamily="34" charset="-128"/>
                          <a:ea typeface="MS PGothic" panose="020B0600070205080204" pitchFamily="34" charset="-128"/>
                          <a:cs typeface="Meiryo" pitchFamily="34" charset="-120"/>
                        </a:rPr>
                        <a:t>P3（AOSP）</a:t>
                      </a:r>
                      <a:endParaRPr lang="en-US" altLang="ja-JP"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0997F"/>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+1.5</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−0.5</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−2.9</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C00000"/>
                          </a:solidFill>
                          <a:latin typeface="MS PGothic" panose="020B0600070205080204" pitchFamily="34" charset="-128"/>
                          <a:ea typeface="MS PGothic" panose="020B0600070205080204" pitchFamily="34" charset="-128"/>
                          <a:cs typeface="Meiryo" pitchFamily="34" charset="-120"/>
                        </a:rPr>
                        <a:t>−2.6</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1331378893"/>
                  </a:ext>
                </a:extLst>
              </a:tr>
            </a:tbl>
          </a:graphicData>
        </a:graphic>
      </p:graphicFrame>
      <p:sp>
        <p:nvSpPr>
          <p:cNvPr id="5" name="正方形/長方形 4">
            <a:extLst>
              <a:ext uri="{FF2B5EF4-FFF2-40B4-BE49-F238E27FC236}">
                <a16:creationId xmlns:a16="http://schemas.microsoft.com/office/drawing/2014/main" id="{E8EC2D74-A75B-7E12-7519-E0593F4A5E82}"/>
              </a:ext>
            </a:extLst>
          </p:cNvPr>
          <p:cNvSpPr/>
          <p:nvPr/>
        </p:nvSpPr>
        <p:spPr>
          <a:xfrm>
            <a:off x="8301599" y="6516457"/>
            <a:ext cx="8013195" cy="89050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solidFill>
                  <a:schemeClr val="tx1"/>
                </a:solidFill>
              </a:rPr>
              <a:t>活動頻度が低いと</a:t>
            </a:r>
            <a:r>
              <a:rPr kumimoji="1" lang="en-US" altLang="ja-JP" sz="2800" dirty="0">
                <a:solidFill>
                  <a:schemeClr val="tx1"/>
                </a:solidFill>
              </a:rPr>
              <a:t>IRL</a:t>
            </a:r>
            <a:r>
              <a:rPr kumimoji="1" lang="ja-JP" altLang="en-US" sz="2800">
                <a:solidFill>
                  <a:schemeClr val="tx1"/>
                </a:solidFill>
              </a:rPr>
              <a:t>が軌跡を十分に学習できない</a:t>
            </a:r>
            <a:endParaRPr kumimoji="1" lang="en-US" altLang="ja-JP" sz="2800" dirty="0">
              <a:solidFill>
                <a:schemeClr val="tx1"/>
              </a:solidFill>
            </a:endParaRPr>
          </a:p>
        </p:txBody>
      </p:sp>
      <p:sp>
        <p:nvSpPr>
          <p:cNvPr id="12" name="テキスト ボックス 11">
            <a:extLst>
              <a:ext uri="{FF2B5EF4-FFF2-40B4-BE49-F238E27FC236}">
                <a16:creationId xmlns:a16="http://schemas.microsoft.com/office/drawing/2014/main" id="{245C4A09-8843-C938-3824-83EE11F60FF9}"/>
              </a:ext>
            </a:extLst>
          </p:cNvPr>
          <p:cNvSpPr txBox="1"/>
          <p:nvPr/>
        </p:nvSpPr>
        <p:spPr>
          <a:xfrm>
            <a:off x="8252362" y="5978778"/>
            <a:ext cx="8260779" cy="461665"/>
          </a:xfrm>
          <a:prstGeom prst="rect">
            <a:avLst/>
          </a:prstGeom>
          <a:noFill/>
        </p:spPr>
        <p:txBody>
          <a:bodyPr wrap="square">
            <a:spAutoFit/>
          </a:bodyPr>
          <a:lstStyle/>
          <a:p>
            <a:r>
              <a:rPr lang="ja-JP" altLang="en-US" sz="2400">
                <a:latin typeface="MS PGothic" panose="020B0600070205080204" pitchFamily="34" charset="-128"/>
                <a:ea typeface="MS PGothic" panose="020B0600070205080204" pitchFamily="34" charset="-128"/>
                <a:cs typeface="Meiryo" pitchFamily="34" charset="-120"/>
              </a:rPr>
              <a:t>基本的に</a:t>
            </a:r>
            <a:r>
              <a:rPr lang="en-US" altLang="ja-JP" sz="2400" dirty="0">
                <a:latin typeface="MS PGothic" panose="020B0600070205080204" pitchFamily="34" charset="-128"/>
                <a:ea typeface="MS PGothic" panose="020B0600070205080204" pitchFamily="34" charset="-128"/>
                <a:cs typeface="Meiryo" pitchFamily="34" charset="-120"/>
              </a:rPr>
              <a:t>RF</a:t>
            </a:r>
            <a:r>
              <a:rPr lang="ja-JP" altLang="en-US" sz="2400">
                <a:latin typeface="MS PGothic" panose="020B0600070205080204" pitchFamily="34" charset="-128"/>
                <a:ea typeface="MS PGothic" panose="020B0600070205080204" pitchFamily="34" charset="-128"/>
                <a:cs typeface="Meiryo" pitchFamily="34" charset="-120"/>
              </a:rPr>
              <a:t>が優位，後半は差が拡大する傾向</a:t>
            </a:r>
          </a:p>
        </p:txBody>
      </p:sp>
      <p:sp>
        <p:nvSpPr>
          <p:cNvPr id="16" name="正方形/長方形 15">
            <a:extLst>
              <a:ext uri="{FF2B5EF4-FFF2-40B4-BE49-F238E27FC236}">
                <a16:creationId xmlns:a16="http://schemas.microsoft.com/office/drawing/2014/main" id="{CAF160B1-EB8D-0B18-0E84-DBD778C0522B}"/>
              </a:ext>
            </a:extLst>
          </p:cNvPr>
          <p:cNvSpPr/>
          <p:nvPr/>
        </p:nvSpPr>
        <p:spPr>
          <a:xfrm>
            <a:off x="7436926" y="62967"/>
            <a:ext cx="9166274" cy="3659872"/>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9255776A-6F46-647E-3C94-8045871E4830}"/>
              </a:ext>
            </a:extLst>
          </p:cNvPr>
          <p:cNvSpPr/>
          <p:nvPr/>
        </p:nvSpPr>
        <p:spPr>
          <a:xfrm>
            <a:off x="7436925" y="215367"/>
            <a:ext cx="9886275" cy="3659872"/>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A60784B1-AB46-85F9-A6D8-563792162509}"/>
              </a:ext>
            </a:extLst>
          </p:cNvPr>
          <p:cNvSpPr/>
          <p:nvPr/>
        </p:nvSpPr>
        <p:spPr>
          <a:xfrm>
            <a:off x="7436925" y="7870663"/>
            <a:ext cx="9765225" cy="1378805"/>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64833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4FE70-655A-E08F-C1C7-7AB39AA0548E}"/>
            </a:ext>
          </a:extLst>
        </p:cNvPr>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1B89D0AE-01CB-6EA7-D8F7-18DA32AFA841}"/>
              </a:ext>
            </a:extLst>
          </p:cNvPr>
          <p:cNvSpPr/>
          <p:nvPr/>
        </p:nvSpPr>
        <p:spPr>
          <a:xfrm>
            <a:off x="0" y="9336937"/>
            <a:ext cx="16603199" cy="4105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A311AE88-A70B-ED96-14B6-4AE818C4179B}"/>
              </a:ext>
            </a:extLst>
          </p:cNvPr>
          <p:cNvSpPr/>
          <p:nvPr/>
        </p:nvSpPr>
        <p:spPr>
          <a:xfrm>
            <a:off x="0" y="-1"/>
            <a:ext cx="17337088" cy="19316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DB588861-EE08-206C-4C22-838DE5B986DB}"/>
              </a:ext>
            </a:extLst>
          </p:cNvPr>
          <p:cNvGrpSpPr/>
          <p:nvPr/>
        </p:nvGrpSpPr>
        <p:grpSpPr>
          <a:xfrm>
            <a:off x="-847138" y="244362"/>
            <a:ext cx="9659635" cy="4753784"/>
            <a:chOff x="-463951" y="1996735"/>
            <a:chExt cx="10444047" cy="5139816"/>
          </a:xfrm>
        </p:grpSpPr>
        <p:grpSp>
          <p:nvGrpSpPr>
            <p:cNvPr id="22" name="グループ化 21">
              <a:extLst>
                <a:ext uri="{FF2B5EF4-FFF2-40B4-BE49-F238E27FC236}">
                  <a16:creationId xmlns:a16="http://schemas.microsoft.com/office/drawing/2014/main" id="{66DACAEB-5221-6FBC-06A7-FA56EC7836A7}"/>
                </a:ext>
              </a:extLst>
            </p:cNvPr>
            <p:cNvGrpSpPr/>
            <p:nvPr/>
          </p:nvGrpSpPr>
          <p:grpSpPr>
            <a:xfrm>
              <a:off x="-27730" y="1996735"/>
              <a:ext cx="8520551" cy="5139816"/>
              <a:chOff x="236464" y="2091902"/>
              <a:chExt cx="8018542" cy="4836991"/>
            </a:xfrm>
          </p:grpSpPr>
          <p:pic>
            <p:nvPicPr>
              <p:cNvPr id="6" name="図 5">
                <a:extLst>
                  <a:ext uri="{FF2B5EF4-FFF2-40B4-BE49-F238E27FC236}">
                    <a16:creationId xmlns:a16="http://schemas.microsoft.com/office/drawing/2014/main" id="{57B48A6B-C922-4088-5333-ACF6BDB9C036}"/>
                  </a:ext>
                </a:extLst>
              </p:cNvPr>
              <p:cNvPicPr>
                <a:picLocks noChangeAspect="1"/>
              </p:cNvPicPr>
              <p:nvPr/>
            </p:nvPicPr>
            <p:blipFill>
              <a:blip r:embed="rId3"/>
              <a:stretch>
                <a:fillRect/>
              </a:stretch>
            </p:blipFill>
            <p:spPr>
              <a:xfrm>
                <a:off x="236464" y="2091902"/>
                <a:ext cx="8018542" cy="4836991"/>
              </a:xfrm>
              <a:prstGeom prst="rect">
                <a:avLst/>
              </a:prstGeom>
              <a:noFill/>
            </p:spPr>
          </p:pic>
          <p:grpSp>
            <p:nvGrpSpPr>
              <p:cNvPr id="21" name="グループ化 20">
                <a:extLst>
                  <a:ext uri="{FF2B5EF4-FFF2-40B4-BE49-F238E27FC236}">
                    <a16:creationId xmlns:a16="http://schemas.microsoft.com/office/drawing/2014/main" id="{AB29A608-BE03-6954-E9CB-F644493FC6BF}"/>
                  </a:ext>
                </a:extLst>
              </p:cNvPr>
              <p:cNvGrpSpPr/>
              <p:nvPr/>
            </p:nvGrpSpPr>
            <p:grpSpPr>
              <a:xfrm>
                <a:off x="236464" y="2377439"/>
                <a:ext cx="7897342" cy="4267201"/>
                <a:chOff x="236464" y="2377439"/>
                <a:chExt cx="7897342" cy="4267201"/>
              </a:xfrm>
            </p:grpSpPr>
            <p:sp>
              <p:nvSpPr>
                <p:cNvPr id="8" name="正方形/長方形 7">
                  <a:extLst>
                    <a:ext uri="{FF2B5EF4-FFF2-40B4-BE49-F238E27FC236}">
                      <a16:creationId xmlns:a16="http://schemas.microsoft.com/office/drawing/2014/main" id="{B4A22FBB-F607-82D1-B7F5-2079580B0664}"/>
                    </a:ext>
                  </a:extLst>
                </p:cNvPr>
                <p:cNvSpPr/>
                <p:nvPr/>
              </p:nvSpPr>
              <p:spPr>
                <a:xfrm>
                  <a:off x="236464" y="2377440"/>
                  <a:ext cx="2524153"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ACAB997-58DC-893C-D410-B71973B83601}"/>
                    </a:ext>
                  </a:extLst>
                </p:cNvPr>
                <p:cNvSpPr/>
                <p:nvPr/>
              </p:nvSpPr>
              <p:spPr>
                <a:xfrm>
                  <a:off x="6148251" y="2377439"/>
                  <a:ext cx="1854207"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9B79564F-EB81-0270-2319-01C414E2AB76}"/>
                    </a:ext>
                  </a:extLst>
                </p:cNvPr>
                <p:cNvSpPr/>
                <p:nvPr/>
              </p:nvSpPr>
              <p:spPr>
                <a:xfrm>
                  <a:off x="6148251" y="6196148"/>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8A72953A-8712-080D-4A6B-15EA05000656}"/>
                    </a:ext>
                  </a:extLst>
                </p:cNvPr>
                <p:cNvSpPr/>
                <p:nvPr/>
              </p:nvSpPr>
              <p:spPr>
                <a:xfrm>
                  <a:off x="1206802" y="6209211"/>
                  <a:ext cx="1985555" cy="4354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7" name="テキスト ボックス 6">
              <a:extLst>
                <a:ext uri="{FF2B5EF4-FFF2-40B4-BE49-F238E27FC236}">
                  <a16:creationId xmlns:a16="http://schemas.microsoft.com/office/drawing/2014/main" id="{EEF1D774-B614-76F5-1CE5-EE6A45749A64}"/>
                </a:ext>
              </a:extLst>
            </p:cNvPr>
            <p:cNvSpPr txBox="1"/>
            <p:nvPr/>
          </p:nvSpPr>
          <p:spPr>
            <a:xfrm>
              <a:off x="-463951" y="2177550"/>
              <a:ext cx="4494903"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他プロジェクト</a:t>
              </a:r>
              <a:endParaRPr kumimoji="1" lang="en-US" altLang="ja-JP" sz="2000" dirty="0">
                <a:solidFill>
                  <a:srgbClr val="E05C49"/>
                </a:solidFill>
              </a:endParaRPr>
            </a:p>
            <a:p>
              <a:pPr algn="ctr"/>
              <a:r>
                <a:rPr kumimoji="1" lang="ja-JP" altLang="en-US" sz="2000">
                  <a:solidFill>
                    <a:srgbClr val="E05C49"/>
                  </a:solidFill>
                </a:rPr>
                <a:t>経験者（</a:t>
              </a:r>
              <a:r>
                <a:rPr kumimoji="1" lang="en-US" altLang="ja-JP" sz="2000" dirty="0">
                  <a:solidFill>
                    <a:srgbClr val="E05C49"/>
                  </a:solidFill>
                </a:rPr>
                <a:t>n=1,284</a:t>
              </a:r>
              <a:r>
                <a:rPr kumimoji="1" lang="ja-JP" altLang="en-US" sz="2000">
                  <a:solidFill>
                    <a:srgbClr val="E05C49"/>
                  </a:solidFill>
                </a:rPr>
                <a:t>）</a:t>
              </a:r>
            </a:p>
          </p:txBody>
        </p:sp>
        <p:sp>
          <p:nvSpPr>
            <p:cNvPr id="9" name="テキスト ボックス 8">
              <a:extLst>
                <a:ext uri="{FF2B5EF4-FFF2-40B4-BE49-F238E27FC236}">
                  <a16:creationId xmlns:a16="http://schemas.microsoft.com/office/drawing/2014/main" id="{2B707CBC-5E1B-1D3E-DF1D-5E5806132A6D}"/>
                </a:ext>
              </a:extLst>
            </p:cNvPr>
            <p:cNvSpPr txBox="1"/>
            <p:nvPr/>
          </p:nvSpPr>
          <p:spPr>
            <a:xfrm>
              <a:off x="5485193" y="2260194"/>
              <a:ext cx="4494903" cy="400110"/>
            </a:xfrm>
            <a:prstGeom prst="rect">
              <a:avLst/>
            </a:prstGeom>
            <a:noFill/>
          </p:spPr>
          <p:txBody>
            <a:bodyPr wrap="square" rtlCol="0">
              <a:spAutoFit/>
            </a:bodyPr>
            <a:lstStyle/>
            <a:p>
              <a:r>
                <a:rPr kumimoji="1" lang="en-US" altLang="ja-JP" sz="2000" dirty="0">
                  <a:solidFill>
                    <a:srgbClr val="8CD3E3"/>
                  </a:solidFill>
                </a:rPr>
                <a:t>P2:</a:t>
              </a:r>
              <a:r>
                <a:rPr kumimoji="1" lang="ja-JP" altLang="en-US" sz="2000">
                  <a:solidFill>
                    <a:srgbClr val="8CD3E3"/>
                  </a:solidFill>
                </a:rPr>
                <a:t>関与低下型（</a:t>
              </a:r>
              <a:r>
                <a:rPr kumimoji="1" lang="en-US" altLang="ja-JP" sz="2000" dirty="0">
                  <a:solidFill>
                    <a:srgbClr val="8CD3E3"/>
                  </a:solidFill>
                </a:rPr>
                <a:t>n=928</a:t>
              </a:r>
              <a:r>
                <a:rPr kumimoji="1" lang="ja-JP" altLang="en-US" sz="2000">
                  <a:solidFill>
                    <a:srgbClr val="8CD3E3"/>
                  </a:solidFill>
                </a:rPr>
                <a:t>）</a:t>
              </a:r>
            </a:p>
          </p:txBody>
        </p:sp>
        <p:sp>
          <p:nvSpPr>
            <p:cNvPr id="10" name="テキスト ボックス 9">
              <a:extLst>
                <a:ext uri="{FF2B5EF4-FFF2-40B4-BE49-F238E27FC236}">
                  <a16:creationId xmlns:a16="http://schemas.microsoft.com/office/drawing/2014/main" id="{6C394073-FD32-A947-34DE-84B5FA94B4BD}"/>
                </a:ext>
              </a:extLst>
            </p:cNvPr>
            <p:cNvSpPr txBox="1"/>
            <p:nvPr/>
          </p:nvSpPr>
          <p:spPr>
            <a:xfrm>
              <a:off x="658735" y="6371812"/>
              <a:ext cx="4494903" cy="400110"/>
            </a:xfrm>
            <a:prstGeom prst="rect">
              <a:avLst/>
            </a:prstGeom>
            <a:noFill/>
          </p:spPr>
          <p:txBody>
            <a:bodyPr wrap="square" rtlCol="0">
              <a:spAutoFit/>
            </a:bodyPr>
            <a:lstStyle/>
            <a:p>
              <a:r>
                <a:rPr kumimoji="1" lang="en-US" altLang="ja-JP" sz="2000" dirty="0">
                  <a:solidFill>
                    <a:srgbClr val="35B3A0"/>
                  </a:solidFill>
                </a:rPr>
                <a:t>P3:</a:t>
              </a:r>
              <a:r>
                <a:rPr kumimoji="1" lang="ja-JP" altLang="en-US" sz="2000">
                  <a:solidFill>
                    <a:srgbClr val="35B3A0"/>
                  </a:solidFill>
                </a:rPr>
                <a:t>高承諾型（</a:t>
              </a:r>
              <a:r>
                <a:rPr kumimoji="1" lang="en-US" altLang="ja-JP" sz="2000" dirty="0">
                  <a:solidFill>
                    <a:srgbClr val="35B3A0"/>
                  </a:solidFill>
                </a:rPr>
                <a:t>n=539</a:t>
              </a:r>
              <a:r>
                <a:rPr kumimoji="1" lang="ja-JP" altLang="en-US" sz="2000">
                  <a:solidFill>
                    <a:srgbClr val="35B3A0"/>
                  </a:solidFill>
                </a:rPr>
                <a:t>）</a:t>
              </a:r>
            </a:p>
          </p:txBody>
        </p:sp>
        <p:sp>
          <p:nvSpPr>
            <p:cNvPr id="13" name="テキスト ボックス 12">
              <a:extLst>
                <a:ext uri="{FF2B5EF4-FFF2-40B4-BE49-F238E27FC236}">
                  <a16:creationId xmlns:a16="http://schemas.microsoft.com/office/drawing/2014/main" id="{BDED57B1-2304-E710-727C-A625006D238A}"/>
                </a:ext>
              </a:extLst>
            </p:cNvPr>
            <p:cNvSpPr txBox="1"/>
            <p:nvPr/>
          </p:nvSpPr>
          <p:spPr>
            <a:xfrm>
              <a:off x="4883381" y="6371812"/>
              <a:ext cx="4494903" cy="400110"/>
            </a:xfrm>
            <a:prstGeom prst="rect">
              <a:avLst/>
            </a:prstGeom>
            <a:noFill/>
          </p:spPr>
          <p:txBody>
            <a:bodyPr wrap="square" rtlCol="0">
              <a:spAutoFit/>
            </a:bodyPr>
            <a:lstStyle/>
            <a:p>
              <a:r>
                <a:rPr kumimoji="1" lang="en-US" altLang="ja-JP" sz="2000" dirty="0">
                  <a:solidFill>
                    <a:srgbClr val="F2977A"/>
                  </a:solidFill>
                </a:rPr>
                <a:t>P4:</a:t>
              </a:r>
              <a:r>
                <a:rPr kumimoji="1" lang="ja-JP" altLang="en-US" sz="2000">
                  <a:solidFill>
                    <a:srgbClr val="F2977A"/>
                  </a:solidFill>
                </a:rPr>
                <a:t>低活動・低承諾型（</a:t>
              </a:r>
              <a:r>
                <a:rPr kumimoji="1" lang="en-US" altLang="ja-JP" sz="2000" dirty="0">
                  <a:solidFill>
                    <a:srgbClr val="F2977A"/>
                  </a:solidFill>
                </a:rPr>
                <a:t>n=926</a:t>
              </a:r>
              <a:r>
                <a:rPr kumimoji="1" lang="ja-JP" altLang="en-US" sz="2000">
                  <a:solidFill>
                    <a:srgbClr val="F2977A"/>
                  </a:solidFill>
                </a:rPr>
                <a:t>）</a:t>
              </a:r>
            </a:p>
          </p:txBody>
        </p:sp>
      </p:grpSp>
      <p:sp>
        <p:nvSpPr>
          <p:cNvPr id="11" name="正方形/長方形 10">
            <a:extLst>
              <a:ext uri="{FF2B5EF4-FFF2-40B4-BE49-F238E27FC236}">
                <a16:creationId xmlns:a16="http://schemas.microsoft.com/office/drawing/2014/main" id="{36F0CAB2-7C4C-D392-F6D9-3D362057A3F0}"/>
              </a:ext>
            </a:extLst>
          </p:cNvPr>
          <p:cNvSpPr/>
          <p:nvPr/>
        </p:nvSpPr>
        <p:spPr>
          <a:xfrm>
            <a:off x="8252362" y="880028"/>
            <a:ext cx="8013195" cy="9698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solidFill>
                  <a:schemeClr val="bg1">
                    <a:lumMod val="65000"/>
                  </a:schemeClr>
                </a:solidFill>
              </a:rPr>
              <a:t>IRL</a:t>
            </a:r>
            <a:r>
              <a:rPr kumimoji="1" lang="ja-JP" altLang="en-US" sz="2800">
                <a:solidFill>
                  <a:schemeClr val="bg1">
                    <a:lumMod val="65000"/>
                  </a:schemeClr>
                </a:solidFill>
              </a:rPr>
              <a:t>が他ディレクトリの活動状況を活用</a:t>
            </a:r>
            <a:endParaRPr kumimoji="1" lang="en-US" altLang="ja-JP" sz="2800" dirty="0">
              <a:solidFill>
                <a:schemeClr val="bg1">
                  <a:lumMod val="65000"/>
                </a:schemeClr>
              </a:solidFill>
            </a:endParaRPr>
          </a:p>
          <a:p>
            <a:pPr algn="ctr"/>
            <a:r>
              <a:rPr kumimoji="1" lang="ja-JP" altLang="en-US" sz="2400">
                <a:solidFill>
                  <a:schemeClr val="bg1">
                    <a:lumMod val="65000"/>
                  </a:schemeClr>
                </a:solidFill>
              </a:rPr>
              <a:t>後半になると活動状況の影響が弱まることが示唆</a:t>
            </a:r>
            <a:endParaRPr kumimoji="1" lang="en-US" altLang="ja-JP" sz="2400" dirty="0">
              <a:solidFill>
                <a:schemeClr val="bg1">
                  <a:lumMod val="65000"/>
                </a:schemeClr>
              </a:solidFill>
            </a:endParaRPr>
          </a:p>
        </p:txBody>
      </p:sp>
      <p:sp>
        <p:nvSpPr>
          <p:cNvPr id="67" name="角丸四角形 66">
            <a:extLst>
              <a:ext uri="{FF2B5EF4-FFF2-40B4-BE49-F238E27FC236}">
                <a16:creationId xmlns:a16="http://schemas.microsoft.com/office/drawing/2014/main" id="{B34352B2-24DA-B2DE-54C3-3849A3B0200C}"/>
              </a:ext>
            </a:extLst>
          </p:cNvPr>
          <p:cNvSpPr/>
          <p:nvPr/>
        </p:nvSpPr>
        <p:spPr>
          <a:xfrm>
            <a:off x="7556201" y="568603"/>
            <a:ext cx="9589660" cy="1327713"/>
          </a:xfrm>
          <a:prstGeom prst="roundRect">
            <a:avLst/>
          </a:prstGeom>
          <a:no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角丸四角形 69">
            <a:extLst>
              <a:ext uri="{FF2B5EF4-FFF2-40B4-BE49-F238E27FC236}">
                <a16:creationId xmlns:a16="http://schemas.microsoft.com/office/drawing/2014/main" id="{38F5B745-8F86-F377-E888-B72C268319BF}"/>
              </a:ext>
            </a:extLst>
          </p:cNvPr>
          <p:cNvSpPr/>
          <p:nvPr/>
        </p:nvSpPr>
        <p:spPr>
          <a:xfrm>
            <a:off x="8004777" y="187154"/>
            <a:ext cx="7813979" cy="689751"/>
          </a:xfrm>
          <a:prstGeom prst="roundRect">
            <a:avLst/>
          </a:prstGeom>
          <a:solidFill>
            <a:schemeClr val="bg1"/>
          </a:solidFill>
          <a:ln w="381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 name="スライド番号プレースホルダー 2">
            <a:extLst>
              <a:ext uri="{FF2B5EF4-FFF2-40B4-BE49-F238E27FC236}">
                <a16:creationId xmlns:a16="http://schemas.microsoft.com/office/drawing/2014/main" id="{E7229D43-DB5E-F341-CBAD-221D7194E398}"/>
              </a:ext>
            </a:extLst>
          </p:cNvPr>
          <p:cNvSpPr>
            <a:spLocks noGrp="1"/>
          </p:cNvSpPr>
          <p:nvPr>
            <p:ph type="sldNum" sz="quarter" idx="12"/>
          </p:nvPr>
        </p:nvSpPr>
        <p:spPr/>
        <p:txBody>
          <a:bodyPr/>
          <a:lstStyle/>
          <a:p>
            <a:fld id="{85D74467-FFC2-5C49-A08A-98A9FE9BCA53}" type="slidenum">
              <a:rPr kumimoji="1" lang="ja-JP" altLang="en-US" smtClean="0"/>
              <a:pPr/>
              <a:t>4</a:t>
            </a:fld>
            <a:endParaRPr kumimoji="1" lang="ja-JP" altLang="en-US"/>
          </a:p>
        </p:txBody>
      </p:sp>
      <p:sp>
        <p:nvSpPr>
          <p:cNvPr id="83" name="Text 9">
            <a:extLst>
              <a:ext uri="{FF2B5EF4-FFF2-40B4-BE49-F238E27FC236}">
                <a16:creationId xmlns:a16="http://schemas.microsoft.com/office/drawing/2014/main" id="{052A954C-8CF8-0615-18F2-B2245E03E813}"/>
              </a:ext>
            </a:extLst>
          </p:cNvPr>
          <p:cNvSpPr/>
          <p:nvPr/>
        </p:nvSpPr>
        <p:spPr>
          <a:xfrm>
            <a:off x="-4810613" y="2350323"/>
            <a:ext cx="6157892" cy="1909773"/>
          </a:xfrm>
          <a:prstGeom prst="rect">
            <a:avLst/>
          </a:prstGeom>
          <a:noFill/>
          <a:ln/>
        </p:spPr>
        <p:txBody>
          <a:bodyPr wrap="square" lIns="0" tIns="0" rIns="0" bIns="0" rtlCol="0" anchor="ctr"/>
          <a:lstStyle/>
          <a:p>
            <a:pPr marL="342900" indent="-342900" algn="l">
              <a:buFont typeface="Arial" panose="020B0604020202020204" pitchFamily="34" charset="0"/>
              <a:buChar char="•"/>
            </a:pPr>
            <a:endParaRPr lang="ja-JP" altLang="en-US" sz="2000">
              <a:latin typeface="MS PGothic" panose="020B0600070205080204" pitchFamily="34" charset="-128"/>
              <a:ea typeface="MS PGothic" panose="020B0600070205080204" pitchFamily="34" charset="-128"/>
              <a:cs typeface="Meiryo" pitchFamily="34" charset="-120"/>
            </a:endParaRPr>
          </a:p>
        </p:txBody>
      </p:sp>
      <p:sp>
        <p:nvSpPr>
          <p:cNvPr id="19" name="正方形/長方形 18">
            <a:extLst>
              <a:ext uri="{FF2B5EF4-FFF2-40B4-BE49-F238E27FC236}">
                <a16:creationId xmlns:a16="http://schemas.microsoft.com/office/drawing/2014/main" id="{09EDF08C-E70F-EC30-FCB2-5DBF584BDECF}"/>
              </a:ext>
            </a:extLst>
          </p:cNvPr>
          <p:cNvSpPr/>
          <p:nvPr/>
        </p:nvSpPr>
        <p:spPr>
          <a:xfrm>
            <a:off x="14728780" y="-2555703"/>
            <a:ext cx="5870448" cy="239594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000">
                <a:solidFill>
                  <a:srgbClr val="FF0000"/>
                </a:solidFill>
              </a:rPr>
              <a:t>散布図２つ並べる・</a:t>
            </a:r>
            <a:r>
              <a:rPr kumimoji="1" lang="en-US" altLang="ja-JP" sz="4000" dirty="0">
                <a:solidFill>
                  <a:srgbClr val="FF0000"/>
                </a:solidFill>
              </a:rPr>
              <a:t>P</a:t>
            </a:r>
            <a:r>
              <a:rPr kumimoji="1" lang="ja-JP" altLang="en-US" sz="4000">
                <a:solidFill>
                  <a:srgbClr val="FF0000"/>
                </a:solidFill>
              </a:rPr>
              <a:t>１から４を一枚にまとめる</a:t>
            </a:r>
            <a:endParaRPr kumimoji="1" lang="en-US" altLang="ja-JP" sz="4000" dirty="0">
              <a:solidFill>
                <a:srgbClr val="FF0000"/>
              </a:solidFill>
            </a:endParaRPr>
          </a:p>
          <a:p>
            <a:pPr algn="ctr"/>
            <a:r>
              <a:rPr kumimoji="1" lang="ja-JP" altLang="en-US" sz="4000">
                <a:solidFill>
                  <a:srgbClr val="FF0000"/>
                </a:solidFill>
              </a:rPr>
              <a:t>詳細は２個ずつ紹介とか</a:t>
            </a:r>
            <a:endParaRPr kumimoji="1" lang="en-US" altLang="ja-JP" sz="4000" dirty="0">
              <a:solidFill>
                <a:srgbClr val="FF0000"/>
              </a:solidFill>
            </a:endParaRPr>
          </a:p>
        </p:txBody>
      </p:sp>
      <p:grpSp>
        <p:nvGrpSpPr>
          <p:cNvPr id="24" name="グループ化 23">
            <a:extLst>
              <a:ext uri="{FF2B5EF4-FFF2-40B4-BE49-F238E27FC236}">
                <a16:creationId xmlns:a16="http://schemas.microsoft.com/office/drawing/2014/main" id="{AC399166-0533-1163-4478-2A3812140942}"/>
              </a:ext>
            </a:extLst>
          </p:cNvPr>
          <p:cNvGrpSpPr/>
          <p:nvPr/>
        </p:nvGrpSpPr>
        <p:grpSpPr>
          <a:xfrm>
            <a:off x="-3897499" y="5054150"/>
            <a:ext cx="14415338" cy="5139955"/>
            <a:chOff x="-9643191" y="-2889165"/>
            <a:chExt cx="15034054" cy="5360565"/>
          </a:xfrm>
        </p:grpSpPr>
        <p:pic>
          <p:nvPicPr>
            <p:cNvPr id="30" name="図 29">
              <a:extLst>
                <a:ext uri="{FF2B5EF4-FFF2-40B4-BE49-F238E27FC236}">
                  <a16:creationId xmlns:a16="http://schemas.microsoft.com/office/drawing/2014/main" id="{5BF3B968-5EAB-B3F4-EAAF-586FA5BCD30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38026" y1="20704" x2="38026" y2="20704"/>
                          <a14:foregroundMark x1="37184" y1="18427" x2="37184" y2="18427"/>
                          <a14:foregroundMark x1="38026" y1="16563" x2="38026" y2="16563"/>
                          <a14:foregroundMark x1="38179" y1="16770" x2="39021" y2="20704"/>
                          <a14:foregroundMark x1="61056" y1="21739" x2="61056" y2="21739"/>
                          <a14:foregroundMark x1="60903" y1="16563" x2="60903" y2="16563"/>
                          <a14:foregroundMark x1="60903" y1="17805" x2="60903" y2="17805"/>
                          <a14:foregroundMark x1="62280" y1="18841" x2="62280" y2="18841"/>
                          <a14:foregroundMark x1="61897" y1="17805" x2="61897" y2="17805"/>
                          <a14:foregroundMark x1="61056" y1="16149" x2="60597" y2="19876"/>
                          <a14:foregroundMark x1="60826" y1="20497" x2="61668" y2="20497"/>
                          <a14:foregroundMark x1="38562" y1="20704" x2="38026" y2="17391"/>
                          <a14:foregroundMark x1="38179" y1="80745" x2="38179" y2="80745"/>
                          <a14:foregroundMark x1="60597" y1="81781" x2="60597" y2="81781"/>
                          <a14:foregroundMark x1="60597" y1="83023" x2="60597" y2="83023"/>
                          <a14:foregroundMark x1="55394" y1="21118" x2="58607" y2="21118"/>
                          <a14:foregroundMark x1="59143" y1="20704" x2="55853" y2="20497"/>
                          <a14:foregroundMark x1="53940" y1="20704" x2="59220" y2="20704"/>
                          <a14:foregroundMark x1="59220" y1="19462" x2="56083" y2="19048"/>
                        </a14:backgroundRemoval>
                      </a14:imgEffect>
                    </a14:imgLayer>
                  </a14:imgProps>
                </a:ext>
              </a:extLst>
            </a:blip>
            <a:stretch>
              <a:fillRect/>
            </a:stretch>
          </p:blipFill>
          <p:spPr>
            <a:xfrm>
              <a:off x="-9133824" y="-2889165"/>
              <a:ext cx="14524687" cy="5360565"/>
            </a:xfrm>
            <a:prstGeom prst="rect">
              <a:avLst/>
            </a:prstGeom>
          </p:spPr>
        </p:pic>
        <p:sp>
          <p:nvSpPr>
            <p:cNvPr id="26" name="テキスト ボックス 25">
              <a:extLst>
                <a:ext uri="{FF2B5EF4-FFF2-40B4-BE49-F238E27FC236}">
                  <a16:creationId xmlns:a16="http://schemas.microsoft.com/office/drawing/2014/main" id="{13962605-1F84-9B3C-9A04-A35F7FEA3E94}"/>
                </a:ext>
              </a:extLst>
            </p:cNvPr>
            <p:cNvSpPr txBox="1"/>
            <p:nvPr/>
          </p:nvSpPr>
          <p:spPr>
            <a:xfrm>
              <a:off x="-6770239" y="-2755187"/>
              <a:ext cx="5066095" cy="707886"/>
            </a:xfrm>
            <a:prstGeom prst="rect">
              <a:avLst/>
            </a:prstGeom>
            <a:noFill/>
          </p:spPr>
          <p:txBody>
            <a:bodyPr wrap="square" rtlCol="0">
              <a:spAutoFit/>
            </a:bodyPr>
            <a:lstStyle/>
            <a:p>
              <a:pPr algn="ctr"/>
              <a:r>
                <a:rPr kumimoji="1" lang="en-US" altLang="ja-JP" sz="2000" dirty="0">
                  <a:solidFill>
                    <a:srgbClr val="E05C49"/>
                  </a:solidFill>
                </a:rPr>
                <a:t>P1:</a:t>
              </a:r>
              <a:r>
                <a:rPr kumimoji="1" lang="ja-JP" altLang="en-US" sz="2000">
                  <a:solidFill>
                    <a:srgbClr val="E05C49"/>
                  </a:solidFill>
                </a:rPr>
                <a:t>高活動・</a:t>
              </a:r>
              <a:endParaRPr kumimoji="1" lang="en-US" altLang="ja-JP" sz="2000" dirty="0">
                <a:solidFill>
                  <a:srgbClr val="E05C49"/>
                </a:solidFill>
              </a:endParaRPr>
            </a:p>
            <a:p>
              <a:pPr algn="ctr"/>
              <a:r>
                <a:rPr kumimoji="1" lang="ja-JP" altLang="en-US" sz="2000">
                  <a:solidFill>
                    <a:srgbClr val="E05C49"/>
                  </a:solidFill>
                </a:rPr>
                <a:t>ディレクトリ未経験型</a:t>
              </a:r>
            </a:p>
          </p:txBody>
        </p:sp>
        <p:sp>
          <p:nvSpPr>
            <p:cNvPr id="27" name="テキスト ボックス 26">
              <a:extLst>
                <a:ext uri="{FF2B5EF4-FFF2-40B4-BE49-F238E27FC236}">
                  <a16:creationId xmlns:a16="http://schemas.microsoft.com/office/drawing/2014/main" id="{44E6A7C7-A882-0B7A-16DC-8D0E99C96899}"/>
                </a:ext>
              </a:extLst>
            </p:cNvPr>
            <p:cNvSpPr txBox="1"/>
            <p:nvPr/>
          </p:nvSpPr>
          <p:spPr>
            <a:xfrm>
              <a:off x="-1704144" y="-2440454"/>
              <a:ext cx="5044829" cy="369332"/>
            </a:xfrm>
            <a:prstGeom prst="rect">
              <a:avLst/>
            </a:prstGeom>
            <a:noFill/>
          </p:spPr>
          <p:txBody>
            <a:bodyPr wrap="square" rtlCol="0">
              <a:spAutoFit/>
            </a:bodyPr>
            <a:lstStyle/>
            <a:p>
              <a:r>
                <a:rPr kumimoji="1" lang="en-US" altLang="ja-JP" dirty="0">
                  <a:solidFill>
                    <a:srgbClr val="8CD3E3"/>
                  </a:solidFill>
                </a:rPr>
                <a:t>P2:</a:t>
              </a:r>
              <a:r>
                <a:rPr kumimoji="1" lang="ja-JP" altLang="en-US">
                  <a:solidFill>
                    <a:srgbClr val="8CD3E3"/>
                  </a:solidFill>
                </a:rPr>
                <a:t>ディレクトリ経験者・高関与型</a:t>
              </a:r>
            </a:p>
          </p:txBody>
        </p:sp>
        <p:sp>
          <p:nvSpPr>
            <p:cNvPr id="28" name="テキスト ボックス 27">
              <a:extLst>
                <a:ext uri="{FF2B5EF4-FFF2-40B4-BE49-F238E27FC236}">
                  <a16:creationId xmlns:a16="http://schemas.microsoft.com/office/drawing/2014/main" id="{73FF95C3-8BB7-787A-C0C9-85B1E9B7100E}"/>
                </a:ext>
              </a:extLst>
            </p:cNvPr>
            <p:cNvSpPr txBox="1"/>
            <p:nvPr/>
          </p:nvSpPr>
          <p:spPr>
            <a:xfrm>
              <a:off x="-9643191" y="1635722"/>
              <a:ext cx="10269414" cy="369332"/>
            </a:xfrm>
            <a:prstGeom prst="rect">
              <a:avLst/>
            </a:prstGeom>
            <a:noFill/>
          </p:spPr>
          <p:txBody>
            <a:bodyPr wrap="square">
              <a:spAutoFit/>
            </a:bodyPr>
            <a:lstStyle/>
            <a:p>
              <a:pPr algn="ctr"/>
              <a:r>
                <a:rPr kumimoji="1" lang="en-US" altLang="ja-JP" sz="1800" dirty="0">
                  <a:solidFill>
                    <a:srgbClr val="F4A992"/>
                  </a:solidFill>
                </a:rPr>
                <a:t>P3:</a:t>
              </a:r>
              <a:r>
                <a:rPr kumimoji="1" lang="ja-JP" altLang="en-US" sz="1800">
                  <a:solidFill>
                    <a:srgbClr val="F4A992"/>
                  </a:solidFill>
                </a:rPr>
                <a:t>低承諾型</a:t>
              </a:r>
            </a:p>
          </p:txBody>
        </p:sp>
        <p:sp>
          <p:nvSpPr>
            <p:cNvPr id="29" name="テキスト ボックス 28">
              <a:extLst>
                <a:ext uri="{FF2B5EF4-FFF2-40B4-BE49-F238E27FC236}">
                  <a16:creationId xmlns:a16="http://schemas.microsoft.com/office/drawing/2014/main" id="{7EF1014E-0A56-A951-C637-67C78BD2826B}"/>
                </a:ext>
              </a:extLst>
            </p:cNvPr>
            <p:cNvSpPr txBox="1"/>
            <p:nvPr/>
          </p:nvSpPr>
          <p:spPr>
            <a:xfrm>
              <a:off x="-806791" y="1625542"/>
              <a:ext cx="5044829" cy="400110"/>
            </a:xfrm>
            <a:prstGeom prst="rect">
              <a:avLst/>
            </a:prstGeom>
            <a:noFill/>
          </p:spPr>
          <p:txBody>
            <a:bodyPr wrap="square" rtlCol="0">
              <a:spAutoFit/>
            </a:bodyPr>
            <a:lstStyle/>
            <a:p>
              <a:r>
                <a:rPr kumimoji="1" lang="en-US" altLang="ja-JP" sz="2000" dirty="0">
                  <a:solidFill>
                    <a:srgbClr val="35B3A0"/>
                  </a:solidFill>
                </a:rPr>
                <a:t>P4: </a:t>
              </a:r>
              <a:r>
                <a:rPr kumimoji="1" lang="ja-JP" altLang="en-US" sz="2000">
                  <a:solidFill>
                    <a:srgbClr val="35B3A0"/>
                  </a:solidFill>
                </a:rPr>
                <a:t>高承諾・汎用型</a:t>
              </a:r>
            </a:p>
          </p:txBody>
        </p:sp>
      </p:grpSp>
      <p:sp>
        <p:nvSpPr>
          <p:cNvPr id="37" name="角丸四角形 36">
            <a:extLst>
              <a:ext uri="{FF2B5EF4-FFF2-40B4-BE49-F238E27FC236}">
                <a16:creationId xmlns:a16="http://schemas.microsoft.com/office/drawing/2014/main" id="{C643D879-9DEC-304C-B54A-55DDEE306B0A}"/>
              </a:ext>
            </a:extLst>
          </p:cNvPr>
          <p:cNvSpPr/>
          <p:nvPr/>
        </p:nvSpPr>
        <p:spPr>
          <a:xfrm>
            <a:off x="7556201" y="5658979"/>
            <a:ext cx="9589660" cy="3442970"/>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角丸四角形 38">
            <a:extLst>
              <a:ext uri="{FF2B5EF4-FFF2-40B4-BE49-F238E27FC236}">
                <a16:creationId xmlns:a16="http://schemas.microsoft.com/office/drawing/2014/main" id="{69C8177D-B437-C9DB-A9B6-253BD56A4D70}"/>
              </a:ext>
            </a:extLst>
          </p:cNvPr>
          <p:cNvSpPr/>
          <p:nvPr/>
        </p:nvSpPr>
        <p:spPr>
          <a:xfrm>
            <a:off x="7556201" y="4087368"/>
            <a:ext cx="9589660" cy="1145675"/>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C644D3BD-36BD-8633-C195-F237C6C2FF80}"/>
              </a:ext>
            </a:extLst>
          </p:cNvPr>
          <p:cNvSpPr txBox="1"/>
          <p:nvPr/>
        </p:nvSpPr>
        <p:spPr>
          <a:xfrm>
            <a:off x="8180500" y="259589"/>
            <a:ext cx="6839717" cy="523220"/>
          </a:xfrm>
          <a:prstGeom prst="rect">
            <a:avLst/>
          </a:prstGeom>
          <a:noFill/>
        </p:spPr>
        <p:txBody>
          <a:bodyPr wrap="square">
            <a:spAutoFit/>
          </a:bodyPr>
          <a:lstStyle/>
          <a:p>
            <a:r>
              <a:rPr kumimoji="1" lang="en-US" altLang="ja-JP" sz="2800" dirty="0">
                <a:solidFill>
                  <a:srgbClr val="E05C49"/>
                </a:solidFill>
              </a:rPr>
              <a:t>P1:</a:t>
            </a:r>
            <a:r>
              <a:rPr kumimoji="1" lang="ja-JP" altLang="en-US" sz="2800">
                <a:solidFill>
                  <a:srgbClr val="E05C49"/>
                </a:solidFill>
              </a:rPr>
              <a:t>対象ディレクトリの実績は乏しい</a:t>
            </a:r>
            <a:endParaRPr lang="ja-JP" altLang="en-US" sz="2800"/>
          </a:p>
        </p:txBody>
      </p:sp>
      <p:sp>
        <p:nvSpPr>
          <p:cNvPr id="48" name="角丸四角形 47">
            <a:extLst>
              <a:ext uri="{FF2B5EF4-FFF2-40B4-BE49-F238E27FC236}">
                <a16:creationId xmlns:a16="http://schemas.microsoft.com/office/drawing/2014/main" id="{8D1BB157-7821-1376-F98C-F818C6ABD5F1}"/>
              </a:ext>
            </a:extLst>
          </p:cNvPr>
          <p:cNvSpPr/>
          <p:nvPr/>
        </p:nvSpPr>
        <p:spPr>
          <a:xfrm>
            <a:off x="8004777" y="5381834"/>
            <a:ext cx="7193964" cy="689751"/>
          </a:xfrm>
          <a:prstGeom prst="roundRect">
            <a:avLst/>
          </a:prstGeom>
          <a:solidFill>
            <a:schemeClr val="bg1"/>
          </a:solid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49" name="テキスト ボックス 48">
            <a:extLst>
              <a:ext uri="{FF2B5EF4-FFF2-40B4-BE49-F238E27FC236}">
                <a16:creationId xmlns:a16="http://schemas.microsoft.com/office/drawing/2014/main" id="{F08541BF-E1CB-37F8-B46F-2E75A6399751}"/>
              </a:ext>
            </a:extLst>
          </p:cNvPr>
          <p:cNvSpPr txBox="1"/>
          <p:nvPr/>
        </p:nvSpPr>
        <p:spPr>
          <a:xfrm>
            <a:off x="8180500" y="5483601"/>
            <a:ext cx="3975660" cy="523220"/>
          </a:xfrm>
          <a:prstGeom prst="rect">
            <a:avLst/>
          </a:prstGeom>
          <a:noFill/>
        </p:spPr>
        <p:txBody>
          <a:bodyPr wrap="square" rtlCol="0">
            <a:spAutoFit/>
          </a:bodyPr>
          <a:lstStyle/>
          <a:p>
            <a:r>
              <a:rPr kumimoji="1" lang="en-US" altLang="ja-JP" sz="2800" dirty="0">
                <a:solidFill>
                  <a:srgbClr val="35B3A0"/>
                </a:solidFill>
              </a:rPr>
              <a:t>P3</a:t>
            </a:r>
            <a:r>
              <a:rPr kumimoji="1" lang="en-US" altLang="ja-JP" dirty="0">
                <a:solidFill>
                  <a:srgbClr val="35B3A0"/>
                </a:solidFill>
              </a:rPr>
              <a:t>(4):</a:t>
            </a:r>
            <a:r>
              <a:rPr kumimoji="1" lang="ja-JP" altLang="en-US" sz="2800">
                <a:solidFill>
                  <a:srgbClr val="35B3A0"/>
                </a:solidFill>
              </a:rPr>
              <a:t>承諾率が高い</a:t>
            </a:r>
          </a:p>
        </p:txBody>
      </p:sp>
      <p:sp>
        <p:nvSpPr>
          <p:cNvPr id="52" name="角丸四角形 51">
            <a:extLst>
              <a:ext uri="{FF2B5EF4-FFF2-40B4-BE49-F238E27FC236}">
                <a16:creationId xmlns:a16="http://schemas.microsoft.com/office/drawing/2014/main" id="{B6BDFC56-7D91-3C0D-1609-8289F3FD3618}"/>
              </a:ext>
            </a:extLst>
          </p:cNvPr>
          <p:cNvSpPr/>
          <p:nvPr/>
        </p:nvSpPr>
        <p:spPr>
          <a:xfrm>
            <a:off x="8004777" y="3829219"/>
            <a:ext cx="7193964" cy="689751"/>
          </a:xfrm>
          <a:prstGeom prst="roundRect">
            <a:avLst/>
          </a:prstGeom>
          <a:solidFill>
            <a:schemeClr val="bg1"/>
          </a:solid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53" name="テキスト ボックス 52">
            <a:extLst>
              <a:ext uri="{FF2B5EF4-FFF2-40B4-BE49-F238E27FC236}">
                <a16:creationId xmlns:a16="http://schemas.microsoft.com/office/drawing/2014/main" id="{1DCBD055-5A1F-6C70-9895-D26F0B6A4931}"/>
              </a:ext>
            </a:extLst>
          </p:cNvPr>
          <p:cNvSpPr txBox="1"/>
          <p:nvPr/>
        </p:nvSpPr>
        <p:spPr>
          <a:xfrm>
            <a:off x="8101959" y="3928478"/>
            <a:ext cx="4775613" cy="523220"/>
          </a:xfrm>
          <a:prstGeom prst="rect">
            <a:avLst/>
          </a:prstGeom>
          <a:noFill/>
        </p:spPr>
        <p:txBody>
          <a:bodyPr wrap="square" rtlCol="0">
            <a:spAutoFit/>
          </a:bodyPr>
          <a:lstStyle/>
          <a:p>
            <a:r>
              <a:rPr kumimoji="1" lang="en-US" altLang="ja-JP" sz="2800" dirty="0">
                <a:solidFill>
                  <a:srgbClr val="F2977A"/>
                </a:solidFill>
              </a:rPr>
              <a:t>P4</a:t>
            </a:r>
            <a:r>
              <a:rPr kumimoji="1" lang="en-US" altLang="ja-JP" sz="2000" dirty="0">
                <a:solidFill>
                  <a:srgbClr val="F2977A"/>
                </a:solidFill>
              </a:rPr>
              <a:t>(3):</a:t>
            </a:r>
            <a:r>
              <a:rPr kumimoji="1" lang="ja-JP" altLang="en-US" sz="2800">
                <a:solidFill>
                  <a:srgbClr val="F2977A"/>
                </a:solidFill>
              </a:rPr>
              <a:t>活動頻度・承諾率が低い</a:t>
            </a:r>
          </a:p>
        </p:txBody>
      </p:sp>
      <p:grpSp>
        <p:nvGrpSpPr>
          <p:cNvPr id="23" name="グループ化 22">
            <a:extLst>
              <a:ext uri="{FF2B5EF4-FFF2-40B4-BE49-F238E27FC236}">
                <a16:creationId xmlns:a16="http://schemas.microsoft.com/office/drawing/2014/main" id="{B78DA1CC-8FB1-D28A-4DD5-233C7B8A09F7}"/>
              </a:ext>
            </a:extLst>
          </p:cNvPr>
          <p:cNvGrpSpPr/>
          <p:nvPr/>
        </p:nvGrpSpPr>
        <p:grpSpPr>
          <a:xfrm>
            <a:off x="7556201" y="2018512"/>
            <a:ext cx="12047866" cy="1649295"/>
            <a:chOff x="8056601" y="3426876"/>
            <a:chExt cx="11715988" cy="1649295"/>
          </a:xfrm>
        </p:grpSpPr>
        <p:sp>
          <p:nvSpPr>
            <p:cNvPr id="25" name="角丸四角形 24">
              <a:extLst>
                <a:ext uri="{FF2B5EF4-FFF2-40B4-BE49-F238E27FC236}">
                  <a16:creationId xmlns:a16="http://schemas.microsoft.com/office/drawing/2014/main" id="{40DFD232-DDDE-4AF6-7DDB-E6E9B9475D4C}"/>
                </a:ext>
              </a:extLst>
            </p:cNvPr>
            <p:cNvSpPr/>
            <p:nvPr/>
          </p:nvSpPr>
          <p:spPr>
            <a:xfrm>
              <a:off x="8056601" y="3759571"/>
              <a:ext cx="9325497" cy="1316600"/>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DA25EC11-6B01-B514-4F26-1D7D10D1BC54}"/>
                </a:ext>
              </a:extLst>
            </p:cNvPr>
            <p:cNvSpPr/>
            <p:nvPr/>
          </p:nvSpPr>
          <p:spPr>
            <a:xfrm>
              <a:off x="8492820" y="3426876"/>
              <a:ext cx="8033222" cy="689751"/>
            </a:xfrm>
            <a:prstGeom prst="roundRect">
              <a:avLst/>
            </a:prstGeom>
            <a:solidFill>
              <a:schemeClr val="bg1"/>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2977A"/>
                </a:solidFill>
              </a:endParaRPr>
            </a:p>
          </p:txBody>
        </p:sp>
        <p:sp>
          <p:nvSpPr>
            <p:cNvPr id="32" name="テキスト ボックス 31">
              <a:extLst>
                <a:ext uri="{FF2B5EF4-FFF2-40B4-BE49-F238E27FC236}">
                  <a16:creationId xmlns:a16="http://schemas.microsoft.com/office/drawing/2014/main" id="{A5E6DFA4-6A3D-A37F-546A-11639EB90BC3}"/>
                </a:ext>
              </a:extLst>
            </p:cNvPr>
            <p:cNvSpPr txBox="1"/>
            <p:nvPr/>
          </p:nvSpPr>
          <p:spPr>
            <a:xfrm>
              <a:off x="8663703" y="3493526"/>
              <a:ext cx="11108886" cy="523220"/>
            </a:xfrm>
            <a:prstGeom prst="rect">
              <a:avLst/>
            </a:prstGeom>
            <a:noFill/>
            <a:ln>
              <a:noFill/>
            </a:ln>
          </p:spPr>
          <p:txBody>
            <a:bodyPr wrap="square" rtlCol="0">
              <a:spAutoFit/>
            </a:bodyPr>
            <a:lstStyle/>
            <a:p>
              <a:r>
                <a:rPr kumimoji="1" lang="en-US" altLang="ja-JP" sz="2800" dirty="0">
                  <a:solidFill>
                    <a:srgbClr val="8CD3E3"/>
                  </a:solidFill>
                </a:rPr>
                <a:t>P2:</a:t>
              </a:r>
              <a:r>
                <a:rPr kumimoji="1" lang="ja-JP" altLang="en-US" sz="2800">
                  <a:solidFill>
                    <a:srgbClr val="8CD3E3"/>
                  </a:solidFill>
                </a:rPr>
                <a:t>ディレクトリへの関与が</a:t>
              </a:r>
              <a:r>
                <a:rPr kumimoji="1" lang="ja-JP" altLang="en-US" sz="2800">
                  <a:solidFill>
                    <a:schemeClr val="accent1"/>
                  </a:solidFill>
                </a:rPr>
                <a:t>少ない</a:t>
              </a:r>
              <a:r>
                <a:rPr kumimoji="1" lang="ja-JP" altLang="en-US" sz="2000">
                  <a:solidFill>
                    <a:schemeClr val="accent1"/>
                  </a:solidFill>
                </a:rPr>
                <a:t>（</a:t>
              </a:r>
              <a:r>
                <a:rPr kumimoji="1" lang="en-US" altLang="ja-JP" sz="2000" dirty="0">
                  <a:solidFill>
                    <a:schemeClr val="accent1"/>
                  </a:solidFill>
                </a:rPr>
                <a:t>OpenStack</a:t>
              </a:r>
              <a:r>
                <a:rPr kumimoji="1" lang="ja-JP" altLang="en-US" sz="2000">
                  <a:solidFill>
                    <a:schemeClr val="accent1"/>
                  </a:solidFill>
                </a:rPr>
                <a:t>）</a:t>
              </a:r>
              <a:r>
                <a:rPr kumimoji="1" lang="en-US" altLang="ja-JP" sz="2800" dirty="0">
                  <a:solidFill>
                    <a:srgbClr val="8CD3E3"/>
                  </a:solidFill>
                </a:rPr>
                <a:t>/</a:t>
              </a:r>
              <a:r>
                <a:rPr kumimoji="1" lang="ja-JP" altLang="en-US" sz="2800">
                  <a:solidFill>
                    <a:schemeClr val="accent5"/>
                  </a:solidFill>
                </a:rPr>
                <a:t>多い</a:t>
              </a:r>
              <a:r>
                <a:rPr kumimoji="1" lang="en-US" altLang="ja-JP" sz="2000" dirty="0">
                  <a:solidFill>
                    <a:schemeClr val="accent5"/>
                  </a:solidFill>
                </a:rPr>
                <a:t>(AOSP)</a:t>
              </a:r>
              <a:endParaRPr kumimoji="1" lang="ja-JP" altLang="en-US" sz="2800">
                <a:solidFill>
                  <a:schemeClr val="accent5"/>
                </a:solidFill>
              </a:endParaRPr>
            </a:p>
          </p:txBody>
        </p:sp>
      </p:grpSp>
      <p:sp>
        <p:nvSpPr>
          <p:cNvPr id="35" name="正方形/長方形 34">
            <a:extLst>
              <a:ext uri="{FF2B5EF4-FFF2-40B4-BE49-F238E27FC236}">
                <a16:creationId xmlns:a16="http://schemas.microsoft.com/office/drawing/2014/main" id="{612488EE-5AE4-DFE8-84C4-D4A191EAD6CC}"/>
              </a:ext>
            </a:extLst>
          </p:cNvPr>
          <p:cNvSpPr/>
          <p:nvPr/>
        </p:nvSpPr>
        <p:spPr>
          <a:xfrm>
            <a:off x="8271456" y="2524621"/>
            <a:ext cx="8013195" cy="1316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dirty="0">
                <a:solidFill>
                  <a:schemeClr val="bg1">
                    <a:lumMod val="65000"/>
                  </a:schemeClr>
                </a:solidFill>
              </a:rPr>
              <a:t>IRL</a:t>
            </a:r>
            <a:r>
              <a:rPr kumimoji="1" lang="ja-JP" altLang="en-US" sz="2400">
                <a:solidFill>
                  <a:schemeClr val="bg1">
                    <a:lumMod val="65000"/>
                  </a:schemeClr>
                </a:solidFill>
              </a:rPr>
              <a:t>は開発者の関与低下を初期のみ捉えた可能性</a:t>
            </a:r>
            <a:endParaRPr kumimoji="1" lang="en-US" altLang="ja-JP" sz="2400" b="1" dirty="0">
              <a:solidFill>
                <a:schemeClr val="bg1">
                  <a:lumMod val="65000"/>
                </a:schemeClr>
              </a:solidFill>
            </a:endParaRPr>
          </a:p>
          <a:p>
            <a:pPr algn="ctr"/>
            <a:r>
              <a:rPr kumimoji="1" lang="ja-JP" altLang="en-US" sz="2800">
                <a:solidFill>
                  <a:schemeClr val="bg1">
                    <a:lumMod val="65000"/>
                  </a:schemeClr>
                </a:solidFill>
              </a:rPr>
              <a:t>関与が多いと累積統計量</a:t>
            </a:r>
            <a:r>
              <a:rPr kumimoji="1" lang="en-US" altLang="ja-JP" sz="2800" dirty="0">
                <a:solidFill>
                  <a:schemeClr val="bg1">
                    <a:lumMod val="65000"/>
                  </a:schemeClr>
                </a:solidFill>
              </a:rPr>
              <a:t>(RF)</a:t>
            </a:r>
            <a:r>
              <a:rPr kumimoji="1" lang="ja-JP" altLang="en-US" sz="2800">
                <a:solidFill>
                  <a:schemeClr val="bg1">
                    <a:lumMod val="65000"/>
                  </a:schemeClr>
                </a:solidFill>
              </a:rPr>
              <a:t>の方が優位</a:t>
            </a:r>
            <a:endParaRPr kumimoji="1" lang="en-US" altLang="ja-JP" sz="2800" dirty="0">
              <a:solidFill>
                <a:schemeClr val="bg1">
                  <a:lumMod val="65000"/>
                </a:schemeClr>
              </a:solidFill>
            </a:endParaRPr>
          </a:p>
        </p:txBody>
      </p:sp>
      <p:sp>
        <p:nvSpPr>
          <p:cNvPr id="5" name="正方形/長方形 4">
            <a:extLst>
              <a:ext uri="{FF2B5EF4-FFF2-40B4-BE49-F238E27FC236}">
                <a16:creationId xmlns:a16="http://schemas.microsoft.com/office/drawing/2014/main" id="{78A96984-13DF-2ECA-3950-FA8B44F758E0}"/>
              </a:ext>
            </a:extLst>
          </p:cNvPr>
          <p:cNvSpPr/>
          <p:nvPr/>
        </p:nvSpPr>
        <p:spPr>
          <a:xfrm>
            <a:off x="8293738" y="4397270"/>
            <a:ext cx="8013195" cy="8905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solidFill>
                  <a:schemeClr val="bg1">
                    <a:lumMod val="65000"/>
                  </a:schemeClr>
                </a:solidFill>
              </a:rPr>
              <a:t>活動頻度が低いと</a:t>
            </a:r>
            <a:r>
              <a:rPr kumimoji="1" lang="en-US" altLang="ja-JP" sz="2800" dirty="0">
                <a:solidFill>
                  <a:schemeClr val="bg1">
                    <a:lumMod val="65000"/>
                  </a:schemeClr>
                </a:solidFill>
              </a:rPr>
              <a:t>IRL</a:t>
            </a:r>
            <a:r>
              <a:rPr kumimoji="1" lang="ja-JP" altLang="en-US" sz="2800">
                <a:solidFill>
                  <a:schemeClr val="bg1">
                    <a:lumMod val="65000"/>
                  </a:schemeClr>
                </a:solidFill>
              </a:rPr>
              <a:t>が軌跡を十分に学習できない</a:t>
            </a:r>
            <a:endParaRPr kumimoji="1" lang="en-US" altLang="ja-JP" sz="2800" dirty="0">
              <a:solidFill>
                <a:schemeClr val="bg1">
                  <a:lumMod val="65000"/>
                </a:schemeClr>
              </a:solidFill>
            </a:endParaRPr>
          </a:p>
        </p:txBody>
      </p:sp>
      <p:sp>
        <p:nvSpPr>
          <p:cNvPr id="16" name="正方形/長方形 15">
            <a:extLst>
              <a:ext uri="{FF2B5EF4-FFF2-40B4-BE49-F238E27FC236}">
                <a16:creationId xmlns:a16="http://schemas.microsoft.com/office/drawing/2014/main" id="{A1BA4F0D-0035-9A1D-E6CC-6EB560CF2E99}"/>
              </a:ext>
            </a:extLst>
          </p:cNvPr>
          <p:cNvSpPr/>
          <p:nvPr/>
        </p:nvSpPr>
        <p:spPr>
          <a:xfrm>
            <a:off x="7436925" y="62966"/>
            <a:ext cx="9886275" cy="5405065"/>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0" name="表 19">
            <a:extLst>
              <a:ext uri="{FF2B5EF4-FFF2-40B4-BE49-F238E27FC236}">
                <a16:creationId xmlns:a16="http://schemas.microsoft.com/office/drawing/2014/main" id="{F1AF1A60-A25B-C5C4-319E-3C66D0B0B115}"/>
              </a:ext>
            </a:extLst>
          </p:cNvPr>
          <p:cNvGraphicFramePr>
            <a:graphicFrameLocks noGrp="1"/>
          </p:cNvGraphicFramePr>
          <p:nvPr>
            <p:extLst>
              <p:ext uri="{D42A27DB-BD31-4B8C-83A1-F6EECF244321}">
                <p14:modId xmlns:p14="http://schemas.microsoft.com/office/powerpoint/2010/main" val="2475108561"/>
              </p:ext>
            </p:extLst>
          </p:nvPr>
        </p:nvGraphicFramePr>
        <p:xfrm>
          <a:off x="8152754" y="6182314"/>
          <a:ext cx="8013194" cy="1237122"/>
        </p:xfrm>
        <a:graphic>
          <a:graphicData uri="http://schemas.openxmlformats.org/drawingml/2006/table">
            <a:tbl>
              <a:tblPr/>
              <a:tblGrid>
                <a:gridCol w="2560600">
                  <a:extLst>
                    <a:ext uri="{9D8B030D-6E8A-4147-A177-3AD203B41FA5}">
                      <a16:colId xmlns:a16="http://schemas.microsoft.com/office/drawing/2014/main" val="1311104139"/>
                    </a:ext>
                  </a:extLst>
                </a:gridCol>
                <a:gridCol w="1192755">
                  <a:extLst>
                    <a:ext uri="{9D8B030D-6E8A-4147-A177-3AD203B41FA5}">
                      <a16:colId xmlns:a16="http://schemas.microsoft.com/office/drawing/2014/main" val="3408825403"/>
                    </a:ext>
                  </a:extLst>
                </a:gridCol>
                <a:gridCol w="1405747">
                  <a:extLst>
                    <a:ext uri="{9D8B030D-6E8A-4147-A177-3AD203B41FA5}">
                      <a16:colId xmlns:a16="http://schemas.microsoft.com/office/drawing/2014/main" val="4162252791"/>
                    </a:ext>
                  </a:extLst>
                </a:gridCol>
                <a:gridCol w="1320550">
                  <a:extLst>
                    <a:ext uri="{9D8B030D-6E8A-4147-A177-3AD203B41FA5}">
                      <a16:colId xmlns:a16="http://schemas.microsoft.com/office/drawing/2014/main" val="3704097200"/>
                    </a:ext>
                  </a:extLst>
                </a:gridCol>
                <a:gridCol w="1533542">
                  <a:extLst>
                    <a:ext uri="{9D8B030D-6E8A-4147-A177-3AD203B41FA5}">
                      <a16:colId xmlns:a16="http://schemas.microsoft.com/office/drawing/2014/main" val="3121026712"/>
                    </a:ext>
                  </a:extLst>
                </a:gridCol>
              </a:tblGrid>
              <a:tr h="300382">
                <a:tc>
                  <a:txBody>
                    <a:bodyPr/>
                    <a:lstStyle/>
                    <a:p>
                      <a:pPr marL="0" indent="0" algn="ctr">
                        <a:buNone/>
                      </a:pP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1–3m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4–6m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7–9m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tc>
                  <a:txBody>
                    <a:bodyPr/>
                    <a:lstStyle/>
                    <a:p>
                      <a:pPr marL="0" indent="0" algn="ctr">
                        <a:buNone/>
                      </a:pPr>
                      <a:r>
                        <a:rPr lang="en-US" sz="2000" b="1" dirty="0">
                          <a:solidFill>
                            <a:srgbClr val="FFFFFF"/>
                          </a:solidFill>
                          <a:latin typeface="+mj-ea"/>
                          <a:ea typeface="+mj-ea"/>
                          <a:cs typeface="Meiryo" pitchFamily="34" charset="-120"/>
                        </a:rPr>
                        <a:t>10–12m</a:t>
                      </a:r>
                      <a:endParaRPr lang="en-US" sz="2000" dirty="0">
                        <a:latin typeface="+mj-ea"/>
                        <a:ea typeface="+mj-ea"/>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575860"/>
                    </a:solidFill>
                  </a:tcPr>
                </a:tc>
                <a:extLst>
                  <a:ext uri="{0D108BD9-81ED-4DB2-BD59-A6C34878D82A}">
                    <a16:rowId xmlns:a16="http://schemas.microsoft.com/office/drawing/2014/main" val="540440001"/>
                  </a:ext>
                </a:extLst>
              </a:tr>
              <a:tr h="300382">
                <a:tc>
                  <a:txBody>
                    <a:bodyPr/>
                    <a:lstStyle/>
                    <a:p>
                      <a:pPr marL="0" indent="0" algn="ctr">
                        <a:buNone/>
                      </a:pPr>
                      <a:r>
                        <a:rPr lang="en-US" sz="2400" b="1" dirty="0">
                          <a:solidFill>
                            <a:srgbClr val="FFFFFF"/>
                          </a:solidFill>
                          <a:latin typeface="MS PGothic" panose="020B0600070205080204" pitchFamily="34" charset="-128"/>
                          <a:ea typeface="MS PGothic" panose="020B0600070205080204" pitchFamily="34" charset="-128"/>
                          <a:cs typeface="Meiryo" pitchFamily="34" charset="-120"/>
                        </a:rPr>
                        <a:t>P3(OpenStack)</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2DB09B"/>
                    </a:solidFill>
                  </a:tcPr>
                </a:tc>
                <a:tc>
                  <a:txBody>
                    <a:bodyPr/>
                    <a:lstStyle/>
                    <a:p>
                      <a:pPr marL="0" indent="0" algn="ctr">
                        <a:buNone/>
                      </a:pPr>
                      <a:r>
                        <a:rPr lang="en-US" sz="2400" dirty="0">
                          <a:solidFill>
                            <a:srgbClr val="1F7A33"/>
                          </a:solidFill>
                          <a:latin typeface="MS PGothic" panose="020B0600070205080204" pitchFamily="34" charset="-128"/>
                          <a:ea typeface="MS PGothic" panose="020B0600070205080204" pitchFamily="34" charset="-128"/>
                          <a:cs typeface="Meiryo" pitchFamily="34" charset="-120"/>
                        </a:rPr>
                        <a:t>+5.8</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−2.3</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−7.0</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C00000"/>
                          </a:solidFill>
                          <a:latin typeface="MS PGothic" panose="020B0600070205080204" pitchFamily="34" charset="-128"/>
                          <a:ea typeface="MS PGothic" panose="020B0600070205080204" pitchFamily="34" charset="-128"/>
                          <a:cs typeface="Meiryo" pitchFamily="34" charset="-120"/>
                        </a:rPr>
                        <a:t>−0.7</a:t>
                      </a:r>
                      <a:endParaRPr lang="en-US" sz="2400" dirty="0">
                        <a:latin typeface="MS PGothic" panose="020B0600070205080204" pitchFamily="34" charset="-128"/>
                        <a:ea typeface="MS PGothic" panose="020B0600070205080204" pitchFamily="34" charset="-128"/>
                        <a:cs typeface="Meiryo" charset="0"/>
                      </a:endParaRPr>
                    </a:p>
                  </a:txBody>
                  <a:tcPr marL="27432" marR="27432" marT="27432" marB="27432"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3643899620"/>
                  </a:ext>
                </a:extLst>
              </a:tr>
              <a:tr h="300382">
                <a:tc>
                  <a:txBody>
                    <a:bodyPr/>
                    <a:lstStyle/>
                    <a:p>
                      <a:pPr marL="0" marR="0" lvl="0" indent="0" algn="ctr" defTabSz="1300277" rtl="0" eaLnBrk="1" fontAlgn="auto" latinLnBrk="0" hangingPunct="1">
                        <a:lnSpc>
                          <a:spcPct val="100000"/>
                        </a:lnSpc>
                        <a:spcBef>
                          <a:spcPts val="0"/>
                        </a:spcBef>
                        <a:spcAft>
                          <a:spcPts val="0"/>
                        </a:spcAft>
                        <a:buClrTx/>
                        <a:buSzTx/>
                        <a:buFontTx/>
                        <a:buNone/>
                        <a:tabLst/>
                        <a:defRPr/>
                      </a:pPr>
                      <a:r>
                        <a:rPr lang="en-US" altLang="ja-JP" sz="2400" b="1" dirty="0">
                          <a:solidFill>
                            <a:srgbClr val="FFFFFF"/>
                          </a:solidFill>
                          <a:latin typeface="MS PGothic" panose="020B0600070205080204" pitchFamily="34" charset="-128"/>
                          <a:ea typeface="MS PGothic" panose="020B0600070205080204" pitchFamily="34" charset="-128"/>
                          <a:cs typeface="Meiryo" pitchFamily="34" charset="-120"/>
                        </a:rPr>
                        <a:t>P4（AOSP）</a:t>
                      </a:r>
                      <a:endParaRPr lang="en-US" altLang="ja-JP" sz="2400" dirty="0">
                        <a:latin typeface="MS PGothic" panose="020B0600070205080204" pitchFamily="34" charset="-128"/>
                        <a:ea typeface="MS PGothic" panose="020B0600070205080204" pitchFamily="34" charset="-128"/>
                        <a:cs typeface="Meiryo" charset="0"/>
                      </a:endParaRPr>
                    </a:p>
                  </a:txBody>
                  <a:tcPr marL="0" marR="0" marT="0" marB="0"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2DB09B"/>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+4.6</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+2.3</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+3.9</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tc>
                  <a:txBody>
                    <a:bodyPr/>
                    <a:lstStyle/>
                    <a:p>
                      <a:pPr marL="0" indent="0" algn="ctr">
                        <a:buNone/>
                      </a:pPr>
                      <a:r>
                        <a:rPr lang="en-US" sz="2400" b="0" dirty="0">
                          <a:solidFill>
                            <a:srgbClr val="1F7A33"/>
                          </a:solidFill>
                          <a:latin typeface="MS PGothic" panose="020B0600070205080204" pitchFamily="34" charset="-128"/>
                          <a:ea typeface="MS PGothic" panose="020B0600070205080204" pitchFamily="34" charset="-128"/>
                          <a:cs typeface="Meiryo" pitchFamily="34" charset="-120"/>
                        </a:rPr>
                        <a:t>+3.5</a:t>
                      </a:r>
                      <a:endParaRPr lang="en-US" sz="2400" b="0" dirty="0">
                        <a:latin typeface="MS PGothic" panose="020B0600070205080204" pitchFamily="34" charset="-128"/>
                        <a:ea typeface="MS PGothic" panose="020B0600070205080204" pitchFamily="34" charset="-128"/>
                        <a:cs typeface="Meiryo" charset="0"/>
                      </a:endParaRPr>
                    </a:p>
                  </a:txBody>
                  <a:tcPr marL="45537" marR="45537" marT="45537" marB="45537" anchor="ctr">
                    <a:lnL w="9525" cap="flat" cmpd="sng" algn="ctr">
                      <a:solidFill>
                        <a:srgbClr val="C7C8CC"/>
                      </a:solidFill>
                      <a:prstDash val="solid"/>
                      <a:round/>
                      <a:headEnd type="none" w="med" len="med"/>
                      <a:tailEnd type="none" w="med" len="med"/>
                    </a:lnL>
                    <a:lnR w="9525" cap="flat" cmpd="sng" algn="ctr">
                      <a:solidFill>
                        <a:srgbClr val="C7C8CC"/>
                      </a:solidFill>
                      <a:prstDash val="solid"/>
                      <a:round/>
                      <a:headEnd type="none" w="med" len="med"/>
                      <a:tailEnd type="none" w="med" len="med"/>
                    </a:lnR>
                    <a:lnT w="9525" cap="flat" cmpd="sng" algn="ctr">
                      <a:solidFill>
                        <a:srgbClr val="C7C8CC"/>
                      </a:solidFill>
                      <a:prstDash val="solid"/>
                      <a:round/>
                      <a:headEnd type="none" w="med" len="med"/>
                      <a:tailEnd type="none" w="med" len="med"/>
                    </a:lnT>
                    <a:lnB w="9525" cap="flat" cmpd="sng" algn="ctr">
                      <a:solidFill>
                        <a:srgbClr val="C7C8CC"/>
                      </a:solidFill>
                      <a:prstDash val="solid"/>
                      <a:round/>
                      <a:headEnd type="none" w="med" len="med"/>
                      <a:tailEnd type="none" w="med" len="med"/>
                    </a:lnB>
                    <a:solidFill>
                      <a:srgbClr val="FFFFFF"/>
                    </a:solidFill>
                  </a:tcPr>
                </a:tc>
                <a:extLst>
                  <a:ext uri="{0D108BD9-81ED-4DB2-BD59-A6C34878D82A}">
                    <a16:rowId xmlns:a16="http://schemas.microsoft.com/office/drawing/2014/main" val="1331378893"/>
                  </a:ext>
                </a:extLst>
              </a:tr>
            </a:tbl>
          </a:graphicData>
        </a:graphic>
      </p:graphicFrame>
      <p:sp>
        <p:nvSpPr>
          <p:cNvPr id="12" name="テキスト ボックス 11">
            <a:extLst>
              <a:ext uri="{FF2B5EF4-FFF2-40B4-BE49-F238E27FC236}">
                <a16:creationId xmlns:a16="http://schemas.microsoft.com/office/drawing/2014/main" id="{245C4A09-8843-C938-3824-83EE11F60FF9}"/>
              </a:ext>
            </a:extLst>
          </p:cNvPr>
          <p:cNvSpPr txBox="1"/>
          <p:nvPr/>
        </p:nvSpPr>
        <p:spPr>
          <a:xfrm>
            <a:off x="8252362" y="7525817"/>
            <a:ext cx="8260779" cy="461665"/>
          </a:xfrm>
          <a:prstGeom prst="rect">
            <a:avLst/>
          </a:prstGeom>
          <a:noFill/>
        </p:spPr>
        <p:txBody>
          <a:bodyPr wrap="square">
            <a:spAutoFit/>
          </a:bodyPr>
          <a:lstStyle/>
          <a:p>
            <a:r>
              <a:rPr lang="ja-JP" altLang="en-US" sz="2400">
                <a:latin typeface="MS PGothic" panose="020B0600070205080204" pitchFamily="34" charset="-128"/>
                <a:ea typeface="MS PGothic" panose="020B0600070205080204" pitchFamily="34" charset="-128"/>
                <a:cs typeface="Meiryo" pitchFamily="34" charset="-120"/>
              </a:rPr>
              <a:t>承諾率が高い点は共通だが結果は逆転</a:t>
            </a:r>
          </a:p>
        </p:txBody>
      </p:sp>
      <p:sp>
        <p:nvSpPr>
          <p:cNvPr id="2" name="正方形/長方形 4">
            <a:extLst>
              <a:ext uri="{FF2B5EF4-FFF2-40B4-BE49-F238E27FC236}">
                <a16:creationId xmlns:a16="http://schemas.microsoft.com/office/drawing/2014/main" id="{E8EC2D74-A75B-7E12-7519-E0593F4A5E82}"/>
              </a:ext>
            </a:extLst>
          </p:cNvPr>
          <p:cNvSpPr/>
          <p:nvPr/>
        </p:nvSpPr>
        <p:spPr>
          <a:xfrm>
            <a:off x="8301599" y="8063496"/>
            <a:ext cx="8013195" cy="89050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a:solidFill>
                  <a:schemeClr val="tx1"/>
                </a:solidFill>
              </a:rPr>
              <a:t>OpenStackはRF優位，AOSPはIRL優位</a:t>
            </a:r>
            <a:endParaRPr kumimoji="1" lang="en-US" altLang="ja-JP" sz="2800" dirty="0">
              <a:solidFill>
                <a:schemeClr val="tx1"/>
              </a:solidFill>
            </a:endParaRPr>
          </a:p>
          <a:p>
            <a:pPr algn="ctr"/>
            <a:r>
              <a:rPr sz="2800" dirty="0" err="1">
                <a:solidFill>
                  <a:schemeClr val="tx1">
                    <a:lumMod val="75000"/>
                    <a:lumOff val="25000"/>
                  </a:schemeClr>
                </a:solidFill>
              </a:rPr>
              <a:t>AOSPは活動量が多く軌跡を確保できた可能性</a:t>
            </a:r>
            <a:endParaRPr sz="2800" dirty="0">
              <a:solidFill>
                <a:schemeClr val="tx1">
                  <a:lumMod val="75000"/>
                  <a:lumOff val="25000"/>
                </a:schemeClr>
              </a:solidFill>
            </a:endParaRPr>
          </a:p>
        </p:txBody>
      </p:sp>
    </p:spTree>
    <p:extLst>
      <p:ext uri="{BB962C8B-B14F-4D97-AF65-F5344CB8AC3E}">
        <p14:creationId xmlns:p14="http://schemas.microsoft.com/office/powerpoint/2010/main" val="1082691057"/>
      </p:ext>
    </p:extLst>
  </p:cSld>
  <p:clrMapOvr>
    <a:masterClrMapping/>
  </p:clrMapOvr>
</p:sld>
</file>

<file path=ppt/theme/theme1.xml><?xml version="1.0" encoding="utf-8"?>
<a:theme xmlns:a="http://schemas.openxmlformats.org/drawingml/2006/main" name="Wakayama Univ">
  <a:themeElements>
    <a:clrScheme name="SocSEL">
      <a:dk1>
        <a:srgbClr val="26272A"/>
      </a:dk1>
      <a:lt1>
        <a:srgbClr val="FFFFFF"/>
      </a:lt1>
      <a:dk2>
        <a:srgbClr val="575860"/>
      </a:dk2>
      <a:lt2>
        <a:srgbClr val="E9E9EB"/>
      </a:lt2>
      <a:accent1>
        <a:srgbClr val="5E64BA"/>
      </a:accent1>
      <a:accent2>
        <a:srgbClr val="4C90B2"/>
      </a:accent2>
      <a:accent3>
        <a:srgbClr val="44A088"/>
      </a:accent3>
      <a:accent4>
        <a:srgbClr val="D1A347"/>
      </a:accent4>
      <a:accent5>
        <a:srgbClr val="CB6E4D"/>
      </a:accent5>
      <a:accent6>
        <a:srgbClr val="C55159"/>
      </a:accent6>
      <a:hlink>
        <a:srgbClr val="0563C1"/>
      </a:hlink>
      <a:folHlink>
        <a:srgbClr val="954F72"/>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_template_16-9_wu" id="{15CAAEE6-7872-FA49-BE0C-F40A6F959A7B}" vid="{222D81FC-2846-BD4F-9384-8FB45616FC9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Wakayama Univ</Template>
  <TotalTime>11003</TotalTime>
  <Words>1230</Words>
  <Application>Microsoft Macintosh PowerPoint</Application>
  <PresentationFormat>ユーザー設定</PresentationFormat>
  <Paragraphs>159</Paragraphs>
  <Slides>4</Slides>
  <Notes>4</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vt:i4>
      </vt:variant>
    </vt:vector>
  </HeadingPairs>
  <TitlesOfParts>
    <vt:vector size="12" baseType="lpstr">
      <vt:lpstr>HGPGothicE</vt:lpstr>
      <vt:lpstr>MS PGothic</vt:lpstr>
      <vt:lpstr>システムフォント（レギュラー）</vt:lpstr>
      <vt:lpstr>Yu Gothic</vt:lpstr>
      <vt:lpstr>Yu Gothic</vt:lpstr>
      <vt:lpstr>Arial</vt:lpstr>
      <vt:lpstr>Times New Roman</vt:lpstr>
      <vt:lpstr>Wakayama Univ</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橋本　一輝</dc:creator>
  <cp:lastModifiedBy>橋本　一輝</cp:lastModifiedBy>
  <cp:revision>10</cp:revision>
  <dcterms:created xsi:type="dcterms:W3CDTF">2026-08-17T00:53:36Z</dcterms:created>
  <dcterms:modified xsi:type="dcterms:W3CDTF">2026-09-11T05:03:14Z</dcterms:modified>
</cp:coreProperties>
</file>